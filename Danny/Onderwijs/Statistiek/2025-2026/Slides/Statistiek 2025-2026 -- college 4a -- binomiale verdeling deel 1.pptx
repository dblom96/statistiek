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86" r:id="rId2"/>
    <p:sldMasterId id="2147483698" r:id="rId3"/>
  </p:sldMasterIdLst>
  <p:notesMasterIdLst>
    <p:notesMasterId r:id="rId32"/>
  </p:notesMasterIdLst>
  <p:handoutMasterIdLst>
    <p:handoutMasterId r:id="rId33"/>
  </p:handoutMasterIdLst>
  <p:sldIdLst>
    <p:sldId id="317" r:id="rId4"/>
    <p:sldId id="257" r:id="rId5"/>
    <p:sldId id="258" r:id="rId6"/>
    <p:sldId id="287" r:id="rId7"/>
    <p:sldId id="265" r:id="rId8"/>
    <p:sldId id="310" r:id="rId9"/>
    <p:sldId id="260" r:id="rId10"/>
    <p:sldId id="295" r:id="rId11"/>
    <p:sldId id="296" r:id="rId12"/>
    <p:sldId id="318" r:id="rId13"/>
    <p:sldId id="319" r:id="rId14"/>
    <p:sldId id="292" r:id="rId15"/>
    <p:sldId id="272" r:id="rId16"/>
    <p:sldId id="293" r:id="rId17"/>
    <p:sldId id="320" r:id="rId18"/>
    <p:sldId id="297" r:id="rId19"/>
    <p:sldId id="277" r:id="rId20"/>
    <p:sldId id="278" r:id="rId21"/>
    <p:sldId id="303" r:id="rId22"/>
    <p:sldId id="304" r:id="rId23"/>
    <p:sldId id="306" r:id="rId24"/>
    <p:sldId id="305" r:id="rId25"/>
    <p:sldId id="307" r:id="rId26"/>
    <p:sldId id="315" r:id="rId27"/>
    <p:sldId id="301" r:id="rId28"/>
    <p:sldId id="302" r:id="rId29"/>
    <p:sldId id="309" r:id="rId30"/>
    <p:sldId id="285" r:id="rId31"/>
  </p:sldIdLst>
  <p:sldSz cx="12192000" cy="6858000"/>
  <p:notesSz cx="6921500" cy="9423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8">
          <p15:clr>
            <a:srgbClr val="A4A3A4"/>
          </p15:clr>
        </p15:guide>
        <p15:guide id="2" pos="21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0047"/>
    <a:srgbClr val="000000"/>
    <a:srgbClr val="55286E"/>
    <a:srgbClr val="FFFFFF"/>
    <a:srgbClr val="0E3B6E"/>
    <a:srgbClr val="005187"/>
    <a:srgbClr val="00423C"/>
    <a:srgbClr val="0E6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0"/>
  </p:normalViewPr>
  <p:slideViewPr>
    <p:cSldViewPr>
      <p:cViewPr varScale="1">
        <p:scale>
          <a:sx n="109" d="100"/>
          <a:sy n="109" d="100"/>
        </p:scale>
        <p:origin x="612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2118" y="-90"/>
      </p:cViewPr>
      <p:guideLst>
        <p:guide orient="horz" pos="2968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9E90AC-1A9D-4974-BAF5-4A7D733043D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E26EC6-7821-4C66-ACA0-C4C826A60C6F}">
      <dgm:prSet phldrT="[Text]"/>
      <dgm:spPr/>
      <dgm:t>
        <a:bodyPr/>
        <a:lstStyle/>
        <a:p>
          <a:r>
            <a:rPr lang="en-US" dirty="0" smtClean="0"/>
            <a:t>Input</a:t>
          </a:r>
          <a:endParaRPr lang="en-US" dirty="0"/>
        </a:p>
      </dgm:t>
    </dgm:pt>
    <dgm:pt modelId="{399CC24F-1863-4927-A03D-9014BC9B1320}" type="parTrans" cxnId="{CE9F6066-92E7-45A3-BEAF-12762EEF7AC3}">
      <dgm:prSet/>
      <dgm:spPr/>
      <dgm:t>
        <a:bodyPr/>
        <a:lstStyle/>
        <a:p>
          <a:endParaRPr lang="en-US"/>
        </a:p>
      </dgm:t>
    </dgm:pt>
    <dgm:pt modelId="{4CC6A34B-8859-47AA-A26A-16DE8E9CD1CE}" type="sibTrans" cxnId="{CE9F6066-92E7-45A3-BEAF-12762EEF7AC3}">
      <dgm:prSet/>
      <dgm:spPr/>
      <dgm:t>
        <a:bodyPr/>
        <a:lstStyle/>
        <a:p>
          <a:endParaRPr lang="en-US"/>
        </a:p>
      </dgm:t>
    </dgm:pt>
    <dgm:pt modelId="{E11C979E-DA7F-44FE-93FF-6B10E1A32EFE}">
      <dgm:prSet phldrT="[Text]"/>
      <dgm:spPr/>
      <dgm:t>
        <a:bodyPr/>
        <a:lstStyle/>
        <a:p>
          <a:r>
            <a:rPr lang="en-US" dirty="0" smtClean="0"/>
            <a:t>Experiment </a:t>
          </a:r>
          <a:endParaRPr lang="en-US" dirty="0"/>
        </a:p>
      </dgm:t>
    </dgm:pt>
    <dgm:pt modelId="{36C2889A-2DD7-4CC0-830A-FD90DB7DE7A3}" type="parTrans" cxnId="{9399D6E6-EC3A-40E7-8D06-30549A77E737}">
      <dgm:prSet/>
      <dgm:spPr/>
      <dgm:t>
        <a:bodyPr/>
        <a:lstStyle/>
        <a:p>
          <a:endParaRPr lang="en-US"/>
        </a:p>
      </dgm:t>
    </dgm:pt>
    <dgm:pt modelId="{CBA8F9A7-B3A3-41C3-888D-E1DD4A1C1874}" type="sibTrans" cxnId="{9399D6E6-EC3A-40E7-8D06-30549A77E737}">
      <dgm:prSet/>
      <dgm:spPr/>
      <dgm:t>
        <a:bodyPr/>
        <a:lstStyle/>
        <a:p>
          <a:endParaRPr lang="en-US"/>
        </a:p>
      </dgm:t>
    </dgm:pt>
    <dgm:pt modelId="{069719F9-BB75-49A5-A166-10F2795AEF0B}">
      <dgm:prSet phldrT="[Text]"/>
      <dgm:spPr/>
      <dgm:t>
        <a:bodyPr/>
        <a:lstStyle/>
        <a:p>
          <a:r>
            <a:rPr lang="en-US" dirty="0" smtClean="0"/>
            <a:t>Output</a:t>
          </a:r>
          <a:endParaRPr lang="en-US" dirty="0"/>
        </a:p>
      </dgm:t>
    </dgm:pt>
    <dgm:pt modelId="{692A72E2-8E20-4674-8647-F531720BD7AB}" type="parTrans" cxnId="{CBB670C9-5286-490A-945E-B2BDEB6C2CF3}">
      <dgm:prSet/>
      <dgm:spPr/>
      <dgm:t>
        <a:bodyPr/>
        <a:lstStyle/>
        <a:p>
          <a:endParaRPr lang="en-US"/>
        </a:p>
      </dgm:t>
    </dgm:pt>
    <dgm:pt modelId="{4FE59848-15AC-4F61-9815-B768F5B4D67A}" type="sibTrans" cxnId="{CBB670C9-5286-490A-945E-B2BDEB6C2CF3}">
      <dgm:prSet/>
      <dgm:spPr/>
      <dgm:t>
        <a:bodyPr/>
        <a:lstStyle/>
        <a:p>
          <a:endParaRPr lang="en-US"/>
        </a:p>
      </dgm:t>
    </dgm:pt>
    <dgm:pt modelId="{1DD63560-39EA-40A5-8D8C-D1F346A7411F}">
      <dgm:prSet phldrT="[Text]"/>
      <dgm:spPr/>
      <dgm:t>
        <a:bodyPr/>
        <a:lstStyle/>
        <a:p>
          <a:r>
            <a:rPr lang="en-US" dirty="0" err="1" smtClean="0"/>
            <a:t>Een</a:t>
          </a:r>
          <a:r>
            <a:rPr lang="en-US" dirty="0" smtClean="0"/>
            <a:t> van de </a:t>
          </a:r>
          <a:r>
            <a:rPr lang="en-US" dirty="0" err="1" smtClean="0"/>
            <a:t>mogelijke</a:t>
          </a:r>
          <a:r>
            <a:rPr lang="en-US" dirty="0" smtClean="0"/>
            <a:t> </a:t>
          </a:r>
          <a:r>
            <a:rPr lang="en-US" dirty="0" err="1" smtClean="0"/>
            <a:t>uitkomsten</a:t>
          </a:r>
          <a:r>
            <a:rPr lang="en-US" dirty="0" smtClean="0"/>
            <a:t> (</a:t>
          </a:r>
          <a:r>
            <a:rPr lang="en-US" b="1" dirty="0" smtClean="0"/>
            <a:t>trekking</a:t>
          </a:r>
          <a:r>
            <a:rPr lang="en-US" dirty="0" smtClean="0"/>
            <a:t>)</a:t>
          </a:r>
          <a:endParaRPr lang="en-US" dirty="0"/>
        </a:p>
      </dgm:t>
    </dgm:pt>
    <dgm:pt modelId="{3F7BE854-47EB-45E1-B095-59561E777271}" type="parTrans" cxnId="{6CD97026-52D1-4004-B7F3-B2201E5C1C44}">
      <dgm:prSet/>
      <dgm:spPr/>
      <dgm:t>
        <a:bodyPr/>
        <a:lstStyle/>
        <a:p>
          <a:endParaRPr lang="en-US"/>
        </a:p>
      </dgm:t>
    </dgm:pt>
    <dgm:pt modelId="{0FDFD97D-4660-4EB9-A519-9BA8162C0D45}" type="sibTrans" cxnId="{6CD97026-52D1-4004-B7F3-B2201E5C1C44}">
      <dgm:prSet/>
      <dgm:spPr/>
      <dgm:t>
        <a:bodyPr/>
        <a:lstStyle/>
        <a:p>
          <a:endParaRPr lang="en-US"/>
        </a:p>
      </dgm:t>
    </dgm:pt>
    <dgm:pt modelId="{1EA94DEB-9F40-4F05-AC41-46C694D6339D}">
      <dgm:prSet/>
      <dgm:spPr/>
      <dgm:t>
        <a:bodyPr/>
        <a:lstStyle/>
        <a:p>
          <a:r>
            <a:rPr lang="en-US" dirty="0" err="1" smtClean="0"/>
            <a:t>Verzameling</a:t>
          </a:r>
          <a:r>
            <a:rPr lang="en-US" dirty="0" smtClean="0"/>
            <a:t> </a:t>
          </a:r>
          <a:r>
            <a:rPr lang="en-US" dirty="0" err="1" smtClean="0"/>
            <a:t>mogelijke</a:t>
          </a:r>
          <a:r>
            <a:rPr lang="en-US" dirty="0" smtClean="0"/>
            <a:t> </a:t>
          </a:r>
          <a:r>
            <a:rPr lang="en-US" dirty="0" err="1" smtClean="0"/>
            <a:t>uitkomsten</a:t>
          </a:r>
          <a:endParaRPr lang="en-US" dirty="0"/>
        </a:p>
      </dgm:t>
    </dgm:pt>
    <dgm:pt modelId="{5776BFE5-B53A-4F74-9EBE-26BBD91CBDBB}" type="parTrans" cxnId="{70DD71B6-9057-4717-BEB6-8D9F43FC6D98}">
      <dgm:prSet/>
      <dgm:spPr/>
      <dgm:t>
        <a:bodyPr/>
        <a:lstStyle/>
        <a:p>
          <a:endParaRPr lang="en-US"/>
        </a:p>
      </dgm:t>
    </dgm:pt>
    <dgm:pt modelId="{980D1F3B-6028-4893-9CA9-B72D00BBD16D}" type="sibTrans" cxnId="{70DD71B6-9057-4717-BEB6-8D9F43FC6D98}">
      <dgm:prSet/>
      <dgm:spPr/>
      <dgm:t>
        <a:bodyPr/>
        <a:lstStyle/>
        <a:p>
          <a:endParaRPr lang="en-US"/>
        </a:p>
      </dgm:t>
    </dgm:pt>
    <dgm:pt modelId="{44A78614-1D84-4FD5-B898-D3A9B9A9D632}">
      <dgm:prSet/>
      <dgm:spPr/>
      <dgm:t>
        <a:bodyPr/>
        <a:lstStyle/>
        <a:p>
          <a:r>
            <a:rPr lang="en-US" dirty="0" err="1" smtClean="0"/>
            <a:t>Onderliggende</a:t>
          </a:r>
          <a:r>
            <a:rPr lang="en-US" dirty="0" smtClean="0"/>
            <a:t> </a:t>
          </a:r>
          <a:r>
            <a:rPr lang="en-US" dirty="0" err="1" smtClean="0"/>
            <a:t>kansverdeling</a:t>
          </a:r>
          <a:r>
            <a:rPr lang="en-US" dirty="0" smtClean="0"/>
            <a:t> over </a:t>
          </a:r>
          <a:r>
            <a:rPr lang="en-US" dirty="0" err="1" smtClean="0"/>
            <a:t>deze</a:t>
          </a:r>
          <a:r>
            <a:rPr lang="en-US" dirty="0" smtClean="0"/>
            <a:t> </a:t>
          </a:r>
          <a:r>
            <a:rPr lang="en-US" dirty="0" err="1" smtClean="0"/>
            <a:t>verzameling</a:t>
          </a:r>
          <a:r>
            <a:rPr lang="en-US" dirty="0" smtClean="0"/>
            <a:t> (</a:t>
          </a:r>
          <a:r>
            <a:rPr lang="en-US" dirty="0" err="1" smtClean="0"/>
            <a:t>hoeft</a:t>
          </a:r>
          <a:r>
            <a:rPr lang="en-US" dirty="0" smtClean="0"/>
            <a:t> </a:t>
          </a:r>
          <a:r>
            <a:rPr lang="en-US" dirty="0" err="1" smtClean="0"/>
            <a:t>niet</a:t>
          </a:r>
          <a:r>
            <a:rPr lang="en-US" dirty="0" smtClean="0"/>
            <a:t> per se </a:t>
          </a:r>
          <a:r>
            <a:rPr lang="en-US" dirty="0" err="1" smtClean="0"/>
            <a:t>bekend</a:t>
          </a:r>
          <a:r>
            <a:rPr lang="en-US" dirty="0" smtClean="0"/>
            <a:t> </a:t>
          </a:r>
          <a:r>
            <a:rPr lang="en-US" dirty="0" err="1" smtClean="0"/>
            <a:t>te</a:t>
          </a:r>
          <a:r>
            <a:rPr lang="en-US" dirty="0" smtClean="0"/>
            <a:t> </a:t>
          </a:r>
          <a:r>
            <a:rPr lang="en-US" dirty="0" err="1" smtClean="0"/>
            <a:t>zijn</a:t>
          </a:r>
          <a:r>
            <a:rPr lang="en-US" dirty="0" smtClean="0"/>
            <a:t>)</a:t>
          </a:r>
          <a:endParaRPr lang="en-US" dirty="0"/>
        </a:p>
      </dgm:t>
    </dgm:pt>
    <dgm:pt modelId="{CFF86F61-B4F8-44BE-9DBF-FA2DE3A5641F}" type="parTrans" cxnId="{E4294524-32CB-4F32-9825-8C6895267AC9}">
      <dgm:prSet/>
      <dgm:spPr/>
      <dgm:t>
        <a:bodyPr/>
        <a:lstStyle/>
        <a:p>
          <a:endParaRPr lang="en-US"/>
        </a:p>
      </dgm:t>
    </dgm:pt>
    <dgm:pt modelId="{3D6AA7B4-1554-4712-A61D-2A6D171CA81A}" type="sibTrans" cxnId="{E4294524-32CB-4F32-9825-8C6895267AC9}">
      <dgm:prSet/>
      <dgm:spPr/>
      <dgm:t>
        <a:bodyPr/>
        <a:lstStyle/>
        <a:p>
          <a:endParaRPr lang="en-US"/>
        </a:p>
      </dgm:t>
    </dgm:pt>
    <dgm:pt modelId="{03124F20-BE95-4AF4-BB13-FABF503744E6}" type="pres">
      <dgm:prSet presAssocID="{969E90AC-1A9D-4974-BAF5-4A7D733043D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D2FDB-F5EB-4609-8AD8-F3C93B94A9D3}" type="pres">
      <dgm:prSet presAssocID="{2AE26EC6-7821-4C66-ACA0-C4C826A60C6F}" presName="composite" presStyleCnt="0"/>
      <dgm:spPr/>
    </dgm:pt>
    <dgm:pt modelId="{42CEEBA4-1378-4AF5-90B3-23A2D88490E9}" type="pres">
      <dgm:prSet presAssocID="{2AE26EC6-7821-4C66-ACA0-C4C826A60C6F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8E15F-C463-4A97-A02E-B468DB006C48}" type="pres">
      <dgm:prSet presAssocID="{2AE26EC6-7821-4C66-ACA0-C4C826A60C6F}" presName="parSh" presStyleLbl="node1" presStyleIdx="0" presStyleCnt="3"/>
      <dgm:spPr/>
      <dgm:t>
        <a:bodyPr/>
        <a:lstStyle/>
        <a:p>
          <a:endParaRPr lang="en-US"/>
        </a:p>
      </dgm:t>
    </dgm:pt>
    <dgm:pt modelId="{ADD3AE7F-21AA-45B5-9626-51D4168ADC97}" type="pres">
      <dgm:prSet presAssocID="{2AE26EC6-7821-4C66-ACA0-C4C826A60C6F}" presName="desTx" presStyleLbl="fgAcc1" presStyleIdx="0" presStyleCnt="3" custScaleX="105343" custScaleY="860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CC56C-82FA-496D-A27C-E92CDD6B587F}" type="pres">
      <dgm:prSet presAssocID="{4CC6A34B-8859-47AA-A26A-16DE8E9CD1CE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F028978-9137-4291-926F-A290C98A4E9A}" type="pres">
      <dgm:prSet presAssocID="{4CC6A34B-8859-47AA-A26A-16DE8E9CD1CE}" presName="connTx" presStyleLbl="sibTrans2D1" presStyleIdx="0" presStyleCnt="2"/>
      <dgm:spPr/>
      <dgm:t>
        <a:bodyPr/>
        <a:lstStyle/>
        <a:p>
          <a:endParaRPr lang="en-US"/>
        </a:p>
      </dgm:t>
    </dgm:pt>
    <dgm:pt modelId="{D824E52D-6C6F-428E-9EE3-BDBFB3E2FDB7}" type="pres">
      <dgm:prSet presAssocID="{E11C979E-DA7F-44FE-93FF-6B10E1A32EFE}" presName="composite" presStyleCnt="0"/>
      <dgm:spPr/>
    </dgm:pt>
    <dgm:pt modelId="{D7E26F22-B107-441F-91C8-C2BAF2213382}" type="pres">
      <dgm:prSet presAssocID="{E11C979E-DA7F-44FE-93FF-6B10E1A32EFE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A36FA2-C369-4F6B-9E66-F573CE9937C7}" type="pres">
      <dgm:prSet presAssocID="{E11C979E-DA7F-44FE-93FF-6B10E1A32EFE}" presName="parSh" presStyleLbl="node1" presStyleIdx="1" presStyleCnt="3" custLinFactNeighborX="1912" custLinFactNeighborY="13619"/>
      <dgm:spPr/>
      <dgm:t>
        <a:bodyPr/>
        <a:lstStyle/>
        <a:p>
          <a:endParaRPr lang="en-US"/>
        </a:p>
      </dgm:t>
    </dgm:pt>
    <dgm:pt modelId="{91B2C4FF-5229-419A-8888-2858F92609F6}" type="pres">
      <dgm:prSet presAssocID="{E11C979E-DA7F-44FE-93FF-6B10E1A32EFE}" presName="desTx" presStyleLbl="fgAcc1" presStyleIdx="1" presStyleCnt="3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375B698-2873-448F-B324-CD4F680EB8CA}" type="pres">
      <dgm:prSet presAssocID="{CBA8F9A7-B3A3-41C3-888D-E1DD4A1C187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3862587-3509-442D-A6F0-110B0E5EC7B2}" type="pres">
      <dgm:prSet presAssocID="{CBA8F9A7-B3A3-41C3-888D-E1DD4A1C1874}" presName="connTx" presStyleLbl="sibTrans2D1" presStyleIdx="1" presStyleCnt="2"/>
      <dgm:spPr/>
      <dgm:t>
        <a:bodyPr/>
        <a:lstStyle/>
        <a:p>
          <a:endParaRPr lang="en-US"/>
        </a:p>
      </dgm:t>
    </dgm:pt>
    <dgm:pt modelId="{E0F15CA8-39A9-45AB-96B7-41954EE0801B}" type="pres">
      <dgm:prSet presAssocID="{069719F9-BB75-49A5-A166-10F2795AEF0B}" presName="composite" presStyleCnt="0"/>
      <dgm:spPr/>
    </dgm:pt>
    <dgm:pt modelId="{2FBFA388-BE05-44CE-B01B-779EB17B0BF7}" type="pres">
      <dgm:prSet presAssocID="{069719F9-BB75-49A5-A166-10F2795AEF0B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D3CB30-4DA4-4350-B7A4-3E648F2EB227}" type="pres">
      <dgm:prSet presAssocID="{069719F9-BB75-49A5-A166-10F2795AEF0B}" presName="parSh" presStyleLbl="node1" presStyleIdx="2" presStyleCnt="3" custLinFactNeighborX="311" custLinFactNeighborY="9606"/>
      <dgm:spPr/>
      <dgm:t>
        <a:bodyPr/>
        <a:lstStyle/>
        <a:p>
          <a:endParaRPr lang="en-US"/>
        </a:p>
      </dgm:t>
    </dgm:pt>
    <dgm:pt modelId="{65612ED5-8892-45FF-B158-3CE141D796A7}" type="pres">
      <dgm:prSet presAssocID="{069719F9-BB75-49A5-A166-10F2795AEF0B}" presName="desTx" presStyleLbl="fgAcc1" presStyleIdx="2" presStyleCnt="3" custScaleY="910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8BCAD4-931C-44B2-9C85-654167CE9A69}" type="presOf" srcId="{E11C979E-DA7F-44FE-93FF-6B10E1A32EFE}" destId="{D7E26F22-B107-441F-91C8-C2BAF2213382}" srcOrd="0" destOrd="0" presId="urn:microsoft.com/office/officeart/2005/8/layout/process3"/>
    <dgm:cxn modelId="{E4294524-32CB-4F32-9825-8C6895267AC9}" srcId="{2AE26EC6-7821-4C66-ACA0-C4C826A60C6F}" destId="{44A78614-1D84-4FD5-B898-D3A9B9A9D632}" srcOrd="1" destOrd="0" parTransId="{CFF86F61-B4F8-44BE-9DBF-FA2DE3A5641F}" sibTransId="{3D6AA7B4-1554-4712-A61D-2A6D171CA81A}"/>
    <dgm:cxn modelId="{7CEECCED-4FE1-49B1-9243-BF6CAF418BB8}" type="presOf" srcId="{E11C979E-DA7F-44FE-93FF-6B10E1A32EFE}" destId="{58A36FA2-C369-4F6B-9E66-F573CE9937C7}" srcOrd="1" destOrd="0" presId="urn:microsoft.com/office/officeart/2005/8/layout/process3"/>
    <dgm:cxn modelId="{BCA3C229-E5F6-473A-B341-587A45A44BB4}" type="presOf" srcId="{1EA94DEB-9F40-4F05-AC41-46C694D6339D}" destId="{ADD3AE7F-21AA-45B5-9626-51D4168ADC97}" srcOrd="0" destOrd="0" presId="urn:microsoft.com/office/officeart/2005/8/layout/process3"/>
    <dgm:cxn modelId="{ADB9B6C5-EFFC-417D-A9F3-20EC750CE833}" type="presOf" srcId="{4CC6A34B-8859-47AA-A26A-16DE8E9CD1CE}" destId="{5DCCC56C-82FA-496D-A27C-E92CDD6B587F}" srcOrd="0" destOrd="0" presId="urn:microsoft.com/office/officeart/2005/8/layout/process3"/>
    <dgm:cxn modelId="{2BDA2315-127D-47A5-A6F7-58F5D949FAD8}" type="presOf" srcId="{069719F9-BB75-49A5-A166-10F2795AEF0B}" destId="{48D3CB30-4DA4-4350-B7A4-3E648F2EB227}" srcOrd="1" destOrd="0" presId="urn:microsoft.com/office/officeart/2005/8/layout/process3"/>
    <dgm:cxn modelId="{DBD0F1A5-087C-4BE8-A8BC-2A3B93662CB7}" type="presOf" srcId="{969E90AC-1A9D-4974-BAF5-4A7D733043D9}" destId="{03124F20-BE95-4AF4-BB13-FABF503744E6}" srcOrd="0" destOrd="0" presId="urn:microsoft.com/office/officeart/2005/8/layout/process3"/>
    <dgm:cxn modelId="{334B804A-29FA-4013-B447-8612ABE11DA6}" type="presOf" srcId="{4CC6A34B-8859-47AA-A26A-16DE8E9CD1CE}" destId="{CF028978-9137-4291-926F-A290C98A4E9A}" srcOrd="1" destOrd="0" presId="urn:microsoft.com/office/officeart/2005/8/layout/process3"/>
    <dgm:cxn modelId="{9399D6E6-EC3A-40E7-8D06-30549A77E737}" srcId="{969E90AC-1A9D-4974-BAF5-4A7D733043D9}" destId="{E11C979E-DA7F-44FE-93FF-6B10E1A32EFE}" srcOrd="1" destOrd="0" parTransId="{36C2889A-2DD7-4CC0-830A-FD90DB7DE7A3}" sibTransId="{CBA8F9A7-B3A3-41C3-888D-E1DD4A1C1874}"/>
    <dgm:cxn modelId="{80E6E1B5-08FE-4928-A819-DB9CAC909E65}" type="presOf" srcId="{2AE26EC6-7821-4C66-ACA0-C4C826A60C6F}" destId="{42CEEBA4-1378-4AF5-90B3-23A2D88490E9}" srcOrd="0" destOrd="0" presId="urn:microsoft.com/office/officeart/2005/8/layout/process3"/>
    <dgm:cxn modelId="{4A38A417-58F5-4E64-99F3-9C2551F9B067}" type="presOf" srcId="{2AE26EC6-7821-4C66-ACA0-C4C826A60C6F}" destId="{2F28E15F-C463-4A97-A02E-B468DB006C48}" srcOrd="1" destOrd="0" presId="urn:microsoft.com/office/officeart/2005/8/layout/process3"/>
    <dgm:cxn modelId="{CE9F6066-92E7-45A3-BEAF-12762EEF7AC3}" srcId="{969E90AC-1A9D-4974-BAF5-4A7D733043D9}" destId="{2AE26EC6-7821-4C66-ACA0-C4C826A60C6F}" srcOrd="0" destOrd="0" parTransId="{399CC24F-1863-4927-A03D-9014BC9B1320}" sibTransId="{4CC6A34B-8859-47AA-A26A-16DE8E9CD1CE}"/>
    <dgm:cxn modelId="{F95D89BF-4665-4583-80F2-30197FFAD205}" type="presOf" srcId="{CBA8F9A7-B3A3-41C3-888D-E1DD4A1C1874}" destId="{2375B698-2873-448F-B324-CD4F680EB8CA}" srcOrd="0" destOrd="0" presId="urn:microsoft.com/office/officeart/2005/8/layout/process3"/>
    <dgm:cxn modelId="{0F9DCE36-6678-432F-90D7-F0CDE08CA1AF}" type="presOf" srcId="{1DD63560-39EA-40A5-8D8C-D1F346A7411F}" destId="{65612ED5-8892-45FF-B158-3CE141D796A7}" srcOrd="0" destOrd="0" presId="urn:microsoft.com/office/officeart/2005/8/layout/process3"/>
    <dgm:cxn modelId="{4994D5B8-2488-463B-A1B2-2B1A8272DB1E}" type="presOf" srcId="{069719F9-BB75-49A5-A166-10F2795AEF0B}" destId="{2FBFA388-BE05-44CE-B01B-779EB17B0BF7}" srcOrd="0" destOrd="0" presId="urn:microsoft.com/office/officeart/2005/8/layout/process3"/>
    <dgm:cxn modelId="{CBB670C9-5286-490A-945E-B2BDEB6C2CF3}" srcId="{969E90AC-1A9D-4974-BAF5-4A7D733043D9}" destId="{069719F9-BB75-49A5-A166-10F2795AEF0B}" srcOrd="2" destOrd="0" parTransId="{692A72E2-8E20-4674-8647-F531720BD7AB}" sibTransId="{4FE59848-15AC-4F61-9815-B768F5B4D67A}"/>
    <dgm:cxn modelId="{A0A3354A-8D9E-44F0-AD87-2E121F6E76CF}" type="presOf" srcId="{44A78614-1D84-4FD5-B898-D3A9B9A9D632}" destId="{ADD3AE7F-21AA-45B5-9626-51D4168ADC97}" srcOrd="0" destOrd="1" presId="urn:microsoft.com/office/officeart/2005/8/layout/process3"/>
    <dgm:cxn modelId="{70DD71B6-9057-4717-BEB6-8D9F43FC6D98}" srcId="{2AE26EC6-7821-4C66-ACA0-C4C826A60C6F}" destId="{1EA94DEB-9F40-4F05-AC41-46C694D6339D}" srcOrd="0" destOrd="0" parTransId="{5776BFE5-B53A-4F74-9EBE-26BBD91CBDBB}" sibTransId="{980D1F3B-6028-4893-9CA9-B72D00BBD16D}"/>
    <dgm:cxn modelId="{6CD97026-52D1-4004-B7F3-B2201E5C1C44}" srcId="{069719F9-BB75-49A5-A166-10F2795AEF0B}" destId="{1DD63560-39EA-40A5-8D8C-D1F346A7411F}" srcOrd="0" destOrd="0" parTransId="{3F7BE854-47EB-45E1-B095-59561E777271}" sibTransId="{0FDFD97D-4660-4EB9-A519-9BA8162C0D45}"/>
    <dgm:cxn modelId="{FFCB8FB3-0F13-4B28-97C9-DF6FA35A9121}" type="presOf" srcId="{CBA8F9A7-B3A3-41C3-888D-E1DD4A1C1874}" destId="{F3862587-3509-442D-A6F0-110B0E5EC7B2}" srcOrd="1" destOrd="0" presId="urn:microsoft.com/office/officeart/2005/8/layout/process3"/>
    <dgm:cxn modelId="{B5464F6E-C175-4BC8-9EB1-DBB0DDACF68E}" type="presParOf" srcId="{03124F20-BE95-4AF4-BB13-FABF503744E6}" destId="{EC6D2FDB-F5EB-4609-8AD8-F3C93B94A9D3}" srcOrd="0" destOrd="0" presId="urn:microsoft.com/office/officeart/2005/8/layout/process3"/>
    <dgm:cxn modelId="{8C6A688D-F313-4B2A-838B-4EEC6B142727}" type="presParOf" srcId="{EC6D2FDB-F5EB-4609-8AD8-F3C93B94A9D3}" destId="{42CEEBA4-1378-4AF5-90B3-23A2D88490E9}" srcOrd="0" destOrd="0" presId="urn:microsoft.com/office/officeart/2005/8/layout/process3"/>
    <dgm:cxn modelId="{58B0B9A7-7CBD-4D83-9380-C1AEDA5CF52A}" type="presParOf" srcId="{EC6D2FDB-F5EB-4609-8AD8-F3C93B94A9D3}" destId="{2F28E15F-C463-4A97-A02E-B468DB006C48}" srcOrd="1" destOrd="0" presId="urn:microsoft.com/office/officeart/2005/8/layout/process3"/>
    <dgm:cxn modelId="{BB3876E3-CFD3-4D50-AC41-1B384B99355C}" type="presParOf" srcId="{EC6D2FDB-F5EB-4609-8AD8-F3C93B94A9D3}" destId="{ADD3AE7F-21AA-45B5-9626-51D4168ADC97}" srcOrd="2" destOrd="0" presId="urn:microsoft.com/office/officeart/2005/8/layout/process3"/>
    <dgm:cxn modelId="{2FC108C4-2B9C-4E01-AB00-674EB398C545}" type="presParOf" srcId="{03124F20-BE95-4AF4-BB13-FABF503744E6}" destId="{5DCCC56C-82FA-496D-A27C-E92CDD6B587F}" srcOrd="1" destOrd="0" presId="urn:microsoft.com/office/officeart/2005/8/layout/process3"/>
    <dgm:cxn modelId="{FE0FBC44-90CB-49D8-ABE3-5F9ADE4950E2}" type="presParOf" srcId="{5DCCC56C-82FA-496D-A27C-E92CDD6B587F}" destId="{CF028978-9137-4291-926F-A290C98A4E9A}" srcOrd="0" destOrd="0" presId="urn:microsoft.com/office/officeart/2005/8/layout/process3"/>
    <dgm:cxn modelId="{95517E44-D426-4DFF-AE5C-E6E9A34022BE}" type="presParOf" srcId="{03124F20-BE95-4AF4-BB13-FABF503744E6}" destId="{D824E52D-6C6F-428E-9EE3-BDBFB3E2FDB7}" srcOrd="2" destOrd="0" presId="urn:microsoft.com/office/officeart/2005/8/layout/process3"/>
    <dgm:cxn modelId="{94175DB4-F164-485B-BCDF-4F5167406DCF}" type="presParOf" srcId="{D824E52D-6C6F-428E-9EE3-BDBFB3E2FDB7}" destId="{D7E26F22-B107-441F-91C8-C2BAF2213382}" srcOrd="0" destOrd="0" presId="urn:microsoft.com/office/officeart/2005/8/layout/process3"/>
    <dgm:cxn modelId="{910F243D-EEA6-46F4-98AD-AB47E8024EC4}" type="presParOf" srcId="{D824E52D-6C6F-428E-9EE3-BDBFB3E2FDB7}" destId="{58A36FA2-C369-4F6B-9E66-F573CE9937C7}" srcOrd="1" destOrd="0" presId="urn:microsoft.com/office/officeart/2005/8/layout/process3"/>
    <dgm:cxn modelId="{93CF0CC5-0A8A-48AA-A4CE-5991A217B62F}" type="presParOf" srcId="{D824E52D-6C6F-428E-9EE3-BDBFB3E2FDB7}" destId="{91B2C4FF-5229-419A-8888-2858F92609F6}" srcOrd="2" destOrd="0" presId="urn:microsoft.com/office/officeart/2005/8/layout/process3"/>
    <dgm:cxn modelId="{DE58D759-8CAB-40FA-870B-7385BDA2C1CD}" type="presParOf" srcId="{03124F20-BE95-4AF4-BB13-FABF503744E6}" destId="{2375B698-2873-448F-B324-CD4F680EB8CA}" srcOrd="3" destOrd="0" presId="urn:microsoft.com/office/officeart/2005/8/layout/process3"/>
    <dgm:cxn modelId="{DE957BDA-A020-4BF3-B86E-21148D9DA1FB}" type="presParOf" srcId="{2375B698-2873-448F-B324-CD4F680EB8CA}" destId="{F3862587-3509-442D-A6F0-110B0E5EC7B2}" srcOrd="0" destOrd="0" presId="urn:microsoft.com/office/officeart/2005/8/layout/process3"/>
    <dgm:cxn modelId="{07F1709C-9024-49B4-8FE9-0891712E8B60}" type="presParOf" srcId="{03124F20-BE95-4AF4-BB13-FABF503744E6}" destId="{E0F15CA8-39A9-45AB-96B7-41954EE0801B}" srcOrd="4" destOrd="0" presId="urn:microsoft.com/office/officeart/2005/8/layout/process3"/>
    <dgm:cxn modelId="{8050325E-CF12-49F6-93EF-E6E1ACA35664}" type="presParOf" srcId="{E0F15CA8-39A9-45AB-96B7-41954EE0801B}" destId="{2FBFA388-BE05-44CE-B01B-779EB17B0BF7}" srcOrd="0" destOrd="0" presId="urn:microsoft.com/office/officeart/2005/8/layout/process3"/>
    <dgm:cxn modelId="{CB045D79-7A9E-4196-B0EA-715D5E6A1BE2}" type="presParOf" srcId="{E0F15CA8-39A9-45AB-96B7-41954EE0801B}" destId="{48D3CB30-4DA4-4350-B7A4-3E648F2EB227}" srcOrd="1" destOrd="0" presId="urn:microsoft.com/office/officeart/2005/8/layout/process3"/>
    <dgm:cxn modelId="{15E0BB28-B38D-4F17-981C-9173E4E7DEB4}" type="presParOf" srcId="{E0F15CA8-39A9-45AB-96B7-41954EE0801B}" destId="{65612ED5-8892-45FF-B158-3CE141D796A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8E15F-C463-4A97-A02E-B468DB006C48}">
      <dsp:nvSpPr>
        <dsp:cNvPr id="0" name=""/>
        <dsp:cNvSpPr/>
      </dsp:nvSpPr>
      <dsp:spPr>
        <a:xfrm>
          <a:off x="2010" y="619429"/>
          <a:ext cx="2534703" cy="993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Input</a:t>
          </a:r>
          <a:endParaRPr lang="en-US" sz="2100" kern="1200" dirty="0"/>
        </a:p>
      </dsp:txBody>
      <dsp:txXfrm>
        <a:off x="2010" y="619429"/>
        <a:ext cx="2534703" cy="662400"/>
      </dsp:txXfrm>
    </dsp:sp>
    <dsp:sp modelId="{ADD3AE7F-21AA-45B5-9626-51D4168ADC97}">
      <dsp:nvSpPr>
        <dsp:cNvPr id="0" name=""/>
        <dsp:cNvSpPr/>
      </dsp:nvSpPr>
      <dsp:spPr>
        <a:xfrm>
          <a:off x="453451" y="1519261"/>
          <a:ext cx="2670132" cy="29199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err="1" smtClean="0"/>
            <a:t>Verzameling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mogelijke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uitkomsten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err="1" smtClean="0"/>
            <a:t>Onderliggende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kansverdeling</a:t>
          </a:r>
          <a:r>
            <a:rPr lang="en-US" sz="2100" kern="1200" dirty="0" smtClean="0"/>
            <a:t> over </a:t>
          </a:r>
          <a:r>
            <a:rPr lang="en-US" sz="2100" kern="1200" dirty="0" err="1" smtClean="0"/>
            <a:t>deze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verzameling</a:t>
          </a:r>
          <a:r>
            <a:rPr lang="en-US" sz="2100" kern="1200" dirty="0" smtClean="0"/>
            <a:t> (</a:t>
          </a:r>
          <a:r>
            <a:rPr lang="en-US" sz="2100" kern="1200" dirty="0" err="1" smtClean="0"/>
            <a:t>hoeft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niet</a:t>
          </a:r>
          <a:r>
            <a:rPr lang="en-US" sz="2100" kern="1200" dirty="0" smtClean="0"/>
            <a:t> per se </a:t>
          </a:r>
          <a:r>
            <a:rPr lang="en-US" sz="2100" kern="1200" dirty="0" err="1" smtClean="0"/>
            <a:t>bekend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te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zijn</a:t>
          </a:r>
          <a:r>
            <a:rPr lang="en-US" sz="2100" kern="1200" dirty="0" smtClean="0"/>
            <a:t>)</a:t>
          </a:r>
          <a:endParaRPr lang="en-US" sz="2100" kern="1200" dirty="0"/>
        </a:p>
      </dsp:txBody>
      <dsp:txXfrm>
        <a:off x="531656" y="1597466"/>
        <a:ext cx="2513722" cy="2763525"/>
      </dsp:txXfrm>
    </dsp:sp>
    <dsp:sp modelId="{5DCCC56C-82FA-496D-A27C-E92CDD6B587F}">
      <dsp:nvSpPr>
        <dsp:cNvPr id="0" name=""/>
        <dsp:cNvSpPr/>
      </dsp:nvSpPr>
      <dsp:spPr>
        <a:xfrm rot="13628">
          <a:off x="2950007" y="643495"/>
          <a:ext cx="876195" cy="631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2950008" y="769333"/>
        <a:ext cx="686875" cy="378641"/>
      </dsp:txXfrm>
    </dsp:sp>
    <dsp:sp modelId="{58A36FA2-C369-4F6B-9E66-F573CE9937C7}">
      <dsp:nvSpPr>
        <dsp:cNvPr id="0" name=""/>
        <dsp:cNvSpPr/>
      </dsp:nvSpPr>
      <dsp:spPr>
        <a:xfrm>
          <a:off x="4189899" y="636031"/>
          <a:ext cx="2534703" cy="993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Experiment </a:t>
          </a:r>
          <a:endParaRPr lang="en-US" sz="2100" kern="1200" dirty="0"/>
        </a:p>
      </dsp:txBody>
      <dsp:txXfrm>
        <a:off x="4189899" y="636031"/>
        <a:ext cx="2534703" cy="662400"/>
      </dsp:txXfrm>
    </dsp:sp>
    <dsp:sp modelId="{91B2C4FF-5229-419A-8888-2858F92609F6}">
      <dsp:nvSpPr>
        <dsp:cNvPr id="0" name=""/>
        <dsp:cNvSpPr/>
      </dsp:nvSpPr>
      <dsp:spPr>
        <a:xfrm>
          <a:off x="4660592" y="1163113"/>
          <a:ext cx="2534703" cy="3394800"/>
        </a:xfrm>
        <a:prstGeom prst="roundRect">
          <a:avLst>
            <a:gd name="adj" fmla="val 10000"/>
          </a:avLst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5B698-2873-448F-B324-CD4F680EB8CA}">
      <dsp:nvSpPr>
        <dsp:cNvPr id="0" name=""/>
        <dsp:cNvSpPr/>
      </dsp:nvSpPr>
      <dsp:spPr>
        <a:xfrm rot="30657">
          <a:off x="7098694" y="669872"/>
          <a:ext cx="793137" cy="631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7098698" y="795241"/>
        <a:ext cx="603817" cy="378641"/>
      </dsp:txXfrm>
    </dsp:sp>
    <dsp:sp modelId="{48D3CB30-4DA4-4350-B7A4-3E648F2EB227}">
      <dsp:nvSpPr>
        <dsp:cNvPr id="0" name=""/>
        <dsp:cNvSpPr/>
      </dsp:nvSpPr>
      <dsp:spPr>
        <a:xfrm>
          <a:off x="8221030" y="671981"/>
          <a:ext cx="2534703" cy="993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Output</a:t>
          </a:r>
          <a:endParaRPr lang="en-US" sz="2100" kern="1200" dirty="0"/>
        </a:p>
      </dsp:txBody>
      <dsp:txXfrm>
        <a:off x="8221030" y="671981"/>
        <a:ext cx="2534703" cy="662400"/>
      </dsp:txXfrm>
    </dsp:sp>
    <dsp:sp modelId="{65612ED5-8892-45FF-B158-3CE141D796A7}">
      <dsp:nvSpPr>
        <dsp:cNvPr id="0" name=""/>
        <dsp:cNvSpPr/>
      </dsp:nvSpPr>
      <dsp:spPr>
        <a:xfrm>
          <a:off x="8732303" y="1390582"/>
          <a:ext cx="2534703" cy="30915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err="1" smtClean="0"/>
            <a:t>Een</a:t>
          </a:r>
          <a:r>
            <a:rPr lang="en-US" sz="2100" kern="1200" dirty="0" smtClean="0"/>
            <a:t> van de </a:t>
          </a:r>
          <a:r>
            <a:rPr lang="en-US" sz="2100" kern="1200" dirty="0" err="1" smtClean="0"/>
            <a:t>mogelijke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uitkomsten</a:t>
          </a:r>
          <a:r>
            <a:rPr lang="en-US" sz="2100" kern="1200" dirty="0" smtClean="0"/>
            <a:t> (</a:t>
          </a:r>
          <a:r>
            <a:rPr lang="en-US" sz="2100" b="1" kern="1200" dirty="0" smtClean="0"/>
            <a:t>trekking</a:t>
          </a:r>
          <a:r>
            <a:rPr lang="en-US" sz="2100" kern="1200" dirty="0" smtClean="0"/>
            <a:t>)</a:t>
          </a:r>
          <a:endParaRPr lang="en-US" sz="2100" kern="1200" dirty="0"/>
        </a:p>
      </dsp:txBody>
      <dsp:txXfrm>
        <a:off x="8806542" y="1464821"/>
        <a:ext cx="2386225" cy="29430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6088"/>
            <a:ext cx="5867400" cy="414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14300"/>
            <a:ext cx="2998788" cy="1460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33400" y="8951913"/>
            <a:ext cx="60198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nl-NL"/>
              <a:t>Eventuele voettekst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613525" y="8951913"/>
            <a:ext cx="2286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E1460D1F-5074-4EB0-BB4F-B8A7850CD942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  <p:sp>
        <p:nvSpPr>
          <p:cNvPr id="32788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32789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7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7675"/>
            <a:ext cx="5867400" cy="4127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813" y="114300"/>
            <a:ext cx="2998787" cy="147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50825" y="933450"/>
            <a:ext cx="6280150" cy="3533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48200"/>
            <a:ext cx="4724400" cy="38449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Klik om het opmaakprofiel van de modeltekst te bewerken</a:t>
            </a:r>
          </a:p>
          <a:p>
            <a:pPr lvl="1"/>
            <a:r>
              <a:rPr lang="en-US" noProof="0" smtClean="0"/>
              <a:t>Tweede niveau</a:t>
            </a:r>
          </a:p>
          <a:p>
            <a:pPr lvl="2"/>
            <a:r>
              <a:rPr lang="en-US" noProof="0" smtClean="0"/>
              <a:t>Derde niveau</a:t>
            </a:r>
          </a:p>
          <a:p>
            <a:pPr lvl="3"/>
            <a:r>
              <a:rPr lang="en-US" noProof="0" smtClean="0"/>
              <a:t>Vierde niveau</a:t>
            </a:r>
          </a:p>
          <a:p>
            <a:pPr lvl="4"/>
            <a:r>
              <a:rPr lang="en-US" noProof="0" smtClean="0"/>
              <a:t>Vijfde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31813" y="8951913"/>
            <a:ext cx="60975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Eventuele voettekst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615113" y="8951913"/>
            <a:ext cx="2301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9FC98DC9-4F28-4B39-8B6E-408133FC785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5139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5140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627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190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381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571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762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Interactieve werkvorm: voorkennis ophalen,</a:t>
            </a:r>
            <a:r>
              <a:rPr lang="nl-NL" baseline="0" dirty="0" smtClean="0"/>
              <a:t> welke eigenschappen heeft een discrete </a:t>
            </a:r>
            <a:r>
              <a:rPr lang="nl-NL" baseline="0" dirty="0" err="1" smtClean="0"/>
              <a:t>kansvariabele</a:t>
            </a:r>
            <a:r>
              <a:rPr lang="nl-NL" baseline="0" dirty="0" smtClean="0"/>
              <a:t> (eindige uitkomstenruimte, </a:t>
            </a:r>
            <a:r>
              <a:rPr lang="nl-NL" baseline="0" dirty="0" err="1" smtClean="0"/>
              <a:t>kansfunctie</a:t>
            </a:r>
            <a:r>
              <a:rPr lang="nl-NL" baseline="0" dirty="0" smtClean="0"/>
              <a:t>, verwachtingswaarde, variantie, en standaardafwijking)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30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latin typeface="RijksoverheidSansText" panose="020B0503040202060203" pitchFamily="34" charset="0"/>
              </a:rPr>
              <a:t>Tien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1000" dirty="0" smtClean="0">
                <a:latin typeface="RijksoverheidSansText" panose="020B0503040202060203" pitchFamily="34" charset="0"/>
              </a:rPr>
              <a:t> van Mountain Leaders,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vanuit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verschillende</a:t>
            </a:r>
            <a:r>
              <a:rPr lang="en-US" sz="1000" dirty="0" smtClean="0">
                <a:latin typeface="RijksoverheidSansText" panose="020B0503040202060203" pitchFamily="34" charset="0"/>
              </a:rPr>
              <a:t> NAVO-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landen</a:t>
            </a:r>
            <a:r>
              <a:rPr lang="en-US" sz="1000" dirty="0" smtClean="0">
                <a:latin typeface="RijksoverheidSansText" panose="020B0503040202060203" pitchFamily="34" charset="0"/>
              </a:rPr>
              <a:t>,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voeren</a:t>
            </a:r>
            <a:r>
              <a:rPr lang="en-US" sz="1000" dirty="0" smtClean="0">
                <a:latin typeface="RijksoverheidSansText" panose="020B0503040202060203" pitchFamily="34" charset="0"/>
              </a:rPr>
              <a:t> in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kader</a:t>
            </a:r>
            <a:r>
              <a:rPr lang="en-US" sz="1000" dirty="0" smtClean="0">
                <a:latin typeface="RijksoverheidSansText" panose="020B0503040202060203" pitchFamily="34" charset="0"/>
              </a:rPr>
              <a:t> van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1000" dirty="0" smtClean="0">
                <a:latin typeface="RijksoverheidSansText" panose="020B0503040202060203" pitchFamily="34" charset="0"/>
              </a:rPr>
              <a:t>, ‘s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nachts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1000" dirty="0" smtClean="0">
                <a:latin typeface="RijksoverheidSansText" panose="020B0503040202060203" pitchFamily="34" charset="0"/>
              </a:rPr>
              <a:t> in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extreem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bergachtig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terrein</a:t>
            </a:r>
            <a:r>
              <a:rPr lang="en-US" sz="1000" dirty="0" smtClean="0">
                <a:latin typeface="RijksoverheidSansText" panose="020B0503040202060203" pitchFamily="34" charset="0"/>
              </a:rPr>
              <a:t>.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doel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hierbij</a:t>
            </a:r>
            <a:r>
              <a:rPr lang="en-US" sz="1000" dirty="0" smtClean="0">
                <a:latin typeface="RijksoverheidSansText" panose="020B0503040202060203" pitchFamily="34" charset="0"/>
              </a:rPr>
              <a:t> is om in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uur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bergpas</a:t>
            </a:r>
            <a:r>
              <a:rPr lang="en-US" sz="1000" dirty="0" smtClean="0">
                <a:latin typeface="RijksoverheidSansText" panose="020B0503040202060203" pitchFamily="34" charset="0"/>
              </a:rPr>
              <a:t> over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steken</a:t>
            </a:r>
            <a:r>
              <a:rPr lang="en-US" sz="1000" dirty="0" smtClean="0">
                <a:latin typeface="RijksoverheidSansText" panose="020B0503040202060203" pitchFamily="34" charset="0"/>
              </a:rPr>
              <a:t>.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historische</a:t>
            </a:r>
            <a:r>
              <a:rPr lang="en-US" sz="1000" dirty="0" smtClean="0">
                <a:latin typeface="RijksoverheidSansText" panose="020B0503040202060203" pitchFamily="34" charset="0"/>
              </a:rPr>
              <a:t> data van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blijkt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dat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met 75%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binnen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tijd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wordt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uitgevoerd</a:t>
            </a:r>
            <a:r>
              <a:rPr lang="en-US" sz="1000" dirty="0" smtClean="0">
                <a:latin typeface="RijksoverheidSansText" panose="020B0503040202060203" pitchFamily="34" charset="0"/>
              </a:rPr>
              <a:t>. De commandant van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wil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informatie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vergaren</a:t>
            </a:r>
            <a:r>
              <a:rPr lang="en-US" sz="1000" dirty="0" smtClean="0">
                <a:latin typeface="RijksoverheidSansText" panose="020B0503040202060203" pitchFamily="34" charset="0"/>
              </a:rPr>
              <a:t> over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aantal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dat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succesvol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uitvoert</a:t>
            </a:r>
            <a:r>
              <a:rPr lang="en-US" sz="1000" dirty="0" smtClean="0">
                <a:latin typeface="RijksoverheidSansText" panose="020B0503040202060203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33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latin typeface="RijksoverheidSansText" panose="020B0503040202060203" pitchFamily="34" charset="0"/>
              </a:rPr>
              <a:t>Tien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1000" dirty="0" smtClean="0">
                <a:latin typeface="RijksoverheidSansText" panose="020B0503040202060203" pitchFamily="34" charset="0"/>
              </a:rPr>
              <a:t> van Mountain Leaders,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vanuit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verschillende</a:t>
            </a:r>
            <a:r>
              <a:rPr lang="en-US" sz="1000" dirty="0" smtClean="0">
                <a:latin typeface="RijksoverheidSansText" panose="020B0503040202060203" pitchFamily="34" charset="0"/>
              </a:rPr>
              <a:t> NAVO-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landen</a:t>
            </a:r>
            <a:r>
              <a:rPr lang="en-US" sz="1000" dirty="0" smtClean="0">
                <a:latin typeface="RijksoverheidSansText" panose="020B0503040202060203" pitchFamily="34" charset="0"/>
              </a:rPr>
              <a:t>,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voeren</a:t>
            </a:r>
            <a:r>
              <a:rPr lang="en-US" sz="1000" dirty="0" smtClean="0">
                <a:latin typeface="RijksoverheidSansText" panose="020B0503040202060203" pitchFamily="34" charset="0"/>
              </a:rPr>
              <a:t> in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kader</a:t>
            </a:r>
            <a:r>
              <a:rPr lang="en-US" sz="1000" dirty="0" smtClean="0">
                <a:latin typeface="RijksoverheidSansText" panose="020B0503040202060203" pitchFamily="34" charset="0"/>
              </a:rPr>
              <a:t> van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1000" dirty="0" smtClean="0">
                <a:latin typeface="RijksoverheidSansText" panose="020B0503040202060203" pitchFamily="34" charset="0"/>
              </a:rPr>
              <a:t>, ‘s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nachts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1000" dirty="0" smtClean="0">
                <a:latin typeface="RijksoverheidSansText" panose="020B0503040202060203" pitchFamily="34" charset="0"/>
              </a:rPr>
              <a:t> in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extreem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bergachtig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terrein</a:t>
            </a:r>
            <a:r>
              <a:rPr lang="en-US" sz="1000" dirty="0" smtClean="0">
                <a:latin typeface="RijksoverheidSansText" panose="020B0503040202060203" pitchFamily="34" charset="0"/>
              </a:rPr>
              <a:t>.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doel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hierbij</a:t>
            </a:r>
            <a:r>
              <a:rPr lang="en-US" sz="1000" dirty="0" smtClean="0">
                <a:latin typeface="RijksoverheidSansText" panose="020B0503040202060203" pitchFamily="34" charset="0"/>
              </a:rPr>
              <a:t> is om in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uur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bergpas</a:t>
            </a:r>
            <a:r>
              <a:rPr lang="en-US" sz="1000" dirty="0" smtClean="0">
                <a:latin typeface="RijksoverheidSansText" panose="020B0503040202060203" pitchFamily="34" charset="0"/>
              </a:rPr>
              <a:t> over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steken</a:t>
            </a:r>
            <a:r>
              <a:rPr lang="en-US" sz="1000" dirty="0" smtClean="0">
                <a:latin typeface="RijksoverheidSansText" panose="020B0503040202060203" pitchFamily="34" charset="0"/>
              </a:rPr>
              <a:t>.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historische</a:t>
            </a:r>
            <a:r>
              <a:rPr lang="en-US" sz="1000" dirty="0" smtClean="0">
                <a:latin typeface="RijksoverheidSansText" panose="020B0503040202060203" pitchFamily="34" charset="0"/>
              </a:rPr>
              <a:t> data van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blijkt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dat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met 75%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binnen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tijd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wordt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uitgevoerd</a:t>
            </a:r>
            <a:r>
              <a:rPr lang="en-US" sz="1000" dirty="0" smtClean="0">
                <a:latin typeface="RijksoverheidSansText" panose="020B0503040202060203" pitchFamily="34" charset="0"/>
              </a:rPr>
              <a:t>. De commandant van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wil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informatie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vergaren</a:t>
            </a:r>
            <a:r>
              <a:rPr lang="en-US" sz="1000" dirty="0" smtClean="0">
                <a:latin typeface="RijksoverheidSansText" panose="020B0503040202060203" pitchFamily="34" charset="0"/>
              </a:rPr>
              <a:t> over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aantal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dat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succesvol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uitvoert</a:t>
            </a:r>
            <a:r>
              <a:rPr lang="en-US" sz="1000" dirty="0" smtClean="0">
                <a:latin typeface="RijksoverheidSansText" panose="020B0503040202060203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Eventuele voettekst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C98DC9-4F28-4B39-8B6E-408133FC7853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334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973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dirty="0" err="1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</a:t>
            </a:r>
            <a:r>
              <a:rPr lang="en-US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Militaire</a:t>
            </a:r>
            <a:r>
              <a:rPr lang="en-US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Wetenschappen</a:t>
            </a:r>
            <a:endParaRPr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  <a:endParaRPr lang="nl-NL" noProof="0" dirty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>
              <a:defRPr/>
            </a:pPr>
            <a:r>
              <a:rPr lang="nl-NL" dirty="0" smtClean="0"/>
              <a:t>27 januari 2025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RijksoverheidSansHeadingTT" panose="020B0503040202060203" pitchFamily="34" charset="0"/>
              </a:defRPr>
            </a:lvl1pPr>
            <a:lvl2pPr>
              <a:defRPr>
                <a:latin typeface="RijksoverheidSansHeadingTT" panose="020B0503040202060203" pitchFamily="34" charset="0"/>
              </a:defRPr>
            </a:lvl2pPr>
            <a:lvl3pPr>
              <a:defRPr>
                <a:latin typeface="RijksoverheidSansHeadingTT" panose="020B0503040202060203" pitchFamily="34" charset="0"/>
              </a:defRPr>
            </a:lvl3pPr>
            <a:lvl4pPr>
              <a:defRPr>
                <a:latin typeface="RijksoverheidSansHeadingTT" panose="020B0503040202060203" pitchFamily="34" charset="0"/>
              </a:defRPr>
            </a:lvl4pPr>
            <a:lvl5pPr>
              <a:defRPr>
                <a:latin typeface="RijksoverheidSansHeadingTT" panose="020B0503040202060203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  <a:endParaRPr lang="nl-NL" noProof="0" dirty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 smtClean="0"/>
              <a:t>6 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5012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6 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75244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6 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84144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6 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5667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6 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4625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6 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919762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6 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380138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6 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912389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6 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194255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6 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621850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5654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Nederlandse Defensie Academie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Dr. ir. D. Blom / Dr. M. van Ee</a:t>
            </a: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1700213"/>
            <a:ext cx="4798484" cy="889000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 smtClean="0"/>
              <a:t>Klik om de stijl te bewerken</a:t>
            </a:r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smtClean="0"/>
              <a:t>Klik om de ondertitelstijl van het model te bewerken</a:t>
            </a:r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24983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13610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RijksoverheidSansText" panose="020B0503040202060203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393812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55593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Text" panose="020B05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91182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3866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2034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>
                <a:latin typeface="RijksoverheidSansText" panose="020B0503040202060203" pitchFamily="34" charset="0"/>
              </a:defRPr>
            </a:lvl1pPr>
            <a:lvl2pPr>
              <a:defRPr sz="2800">
                <a:latin typeface="RijksoverheidSansText" panose="020B0503040202060203" pitchFamily="34" charset="0"/>
              </a:defRPr>
            </a:lvl2pPr>
            <a:lvl3pPr>
              <a:defRPr sz="2400">
                <a:latin typeface="RijksoverheidSansText" panose="020B0503040202060203" pitchFamily="34" charset="0"/>
              </a:defRPr>
            </a:lvl3pPr>
            <a:lvl4pPr>
              <a:defRPr sz="2000">
                <a:latin typeface="RijksoverheidSansText" panose="020B0503040202060203" pitchFamily="34" charset="0"/>
              </a:defRPr>
            </a:lvl4pPr>
            <a:lvl5pPr>
              <a:defRPr sz="2000">
                <a:latin typeface="RijksoverheidSansText" panose="020B050304020206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312726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>
                <a:latin typeface="RijksoverheidSansText" panose="020B050304020206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 dirty="0" smtClean="0"/>
              <a:t>Klik op het pictogram als u een afbeelding wilt toevoegen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19035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383870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594549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5" r:id="rId11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College 2: 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 smtClean="0"/>
              <a:t>6 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840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 MBW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653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ractive-binomiaal.streamlit.app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Titel"/>
          <p:cNvSpPr>
            <a:spLocks noGrp="1" noChangeArrowheads="1"/>
          </p:cNvSpPr>
          <p:nvPr>
            <p:ph type="title"/>
          </p:nvPr>
        </p:nvSpPr>
        <p:spPr>
          <a:xfrm>
            <a:off x="6457951" y="2097087"/>
            <a:ext cx="5040000" cy="492443"/>
          </a:xfrm>
        </p:spPr>
        <p:txBody>
          <a:bodyPr anchor="t" anchorCtr="0"/>
          <a:lstStyle/>
          <a:p>
            <a:r>
              <a:rPr lang="en-US" dirty="0" err="1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Statistiek</a:t>
            </a:r>
            <a:r>
              <a:rPr lang="en-US" dirty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: college </a:t>
            </a:r>
            <a:r>
              <a:rPr lang="en-US" dirty="0" smtClean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4a</a:t>
            </a:r>
            <a:endParaRPr lang="nl-NL" dirty="0" smtClean="0">
              <a:solidFill>
                <a:srgbClr val="113652"/>
              </a:solidFill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4099" name="shpTekst"/>
          <p:cNvSpPr>
            <a:spLocks noGrp="1" noChangeArrowheads="1"/>
          </p:cNvSpPr>
          <p:nvPr>
            <p:ph type="body" idx="1"/>
          </p:nvPr>
        </p:nvSpPr>
        <p:spPr>
          <a:xfrm>
            <a:off x="6458400" y="3236400"/>
            <a:ext cx="5040000" cy="986400"/>
          </a:xfrm>
        </p:spPr>
        <p:txBody>
          <a:bodyPr/>
          <a:lstStyle/>
          <a:p>
            <a:pPr eaLnBrk="1" hangingPunct="1"/>
            <a:r>
              <a:rPr lang="nl-NL" dirty="0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De binomiale verdeling (1/2)</a:t>
            </a:r>
          </a:p>
        </p:txBody>
      </p:sp>
      <p:sp>
        <p:nvSpPr>
          <p:cNvPr id="4100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2026</a:t>
            </a:r>
          </a:p>
        </p:txBody>
      </p:sp>
    </p:spTree>
    <p:extLst>
      <p:ext uri="{BB962C8B-B14F-4D97-AF65-F5344CB8AC3E}">
        <p14:creationId xmlns:p14="http://schemas.microsoft.com/office/powerpoint/2010/main" val="230128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Terugblik</a:t>
            </a:r>
            <a:endParaRPr lang="nl-NL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nl-NL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smtClean="0"/>
              <a:t>Introductie </a:t>
            </a:r>
            <a:r>
              <a:rPr lang="nl-NL" dirty="0"/>
              <a:t>statistiek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Datavisualisaties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Discrete en continue </a:t>
            </a:r>
            <a:r>
              <a:rPr lang="nl-NL" dirty="0" err="1" smtClean="0"/>
              <a:t>kansvariabelen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800219"/>
          </a:xfrm>
        </p:spPr>
        <p:txBody>
          <a:bodyPr/>
          <a:lstStyle/>
          <a:p>
            <a:pPr eaLnBrk="1" hangingPunct="1"/>
            <a:r>
              <a:rPr lang="en-US" dirty="0" err="1" smtClean="0"/>
              <a:t>Leerdoelen</a:t>
            </a:r>
            <a:r>
              <a:rPr lang="en-US" dirty="0" smtClean="0"/>
              <a:t/>
            </a:r>
            <a:br>
              <a:rPr lang="en-US" dirty="0" smtClean="0"/>
            </a:br>
            <a:endParaRPr lang="nl-NL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400" dirty="0"/>
              <a:t>Aan het eind van dit college kunnen studenten:</a:t>
            </a:r>
          </a:p>
          <a:p>
            <a:endParaRPr lang="nl-N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dirty="0"/>
              <a:t>d</a:t>
            </a:r>
            <a:r>
              <a:rPr lang="nl-NL" sz="2400" dirty="0" smtClean="0"/>
              <a:t>e eigenschappen van de </a:t>
            </a:r>
            <a:r>
              <a:rPr lang="nl-NL" sz="2400" dirty="0" err="1" smtClean="0"/>
              <a:t>Bernoulli</a:t>
            </a:r>
            <a:r>
              <a:rPr lang="nl-NL" sz="2400" dirty="0" smtClean="0"/>
              <a:t> verdeling en </a:t>
            </a:r>
            <a:r>
              <a:rPr lang="nl-NL" sz="2400" dirty="0"/>
              <a:t>de binomiale </a:t>
            </a:r>
            <a:r>
              <a:rPr lang="nl-NL" sz="2400" dirty="0" smtClean="0"/>
              <a:t>verdeling benoemen en herkennen in een militaire context.</a:t>
            </a:r>
            <a:endParaRPr lang="nl-NL" sz="2400" dirty="0"/>
          </a:p>
          <a:p>
            <a:pPr marL="0" indent="0">
              <a:buNone/>
            </a:pPr>
            <a:endParaRPr lang="nl-N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dirty="0" smtClean="0"/>
              <a:t>Berekeningen uitvoeren met de binomiale kansverdeling aan de hand van de formule van de binomiale </a:t>
            </a:r>
            <a:r>
              <a:rPr lang="nl-NL" sz="2400" dirty="0" err="1" smtClean="0"/>
              <a:t>kansfunctie</a:t>
            </a:r>
            <a:r>
              <a:rPr lang="nl-NL" sz="2400" dirty="0" smtClean="0"/>
              <a:t> en met behulp van de grafische rekenmachine.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30887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 err="1" smtClean="0"/>
              <a:t>Welke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eigenschappen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heeft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een</a:t>
            </a:r>
            <a:r>
              <a:rPr lang="en-US" sz="2800" b="1" dirty="0" smtClean="0"/>
              <a:t> discrete </a:t>
            </a:r>
            <a:r>
              <a:rPr lang="en-US" sz="2800" b="1" dirty="0" err="1" smtClean="0"/>
              <a:t>kansvariabele</a:t>
            </a:r>
            <a:r>
              <a:rPr lang="en-US" sz="2800" b="1" dirty="0" smtClean="0"/>
              <a:t>? </a:t>
            </a:r>
            <a:endParaRPr 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7779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smtClean="0"/>
              <a:t>Casus: </a:t>
            </a:r>
            <a:r>
              <a:rPr lang="en-US" dirty="0" err="1" smtClean="0"/>
              <a:t>bergoperaties</a:t>
            </a:r>
            <a:r>
              <a:rPr lang="en-US" dirty="0" smtClean="0"/>
              <a:t> van Mountain Leaders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6291312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Tien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van </a:t>
            </a:r>
            <a:r>
              <a:rPr lang="en-US" sz="2400" dirty="0">
                <a:latin typeface="RijksoverheidSansText" panose="020B0503040202060203" pitchFamily="34" charset="0"/>
              </a:rPr>
              <a:t>Mountain </a:t>
            </a:r>
            <a:r>
              <a:rPr lang="en-US" sz="2400" dirty="0" smtClean="0">
                <a:latin typeface="RijksoverheidSansText" panose="020B0503040202060203" pitchFamily="34" charset="0"/>
              </a:rPr>
              <a:t>Leaders in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2400" dirty="0" smtClean="0">
                <a:latin typeface="RijksoverheidSansText" panose="020B0503040202060203" pitchFamily="34" charset="0"/>
              </a:rPr>
              <a:t> NAVO-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2400" dirty="0" smtClean="0">
                <a:latin typeface="RijksoverheidSansText" panose="020B0503040202060203" pitchFamily="34" charset="0"/>
              </a:rPr>
              <a:t> in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Noorwegen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latin typeface="RijksoverheidSansText" panose="020B0503040202060203" pitchFamily="34" charset="0"/>
              </a:rPr>
              <a:t>Doel</a:t>
            </a:r>
            <a:r>
              <a:rPr lang="en-US" sz="2400" b="1" dirty="0" smtClean="0">
                <a:latin typeface="RijksoverheidSansText" panose="020B0503040202060203" pitchFamily="34" charset="0"/>
              </a:rPr>
              <a:t>: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uitvoeren</a:t>
            </a:r>
            <a:r>
              <a:rPr lang="en-US" sz="2400" dirty="0" smtClean="0">
                <a:latin typeface="RijksoverheidSansText" panose="020B0503040202060203" pitchFamily="34" charset="0"/>
              </a:rPr>
              <a:t> over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bergpas</a:t>
            </a:r>
            <a:r>
              <a:rPr lang="en-US" sz="2400" dirty="0" smtClean="0">
                <a:latin typeface="RijksoverheidSansText" panose="020B0503040202060203" pitchFamily="34" charset="0"/>
              </a:rPr>
              <a:t>,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binnen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bepaalde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tijd</a:t>
            </a:r>
            <a:r>
              <a:rPr lang="en-US" sz="2400" dirty="0" smtClean="0">
                <a:latin typeface="RijksoverheidSansText" panose="020B0503040202060203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RijksoverheidSansText" panose="020B0503040202060203" pitchFamily="34" charset="0"/>
              </a:rPr>
              <a:t>Historische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oefeningsdata</a:t>
            </a:r>
            <a:r>
              <a:rPr lang="en-US" sz="2400" dirty="0" smtClean="0">
                <a:latin typeface="RijksoverheidSansText" panose="020B0503040202060203" pitchFamily="34" charset="0"/>
              </a:rPr>
              <a:t>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75</a:t>
            </a:r>
            <a:r>
              <a:rPr lang="en-US" sz="2400" dirty="0">
                <a:latin typeface="RijksoverheidSansText" panose="020B0503040202060203" pitchFamily="34" charset="0"/>
              </a:rPr>
              <a:t>%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2400" dirty="0" smtClean="0">
                <a:latin typeface="RijksoverheidSansText" panose="020B0503040202060203" pitchFamily="34" charset="0"/>
              </a:rPr>
              <a:t> op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succes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endParaRPr lang="en-US" sz="2400" b="1" dirty="0" smtClean="0">
              <a:latin typeface="RijksoverheidSansText" panose="020B0503040202060203" pitchFamily="34" charset="0"/>
            </a:endParaRPr>
          </a:p>
          <a:p>
            <a:pPr marL="0" indent="0">
              <a:buNone/>
            </a:pPr>
            <a:r>
              <a:rPr lang="nl-NL" sz="2400" b="1" dirty="0" smtClean="0"/>
              <a:t>Wat kunnen we zeggen over het aantal eenheden dat de verplaatsing succesvol uitvoert?</a:t>
            </a:r>
            <a:endParaRPr lang="en-US" sz="2400" b="1" dirty="0" smtClean="0"/>
          </a:p>
          <a:p>
            <a:pPr algn="ctr"/>
            <a:endParaRPr lang="en-US" sz="2400" b="1" dirty="0" smtClean="0"/>
          </a:p>
          <a:p>
            <a:pPr algn="ctr"/>
            <a:endParaRPr lang="nl-NL" sz="2400" b="1" dirty="0" smtClean="0"/>
          </a:p>
          <a:p>
            <a:pPr algn="ctr"/>
            <a:endParaRPr lang="en-US" sz="2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144" y="2324513"/>
            <a:ext cx="4716016" cy="3144011"/>
          </a:xfrm>
          <a:prstGeom prst="rect">
            <a:avLst/>
          </a:prstGeom>
        </p:spPr>
      </p:pic>
      <p:sp>
        <p:nvSpPr>
          <p:cNvPr id="7" name="Tekstvak 6"/>
          <p:cNvSpPr txBox="1"/>
          <p:nvPr/>
        </p:nvSpPr>
        <p:spPr>
          <a:xfrm>
            <a:off x="7896200" y="5589240"/>
            <a:ext cx="37444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https://magazines.defensie.nl/defensiekrant/2015/17/mountain-leaders</a:t>
            </a:r>
          </a:p>
        </p:txBody>
      </p:sp>
    </p:spTree>
    <p:extLst>
      <p:ext uri="{BB962C8B-B14F-4D97-AF65-F5344CB8AC3E}">
        <p14:creationId xmlns:p14="http://schemas.microsoft.com/office/powerpoint/2010/main" val="55050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/>
          <p:cNvGraphicFramePr/>
          <p:nvPr>
            <p:extLst/>
          </p:nvPr>
        </p:nvGraphicFramePr>
        <p:xfrm>
          <a:off x="539277" y="1265239"/>
          <a:ext cx="11269018" cy="5058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Recap: </a:t>
            </a:r>
            <a:r>
              <a:rPr lang="en-US" b="1" dirty="0" err="1" smtClean="0"/>
              <a:t>kansexperiment</a:t>
            </a:r>
            <a:endParaRPr lang="nl-NL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6 mei 2025</a:t>
            </a:r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2135560" y="4221088"/>
            <a:ext cx="1800200" cy="792088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37582" y="3501008"/>
            <a:ext cx="367240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Lab-experiment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Meting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Afname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 van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een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enquête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 panose="020B0503040202060203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Simulatie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 panose="020B0503040202060203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…</a:t>
            </a:r>
            <a:endParaRPr kumimoji="0" lang="nl-NL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 panose="020B0503040202060203" pitchFamily="34" charset="0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5400" y="5819050"/>
            <a:ext cx="11809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Kansvariabele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: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aan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toeval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onderhevige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variabele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die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tijdens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het experiment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wordt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gemeten</a:t>
            </a:r>
            <a:endParaRPr kumimoji="0" lang="nl-NL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68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</a:t>
            </a:r>
            <a:r>
              <a:rPr lang="en-US" dirty="0" err="1" smtClean="0"/>
              <a:t>kansvariabele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r>
                  <a:rPr lang="nl-NL" sz="2400" dirty="0" smtClean="0">
                    <a:latin typeface="RijksoverheidSansText" panose="020B0503040202060203" pitchFamily="34" charset="0"/>
                  </a:rPr>
                  <a:t>Eerst bekijken we de onzekerheid voor een enkele eenheid:</a:t>
                </a:r>
                <a:endParaRPr lang="nl-NL" sz="2400" b="0" dirty="0" smtClean="0">
                  <a:latin typeface="RijksoverheidSansText" panose="020B0503040202060203" pitchFamily="34" charset="0"/>
                </a:endParaRPr>
              </a:p>
              <a:p>
                <a:endParaRPr lang="nl-NL" sz="2400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sz="2400" b="1" dirty="0" smtClean="0">
                    <a:latin typeface="RijksoverheidSansText" panose="020B0503040202060203" pitchFamily="34" charset="0"/>
                  </a:rPr>
                  <a:t>“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Heeft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eenheid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verplaatsing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ongezien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binnen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tijd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uitgevoerd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?”</a:t>
                </a:r>
              </a:p>
              <a:p>
                <a:endParaRPr lang="nl-NL" sz="2400" dirty="0" smtClean="0">
                  <a:latin typeface="RijksoverheidSansText" panose="020B0503040202060203" pitchFamily="34" charset="0"/>
                </a:endParaRPr>
              </a:p>
              <a:p>
                <a:r>
                  <a:rPr lang="nl-NL" sz="2400" dirty="0" smtClean="0">
                    <a:latin typeface="RijksoverheidSansText" panose="020B0503040202060203" pitchFamily="34" charset="0"/>
                  </a:rPr>
                  <a:t>Het antwoord op deze vraag is een </a:t>
                </a:r>
                <a:r>
                  <a:rPr lang="en-US" sz="2400" b="1" dirty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discrete </a:t>
                </a:r>
                <a:r>
                  <a:rPr lang="en-US" sz="2400" b="1" dirty="0" err="1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kansvariabele</a:t>
                </a:r>
                <a:r>
                  <a:rPr lang="nl-NL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nl-NL" sz="2400" b="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De</a:t>
                </a:r>
                <a:r>
                  <a:rPr lang="nl-NL" sz="2400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nl-NL" sz="2400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uitkomstenruimte: </a:t>
                </a:r>
                <a:r>
                  <a:rPr lang="nl-NL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0 (geen succes) en 1 (wel succes)</a:t>
                </a:r>
                <a:endParaRPr lang="en-US" sz="2400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De 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onderliggende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kansverdeling</a:t>
                </a:r>
                <a:r>
                  <a:rPr lang="en-US" sz="2400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is:</a:t>
                </a: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2"/>
                <a:stretch>
                  <a:fillRect l="-1688" t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0769115"/>
                  </p:ext>
                </p:extLst>
              </p:nvPr>
            </p:nvGraphicFramePr>
            <p:xfrm>
              <a:off x="3107689" y="5013176"/>
              <a:ext cx="5777655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7321">
                      <a:extLst>
                        <a:ext uri="{9D8B030D-6E8A-4147-A177-3AD203B41FA5}">
                          <a16:colId xmlns:a16="http://schemas.microsoft.com/office/drawing/2014/main" val="3764887803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3550144982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2375152560"/>
                        </a:ext>
                      </a:extLst>
                    </a:gridCol>
                  </a:tblGrid>
                  <a:tr h="29883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1854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1−0.75=0.25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0.75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152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0769115"/>
                  </p:ext>
                </p:extLst>
              </p:nvPr>
            </p:nvGraphicFramePr>
            <p:xfrm>
              <a:off x="3107689" y="5013176"/>
              <a:ext cx="5777655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7321">
                      <a:extLst>
                        <a:ext uri="{9D8B030D-6E8A-4147-A177-3AD203B41FA5}">
                          <a16:colId xmlns:a16="http://schemas.microsoft.com/office/drawing/2014/main" val="3764887803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3550144982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237515256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4" t="-1639" r="-199686" b="-1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49" t="-1639" r="-100949" b="-1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87" t="-1639" r="-1270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854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4" t="-101639" r="-199686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49" t="-101639" r="-10094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87" t="-101639" r="-1270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0152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808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Bernoulli-experiment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755808" cy="4246562"/>
              </a:xfrm>
            </p:spPr>
            <p:txBody>
              <a:bodyPr/>
              <a:lstStyle/>
              <a:p>
                <a:r>
                  <a:rPr lang="en-US" sz="2400" dirty="0" err="1" smtClean="0">
                    <a:latin typeface="RijksoverheidSansText" panose="020B0503040202060203" pitchFamily="34" charset="0"/>
                  </a:rPr>
                  <a:t>Dit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is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voorbeeld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van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Bernoulli-experiment.</a:t>
                </a:r>
              </a:p>
              <a:p>
                <a:endParaRPr lang="en-US" sz="2400" b="1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latin typeface="RijksoverheidSansText" panose="020B0503040202060203" pitchFamily="34" charset="0"/>
                  </a:rPr>
                  <a:t>Twee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uitkomsten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: “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succes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”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) 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en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“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mislukking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”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Parameter: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de 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succeskans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i="1" dirty="0" smtClean="0">
                  <a:latin typeface="RijksoverheidSansText" panose="020B0503040202060203" pitchFamily="34" charset="0"/>
                </a:endParaRP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endParaRPr lang="en-US" sz="2400" b="0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sz="2400" b="0" dirty="0" smtClean="0">
                    <a:latin typeface="RijksoverheidSansText" panose="020B0503040202060203" pitchFamily="34" charset="0"/>
                  </a:rPr>
                  <a:t>De </a:t>
                </a:r>
                <a:r>
                  <a:rPr lang="en-US" sz="2400" b="0" dirty="0" err="1" smtClean="0">
                    <a:latin typeface="RijksoverheidSansText" panose="020B0503040202060203" pitchFamily="34" charset="0"/>
                  </a:rPr>
                  <a:t>kansvariabele</a:t>
                </a:r>
                <a:r>
                  <a:rPr lang="en-US" sz="2400" b="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0" dirty="0" err="1" smtClean="0">
                    <a:latin typeface="RijksoverheidSansText" panose="020B0503040202060203" pitchFamily="34" charset="0"/>
                  </a:rPr>
                  <a:t>wordt</a:t>
                </a:r>
                <a:r>
                  <a:rPr lang="en-US" sz="2400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0" dirty="0" err="1" smtClean="0">
                    <a:latin typeface="RijksoverheidSansText" panose="020B0503040202060203" pitchFamily="34" charset="0"/>
                  </a:rPr>
                  <a:t>ook</a:t>
                </a:r>
                <a:r>
                  <a:rPr lang="en-US" sz="2400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0" dirty="0" err="1" smtClean="0">
                    <a:latin typeface="RijksoverheidSansText" panose="020B0503040202060203" pitchFamily="34" charset="0"/>
                  </a:rPr>
                  <a:t>wel</a:t>
                </a:r>
                <a:r>
                  <a:rPr lang="en-US" sz="2400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0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sz="2400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Bernoulli-</a:t>
                </a:r>
                <a:r>
                  <a:rPr lang="en-US" sz="2400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variabele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genoemd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endParaRPr lang="nl-NL" sz="2400" b="1" dirty="0" smtClean="0">
                  <a:latin typeface="RijksoverheidSansText" panose="020B0503040202060203" pitchFamily="34" charset="0"/>
                </a:endParaRPr>
              </a:p>
              <a:p>
                <a:endParaRPr lang="nl-NL" sz="2400" b="1" dirty="0" smtClean="0">
                  <a:latin typeface="RijksoverheidSansText" panose="020B0503040202060203" pitchFamily="34" charset="0"/>
                </a:endParaRPr>
              </a:p>
              <a:p>
                <a:pPr algn="ctr"/>
                <a:r>
                  <a:rPr lang="nl-NL" sz="2400" b="1" i="1" dirty="0" smtClean="0">
                    <a:latin typeface="RijksoverheidSansText" panose="020B0503040202060203" pitchFamily="34" charset="0"/>
                  </a:rPr>
                  <a:t>Wat zijn andere voorbeelden van </a:t>
                </a:r>
                <a:r>
                  <a:rPr lang="nl-NL" sz="2400" b="1" i="1" dirty="0" err="1" smtClean="0">
                    <a:latin typeface="RijksoverheidSansText" panose="020B0503040202060203" pitchFamily="34" charset="0"/>
                  </a:rPr>
                  <a:t>Bernoulli</a:t>
                </a:r>
                <a:r>
                  <a:rPr lang="nl-NL" sz="2400" b="1" i="1" dirty="0" smtClean="0">
                    <a:latin typeface="RijksoverheidSansText" panose="020B0503040202060203" pitchFamily="34" charset="0"/>
                  </a:rPr>
                  <a:t>-experimenten?</a:t>
                </a:r>
                <a:endParaRPr lang="nl-NL" sz="2400" b="1" i="1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755808" cy="4246562"/>
              </a:xfrm>
              <a:blipFill>
                <a:blip r:embed="rId2"/>
                <a:stretch>
                  <a:fillRect l="-1700" t="-2582" b="-3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8606947"/>
                  </p:ext>
                </p:extLst>
              </p:nvPr>
            </p:nvGraphicFramePr>
            <p:xfrm>
              <a:off x="3301876" y="3528219"/>
              <a:ext cx="5777655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7321">
                      <a:extLst>
                        <a:ext uri="{9D8B030D-6E8A-4147-A177-3AD203B41FA5}">
                          <a16:colId xmlns:a16="http://schemas.microsoft.com/office/drawing/2014/main" val="3764887803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3550144982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2375152560"/>
                        </a:ext>
                      </a:extLst>
                    </a:gridCol>
                  </a:tblGrid>
                  <a:tr h="29883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1854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152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8606947"/>
                  </p:ext>
                </p:extLst>
              </p:nvPr>
            </p:nvGraphicFramePr>
            <p:xfrm>
              <a:off x="3301876" y="3528219"/>
              <a:ext cx="5777655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7321">
                      <a:extLst>
                        <a:ext uri="{9D8B030D-6E8A-4147-A177-3AD203B41FA5}">
                          <a16:colId xmlns:a16="http://schemas.microsoft.com/office/drawing/2014/main" val="3764887803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3550144982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237515256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314" t="-1639" r="-199686" b="-1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100949" t="-1639" r="-100949" b="-1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1587" t="-1639" r="-1270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854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314" t="-101639" r="-199686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100949" t="-101639" r="-10094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1587" t="-101639" r="-1270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0152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05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</a:t>
            </a:r>
            <a:r>
              <a:rPr lang="en-US" dirty="0" err="1" smtClean="0"/>
              <a:t>kansvariabele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r>
                  <a:rPr lang="nl-NL" sz="2400" dirty="0" smtClean="0">
                    <a:latin typeface="RijksoverheidSansText" panose="020B0503040202060203" pitchFamily="34" charset="0"/>
                  </a:rPr>
                  <a:t>Nu weer terug naar alle tien eenheden van </a:t>
                </a:r>
                <a:r>
                  <a:rPr lang="nl-NL" sz="2400" dirty="0" err="1" smtClean="0">
                    <a:latin typeface="RijksoverheidSansText" panose="020B0503040202060203" pitchFamily="34" charset="0"/>
                  </a:rPr>
                  <a:t>Mountain</a:t>
                </a:r>
                <a:r>
                  <a:rPr lang="nl-NL" sz="2400" dirty="0" smtClean="0">
                    <a:latin typeface="RijksoverheidSansText" panose="020B0503040202060203" pitchFamily="34" charset="0"/>
                  </a:rPr>
                  <a:t> Leaders.</a:t>
                </a:r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het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verplaatsing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ongezien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binnen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tijd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uitvoert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.</a:t>
                </a:r>
              </a:p>
              <a:p>
                <a:endParaRPr lang="nl-NL" sz="2400" dirty="0" smtClean="0">
                  <a:latin typeface="RijksoverheidSansText" panose="020B0503040202060203" pitchFamily="34" charset="0"/>
                </a:endParaRPr>
              </a:p>
              <a:p>
                <a:r>
                  <a:rPr lang="nl-NL" sz="2400" dirty="0" smtClean="0">
                    <a:latin typeface="RijksoverheidSansText" panose="020B0503040202060203" pitchFamily="34" charset="0"/>
                  </a:rPr>
                  <a:t>Dit is opnieuw een </a:t>
                </a:r>
                <a:r>
                  <a:rPr lang="nl-NL" sz="2400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discrete </a:t>
                </a:r>
                <a:r>
                  <a:rPr lang="nl-NL" sz="2400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kansvariabele</a:t>
                </a:r>
                <a:r>
                  <a:rPr lang="nl-NL" sz="2400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De </a:t>
                </a:r>
                <a:r>
                  <a:rPr lang="en-US" sz="2400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uitkomstenruimte</a:t>
                </a:r>
                <a:r>
                  <a:rPr lang="en-US" sz="2400" dirty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bestaat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uit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 1, 2, …, 10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De 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onderliggende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kansverdeling</a:t>
                </a:r>
                <a:r>
                  <a:rPr lang="en-US" sz="2400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is: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2400" b="1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b="1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endParaRPr lang="en-US" sz="2400" b="0" i="1" dirty="0" smtClean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723" t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3985991"/>
                  </p:ext>
                </p:extLst>
              </p:nvPr>
            </p:nvGraphicFramePr>
            <p:xfrm>
              <a:off x="1831661" y="4509120"/>
              <a:ext cx="8574069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4973">
                      <a:extLst>
                        <a:ext uri="{9D8B030D-6E8A-4147-A177-3AD203B41FA5}">
                          <a16:colId xmlns:a16="http://schemas.microsoft.com/office/drawing/2014/main" val="3789292417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1889663997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643412763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1694062046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797136306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647225093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2332787275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2594302235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1696080177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909563458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239643732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40016924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01694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80820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3985991"/>
                  </p:ext>
                </p:extLst>
              </p:nvPr>
            </p:nvGraphicFramePr>
            <p:xfrm>
              <a:off x="1831661" y="4509120"/>
              <a:ext cx="8574069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4973">
                      <a:extLst>
                        <a:ext uri="{9D8B030D-6E8A-4147-A177-3AD203B41FA5}">
                          <a16:colId xmlns:a16="http://schemas.microsoft.com/office/drawing/2014/main" val="3789292417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1889663997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643412763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1694062046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797136306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647225093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2332787275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2594302235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1696080177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909563458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239643732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40016924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15" t="-1613" r="-627835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5676" t="-1613" r="-997297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8182" t="-1613" r="-906364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8182" t="-1613" r="-806364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8182" t="-1613" r="-706364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2973" t="-1613" r="-600000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79091" t="-1613" r="-505455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79091" t="-1613" r="-405455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79091" t="-1613" r="-305455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70270" t="-1613" r="-202703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80000" t="-1613" r="-104545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80000" t="-1613" r="-4545" b="-1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01694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15" t="-103279" r="-627835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5676" t="-103279" r="-997297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8182" t="-103279" r="-906364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8182" t="-103279" r="-806364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8182" t="-103279" r="-706364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2973" t="-103279" r="-600000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79091" t="-103279" r="-505455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79091" t="-103279" r="-405455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79091" t="-103279" r="-305455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70270" t="-103279" r="-202703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80000" t="-103279" r="-104545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80000" t="-103279" r="-4545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80820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733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Hoe </a:t>
            </a:r>
            <a:r>
              <a:rPr lang="en-US" dirty="0" err="1" smtClean="0"/>
              <a:t>kunnen</a:t>
            </a:r>
            <a:r>
              <a:rPr lang="en-US" dirty="0" smtClean="0"/>
              <a:t> we </a:t>
            </a:r>
            <a:r>
              <a:rPr lang="en-US" dirty="0" err="1" smtClean="0"/>
              <a:t>kansen</a:t>
            </a:r>
            <a:r>
              <a:rPr lang="en-US" dirty="0" smtClean="0"/>
              <a:t> in </a:t>
            </a:r>
            <a:r>
              <a:rPr lang="en-US" dirty="0" err="1" smtClean="0"/>
              <a:t>deze</a:t>
            </a:r>
            <a:r>
              <a:rPr lang="en-US" dirty="0" smtClean="0"/>
              <a:t> setting </a:t>
            </a:r>
            <a:r>
              <a:rPr lang="en-US" dirty="0" err="1" smtClean="0"/>
              <a:t>bepalen</a:t>
            </a:r>
            <a:r>
              <a:rPr lang="en-US" dirty="0" smtClean="0"/>
              <a:t>?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15848" cy="4246562"/>
              </a:xfrm>
            </p:spPr>
            <p:txBody>
              <a:bodyPr/>
              <a:lstStyle/>
              <a:p>
                <a:r>
                  <a:rPr lang="en-US" sz="2400" dirty="0" smtClean="0">
                    <a:latin typeface="RijksoverheidSansText" panose="020B0503040202060203" pitchFamily="34" charset="0"/>
                  </a:rPr>
                  <a:t>Stel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we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willen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bepalen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op </a:t>
                </a:r>
                <a14:m>
                  <m:oMath xmlns:m="http://schemas.openxmlformats.org/officeDocument/2006/math">
                    <m:r>
                      <a:rPr lang="nl-NL" sz="2400" b="0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succesvolle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verplaatsingen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=8)</m:t>
                    </m:r>
                  </m:oMath>
                </a14:m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r>
                  <a:rPr lang="nl-NL" dirty="0" smtClean="0">
                    <a:latin typeface="RijksoverheidSansText" panose="020B0503040202060203" pitchFamily="34" charset="0"/>
                  </a:rPr>
                  <a:t>Verschillende manieren om 8 successen uit 10 eenheden te kiezen (ofwel 2 mislukkingen uit 10)!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latin typeface="RijksoverheidSansText" panose="020B0503040202060203" pitchFamily="34" charset="0"/>
                  </a:rPr>
                  <a:t>Dit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kan</a:t>
                </a:r>
                <a:r>
                  <a:rPr lang="en-US" dirty="0">
                    <a:latin typeface="RijksoverheidSansText" panose="020B0503040202060203" pitchFamily="34" charset="0"/>
                  </a:rPr>
                  <a:t> op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8!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=45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manieren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dirty="0" smtClean="0">
                    <a:latin typeface="RijksoverheidSansText" panose="020B0503040202060203" pitchFamily="34" charset="0"/>
                  </a:rPr>
                  <a:t>Iedere manier heeft een kans van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0.25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endParaRPr lang="nl-NL" dirty="0">
                  <a:latin typeface="RijksoverheidSansText" panose="020B0503040202060203" pitchFamily="34" charset="0"/>
                </a:endParaRPr>
              </a:p>
              <a:p>
                <a:endParaRPr lang="en-US" b="0" i="1" dirty="0" smtClean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15848" cy="4246562"/>
              </a:xfrm>
              <a:blipFill>
                <a:blip r:embed="rId2"/>
                <a:stretch>
                  <a:fillRect l="-1645" t="-2296" b="-4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0304181"/>
                  </p:ext>
                </p:extLst>
              </p:nvPr>
            </p:nvGraphicFramePr>
            <p:xfrm>
              <a:off x="552315" y="2348880"/>
              <a:ext cx="11305253" cy="23991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9640">
                      <a:extLst>
                        <a:ext uri="{9D8B030D-6E8A-4147-A177-3AD203B41FA5}">
                          <a16:colId xmlns:a16="http://schemas.microsoft.com/office/drawing/2014/main" val="1226535014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437621987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1486977261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338256455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278984090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366125743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336876055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3088914115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44087976"/>
                        </a:ext>
                      </a:extLst>
                    </a:gridCol>
                    <a:gridCol w="1138493">
                      <a:extLst>
                        <a:ext uri="{9D8B030D-6E8A-4147-A177-3AD203B41FA5}">
                          <a16:colId xmlns:a16="http://schemas.microsoft.com/office/drawing/2014/main" val="3847245253"/>
                        </a:ext>
                      </a:extLst>
                    </a:gridCol>
                  </a:tblGrid>
                  <a:tr h="3194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1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aseline="0" dirty="0" smtClean="0">
                              <a:latin typeface="RijksoverheidSansText" panose="020B0503040202060203" pitchFamily="34" charset="0"/>
                            </a:rPr>
                            <a:t>2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3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4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5 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6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7 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8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9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aseline="0" dirty="0" smtClean="0">
                              <a:latin typeface="RijksoverheidSansText" panose="020B0503040202060203" pitchFamily="34" charset="0"/>
                            </a:rPr>
                            <a:t>10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0229969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1378210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2019258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237543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80307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9969823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18456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0304181"/>
                  </p:ext>
                </p:extLst>
              </p:nvPr>
            </p:nvGraphicFramePr>
            <p:xfrm>
              <a:off x="552315" y="2348880"/>
              <a:ext cx="11305253" cy="23991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9640">
                      <a:extLst>
                        <a:ext uri="{9D8B030D-6E8A-4147-A177-3AD203B41FA5}">
                          <a16:colId xmlns:a16="http://schemas.microsoft.com/office/drawing/2014/main" val="1226535014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437621987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1486977261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338256455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278984090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366125743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336876055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3088914115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44087976"/>
                        </a:ext>
                      </a:extLst>
                    </a:gridCol>
                    <a:gridCol w="1138493">
                      <a:extLst>
                        <a:ext uri="{9D8B030D-6E8A-4147-A177-3AD203B41FA5}">
                          <a16:colId xmlns:a16="http://schemas.microsoft.com/office/drawing/2014/main" val="3847245253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1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aseline="0" dirty="0" smtClean="0">
                              <a:latin typeface="RijksoverheidSansText" panose="020B0503040202060203" pitchFamily="34" charset="0"/>
                            </a:rPr>
                            <a:t>2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3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4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5 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6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7 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8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9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aseline="0" dirty="0" smtClean="0">
                              <a:latin typeface="RijksoverheidSansText" panose="020B0503040202060203" pitchFamily="34" charset="0"/>
                            </a:rPr>
                            <a:t>10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0229969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1378210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2019258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237543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80307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9969823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41" t="-608929" r="-905405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608929" r="-800538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081" t="-608929" r="-704865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462" t="-608929" r="-601075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622" t="-608929" r="-504324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8925" t="-608929" r="-401613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2162" t="-608929" r="-303784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387" t="-608929" r="-202151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2703" t="-608929" r="-103243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3048" t="-608929" r="-2139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18456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/>
              <p:cNvSpPr txBox="1"/>
              <p:nvPr/>
            </p:nvSpPr>
            <p:spPr>
              <a:xfrm>
                <a:off x="7320136" y="260648"/>
                <a:ext cx="4392488" cy="476726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nl-NL" b="1" dirty="0" smtClean="0">
                    <a:latin typeface="RijksoverheidSansText" panose="020B0503040202060203" pitchFamily="34" charset="0"/>
                  </a:rPr>
                  <a:t>Notatie: </a:t>
                </a:r>
                <a14:m>
                  <m:oMath xmlns:m="http://schemas.openxmlformats.org/officeDocument/2006/math">
                    <m:r>
                      <a:rPr lang="nl-NL" b="0" i="0" smtClean="0">
                        <a:latin typeface="Cambria Math" panose="02040503050406030204" pitchFamily="18" charset="0"/>
                      </a:rPr>
                      <m:t>8!=8⋅7⋅6⋅…⋅1</m:t>
                    </m:r>
                  </m:oMath>
                </a14:m>
                <a:endParaRPr lang="en-US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6" name="Tekstvak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136" y="260648"/>
                <a:ext cx="4392488" cy="476726"/>
              </a:xfrm>
              <a:prstGeom prst="roundRect">
                <a:avLst/>
              </a:prstGeom>
              <a:blipFill>
                <a:blip r:embed="rId4"/>
                <a:stretch>
                  <a:fillRect l="-967" t="-1220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12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</a:t>
            </a:r>
            <a:r>
              <a:rPr lang="en-US" dirty="0" err="1" smtClean="0"/>
              <a:t>kansvariabele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het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verplaatsing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ongezien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binnen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tijd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uitvoert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.</a:t>
                </a:r>
              </a:p>
              <a:p>
                <a:endParaRPr lang="nl-NL" sz="2400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Eigenschappen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De </a:t>
                </a:r>
                <a:r>
                  <a:rPr lang="en-US" sz="2400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uitkomstenruimte</a:t>
                </a:r>
                <a:r>
                  <a:rPr lang="en-US" sz="2400" dirty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bestaat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uit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 1, 2, …, 10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De 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onderliggende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kansverdeling</a:t>
                </a:r>
                <a:r>
                  <a:rPr lang="en-US" sz="2400" b="1" dirty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is 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gegeven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door de 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kansfunctie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:</a:t>
                </a:r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nl-N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nl-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nl-N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nl-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2400" b="1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r>
                  <a:rPr lang="nl-NL" sz="2400" b="1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Merk op: 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Uitkomst van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deze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kansvariabele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is de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som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van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uitkomsten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van 10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onafhankelijke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Bernoulli-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variabelen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!</a:t>
                </a:r>
                <a:endParaRPr lang="en-US" sz="2400" dirty="0">
                  <a:latin typeface="Cambria Math" panose="02040503050406030204" pitchFamily="18" charset="0"/>
                </a:endParaRPr>
              </a:p>
              <a:p>
                <a:endParaRPr lang="en-US" sz="2400" b="1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endParaRPr lang="en-US" sz="2400" b="0" i="1" dirty="0" smtClean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723" t="-2296" b="-4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5779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 </a:t>
            </a:r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044768" cy="4246562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Twee parameters: </a:t>
                </a:r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het </a:t>
                </a:r>
                <a:r>
                  <a:rPr lang="en-US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Bernoulli-</a:t>
                </a:r>
                <a:r>
                  <a:rPr lang="en-US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experimenten</a:t>
                </a:r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, </a:t>
                </a:r>
                <a:r>
                  <a:rPr lang="en-US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en</a:t>
                </a:r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succeskans</a:t>
                </a:r>
                <a:r>
                  <a:rPr lang="en-US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i="1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Onafhankelijkheid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: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u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itkomst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van experiment 1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heeft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geen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invloed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op experiment 2.</a:t>
                </a:r>
                <a:endParaRPr lang="en-US" b="1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Geheeltallige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uitkomsten</a:t>
                </a:r>
                <a:r>
                  <a:rPr lang="en-US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 1, 2, …,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successen</a:t>
                </a:r>
                <a:endParaRPr lang="en-US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Kansverdeling</a:t>
                </a:r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:</a:t>
                </a:r>
                <a:endParaRPr lang="en-US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nl-N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nl-N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endParaRPr lang="nl-NL" dirty="0">
                  <a:latin typeface="RijksoverheidSansText" panose="020B0503040202060203" pitchFamily="34" charset="0"/>
                </a:endParaRPr>
              </a:p>
              <a:p>
                <a:r>
                  <a:rPr lang="en-US" dirty="0">
                    <a:latin typeface="RijksoverheidSansText" panose="020B0503040202060203" pitchFamily="34" charset="0"/>
                  </a:rPr>
                  <a:t>De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kansvariabele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wordt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ook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wel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binomiale</a:t>
                </a:r>
                <a:r>
                  <a:rPr lang="en-US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kansvariabele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genoemd</a:t>
                </a:r>
                <a:r>
                  <a:rPr lang="en-US" dirty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dirty="0" smtClean="0">
                    <a:latin typeface="RijksoverheidSansText" panose="020B0503040202060203" pitchFamily="34" charset="0"/>
                  </a:rPr>
                  <a:t>“bi” betekent “twee”,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dirty="0" smtClean="0">
                    <a:latin typeface="RijksoverheidSansText" panose="020B0503040202060203" pitchFamily="34" charset="0"/>
                  </a:rPr>
                  <a:t>“nomen” betekent “naam” of “term”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b="1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RijksoverheidSansText" panose="020B0503040202060203" pitchFamily="34" charset="0"/>
                </a:endParaRPr>
              </a:p>
              <a:p>
                <a:pPr algn="ctr"/>
                <a:r>
                  <a:rPr lang="en-US" b="1" i="1" dirty="0" err="1" smtClean="0">
                    <a:latin typeface="RijksoverheidSansText" panose="020B0503040202060203" pitchFamily="34" charset="0"/>
                  </a:rPr>
                  <a:t>Andere</a:t>
                </a:r>
                <a:r>
                  <a:rPr lang="en-US" b="1" i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i="1" dirty="0" err="1">
                    <a:latin typeface="RijksoverheidSansText" panose="020B0503040202060203" pitchFamily="34" charset="0"/>
                  </a:rPr>
                  <a:t>interpretatie</a:t>
                </a:r>
                <a:r>
                  <a:rPr lang="en-US" b="1" i="1" dirty="0">
                    <a:latin typeface="RijksoverheidSansText" panose="020B0503040202060203" pitchFamily="34" charset="0"/>
                  </a:rPr>
                  <a:t>: </a:t>
                </a:r>
                <a:r>
                  <a:rPr lang="en-US" i="1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i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 smtClean="0">
                    <a:latin typeface="RijksoverheidSansText" panose="020B0503040202060203" pitchFamily="34" charset="0"/>
                  </a:rPr>
                  <a:t>keer</a:t>
                </a:r>
                <a:r>
                  <a:rPr lang="en-US" i="1" dirty="0" smtClean="0">
                    <a:latin typeface="RijksoverheidSansText" panose="020B0503040202060203" pitchFamily="34" charset="0"/>
                  </a:rPr>
                  <a:t> kop </a:t>
                </a:r>
                <a:r>
                  <a:rPr lang="en-US" i="1" dirty="0" err="1" smtClean="0">
                    <a:latin typeface="RijksoverheidSansText" panose="020B0503040202060203" pitchFamily="34" charset="0"/>
                  </a:rPr>
                  <a:t>bij</a:t>
                </a:r>
                <a:r>
                  <a:rPr lang="en-US" i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i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 smtClean="0">
                    <a:latin typeface="RijksoverheidSansText" panose="020B0503040202060203" pitchFamily="34" charset="0"/>
                  </a:rPr>
                  <a:t>worp</a:t>
                </a:r>
                <a:r>
                  <a:rPr lang="en-US" i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met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smtClean="0">
                    <a:latin typeface="RijksoverheidSansText" panose="020B0503040202060203" pitchFamily="34" charset="0"/>
                  </a:rPr>
                  <a:t>muntjes 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met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i="1" dirty="0">
                    <a:latin typeface="RijksoverheidSansText" panose="020B0503040202060203" pitchFamily="34" charset="0"/>
                  </a:rPr>
                  <a:t> op kop,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i="1" dirty="0">
                    <a:latin typeface="RijksoverheidSansText" panose="020B0503040202060203" pitchFamily="34" charset="0"/>
                  </a:rPr>
                  <a:t> op munt</a:t>
                </a:r>
              </a:p>
              <a:p>
                <a:pPr marL="0" indent="0">
                  <a:buNone/>
                </a:pPr>
                <a:endParaRPr lang="nl-NL" dirty="0" smtClean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044768" cy="4246562"/>
              </a:xfrm>
              <a:blipFill>
                <a:blip r:embed="rId2"/>
                <a:stretch>
                  <a:fillRect l="-1545" t="-2296" r="-1214" b="-7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789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nl-NL" b="1" dirty="0" smtClean="0">
                <a:latin typeface="RijksoverheidSansText" panose="020B0503040202060203" pitchFamily="34" charset="0"/>
                <a:hlinkClick r:id="rId2"/>
              </a:rPr>
              <a:t>https://interactive-binomiaal.streamlit.app</a:t>
            </a:r>
            <a:endParaRPr lang="nl-NL" b="1" dirty="0" smtClean="0">
              <a:latin typeface="RijksoverheidSansText" panose="020B0503040202060203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1224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Kansrekening</a:t>
            </a:r>
            <a:r>
              <a:rPr lang="en-US" dirty="0" smtClean="0"/>
              <a:t> met de </a:t>
            </a:r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 anchor="t"/>
              <a:lstStyle/>
              <a:p>
                <a:pPr marL="0" indent="0">
                  <a:buNone/>
                </a:pPr>
                <a:r>
                  <a:rPr lang="en-US" dirty="0" smtClean="0">
                    <a:latin typeface="RijksoverheidSansText" panose="020B0503040202060203" pitchFamily="34" charset="0"/>
                  </a:rPr>
                  <a:t>Binomiale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kansen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kunnen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we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ook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met 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grafische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rekenmachine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uitrekenen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,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namelijk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binompdf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(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binomiale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kansfunctie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),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vinden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met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optie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binomcdf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(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binomiale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cumulatieve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verdelingsfunctie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)</a:t>
                </a:r>
                <a:r>
                  <a:rPr lang="en-US" dirty="0" smtClean="0"/>
                  <a:t> , te vinden met optie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 smtClean="0">
                  <a:latin typeface="RijksoverheidSansText" panose="020B0503040202060203" pitchFamily="34" charset="0"/>
                </a:endParaRPr>
              </a:p>
              <a:p>
                <a:pPr algn="ctr"/>
                <a:r>
                  <a:rPr lang="en-US" b="1" dirty="0" err="1" smtClean="0">
                    <a:latin typeface="RijksoverheidSansText" panose="020B0503040202060203" pitchFamily="34" charset="0"/>
                  </a:rPr>
                  <a:t>Voorbeelden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binompdf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 2</m:t>
                          </m:r>
                        </m:e>
                      </m:d>
                    </m:oMath>
                  </m:oMathPara>
                </a14:m>
                <a:endParaRPr lang="en-US" b="0" dirty="0" smtClean="0">
                  <a:latin typeface="RijksoverheidSansText" panose="020B0503040202060203" pitchFamily="34" charset="0"/>
                </a:endParaRPr>
              </a:p>
              <a:p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,4</m:t>
                          </m:r>
                        </m:e>
                      </m:d>
                    </m:oMath>
                  </m:oMathPara>
                </a14:m>
                <a:endParaRPr lang="en-US" b="0" dirty="0" smtClean="0">
                  <a:latin typeface="RijksoverheidSansText" panose="020B0503040202060203" pitchFamily="34" charset="0"/>
                </a:endParaRPr>
              </a:p>
              <a:p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,4</m:t>
                          </m:r>
                        </m:e>
                      </m:d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,7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,1)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525" t="-2009" b="-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917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smtClean="0"/>
              <a:t>Casus: </a:t>
            </a:r>
            <a:r>
              <a:rPr lang="en-US" dirty="0" err="1" smtClean="0"/>
              <a:t>bergoperaties</a:t>
            </a:r>
            <a:r>
              <a:rPr lang="en-US" dirty="0" smtClean="0"/>
              <a:t> van Mountain Leaders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6291312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Tien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van </a:t>
            </a:r>
            <a:r>
              <a:rPr lang="en-US" sz="2400" dirty="0">
                <a:latin typeface="RijksoverheidSansText" panose="020B0503040202060203" pitchFamily="34" charset="0"/>
              </a:rPr>
              <a:t>Mountain </a:t>
            </a:r>
            <a:r>
              <a:rPr lang="en-US" sz="2400" dirty="0" smtClean="0">
                <a:latin typeface="RijksoverheidSansText" panose="020B0503040202060203" pitchFamily="34" charset="0"/>
              </a:rPr>
              <a:t>Leaders in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2400" dirty="0" smtClean="0">
                <a:latin typeface="RijksoverheidSansText" panose="020B0503040202060203" pitchFamily="34" charset="0"/>
              </a:rPr>
              <a:t> NAVO-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2400" dirty="0" smtClean="0">
                <a:latin typeface="RijksoverheidSansText" panose="020B0503040202060203" pitchFamily="34" charset="0"/>
              </a:rPr>
              <a:t> in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Noorwegen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latin typeface="RijksoverheidSansText" panose="020B0503040202060203" pitchFamily="34" charset="0"/>
              </a:rPr>
              <a:t>Doel</a:t>
            </a:r>
            <a:r>
              <a:rPr lang="en-US" sz="2400" b="1" dirty="0" smtClean="0">
                <a:latin typeface="RijksoverheidSansText" panose="020B0503040202060203" pitchFamily="34" charset="0"/>
              </a:rPr>
              <a:t>: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uitvoeren</a:t>
            </a:r>
            <a:r>
              <a:rPr lang="en-US" sz="2400" dirty="0" smtClean="0">
                <a:latin typeface="RijksoverheidSansText" panose="020B0503040202060203" pitchFamily="34" charset="0"/>
              </a:rPr>
              <a:t> over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bergpas</a:t>
            </a:r>
            <a:r>
              <a:rPr lang="en-US" sz="2400" dirty="0" smtClean="0">
                <a:latin typeface="RijksoverheidSansText" panose="020B0503040202060203" pitchFamily="34" charset="0"/>
              </a:rPr>
              <a:t>,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binnen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bepaalde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tijd</a:t>
            </a:r>
            <a:r>
              <a:rPr lang="en-US" sz="2400" dirty="0" smtClean="0">
                <a:latin typeface="RijksoverheidSansText" panose="020B0503040202060203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RijksoverheidSansText" panose="020B0503040202060203" pitchFamily="34" charset="0"/>
              </a:rPr>
              <a:t>Historische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oefeningsdata</a:t>
            </a:r>
            <a:r>
              <a:rPr lang="en-US" sz="2400" dirty="0" smtClean="0">
                <a:latin typeface="RijksoverheidSansText" panose="020B0503040202060203" pitchFamily="34" charset="0"/>
              </a:rPr>
              <a:t>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75</a:t>
            </a:r>
            <a:r>
              <a:rPr lang="en-US" sz="2400" dirty="0">
                <a:latin typeface="RijksoverheidSansText" panose="020B0503040202060203" pitchFamily="34" charset="0"/>
              </a:rPr>
              <a:t>%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2400" dirty="0" smtClean="0">
                <a:latin typeface="RijksoverheidSansText" panose="020B0503040202060203" pitchFamily="34" charset="0"/>
              </a:rPr>
              <a:t> op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succes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pPr marL="0" indent="0">
              <a:buNone/>
            </a:pPr>
            <a:r>
              <a:rPr lang="nl-NL" sz="2400" b="1" dirty="0" smtClean="0"/>
              <a:t>Wat is de kans dat minstens zeven van de tien eenheden de verplaatsing succesvol uitvoert?</a:t>
            </a:r>
            <a:endParaRPr lang="en-US" sz="2400" b="1" dirty="0" smtClean="0"/>
          </a:p>
          <a:p>
            <a:pPr algn="ctr"/>
            <a:endParaRPr lang="en-US" sz="2400" b="1" dirty="0" smtClean="0"/>
          </a:p>
          <a:p>
            <a:pPr algn="ctr"/>
            <a:endParaRPr lang="nl-NL" sz="2400" b="1" dirty="0" smtClean="0"/>
          </a:p>
          <a:p>
            <a:pPr algn="ctr"/>
            <a:endParaRPr lang="en-US" sz="2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144" y="2324513"/>
            <a:ext cx="4716016" cy="3144011"/>
          </a:xfrm>
          <a:prstGeom prst="rect">
            <a:avLst/>
          </a:prstGeom>
        </p:spPr>
      </p:pic>
      <p:sp>
        <p:nvSpPr>
          <p:cNvPr id="5" name="Tekstvak 4"/>
          <p:cNvSpPr txBox="1"/>
          <p:nvPr/>
        </p:nvSpPr>
        <p:spPr>
          <a:xfrm>
            <a:off x="7896200" y="5589240"/>
            <a:ext cx="37444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https://magazines.defensie.nl/defensiekrant/2015/17/mountain-leaders</a:t>
            </a:r>
          </a:p>
        </p:txBody>
      </p:sp>
    </p:spTree>
    <p:extLst>
      <p:ext uri="{BB962C8B-B14F-4D97-AF65-F5344CB8AC3E}">
        <p14:creationId xmlns:p14="http://schemas.microsoft.com/office/powerpoint/2010/main" val="191461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: </a:t>
            </a:r>
            <a:r>
              <a:rPr lang="en-US" dirty="0" err="1"/>
              <a:t>bergoperaties</a:t>
            </a:r>
            <a:r>
              <a:rPr lang="en-US" dirty="0"/>
              <a:t> van Mountain Leaders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</p:spPr>
            <p:txBody>
              <a:bodyPr anchor="t"/>
              <a:lstStyle/>
              <a:p>
                <a:pPr marL="0" indent="0">
                  <a:buNone/>
                </a:pPr>
                <a:r>
                  <a:rPr lang="nl-NL" b="1" dirty="0"/>
                  <a:t>Wat is de kans dat minstens zeven van de tien eenheden de verplaatsing succesvol uitvoert?</a:t>
                </a:r>
                <a:endParaRPr lang="en-US" b="1" dirty="0"/>
              </a:p>
              <a:p>
                <a:pPr algn="ctr"/>
                <a:endParaRPr lang="en-US" b="1" dirty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Het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het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observatiepunt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tijdig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bereikt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is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binomiaal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verdeeld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met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=0.75.</m:t>
                    </m:r>
                  </m:oMath>
                </a14:m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We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willen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dus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≥7)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bepalen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≥7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binomcdf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7759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pPr algn="ctr"/>
                <a:r>
                  <a:rPr lang="en-US" b="1" dirty="0" smtClean="0">
                    <a:latin typeface="RijksoverheidSansText" panose="020B0503040202060203" pitchFamily="34" charset="0"/>
                  </a:rPr>
                  <a:t>Met 77.59%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voeren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minstens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zeven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van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tien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verplaatsing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succesvol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uit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</a:t>
                </a:r>
                <a:endParaRPr lang="en-US" b="1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  <a:blipFill>
                <a:blip r:embed="rId2"/>
                <a:stretch>
                  <a:fillRect l="-1556" t="-2009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3649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: </a:t>
            </a:r>
            <a:r>
              <a:rPr lang="en-US" dirty="0" err="1"/>
              <a:t>bergoperaties</a:t>
            </a:r>
            <a:r>
              <a:rPr lang="en-US" dirty="0"/>
              <a:t> van Mountain Leaders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611792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De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missie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slaagt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als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minstens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zeven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2400" dirty="0" smtClean="0">
                <a:latin typeface="RijksoverheidSansText" panose="020B0503040202060203" pitchFamily="34" charset="0"/>
              </a:rPr>
              <a:t> de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succesvol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voert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</a:p>
          <a:p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De commandant was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niet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tevreden</a:t>
            </a:r>
            <a:r>
              <a:rPr lang="en-US" sz="2400" dirty="0" smtClean="0">
                <a:latin typeface="RijksoverheidSansText" panose="020B0503040202060203" pitchFamily="34" charset="0"/>
              </a:rPr>
              <a:t> met de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berekende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2400" dirty="0" smtClean="0">
                <a:latin typeface="RijksoverheidSansText" panose="020B0503040202060203" pitchFamily="34" charset="0"/>
              </a:rPr>
              <a:t> op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slagen</a:t>
            </a:r>
            <a:r>
              <a:rPr lang="en-US" sz="2400" dirty="0" smtClean="0">
                <a:latin typeface="RijksoverheidSansText" panose="020B0503040202060203" pitchFamily="34" charset="0"/>
              </a:rPr>
              <a:t> (77.59%)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De commandant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wil</a:t>
            </a:r>
            <a:r>
              <a:rPr lang="en-US" sz="2400" dirty="0" smtClean="0">
                <a:latin typeface="RijksoverheidSansText" panose="020B0503040202060203" pitchFamily="34" charset="0"/>
              </a:rPr>
              <a:t> extra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inzetten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zodat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2400" dirty="0" smtClean="0">
                <a:latin typeface="RijksoverheidSansText" panose="020B0503040202060203" pitchFamily="34" charset="0"/>
              </a:rPr>
              <a:t> van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slagen</a:t>
            </a:r>
            <a:r>
              <a:rPr lang="en-US" sz="2400" dirty="0" smtClean="0">
                <a:latin typeface="RijksoverheidSansText" panose="020B0503040202060203" pitchFamily="34" charset="0"/>
              </a:rPr>
              <a:t> 95%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wordt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  <a:endParaRPr lang="en-US" sz="2400" dirty="0">
              <a:latin typeface="RijksoverheidSansText" panose="020B0503040202060203" pitchFamily="34" charset="0"/>
            </a:endParaRPr>
          </a:p>
          <a:p>
            <a:endParaRPr lang="en-US" sz="2400" dirty="0" smtClean="0">
              <a:latin typeface="RijksoverheidSansText" panose="020B0503040202060203" pitchFamily="34" charset="0"/>
            </a:endParaRPr>
          </a:p>
          <a:p>
            <a:endParaRPr lang="en-US" sz="2400" dirty="0">
              <a:latin typeface="RijksoverheidSansText" panose="020B0503040202060203" pitchFamily="34" charset="0"/>
            </a:endParaRPr>
          </a:p>
          <a:p>
            <a:endParaRPr lang="en-US" sz="2400" dirty="0" smtClean="0">
              <a:latin typeface="RijksoverheidSansText" panose="020B0503040202060203" pitchFamily="34" charset="0"/>
            </a:endParaRPr>
          </a:p>
          <a:p>
            <a:endParaRPr lang="en-US" sz="2400" dirty="0">
              <a:latin typeface="RijksoverheidSansText" panose="020B0503040202060203" pitchFamily="34" charset="0"/>
            </a:endParaRPr>
          </a:p>
          <a:p>
            <a:endParaRPr lang="en-US" sz="2400" dirty="0" smtClean="0">
              <a:latin typeface="RijksoverheidSansText" panose="020B0503040202060203" pitchFamily="34" charset="0"/>
            </a:endParaRPr>
          </a:p>
          <a:p>
            <a:pPr algn="ctr"/>
            <a:r>
              <a:rPr lang="en-US" sz="2400" b="1" dirty="0" err="1" smtClean="0">
                <a:latin typeface="RijksoverheidSansText" panose="020B0503040202060203" pitchFamily="34" charset="0"/>
              </a:rPr>
              <a:t>Hoeveel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extra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moeten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er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ingezet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worden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om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deze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missie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met 95%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te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laten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slagen</a:t>
            </a:r>
            <a:r>
              <a:rPr lang="en-US" sz="2400" b="1" dirty="0" smtClean="0">
                <a:latin typeface="RijksoverheidSansText" panose="020B0503040202060203" pitchFamily="34" charset="0"/>
              </a:rPr>
              <a:t>?</a:t>
            </a:r>
            <a:endParaRPr lang="nl-NL" sz="2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2195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: </a:t>
            </a:r>
            <a:r>
              <a:rPr lang="en-US" dirty="0" err="1"/>
              <a:t>bergoperaties</a:t>
            </a:r>
            <a:r>
              <a:rPr lang="en-US" dirty="0"/>
              <a:t> van Mountain Leaders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>
                    <a:latin typeface="RijksoverheidSansText" panose="020B0503040202060203" pitchFamily="34" charset="0"/>
                  </a:rPr>
                  <a:t>In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dit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geval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hebben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we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binomiaal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verdeelde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kansvariabele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l-NL" dirty="0" smtClean="0">
                    <a:latin typeface="RijksoverheidSansText" panose="020B0503040202060203" pitchFamily="34" charset="0"/>
                  </a:rPr>
                  <a:t> met nog steeds succeskans 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nl-NL" dirty="0" smtClean="0">
                    <a:latin typeface="RijksoverheidSansText" panose="020B0503040202060203" pitchFamily="34" charset="0"/>
                  </a:rPr>
                  <a:t>, maar met onbekende (nader te bepalen)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nl-NL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Vraag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n-US" dirty="0" smtClean="0">
                    <a:latin typeface="RijksoverheidSansText" panose="020B0503040202060203" pitchFamily="34" charset="0"/>
                  </a:rPr>
                  <a:t>Wat is 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minimale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waarde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van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dirty="0" smtClean="0">
                    <a:latin typeface="RijksoverheidSansText" panose="020B0503040202060203" pitchFamily="34" charset="0"/>
                  </a:rPr>
                  <a:t> zodanig dat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≤6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?</m:t>
                      </m:r>
                      <m:r>
                        <a:rPr lang="nl-NL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nl-NL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nl-NL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6)≥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95?</m:t>
                      </m:r>
                    </m:oMath>
                  </m:oMathPara>
                </a14:m>
                <a:endParaRPr lang="nl-NL" dirty="0" smtClean="0">
                  <a:latin typeface="RijksoverheidSansText" panose="020B0503040202060203" pitchFamily="34" charset="0"/>
                </a:endParaRPr>
              </a:p>
              <a:p>
                <a:pPr marL="0" indent="0" algn="ctr">
                  <a:buNone/>
                </a:pP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r>
                  <a:rPr lang="en-US" dirty="0" smtClean="0">
                    <a:latin typeface="RijksoverheidSansText" panose="020B0503040202060203" pitchFamily="34" charset="0"/>
                  </a:rPr>
                  <a:t>Je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kunt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hiervoor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tabel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maken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met de GR (of trial and error):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=12→1−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binomcdf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=12,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=0.75,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9456</m:t>
                    </m:r>
                  </m:oMath>
                </a14:m>
                <a:endParaRPr lang="en-US" b="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=13→1−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binomcdf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=13,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=0.75,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≈0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9757</m:t>
                    </m:r>
                  </m:oMath>
                </a14:m>
                <a:endParaRPr lang="nl-NL" dirty="0" smtClean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r>
                  <a:rPr lang="nl-NL" dirty="0" smtClean="0">
                    <a:latin typeface="RijksoverheidSansText" panose="020B0503040202060203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Er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moeten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minimaal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13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ingezet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worden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om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missie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met 95%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laten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slagen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(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oftewel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extra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).</a:t>
                </a:r>
                <a:endParaRPr lang="nl-NL" b="1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525" t="-2009" r="-599" b="-10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32569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6.11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611792" cy="424656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RijksoverheidSansText" panose="020B0503040202060203" pitchFamily="34" charset="0"/>
              </a:rPr>
              <a:t>Een </a:t>
            </a:r>
            <a:r>
              <a:rPr lang="en-US" b="1" dirty="0" err="1" smtClean="0">
                <a:latin typeface="RijksoverheidSansText" panose="020B0503040202060203" pitchFamily="34" charset="0"/>
              </a:rPr>
              <a:t>wijnhandelaar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blijkt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flessen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enigszins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onnauwkeurig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te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vullen</a:t>
            </a:r>
            <a:r>
              <a:rPr lang="en-US" b="1" dirty="0" smtClean="0">
                <a:latin typeface="RijksoverheidSansText" panose="020B0503040202060203" pitchFamily="34" charset="0"/>
              </a:rPr>
              <a:t>. </a:t>
            </a:r>
            <a:r>
              <a:rPr lang="en-US" b="1" dirty="0" err="1" smtClean="0">
                <a:latin typeface="RijksoverheidSansText" panose="020B0503040202060203" pitchFamily="34" charset="0"/>
              </a:rPr>
              <a:t>Hierdoor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voldoet</a:t>
            </a:r>
            <a:r>
              <a:rPr lang="en-US" b="1" dirty="0" smtClean="0">
                <a:latin typeface="RijksoverheidSansText" panose="020B0503040202060203" pitchFamily="34" charset="0"/>
              </a:rPr>
              <a:t> 10% van de </a:t>
            </a:r>
            <a:r>
              <a:rPr lang="en-US" b="1" dirty="0" err="1" smtClean="0">
                <a:latin typeface="RijksoverheidSansText" panose="020B0503040202060203" pitchFamily="34" charset="0"/>
              </a:rPr>
              <a:t>afgeleverde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flessen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niet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aan</a:t>
            </a:r>
            <a:r>
              <a:rPr lang="en-US" b="1" dirty="0" smtClean="0">
                <a:latin typeface="RijksoverheidSansText" panose="020B0503040202060203" pitchFamily="34" charset="0"/>
              </a:rPr>
              <a:t> de </a:t>
            </a:r>
            <a:r>
              <a:rPr lang="en-US" b="1" dirty="0" err="1" smtClean="0">
                <a:latin typeface="RijksoverheidSansText" panose="020B0503040202060203" pitchFamily="34" charset="0"/>
              </a:rPr>
              <a:t>inhoudsnorm</a:t>
            </a:r>
            <a:r>
              <a:rPr lang="en-US" b="1" dirty="0" smtClean="0">
                <a:latin typeface="RijksoverheidSansText" panose="020B0503040202060203" pitchFamily="34" charset="0"/>
              </a:rPr>
              <a:t> van het </a:t>
            </a:r>
            <a:r>
              <a:rPr lang="en-US" b="1" dirty="0" err="1" smtClean="0">
                <a:latin typeface="RijksoverheidSansText" panose="020B0503040202060203" pitchFamily="34" charset="0"/>
              </a:rPr>
              <a:t>etiket</a:t>
            </a:r>
            <a:r>
              <a:rPr lang="en-US" b="1" dirty="0" smtClean="0">
                <a:latin typeface="RijksoverheidSansText" panose="020B0503040202060203" pitchFamily="34" charset="0"/>
              </a:rPr>
              <a:t>.</a:t>
            </a:r>
          </a:p>
          <a:p>
            <a:pPr marL="457200" indent="-457200">
              <a:buFont typeface="+mj-lt"/>
              <a:buAutoNum type="alphaLcParenR"/>
            </a:pPr>
            <a:r>
              <a:rPr lang="en-US" b="1" dirty="0" err="1" smtClean="0">
                <a:latin typeface="RijksoverheidSansText" panose="020B0503040202060203" pitchFamily="34" charset="0"/>
              </a:rPr>
              <a:t>Een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consument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koopt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twaalf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flessen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wijn</a:t>
            </a:r>
            <a:r>
              <a:rPr lang="en-US" b="1" dirty="0" smtClean="0">
                <a:latin typeface="RijksoverheidSansText" panose="020B0503040202060203" pitchFamily="34" charset="0"/>
              </a:rPr>
              <a:t>. Hoe </a:t>
            </a:r>
            <a:r>
              <a:rPr lang="en-US" b="1" dirty="0" err="1" smtClean="0">
                <a:latin typeface="RijksoverheidSansText" panose="020B0503040202060203" pitchFamily="34" charset="0"/>
              </a:rPr>
              <a:t>groot</a:t>
            </a:r>
            <a:r>
              <a:rPr lang="en-US" b="1" dirty="0" smtClean="0">
                <a:latin typeface="RijksoverheidSansText" panose="020B0503040202060203" pitchFamily="34" charset="0"/>
              </a:rPr>
              <a:t> is de </a:t>
            </a:r>
            <a:r>
              <a:rPr lang="en-US" b="1" dirty="0" err="1" smtClean="0">
                <a:latin typeface="RijksoverheidSansText" panose="020B0503040202060203" pitchFamily="34" charset="0"/>
              </a:rPr>
              <a:t>kans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dat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er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precies</a:t>
            </a:r>
            <a:r>
              <a:rPr lang="en-US" b="1" dirty="0" smtClean="0">
                <a:latin typeface="RijksoverheidSansText" panose="020B0503040202060203" pitchFamily="34" charset="0"/>
              </a:rPr>
              <a:t> twee </a:t>
            </a:r>
            <a:r>
              <a:rPr lang="en-US" b="1" dirty="0" err="1" smtClean="0">
                <a:latin typeface="RijksoverheidSansText" panose="020B0503040202060203" pitchFamily="34" charset="0"/>
              </a:rPr>
              <a:t>flessen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zijn</a:t>
            </a:r>
            <a:r>
              <a:rPr lang="en-US" b="1" dirty="0" smtClean="0">
                <a:latin typeface="RijksoverheidSansText" panose="020B0503040202060203" pitchFamily="34" charset="0"/>
              </a:rPr>
              <a:t> die </a:t>
            </a:r>
            <a:r>
              <a:rPr lang="en-US" b="1" dirty="0" err="1" smtClean="0">
                <a:latin typeface="RijksoverheidSansText" panose="020B0503040202060203" pitchFamily="34" charset="0"/>
              </a:rPr>
              <a:t>niet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aan</a:t>
            </a:r>
            <a:r>
              <a:rPr lang="en-US" b="1" dirty="0" smtClean="0">
                <a:latin typeface="RijksoverheidSansText" panose="020B0503040202060203" pitchFamily="34" charset="0"/>
              </a:rPr>
              <a:t> de norm </a:t>
            </a:r>
            <a:r>
              <a:rPr lang="en-US" b="1" dirty="0" err="1" smtClean="0">
                <a:latin typeface="RijksoverheidSansText" panose="020B0503040202060203" pitchFamily="34" charset="0"/>
              </a:rPr>
              <a:t>voldoen</a:t>
            </a:r>
            <a:r>
              <a:rPr lang="en-US" b="1" dirty="0" smtClean="0">
                <a:latin typeface="RijksoverheidSansText" panose="020B0503040202060203" pitchFamily="34" charset="0"/>
              </a:rPr>
              <a:t>?</a:t>
            </a:r>
          </a:p>
          <a:p>
            <a:pPr marL="457200" indent="-457200">
              <a:buFont typeface="+mj-lt"/>
              <a:buAutoNum type="alphaLcParenR"/>
            </a:pPr>
            <a:endParaRPr lang="en-US" b="1" dirty="0">
              <a:latin typeface="RijksoverheidSansText" panose="020B0503040202060203" pitchFamily="34" charset="0"/>
            </a:endParaRPr>
          </a:p>
          <a:p>
            <a:pPr marL="457200" indent="-457200">
              <a:buFont typeface="+mj-lt"/>
              <a:buAutoNum type="alphaLcParenR"/>
            </a:pPr>
            <a:endParaRPr lang="en-US" dirty="0">
              <a:latin typeface="RijksoverheidSansText" panose="020B0503040202060203" pitchFamily="34" charset="0"/>
            </a:endParaRPr>
          </a:p>
          <a:p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8932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6.11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Een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wijnhandelaar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blijkt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enigszins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onnauwkeurig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vullen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Hierdoor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10% van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afgeleverde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inhoudsnorm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van het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etiket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arenR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consument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koopt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twaalf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wijn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Hoe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groot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is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precies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twee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zijn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die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norm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arenR"/>
                </a:pPr>
                <a:endParaRPr lang="en-US" b="1" dirty="0">
                  <a:latin typeface="RijksoverheidSansText" panose="020B0503040202060203" pitchFamily="34" charset="0"/>
                </a:endParaRPr>
              </a:p>
              <a:p>
                <a:r>
                  <a:rPr lang="en-US" dirty="0">
                    <a:latin typeface="RijksoverheidSansText" panose="020B0503040202060203" pitchFamily="34" charset="0"/>
                  </a:rPr>
                  <a:t>We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hebben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hier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te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maken</a:t>
                </a:r>
                <a:r>
                  <a:rPr lang="en-US" dirty="0">
                    <a:latin typeface="RijksoverheidSansText" panose="020B0503040202060203" pitchFamily="34" charset="0"/>
                  </a:rPr>
                  <a:t> met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binomiale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verdeling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: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RijksoverheidSansText" panose="020B0503040202060203" pitchFamily="34" charset="0"/>
                  </a:rPr>
                  <a:t>Elke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fles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voldoet</a:t>
                </a:r>
                <a:r>
                  <a:rPr lang="en-US" dirty="0">
                    <a:latin typeface="RijksoverheidSansText" panose="020B0503040202060203" pitchFamily="34" charset="0"/>
                  </a:rPr>
                  <a:t> met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=0.10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niet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aan</a:t>
                </a:r>
                <a:r>
                  <a:rPr lang="en-US" dirty="0">
                    <a:latin typeface="RijksoverheidSansText" panose="020B0503040202060203" pitchFamily="34" charset="0"/>
                  </a:rPr>
                  <a:t> de norm (“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succes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”).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latin typeface="RijksoverheidSansText" panose="020B0503040202060203" pitchFamily="34" charset="0"/>
                  </a:rPr>
                  <a:t>Elke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fles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wordt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onafhankelijk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van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anderen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gevuld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(Bernoulli-experiment),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het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is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gelijk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=12.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We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willen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bepalen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binompdf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=12,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=0.10,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≈0.2301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nl-NL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 r="-1149" b="-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6837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6.11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611792" cy="424656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RijksoverheidSansText" panose="020B0503040202060203" pitchFamily="34" charset="0"/>
              </a:rPr>
              <a:t>Een </a:t>
            </a:r>
            <a:r>
              <a:rPr lang="en-US" b="1" dirty="0" err="1" smtClean="0">
                <a:latin typeface="RijksoverheidSansText" panose="020B0503040202060203" pitchFamily="34" charset="0"/>
              </a:rPr>
              <a:t>wijnhandelaar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blijkt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flessen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enigszins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onnauwkeurig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te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vullen</a:t>
            </a:r>
            <a:r>
              <a:rPr lang="en-US" b="1" dirty="0" smtClean="0">
                <a:latin typeface="RijksoverheidSansText" panose="020B0503040202060203" pitchFamily="34" charset="0"/>
              </a:rPr>
              <a:t>. </a:t>
            </a:r>
            <a:r>
              <a:rPr lang="en-US" b="1" dirty="0" err="1" smtClean="0">
                <a:latin typeface="RijksoverheidSansText" panose="020B0503040202060203" pitchFamily="34" charset="0"/>
              </a:rPr>
              <a:t>Hierdoor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voldoet</a:t>
            </a:r>
            <a:r>
              <a:rPr lang="en-US" b="1" dirty="0" smtClean="0">
                <a:latin typeface="RijksoverheidSansText" panose="020B0503040202060203" pitchFamily="34" charset="0"/>
              </a:rPr>
              <a:t> 10% van de </a:t>
            </a:r>
            <a:r>
              <a:rPr lang="en-US" b="1" dirty="0" err="1" smtClean="0">
                <a:latin typeface="RijksoverheidSansText" panose="020B0503040202060203" pitchFamily="34" charset="0"/>
              </a:rPr>
              <a:t>afgeleverde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flessen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niet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aan</a:t>
            </a:r>
            <a:r>
              <a:rPr lang="en-US" b="1" dirty="0" smtClean="0">
                <a:latin typeface="RijksoverheidSansText" panose="020B0503040202060203" pitchFamily="34" charset="0"/>
              </a:rPr>
              <a:t> de </a:t>
            </a:r>
            <a:r>
              <a:rPr lang="en-US" b="1" dirty="0" err="1" smtClean="0">
                <a:latin typeface="RijksoverheidSansText" panose="020B0503040202060203" pitchFamily="34" charset="0"/>
              </a:rPr>
              <a:t>inhoudsnorm</a:t>
            </a:r>
            <a:r>
              <a:rPr lang="en-US" b="1" dirty="0" smtClean="0">
                <a:latin typeface="RijksoverheidSansText" panose="020B0503040202060203" pitchFamily="34" charset="0"/>
              </a:rPr>
              <a:t> van het </a:t>
            </a:r>
            <a:r>
              <a:rPr lang="en-US" b="1" dirty="0" err="1" smtClean="0">
                <a:latin typeface="RijksoverheidSansText" panose="020B0503040202060203" pitchFamily="34" charset="0"/>
              </a:rPr>
              <a:t>etiket</a:t>
            </a:r>
            <a:r>
              <a:rPr lang="en-US" b="1" dirty="0" smtClean="0">
                <a:latin typeface="RijksoverheidSansText" panose="020B0503040202060203" pitchFamily="34" charset="0"/>
              </a:rPr>
              <a:t>.</a:t>
            </a:r>
          </a:p>
          <a:p>
            <a:pPr marL="457200" indent="-457200">
              <a:buFont typeface="+mj-lt"/>
              <a:buAutoNum type="alphaLcParenR" startAt="2"/>
            </a:pPr>
            <a:r>
              <a:rPr lang="en-US" b="1" dirty="0" err="1" smtClean="0">
                <a:latin typeface="RijksoverheidSansText" panose="020B0503040202060203" pitchFamily="34" charset="0"/>
              </a:rPr>
              <a:t>Iemand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koopt</a:t>
            </a:r>
            <a:r>
              <a:rPr lang="en-US" b="1" dirty="0" smtClean="0">
                <a:latin typeface="RijksoverheidSansText" panose="020B0503040202060203" pitchFamily="34" charset="0"/>
              </a:rPr>
              <a:t> 144 </a:t>
            </a:r>
            <a:r>
              <a:rPr lang="en-US" b="1" dirty="0" err="1" smtClean="0">
                <a:latin typeface="RijksoverheidSansText" panose="020B0503040202060203" pitchFamily="34" charset="0"/>
              </a:rPr>
              <a:t>flessen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wijn</a:t>
            </a:r>
            <a:r>
              <a:rPr lang="en-US" b="1" dirty="0" smtClean="0">
                <a:latin typeface="RijksoverheidSansText" panose="020B0503040202060203" pitchFamily="34" charset="0"/>
              </a:rPr>
              <a:t>. Hoe </a:t>
            </a:r>
            <a:r>
              <a:rPr lang="en-US" b="1" dirty="0" err="1" smtClean="0">
                <a:latin typeface="RijksoverheidSansText" panose="020B0503040202060203" pitchFamily="34" charset="0"/>
              </a:rPr>
              <a:t>groot</a:t>
            </a:r>
            <a:r>
              <a:rPr lang="en-US" b="1" dirty="0" smtClean="0">
                <a:latin typeface="RijksoverheidSansText" panose="020B0503040202060203" pitchFamily="34" charset="0"/>
              </a:rPr>
              <a:t> is de </a:t>
            </a:r>
            <a:r>
              <a:rPr lang="en-US" b="1" dirty="0" err="1" smtClean="0">
                <a:latin typeface="RijksoverheidSansText" panose="020B0503040202060203" pitchFamily="34" charset="0"/>
              </a:rPr>
              <a:t>kans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dat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er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hoogstens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tien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flessen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niet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aan</a:t>
            </a:r>
            <a:r>
              <a:rPr lang="en-US" b="1" dirty="0" smtClean="0">
                <a:latin typeface="RijksoverheidSansText" panose="020B0503040202060203" pitchFamily="34" charset="0"/>
              </a:rPr>
              <a:t> de norm </a:t>
            </a:r>
            <a:r>
              <a:rPr lang="en-US" b="1" dirty="0" err="1" smtClean="0">
                <a:latin typeface="RijksoverheidSansText" panose="020B0503040202060203" pitchFamily="34" charset="0"/>
              </a:rPr>
              <a:t>voldoen</a:t>
            </a:r>
            <a:r>
              <a:rPr lang="en-US" b="1" dirty="0" smtClean="0">
                <a:latin typeface="RijksoverheidSansText" panose="020B0503040202060203" pitchFamily="34" charset="0"/>
              </a:rPr>
              <a:t>?</a:t>
            </a:r>
            <a:endParaRPr lang="en-US" b="1" dirty="0">
              <a:latin typeface="RijksoverheidSansText" panose="020B0503040202060203" pitchFamily="34" charset="0"/>
            </a:endParaRPr>
          </a:p>
          <a:p>
            <a:pPr marL="457200" indent="-457200">
              <a:buFont typeface="+mj-lt"/>
              <a:buAutoNum type="alphaLcParenR" startAt="2"/>
            </a:pPr>
            <a:endParaRPr lang="en-US" dirty="0">
              <a:latin typeface="RijksoverheidSansText" panose="020B0503040202060203" pitchFamily="34" charset="0"/>
            </a:endParaRPr>
          </a:p>
          <a:p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6990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6.11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467776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wijnhandelaar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blijkt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enigszins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onnauwkeurig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vullen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Hierdoor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10% van de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afgeleverde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inhoudsnorm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van het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etiket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arenR" startAt="2"/>
                </a:pPr>
                <a:r>
                  <a:rPr lang="en-US" b="1" dirty="0" err="1">
                    <a:latin typeface="RijksoverheidSansText" panose="020B0503040202060203" pitchFamily="34" charset="0"/>
                  </a:rPr>
                  <a:t>Iemand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koopt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144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wijn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 Hoe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groot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is de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hoogstens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tien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de norm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voldoen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?</a:t>
                </a:r>
              </a:p>
              <a:p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We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hebben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opnieuw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te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maken</a:t>
                </a:r>
                <a:r>
                  <a:rPr lang="en-US" dirty="0">
                    <a:latin typeface="RijksoverheidSansText" panose="020B0503040202060203" pitchFamily="34" charset="0"/>
                  </a:rPr>
                  <a:t> met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binomiale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verdeling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: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RijksoverheidSansText" panose="020B0503040202060203" pitchFamily="34" charset="0"/>
                  </a:rPr>
                  <a:t>Elke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fles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voldoet</a:t>
                </a:r>
                <a:r>
                  <a:rPr lang="en-US" dirty="0">
                    <a:latin typeface="RijksoverheidSansText" panose="020B0503040202060203" pitchFamily="34" charset="0"/>
                  </a:rPr>
                  <a:t> met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=0.10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niet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aan</a:t>
                </a:r>
                <a:r>
                  <a:rPr lang="en-US" dirty="0">
                    <a:latin typeface="RijksoverheidSansText" panose="020B0503040202060203" pitchFamily="34" charset="0"/>
                  </a:rPr>
                  <a:t> de norm (“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succes</a:t>
                </a:r>
                <a:r>
                  <a:rPr lang="en-US" smtClean="0">
                    <a:latin typeface="RijksoverheidSansText" panose="020B0503040202060203" pitchFamily="34" charset="0"/>
                  </a:rPr>
                  <a:t>”).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RijksoverheidSansText" panose="020B0503040202060203" pitchFamily="34" charset="0"/>
                  </a:rPr>
                  <a:t>Elke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fles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wordt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onafhankelijk</a:t>
                </a:r>
                <a:r>
                  <a:rPr lang="en-US" dirty="0">
                    <a:latin typeface="RijksoverheidSansText" panose="020B0503040202060203" pitchFamily="34" charset="0"/>
                  </a:rPr>
                  <a:t> van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anderen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gevuld</a:t>
                </a:r>
                <a:r>
                  <a:rPr lang="en-US" dirty="0">
                    <a:latin typeface="RijksoverheidSansText" panose="020B0503040202060203" pitchFamily="34" charset="0"/>
                  </a:rPr>
                  <a:t> (Bernoulli-experiment),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dirty="0">
                    <a:latin typeface="RijksoverheidSansText" panose="020B0503040202060203" pitchFamily="34" charset="0"/>
                  </a:rPr>
                  <a:t> het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flessen</a:t>
                </a:r>
                <a:r>
                  <a:rPr lang="en-US" dirty="0">
                    <a:latin typeface="RijksoverheidSansText" panose="020B0503040202060203" pitchFamily="34" charset="0"/>
                  </a:rPr>
                  <a:t> is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gelijk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aan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=12.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We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willen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nu 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≤10</m:t>
                        </m:r>
                      </m:e>
                    </m:d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bepalen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(“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hoogstens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”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betekent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“):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=144,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=0.10,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≈0.1372</m:t>
                      </m:r>
                      <m:r>
                        <a:rPr lang="nl-NL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nl-NL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467776" cy="4246562"/>
              </a:xfrm>
              <a:blipFill>
                <a:blip r:embed="rId2"/>
                <a:stretch>
                  <a:fillRect l="-1631" t="-2009" b="-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6948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6.11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Een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wijnhandelaar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blijkt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enigszins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onnauwkeurig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vullen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Hierdoor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10% van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afgeleverde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inhoudsnorm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van het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etiket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arenR" startAt="3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Iemand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koopt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Hoe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groot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moet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men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kiezen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om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ervoor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zorgen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95% is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het percentage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norm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lager is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12%?</a:t>
                </a:r>
                <a:endParaRPr lang="en-US" b="1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2"/>
                <a:stretch>
                  <a:fillRect l="-1576" t="-20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8546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6.11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Een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wijnhandelaar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blijkt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enigszins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onnauwkeurig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vullen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Hierdoor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10% van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afgeleverde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inhoudsnorm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van het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etiket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arenR" startAt="3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Iemand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koopt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Hoe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groot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moet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men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kiezen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om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ervoor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zorgen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95% is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het percentage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norm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lager is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12%?</a:t>
                </a:r>
                <a:endParaRPr lang="en-US" b="1" dirty="0">
                  <a:latin typeface="RijksoverheidSansText" panose="020B0503040202060203" pitchFamily="34" charset="0"/>
                </a:endParaRPr>
              </a:p>
              <a:p>
                <a:pPr marL="457200" indent="-457200">
                  <a:buFont typeface="+mj-lt"/>
                  <a:buAutoNum type="alphaLcParenR" startAt="3"/>
                </a:pPr>
                <a:endParaRPr lang="en-US" dirty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In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deze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vraag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willen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we 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minimale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waarde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voor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dirty="0" smtClean="0">
                    <a:latin typeface="RijksoverheidSansText" panose="020B0503040202060203" pitchFamily="34" charset="0"/>
                  </a:rPr>
                  <a:t> bepalen zodanig dat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≤0.12⋅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≥0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95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nl-NL" dirty="0" smtClean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Met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tabel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in de GR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vinden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we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dan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kleinste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waarde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voor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die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hieraan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=592:           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≤0.12⋅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binomcdf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592,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0.10,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≈0.9510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nl-NL" dirty="0" smtClean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r>
                  <a:rPr lang="en-US" b="1" dirty="0" err="1" smtClean="0">
                    <a:latin typeface="RijksoverheidSansText" panose="020B0503040202060203" pitchFamily="34" charset="0"/>
                  </a:rPr>
                  <a:t>Bij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aankoop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van 592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is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&gt;95%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minder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12%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norm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r>
                  <a:rPr lang="en-US" b="1" dirty="0" smtClean="0">
                    <a:latin typeface="RijksoverheidSansText" panose="020B0503040202060203" pitchFamily="34" charset="0"/>
                  </a:rPr>
                  <a:t>(NB: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dit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betekent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dit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geldt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alle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𝟓𝟗𝟐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!)</m:t>
                    </m:r>
                  </m:oMath>
                </a14:m>
                <a:r>
                  <a:rPr lang="nl-NL" b="1" dirty="0" smtClean="0">
                    <a:latin typeface="RijksoverheidSansText" panose="020B0503040202060203" pitchFamily="34" charset="0"/>
                  </a:rPr>
                  <a:t>.</a:t>
                </a:r>
                <a:endParaRPr lang="nl-NL" b="1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2"/>
                <a:stretch>
                  <a:fillRect l="-1576" t="-2009" r="-1519" b="-10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6185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Meer </a:t>
            </a:r>
            <a:r>
              <a:rPr lang="en-US" dirty="0" err="1" smtClean="0"/>
              <a:t>toepassingen</a:t>
            </a:r>
            <a:r>
              <a:rPr lang="en-US" dirty="0" smtClean="0"/>
              <a:t> van de </a:t>
            </a:r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611792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>
                <a:latin typeface="RijksoverheidSansText" panose="020B0503040202060203" pitchFamily="34" charset="0"/>
              </a:rPr>
              <a:t>Geneeskundige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dienst</a:t>
            </a:r>
            <a:r>
              <a:rPr lang="en-US" b="1" dirty="0" smtClean="0">
                <a:latin typeface="RijksoverheidSansText" panose="020B0503040202060203" pitchFamily="34" charset="0"/>
              </a:rPr>
              <a:t>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RijksoverheidSansText" panose="020B0503040202060203" pitchFamily="34" charset="0"/>
              </a:rPr>
              <a:t>Voorspellen</a:t>
            </a:r>
            <a:r>
              <a:rPr lang="en-US" dirty="0" smtClean="0">
                <a:latin typeface="RijksoverheidSansText" panose="020B0503040202060203" pitchFamily="34" charset="0"/>
              </a:rPr>
              <a:t> van de </a:t>
            </a:r>
            <a:r>
              <a:rPr lang="en-US" dirty="0" err="1" smtClean="0">
                <a:latin typeface="RijksoverheidSansText" panose="020B0503040202060203" pitchFamily="34" charset="0"/>
              </a:rPr>
              <a:t>succeskans</a:t>
            </a:r>
            <a:r>
              <a:rPr lang="en-US" dirty="0" smtClean="0">
                <a:latin typeface="RijksoverheidSansText" panose="020B0503040202060203" pitchFamily="34" charset="0"/>
              </a:rPr>
              <a:t> van </a:t>
            </a:r>
            <a:r>
              <a:rPr lang="en-US" dirty="0" err="1" smtClean="0">
                <a:latin typeface="RijksoverheidSansText" panose="020B0503040202060203" pitchFamily="34" charset="0"/>
              </a:rPr>
              <a:t>een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nieuw</a:t>
            </a:r>
            <a:r>
              <a:rPr lang="en-US" dirty="0" smtClean="0">
                <a:latin typeface="RijksoverheidSansText" panose="020B0503040202060203" pitchFamily="34" charset="0"/>
              </a:rPr>
              <a:t> type </a:t>
            </a:r>
            <a:r>
              <a:rPr lang="en-US" dirty="0" err="1" smtClean="0">
                <a:latin typeface="RijksoverheidSansText" panose="020B0503040202060203" pitchFamily="34" charset="0"/>
              </a:rPr>
              <a:t>antibiotica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voor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gewonde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soldaten</a:t>
            </a:r>
            <a:r>
              <a:rPr lang="en-US" dirty="0">
                <a:latin typeface="RijksoverheidSansText" panose="020B0503040202060203" pitchFamily="34" charset="0"/>
              </a:rPr>
              <a:t>.</a:t>
            </a:r>
            <a:endParaRPr lang="en-US" dirty="0" smtClean="0">
              <a:latin typeface="RijksoverheidSansText" panose="020B0503040202060203" pitchFamily="34" charset="0"/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endParaRPr lang="en-US" dirty="0" smtClean="0">
              <a:latin typeface="RijksoverheidSansText" panose="020B0503040202060203" pitchFamily="34" charset="0"/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endParaRPr lang="en-US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>
                <a:latin typeface="RijksoverheidSansText" panose="020B0503040202060203" pitchFamily="34" charset="0"/>
              </a:rPr>
              <a:t>Materiële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logistiek</a:t>
            </a:r>
            <a:endParaRPr lang="en-US" b="1" dirty="0" smtClean="0">
              <a:latin typeface="RijksoverheidSansText" panose="020B0503040202060203" pitchFamily="34" charset="0"/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RijksoverheidSansText" panose="020B0503040202060203" pitchFamily="34" charset="0"/>
              </a:rPr>
              <a:t>Voorspellen</a:t>
            </a:r>
            <a:r>
              <a:rPr lang="en-US" dirty="0" smtClean="0">
                <a:latin typeface="RijksoverheidSansText" panose="020B0503040202060203" pitchFamily="34" charset="0"/>
              </a:rPr>
              <a:t> van het </a:t>
            </a:r>
            <a:r>
              <a:rPr lang="en-US" dirty="0" err="1" smtClean="0">
                <a:latin typeface="RijksoverheidSansText" panose="020B0503040202060203" pitchFamily="34" charset="0"/>
              </a:rPr>
              <a:t>aantal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scherfvesten</a:t>
            </a:r>
            <a:r>
              <a:rPr lang="en-US" dirty="0" smtClean="0">
                <a:latin typeface="RijksoverheidSansText" panose="020B0503040202060203" pitchFamily="34" charset="0"/>
              </a:rPr>
              <a:t> in </a:t>
            </a:r>
            <a:r>
              <a:rPr lang="en-US" dirty="0" err="1" smtClean="0">
                <a:latin typeface="RijksoverheidSansText" panose="020B0503040202060203" pitchFamily="34" charset="0"/>
              </a:rPr>
              <a:t>een</a:t>
            </a:r>
            <a:r>
              <a:rPr lang="en-US" dirty="0" smtClean="0">
                <a:latin typeface="RijksoverheidSansText" panose="020B0503040202060203" pitchFamily="34" charset="0"/>
              </a:rPr>
              <a:t> batch van 100 die </a:t>
            </a:r>
            <a:r>
              <a:rPr lang="en-US" dirty="0" err="1" smtClean="0">
                <a:latin typeface="RijksoverheidSansText" panose="020B0503040202060203" pitchFamily="34" charset="0"/>
              </a:rPr>
              <a:t>een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kwaliteitscontrole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doorkomen</a:t>
            </a:r>
            <a:r>
              <a:rPr lang="en-US" dirty="0" smtClean="0">
                <a:latin typeface="RijksoverheidSansText" panose="020B0503040202060203" pitchFamily="34" charset="0"/>
              </a:rPr>
              <a:t>.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endParaRPr lang="en-US" dirty="0" smtClean="0">
              <a:latin typeface="RijksoverheidSansText" panose="020B0503040202060203" pitchFamily="34" charset="0"/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endParaRPr lang="en-US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RijksoverheidSansText" panose="020B0503040202060203" pitchFamily="34" charset="0"/>
              </a:rPr>
              <a:t>Marketing van de </a:t>
            </a:r>
            <a:r>
              <a:rPr lang="en-US" b="1" dirty="0" err="1" smtClean="0">
                <a:latin typeface="RijksoverheidSansText" panose="020B0503040202060203" pitchFamily="34" charset="0"/>
              </a:rPr>
              <a:t>nieuwe</a:t>
            </a:r>
            <a:r>
              <a:rPr lang="en-US" b="1" dirty="0" smtClean="0">
                <a:latin typeface="RijksoverheidSansText" panose="020B0503040202060203" pitchFamily="34" charset="0"/>
              </a:rPr>
              <a:t> MBW master DMCI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RijksoverheidSansText" panose="020B0503040202060203" pitchFamily="34" charset="0"/>
              </a:rPr>
              <a:t>Voorspellen</a:t>
            </a:r>
            <a:r>
              <a:rPr lang="en-US" dirty="0" smtClean="0">
                <a:latin typeface="RijksoverheidSansText" panose="020B0503040202060203" pitchFamily="34" charset="0"/>
              </a:rPr>
              <a:t> van het </a:t>
            </a:r>
            <a:r>
              <a:rPr lang="en-US" dirty="0" err="1" smtClean="0">
                <a:latin typeface="RijksoverheidSansText" panose="020B0503040202060203" pitchFamily="34" charset="0"/>
              </a:rPr>
              <a:t>aantal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inschrijvingen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voor</a:t>
            </a:r>
            <a:r>
              <a:rPr lang="en-US" dirty="0" smtClean="0">
                <a:latin typeface="RijksoverheidSansText" panose="020B0503040202060203" pitchFamily="34" charset="0"/>
              </a:rPr>
              <a:t> de master DMCI </a:t>
            </a:r>
            <a:r>
              <a:rPr lang="en-US" dirty="0" err="1" smtClean="0">
                <a:latin typeface="RijksoverheidSansText" panose="020B0503040202060203" pitchFamily="34" charset="0"/>
              </a:rPr>
              <a:t>als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deze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binnen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Defensie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wordt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gepromoot</a:t>
            </a:r>
            <a:r>
              <a:rPr lang="en-US" dirty="0" smtClean="0">
                <a:latin typeface="RijksoverheidSansText" panose="020B0503040202060203" pitchFamily="34" charset="0"/>
              </a:rPr>
              <a:t>.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7873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Connectie</a:t>
            </a:r>
            <a:r>
              <a:rPr lang="en-US" dirty="0" smtClean="0"/>
              <a:t> met </a:t>
            </a:r>
            <a:r>
              <a:rPr lang="en-US" dirty="0" err="1" smtClean="0"/>
              <a:t>statistiek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Neem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steekproef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van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gewonde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soldaten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die antibiotic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krijgt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Per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steekproefelement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(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gewonde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soldaat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):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 err="1" smtClean="0">
                    <a:latin typeface="RijksoverheidSansText" panose="020B0503040202060203" pitchFamily="34" charset="0"/>
                  </a:rPr>
                  <a:t>Bepaal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of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antibiotica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wel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/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effectief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is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voor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deze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soldaat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Op basis van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steekproefresultaten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: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bepaal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succeskans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 smtClean="0">
                    <a:latin typeface="RijksoverheidSansText" panose="020B0503040202060203" pitchFamily="34" charset="0"/>
                  </a:rPr>
                  <a:t> van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gehele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populatie</a:t>
                </a:r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Wat is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succeskans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van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nieuwe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antibiotica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 smtClean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1737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Samenvatting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dirty="0" err="1" smtClean="0">
                    <a:latin typeface="RijksoverheidSansText" panose="020B0503040202060203" pitchFamily="34" charset="0"/>
                  </a:rPr>
                  <a:t>Bernoulli</a:t>
                </a:r>
                <a:r>
                  <a:rPr lang="nl-NL" sz="2400" dirty="0" smtClean="0">
                    <a:latin typeface="RijksoverheidSansText" panose="020B0503040202060203" pitchFamily="34" charset="0"/>
                  </a:rPr>
                  <a:t>-experimenten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>
                    <a:latin typeface="RijksoverheidSansText" panose="020B0503040202060203" pitchFamily="34" charset="0"/>
                  </a:rPr>
                  <a:t>Twee uitkomsten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>
                    <a:latin typeface="RijksoverheidSansText" panose="020B0503040202060203" pitchFamily="34" charset="0"/>
                  </a:rPr>
                  <a:t>Een parameter: succeskans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b="0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nl-NL" sz="240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>
                    <a:latin typeface="RijksoverheidSansText" panose="020B0503040202060203" pitchFamily="34" charset="0"/>
                  </a:rPr>
                  <a:t>Binomiale verdeling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>
                    <a:latin typeface="RijksoverheidSansText" panose="020B0503040202060203" pitchFamily="34" charset="0"/>
                  </a:rPr>
                  <a:t>Som </a:t>
                </a:r>
                <a:r>
                  <a:rPr lang="nl-NL" sz="2400" dirty="0">
                    <a:latin typeface="RijksoverheidSansText" panose="020B0503040202060203" pitchFamily="34" charset="0"/>
                  </a:rPr>
                  <a:t>van onafhankelijke </a:t>
                </a:r>
                <a:r>
                  <a:rPr lang="nl-NL" sz="2400" dirty="0" err="1">
                    <a:latin typeface="RijksoverheidSansText" panose="020B0503040202060203" pitchFamily="34" charset="0"/>
                  </a:rPr>
                  <a:t>Bernoulli</a:t>
                </a:r>
                <a:r>
                  <a:rPr lang="nl-NL" sz="2400" dirty="0">
                    <a:latin typeface="RijksoverheidSansText" panose="020B0503040202060203" pitchFamily="34" charset="0"/>
                  </a:rPr>
                  <a:t>-variabelen</a:t>
                </a:r>
                <a:r>
                  <a:rPr lang="nl-NL" sz="2400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Twee parameters: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Bernoulli-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experimenten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sz="2400" dirty="0" smtClean="0">
                    <a:latin typeface="RijksoverheidSansText" panose="020B0503040202060203" pitchFamily="34" charset="0"/>
                  </a:rPr>
                  <a:t> en succeskans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nl-NL" sz="2400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 err="1" smtClean="0">
                    <a:latin typeface="RijksoverheidSansText" panose="020B0503040202060203" pitchFamily="34" charset="0"/>
                  </a:rPr>
                  <a:t>Kansen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berekenen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met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kansfunctie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met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grafische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rekenmachine</a:t>
                </a:r>
                <a:endParaRPr lang="nl-NL" sz="2400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52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911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Volgend college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1187856" cy="4246562"/>
          </a:xfrm>
        </p:spPr>
        <p:txBody>
          <a:bodyPr/>
          <a:lstStyle/>
          <a:p>
            <a:endParaRPr lang="en-US" sz="2400" dirty="0" smtClean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RijksoverheidSansText" panose="020B0503040202060203" pitchFamily="34" charset="0"/>
              </a:rPr>
              <a:t>Eigenschappen</a:t>
            </a:r>
            <a:r>
              <a:rPr lang="en-US" sz="2400" dirty="0" smtClean="0">
                <a:latin typeface="RijksoverheidSansText" panose="020B0503040202060203" pitchFamily="34" charset="0"/>
              </a:rPr>
              <a:t> van de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binomiale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verdeling</a:t>
            </a:r>
            <a:endParaRPr lang="nl-NL" sz="2400" dirty="0">
              <a:latin typeface="RijksoverheidSansText" panose="020B0503040202060203" pitchFamily="34" charset="0"/>
            </a:endParaRPr>
          </a:p>
          <a:p>
            <a:pPr marL="0" indent="0">
              <a:buNone/>
            </a:pPr>
            <a:endParaRPr lang="en-US" sz="2400" b="1" dirty="0" smtClean="0"/>
          </a:p>
          <a:p>
            <a:endParaRPr lang="en-US" sz="2400" b="1" dirty="0" smtClean="0">
              <a:latin typeface="RijksoverheidSansText" panose="020B0503040202060203" pitchFamily="34" charset="0"/>
            </a:endParaRPr>
          </a:p>
          <a:p>
            <a:r>
              <a:rPr lang="en-US" sz="2400" b="1" dirty="0" err="1" smtClean="0">
                <a:latin typeface="RijksoverheidSansText" panose="020B0503040202060203" pitchFamily="34" charset="0"/>
              </a:rPr>
              <a:t>Huiswerk</a:t>
            </a:r>
            <a:r>
              <a:rPr lang="en-US" sz="2400" b="1" dirty="0">
                <a:latin typeface="RijksoverheidSansText" panose="020B0503040202060203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Lezen</a:t>
            </a:r>
            <a:r>
              <a:rPr lang="en-US" sz="2400" dirty="0">
                <a:latin typeface="RijksoverheidSansText" panose="020B0503040202060203" pitchFamily="34" charset="0"/>
              </a:rPr>
              <a:t> van A. Buijs: </a:t>
            </a:r>
            <a:r>
              <a:rPr lang="en-US" sz="2400" dirty="0" err="1">
                <a:latin typeface="RijksoverheidSansText" panose="020B0503040202060203" pitchFamily="34" charset="0"/>
              </a:rPr>
              <a:t>hoofdstuk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6.1 </a:t>
            </a:r>
            <a:r>
              <a:rPr lang="en-US" sz="2400" dirty="0">
                <a:latin typeface="RijksoverheidSansText" panose="020B0503040202060203" pitchFamily="34" charset="0"/>
              </a:rPr>
              <a:t>(</a:t>
            </a:r>
            <a:r>
              <a:rPr lang="en-US" sz="2400" dirty="0" err="1">
                <a:latin typeface="RijksoverheidSansText" panose="020B0503040202060203" pitchFamily="34" charset="0"/>
              </a:rPr>
              <a:t>blz</a:t>
            </a:r>
            <a:r>
              <a:rPr lang="en-US" sz="2400" dirty="0">
                <a:latin typeface="RijksoverheidSansText" panose="020B0503040202060203" pitchFamily="34" charset="0"/>
              </a:rPr>
              <a:t>. </a:t>
            </a:r>
            <a:r>
              <a:rPr lang="en-US" sz="2400" dirty="0" smtClean="0">
                <a:latin typeface="RijksoverheidSansText" panose="020B0503040202060203" pitchFamily="34" charset="0"/>
              </a:rPr>
              <a:t>201-207)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Opdrachten</a:t>
            </a:r>
            <a:r>
              <a:rPr lang="en-US" sz="2400" dirty="0">
                <a:latin typeface="RijksoverheidSansText" panose="020B0503040202060203" pitchFamily="34" charset="0"/>
              </a:rPr>
              <a:t>: </a:t>
            </a:r>
            <a:r>
              <a:rPr lang="en-US" sz="2400" dirty="0" smtClean="0">
                <a:latin typeface="RijksoverheidSansText" panose="020B0503040202060203" pitchFamily="34" charset="0"/>
              </a:rPr>
              <a:t>H6: 4, 5, 6, 7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0" indent="0">
              <a:buNone/>
            </a:pPr>
            <a:endParaRPr lang="nl-NL" sz="24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951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landmachtNL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2.xml><?xml version="1.0" encoding="utf-8"?>
<a:theme xmlns:a="http://schemas.openxmlformats.org/drawingml/2006/main" name="1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Custom 1">
      <a:majorFont>
        <a:latin typeface="RijksoverheidSansWebText Bold"/>
        <a:ea typeface=""/>
        <a:cs typeface=""/>
      </a:majorFont>
      <a:minorFont>
        <a:latin typeface="RijksoverheidSans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3.xml><?xml version="1.0" encoding="utf-8"?>
<a:theme xmlns:a="http://schemas.openxmlformats.org/drawingml/2006/main" name="2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Aangepast 1">
      <a:majorFont>
        <a:latin typeface="RijksoverheidSansWebText Bold"/>
        <a:ea typeface=""/>
        <a:cs typeface=""/>
      </a:majorFont>
      <a:minorFont>
        <a:latin typeface="RijksoverheidSansWebText Regul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Tijdelijk_bestand_Presentatie_DOSCO_16-9 (1)</Template>
  <TotalTime>0</TotalTime>
  <Words>2446</Words>
  <Application>Microsoft Office PowerPoint</Application>
  <PresentationFormat>Breedbeeld</PresentationFormat>
  <Paragraphs>398</Paragraphs>
  <Slides>28</Slides>
  <Notes>3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3</vt:i4>
      </vt:variant>
      <vt:variant>
        <vt:lpstr>Diatitels</vt:lpstr>
      </vt:variant>
      <vt:variant>
        <vt:i4>28</vt:i4>
      </vt:variant>
    </vt:vector>
  </HeadingPairs>
  <TitlesOfParts>
    <vt:vector size="39" baseType="lpstr">
      <vt:lpstr>Arial</vt:lpstr>
      <vt:lpstr>Cambria Math</vt:lpstr>
      <vt:lpstr>RijksoverheidSansHeadingTT</vt:lpstr>
      <vt:lpstr>RijksoverheidSansText</vt:lpstr>
      <vt:lpstr>RijksoverheidSansWebText Bold</vt:lpstr>
      <vt:lpstr>RijksoverheidSansWebText Regula</vt:lpstr>
      <vt:lpstr>Verdana</vt:lpstr>
      <vt:lpstr>Wingdings</vt:lpstr>
      <vt:lpstr>Presentatie</vt:lpstr>
      <vt:lpstr>1_Presentatie</vt:lpstr>
      <vt:lpstr>2_Presentatie</vt:lpstr>
      <vt:lpstr>Statistiek: college 4a</vt:lpstr>
      <vt:lpstr>Terugblik</vt:lpstr>
      <vt:lpstr>Leerdoelen </vt:lpstr>
      <vt:lpstr>Welke eigenschappen heeft een discrete kansvariabele? </vt:lpstr>
      <vt:lpstr>Casus: bergoperaties van Mountain Leaders</vt:lpstr>
      <vt:lpstr>Recap: kansexperiment</vt:lpstr>
      <vt:lpstr>Discrete kansvariabele</vt:lpstr>
      <vt:lpstr>Bernoulli-experiment</vt:lpstr>
      <vt:lpstr>Discrete kansvariabele</vt:lpstr>
      <vt:lpstr>Hoe kunnen we kansen in deze setting bepalen?</vt:lpstr>
      <vt:lpstr>Discrete kansvariabele</vt:lpstr>
      <vt:lpstr>De binomiale verdeling</vt:lpstr>
      <vt:lpstr>Binomiale verdeling</vt:lpstr>
      <vt:lpstr>Kansrekening met de binomiale verdeling</vt:lpstr>
      <vt:lpstr>Casus: bergoperaties van Mountain Leaders</vt:lpstr>
      <vt:lpstr>Voorbeeld: bergoperaties van Mountain Leaders</vt:lpstr>
      <vt:lpstr>Voorbeeld: bergoperaties van Mountain Leaders</vt:lpstr>
      <vt:lpstr>Voorbeeld: bergoperaties van Mountain Leaders</vt:lpstr>
      <vt:lpstr>Buijs: opdracht 6.11</vt:lpstr>
      <vt:lpstr>Buijs: opdracht 6.11</vt:lpstr>
      <vt:lpstr>Buijs: opdracht 6.11</vt:lpstr>
      <vt:lpstr>Buijs: opdracht 6.11</vt:lpstr>
      <vt:lpstr>Buijs: opdracht 6.11</vt:lpstr>
      <vt:lpstr>Buijs: opdracht 6.11</vt:lpstr>
      <vt:lpstr>Meer toepassingen van de binomiale verdeling</vt:lpstr>
      <vt:lpstr>Connectie met statistiek</vt:lpstr>
      <vt:lpstr>Samenvatting</vt:lpstr>
      <vt:lpstr>Volgend college</vt:lpstr>
    </vt:vector>
  </TitlesOfParts>
  <Company>Ministerie van Defensie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Statistiek</dc:title>
  <dc:creator>Blom, DAMP, Dr. ir., DOSCO/NLDA/FMW/CG MTW</dc:creator>
  <cp:lastModifiedBy>Gebruiker</cp:lastModifiedBy>
  <cp:revision>191</cp:revision>
  <cp:lastPrinted>2011-09-21T07:52:24Z</cp:lastPrinted>
  <dcterms:created xsi:type="dcterms:W3CDTF">2024-11-25T09:45:08Z</dcterms:created>
  <dcterms:modified xsi:type="dcterms:W3CDTF">2026-02-27T14:57:32Z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eur">
    <vt:lpwstr>Auteur</vt:lpwstr>
  </property>
  <property fmtid="{D5CDD505-2E9C-101B-9397-08002B2CF9AE}" pid="3" name="Functie">
    <vt:lpwstr>Functie</vt:lpwstr>
  </property>
  <property fmtid="{D5CDD505-2E9C-101B-9397-08002B2CF9AE}" pid="4" name="Titel">
    <vt:lpwstr>Titel</vt:lpwstr>
  </property>
  <property fmtid="{D5CDD505-2E9C-101B-9397-08002B2CF9AE}" pid="5" name="Subtitel">
    <vt:lpwstr>Subtitel</vt:lpwstr>
  </property>
  <property fmtid="{D5CDD505-2E9C-101B-9397-08002B2CF9AE}" pid="6" name="Afdeling">
    <vt:lpwstr>Afdeling</vt:lpwstr>
  </property>
  <property fmtid="{D5CDD505-2E9C-101B-9397-08002B2CF9AE}" pid="7" name="Merking">
    <vt:lpwstr>Merking</vt:lpwstr>
  </property>
  <property fmtid="{D5CDD505-2E9C-101B-9397-08002B2CF9AE}" pid="8" name="Rubricering">
    <vt:lpwstr>Rubricering</vt:lpwstr>
  </property>
  <property fmtid="{D5CDD505-2E9C-101B-9397-08002B2CF9AE}" pid="9" name="Datum">
    <vt:filetime>1999-12-31T22:00:00Z</vt:filetime>
  </property>
</Properties>
</file>