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21" r:id="rId2"/>
    <p:sldId id="257" r:id="rId3"/>
    <p:sldId id="259" r:id="rId4"/>
    <p:sldId id="260" r:id="rId5"/>
    <p:sldId id="278" r:id="rId6"/>
    <p:sldId id="306" r:id="rId7"/>
    <p:sldId id="302" r:id="rId8"/>
    <p:sldId id="316" r:id="rId9"/>
    <p:sldId id="315" r:id="rId10"/>
    <p:sldId id="314" r:id="rId11"/>
    <p:sldId id="261" r:id="rId12"/>
    <p:sldId id="262" r:id="rId13"/>
    <p:sldId id="264" r:id="rId14"/>
    <p:sldId id="305" r:id="rId15"/>
    <p:sldId id="319" r:id="rId16"/>
    <p:sldId id="313" r:id="rId17"/>
    <p:sldId id="265" r:id="rId18"/>
    <p:sldId id="317" r:id="rId19"/>
    <p:sldId id="284" r:id="rId20"/>
    <p:sldId id="310" r:id="rId21"/>
    <p:sldId id="285" r:id="rId22"/>
    <p:sldId id="312" r:id="rId23"/>
    <p:sldId id="275" r:id="rId24"/>
    <p:sldId id="320" r:id="rId25"/>
    <p:sldId id="311" r:id="rId26"/>
    <p:sldId id="266" r:id="rId27"/>
    <p:sldId id="318" r:id="rId28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7000"/>
    <a:srgbClr val="33CC33"/>
    <a:srgbClr val="FF0000"/>
    <a:srgbClr val="00CCFF"/>
    <a:srgbClr val="FF7F7F"/>
    <a:srgbClr val="CC3399"/>
    <a:srgbClr val="996633"/>
    <a:srgbClr val="B80047"/>
    <a:srgbClr val="000000"/>
    <a:srgbClr val="552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0"/>
  </p:normalViewPr>
  <p:slideViewPr>
    <p:cSldViewPr>
      <p:cViewPr varScale="1">
        <p:scale>
          <a:sx n="100" d="100"/>
          <a:sy n="100" d="100"/>
        </p:scale>
        <p:origin x="102" y="2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EA94DEB-9F40-4F05-AC41-46C694D6339D}">
          <dgm:prSet/>
          <dgm:spPr/>
          <dgm:t>
            <a:bodyPr/>
            <a:lstStyle/>
            <a:p>
              <a:r>
                <a:rPr lang="en-US" dirty="0" smtClean="0"/>
                <a:t>Uitkomstenruimte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𝑆</m:t>
                  </m:r>
                </m:oMath>
              </a14:m>
              <a:endParaRPr lang="en-US" dirty="0"/>
            </a:p>
          </dgm:t>
        </dgm:pt>
      </mc:Choice>
      <mc:Fallback xmlns="">
        <dgm:pt modelId="{1EA94DEB-9F40-4F05-AC41-46C694D6339D}">
          <dgm:prSet/>
          <dgm:spPr/>
          <dgm:t>
            <a:bodyPr/>
            <a:lstStyle/>
            <a:p>
              <a:r>
                <a:rPr lang="en-US" dirty="0" smtClean="0"/>
                <a:t>Uitkomstenruimte </a:t>
              </a:r>
              <a:r>
                <a:rPr lang="en-US" b="0" i="0" smtClean="0">
                  <a:latin typeface="Cambria Math" panose="02040503050406030204" pitchFamily="18" charset="0"/>
                </a:rPr>
                <a:t>𝑆</a:t>
              </a:r>
              <a:endParaRPr lang="en-US" dirty="0"/>
            </a:p>
          </dgm:t>
        </dgm:pt>
      </mc:Fallback>
    </mc:AlternateConten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64F6326-40AA-4438-91FC-00721E0287A0}">
          <dgm:prSet/>
          <dgm:spPr/>
          <dgm:t>
            <a:bodyPr/>
            <a:lstStyle/>
            <a:p>
              <a:r>
                <a:rPr lang="en-US" dirty="0" smtClean="0"/>
                <a:t>Onderliggende </a:t>
              </a:r>
              <a:r>
                <a:rPr lang="en-US" dirty="0" err="1" smtClean="0"/>
                <a:t>kansverdeling</a:t>
              </a:r>
              <a:r>
                <a:rPr lang="en-US" dirty="0" smtClean="0"/>
                <a:t> over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𝑆</m:t>
                  </m:r>
                </m:oMath>
              </a14:m>
              <a:endParaRPr lang="en-US" dirty="0"/>
            </a:p>
          </dgm:t>
        </dgm:pt>
      </mc:Choice>
      <mc:Fallback xmlns="">
        <dgm:pt modelId="{C64F6326-40AA-4438-91FC-00721E0287A0}">
          <dgm:prSet/>
          <dgm:spPr/>
          <dgm:t>
            <a:bodyPr/>
            <a:lstStyle/>
            <a:p>
              <a:r>
                <a:rPr lang="en-US" dirty="0" smtClean="0"/>
                <a:t>Onderliggende </a:t>
              </a:r>
              <a:r>
                <a:rPr lang="en-US" dirty="0" err="1" smtClean="0"/>
                <a:t>kansverdeling</a:t>
              </a:r>
              <a:r>
                <a:rPr lang="en-US" dirty="0" smtClean="0"/>
                <a:t> over </a:t>
              </a:r>
              <a:r>
                <a:rPr lang="en-US" b="0" i="0" smtClean="0">
                  <a:latin typeface="Cambria Math" panose="02040503050406030204" pitchFamily="18" charset="0"/>
                </a:rPr>
                <a:t>𝑆</a:t>
              </a:r>
              <a:endParaRPr lang="en-US" dirty="0"/>
            </a:p>
          </dgm:t>
        </dgm:pt>
      </mc:Fallback>
    </mc:AlternateContent>
    <dgm:pt modelId="{29CA02DC-F699-4B0E-BD2A-F60754D403C9}" type="parTrans" cxnId="{13D89CF0-3F7E-4312-B1E7-DD186B39D479}">
      <dgm:prSet/>
      <dgm:spPr/>
      <dgm:t>
        <a:bodyPr/>
        <a:lstStyle/>
        <a:p>
          <a:endParaRPr lang="en-US"/>
        </a:p>
      </dgm:t>
    </dgm:pt>
    <dgm:pt modelId="{7B355344-C857-4FDF-91D1-D85357A3849D}" type="sibTrans" cxnId="{13D89CF0-3F7E-4312-B1E7-DD186B39D47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13D89CF0-3F7E-4312-B1E7-DD186B39D479}" srcId="{2AE26EC6-7821-4C66-ACA0-C4C826A60C6F}" destId="{C64F6326-40AA-4438-91FC-00721E0287A0}" srcOrd="1" destOrd="0" parTransId="{29CA02DC-F699-4B0E-BD2A-F60754D403C9}" sibTransId="{7B355344-C857-4FDF-91D1-D85357A3849D}"/>
    <dgm:cxn modelId="{D5B10F76-5062-4297-9E37-F71590979F0E}" type="presOf" srcId="{C64F6326-40AA-4438-91FC-00721E0287A0}" destId="{ADD3AE7F-21AA-45B5-9626-51D4168ADC97}" srcOrd="0" destOrd="1" presId="urn:microsoft.com/office/officeart/2005/8/layout/process3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dgm:pt modelId="{1EA94DEB-9F40-4F05-AC41-46C694D6339D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nl-NL">
              <a:noFill/>
            </a:rPr>
            <a:t> </a:t>
          </a:r>
        </a:p>
      </dgm:t>
    </dgm:p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dgm:pt modelId="{C64F6326-40AA-4438-91FC-00721E0287A0}">
      <dgm:prSet/>
      <dgm:spPr/>
      <dgm:t>
        <a:bodyPr/>
        <a:lstStyle/>
        <a:p>
          <a:r>
            <a:rPr lang="nl-NL">
              <a:noFill/>
            </a:rPr>
            <a:t> </a:t>
          </a:r>
        </a:p>
      </dgm:t>
    </dgm:pt>
    <dgm:pt modelId="{29CA02DC-F699-4B0E-BD2A-F60754D403C9}" type="parTrans" cxnId="{13D89CF0-3F7E-4312-B1E7-DD186B39D479}">
      <dgm:prSet/>
      <dgm:spPr/>
      <dgm:t>
        <a:bodyPr/>
        <a:lstStyle/>
        <a:p>
          <a:endParaRPr lang="en-US"/>
        </a:p>
      </dgm:t>
    </dgm:pt>
    <dgm:pt modelId="{7B355344-C857-4FDF-91D1-D85357A3849D}" type="sibTrans" cxnId="{13D89CF0-3F7E-4312-B1E7-DD186B39D47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13D89CF0-3F7E-4312-B1E7-DD186B39D479}" srcId="{2AE26EC6-7821-4C66-ACA0-C4C826A60C6F}" destId="{C64F6326-40AA-4438-91FC-00721E0287A0}" srcOrd="1" destOrd="0" parTransId="{29CA02DC-F699-4B0E-BD2A-F60754D403C9}" sibTransId="{7B355344-C857-4FDF-91D1-D85357A3849D}"/>
    <dgm:cxn modelId="{D5B10F76-5062-4297-9E37-F71590979F0E}" type="presOf" srcId="{C64F6326-40AA-4438-91FC-00721E0287A0}" destId="{ADD3AE7F-21AA-45B5-9626-51D4168ADC97}" srcOrd="0" destOrd="1" presId="urn:microsoft.com/office/officeart/2005/8/layout/process3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8E15F-C463-4A97-A02E-B468DB006C48}">
      <dsp:nvSpPr>
        <dsp:cNvPr id="0" name=""/>
        <dsp:cNvSpPr/>
      </dsp:nvSpPr>
      <dsp:spPr>
        <a:xfrm>
          <a:off x="2010" y="1437741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Input</a:t>
          </a:r>
          <a:endParaRPr lang="en-US" sz="1900" kern="1200" dirty="0"/>
        </a:p>
      </dsp:txBody>
      <dsp:txXfrm>
        <a:off x="2010" y="1437741"/>
        <a:ext cx="2534703" cy="576000"/>
      </dsp:txXfrm>
    </dsp:sp>
    <dsp:sp modelId="{ADD3AE7F-21AA-45B5-9626-51D4168ADC97}">
      <dsp:nvSpPr>
        <dsp:cNvPr id="0" name=""/>
        <dsp:cNvSpPr/>
      </dsp:nvSpPr>
      <dsp:spPr>
        <a:xfrm>
          <a:off x="453451" y="2134597"/>
          <a:ext cx="2670132" cy="14862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Uitkomstenruimte </a:t>
          </a:r>
          <a14:m xmlns:a14="http://schemas.microsoft.com/office/drawing/2010/main">
            <m:oMath xmlns:m="http://schemas.openxmlformats.org/officeDocument/2006/math">
              <m:r>
                <a:rPr lang="en-US" sz="1900" b="0" i="1" kern="1200" smtClean="0">
                  <a:latin typeface="Cambria Math" panose="02040503050406030204" pitchFamily="18" charset="0"/>
                </a:rPr>
                <m:t>𝑆</m:t>
              </m:r>
            </m:oMath>
          </a14:m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Onderliggende </a:t>
          </a:r>
          <a:r>
            <a:rPr lang="en-US" sz="1900" kern="1200" dirty="0" err="1" smtClean="0"/>
            <a:t>kansverdeling</a:t>
          </a:r>
          <a:r>
            <a:rPr lang="en-US" sz="1900" kern="1200" dirty="0" smtClean="0"/>
            <a:t> over </a:t>
          </a:r>
          <a14:m xmlns:a14="http://schemas.microsoft.com/office/drawing/2010/main">
            <m:oMath xmlns:m="http://schemas.openxmlformats.org/officeDocument/2006/math">
              <m:r>
                <a:rPr lang="en-US" sz="1900" b="0" i="1" kern="1200" smtClean="0">
                  <a:latin typeface="Cambria Math" panose="02040503050406030204" pitchFamily="18" charset="0"/>
                </a:rPr>
                <m:t>𝑆</m:t>
              </m:r>
            </m:oMath>
          </a14:m>
          <a:endParaRPr lang="en-US" sz="1900" kern="1200" dirty="0"/>
        </a:p>
      </dsp:txBody>
      <dsp:txXfrm>
        <a:off x="496983" y="2178129"/>
        <a:ext cx="2583068" cy="1399223"/>
      </dsp:txXfrm>
    </dsp:sp>
    <dsp:sp modelId="{5DCCC56C-82FA-496D-A27C-E92CDD6B587F}">
      <dsp:nvSpPr>
        <dsp:cNvPr id="0" name=""/>
        <dsp:cNvSpPr/>
      </dsp:nvSpPr>
      <dsp:spPr>
        <a:xfrm rot="46984">
          <a:off x="2949969" y="1439166"/>
          <a:ext cx="876270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2949978" y="1564085"/>
        <a:ext cx="686950" cy="378641"/>
      </dsp:txXfrm>
    </dsp:sp>
    <dsp:sp modelId="{58A36FA2-C369-4F6B-9E66-F573CE9937C7}">
      <dsp:nvSpPr>
        <dsp:cNvPr id="0" name=""/>
        <dsp:cNvSpPr/>
      </dsp:nvSpPr>
      <dsp:spPr>
        <a:xfrm>
          <a:off x="4189899" y="1494981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Experiment </a:t>
          </a:r>
          <a:endParaRPr lang="en-US" sz="1900" kern="1200" dirty="0"/>
        </a:p>
      </dsp:txBody>
      <dsp:txXfrm>
        <a:off x="4189899" y="1494981"/>
        <a:ext cx="2534703" cy="576000"/>
      </dsp:txXfrm>
    </dsp:sp>
    <dsp:sp modelId="{91B2C4FF-5229-419A-8888-2858F92609F6}">
      <dsp:nvSpPr>
        <dsp:cNvPr id="0" name=""/>
        <dsp:cNvSpPr/>
      </dsp:nvSpPr>
      <dsp:spPr>
        <a:xfrm>
          <a:off x="4660592" y="1953313"/>
          <a:ext cx="2534703" cy="1728000"/>
        </a:xfrm>
        <a:prstGeom prst="roundRect">
          <a:avLst>
            <a:gd name="adj" fmla="val 10000"/>
          </a:avLst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B698-2873-448F-B324-CD4F680EB8CA}">
      <dsp:nvSpPr>
        <dsp:cNvPr id="0" name=""/>
        <dsp:cNvSpPr/>
      </dsp:nvSpPr>
      <dsp:spPr>
        <a:xfrm rot="3345">
          <a:off x="7098710" y="1469430"/>
          <a:ext cx="793106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7098710" y="1595551"/>
        <a:ext cx="603786" cy="378641"/>
      </dsp:txXfrm>
    </dsp:sp>
    <dsp:sp modelId="{48D3CB30-4DA4-4350-B7A4-3E648F2EB227}">
      <dsp:nvSpPr>
        <dsp:cNvPr id="0" name=""/>
        <dsp:cNvSpPr/>
      </dsp:nvSpPr>
      <dsp:spPr>
        <a:xfrm>
          <a:off x="8221030" y="1498904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Output</a:t>
          </a:r>
          <a:endParaRPr lang="en-US" sz="1900" kern="1200" dirty="0"/>
        </a:p>
      </dsp:txBody>
      <dsp:txXfrm>
        <a:off x="8221030" y="1498904"/>
        <a:ext cx="2534703" cy="576000"/>
      </dsp:txXfrm>
    </dsp:sp>
    <dsp:sp modelId="{65612ED5-8892-45FF-B158-3CE141D796A7}">
      <dsp:nvSpPr>
        <dsp:cNvPr id="0" name=""/>
        <dsp:cNvSpPr/>
      </dsp:nvSpPr>
      <dsp:spPr>
        <a:xfrm>
          <a:off x="8732303" y="2069098"/>
          <a:ext cx="2534703" cy="15736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err="1" smtClean="0"/>
            <a:t>Een</a:t>
          </a:r>
          <a:r>
            <a:rPr lang="en-US" sz="1900" kern="1200" dirty="0" smtClean="0"/>
            <a:t> van de </a:t>
          </a:r>
          <a:r>
            <a:rPr lang="en-US" sz="1900" kern="1200" dirty="0" err="1" smtClean="0"/>
            <a:t>mogelijke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uitkomsten</a:t>
          </a:r>
          <a:r>
            <a:rPr lang="en-US" sz="1900" kern="1200" dirty="0" smtClean="0"/>
            <a:t> (</a:t>
          </a:r>
          <a:r>
            <a:rPr lang="en-US" sz="1900" b="1" kern="1200" dirty="0" smtClean="0"/>
            <a:t>trekking</a:t>
          </a:r>
          <a:r>
            <a:rPr lang="en-US" sz="1900" kern="1200" dirty="0" smtClean="0"/>
            <a:t>)</a:t>
          </a:r>
          <a:endParaRPr lang="en-US" sz="1900" kern="1200" dirty="0"/>
        </a:p>
      </dsp:txBody>
      <dsp:txXfrm>
        <a:off x="8778393" y="2115188"/>
        <a:ext cx="2442523" cy="1481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/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Klik om het opmaakprofiel van de modeltekst te bewerken</a:t>
            </a:r>
          </a:p>
          <a:p>
            <a:pPr lvl="1"/>
            <a:r>
              <a:rPr lang="en-US" noProof="0" smtClean="0"/>
              <a:t>Tweede niveau</a:t>
            </a:r>
          </a:p>
          <a:p>
            <a:pPr lvl="2"/>
            <a:r>
              <a:rPr lang="en-US" noProof="0" smtClean="0"/>
              <a:t>Derde niveau</a:t>
            </a:r>
          </a:p>
          <a:p>
            <a:pPr lvl="3"/>
            <a:r>
              <a:rPr lang="en-US" noProof="0" smtClean="0"/>
              <a:t>Vierde niveau</a:t>
            </a:r>
          </a:p>
          <a:p>
            <a:pPr lvl="4"/>
            <a:r>
              <a:rPr lang="en-US" noProof="0" smtClean="0"/>
              <a:t>Vijfde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Eventuele voettekst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0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  <p:sp>
        <p:nvSpPr>
          <p:cNvPr id="5" name="Rechthoek 4"/>
          <p:cNvSpPr/>
          <p:nvPr userDrawn="1"/>
        </p:nvSpPr>
        <p:spPr bwMode="auto">
          <a:xfrm>
            <a:off x="5951984" y="6381328"/>
            <a:ext cx="1656184" cy="36004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College 2: 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Statistiek</a:t>
            </a:r>
            <a:r>
              <a:rPr lang="en-US" dirty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: college </a:t>
            </a:r>
            <a:r>
              <a:rPr lang="en-US" dirty="0" smtClean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2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pPr eaLnBrk="1" hangingPunct="1"/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Discrete </a:t>
            </a:r>
            <a:r>
              <a:rPr lang="nl-NL" dirty="0" err="1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kansvariabelen</a:t>
            </a:r>
            <a:endParaRPr lang="nl-NL" dirty="0" smtClean="0">
              <a:solidFill>
                <a:srgbClr val="113652"/>
              </a:solidFill>
              <a:latin typeface="RijksoverheidSansText" panose="020B050304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3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Recap: </a:t>
            </a:r>
            <a:r>
              <a:rPr lang="en-US" b="1" dirty="0" err="1" smtClean="0"/>
              <a:t>vorige</a:t>
            </a:r>
            <a:r>
              <a:rPr lang="en-US" b="1" dirty="0" smtClean="0"/>
              <a:t> week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Inleiding</a:t>
            </a:r>
            <a:r>
              <a:rPr lang="en-US" sz="2400" dirty="0" smtClean="0"/>
              <a:t> </a:t>
            </a:r>
            <a:r>
              <a:rPr lang="en-US" sz="2400" dirty="0" err="1" smtClean="0"/>
              <a:t>statistiek</a:t>
            </a:r>
            <a:r>
              <a:rPr lang="en-US" sz="2400" dirty="0" smtClean="0"/>
              <a:t>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populatie</a:t>
            </a:r>
            <a:r>
              <a:rPr lang="en-US" sz="2400" dirty="0" smtClean="0"/>
              <a:t> vs </a:t>
            </a:r>
            <a:r>
              <a:rPr lang="en-US" sz="2400" dirty="0" err="1" smtClean="0"/>
              <a:t>steekproef</a:t>
            </a:r>
            <a:r>
              <a:rPr lang="en-US" sz="2400" dirty="0" smtClean="0"/>
              <a:t>, </a:t>
            </a:r>
            <a:r>
              <a:rPr lang="en-US" sz="2400" dirty="0" err="1" smtClean="0"/>
              <a:t>meetniveaus</a:t>
            </a:r>
            <a:r>
              <a:rPr lang="en-US" sz="2400" dirty="0" smtClean="0"/>
              <a:t>, </a:t>
            </a:r>
            <a:r>
              <a:rPr lang="en-US" sz="2400" dirty="0" err="1" smtClean="0"/>
              <a:t>maten</a:t>
            </a:r>
            <a:r>
              <a:rPr lang="en-US" sz="2400" dirty="0" smtClean="0"/>
              <a:t> van </a:t>
            </a:r>
            <a:r>
              <a:rPr lang="en-US" sz="2400" dirty="0" err="1" smtClean="0"/>
              <a:t>ligging</a:t>
            </a:r>
            <a:r>
              <a:rPr lang="en-US" sz="2400" dirty="0" smtClean="0"/>
              <a:t> </a:t>
            </a:r>
            <a:r>
              <a:rPr lang="en-US" sz="2400" dirty="0" err="1" smtClean="0"/>
              <a:t>en</a:t>
            </a:r>
            <a:r>
              <a:rPr lang="en-US" sz="2400" dirty="0" smtClean="0"/>
              <a:t> </a:t>
            </a:r>
            <a:r>
              <a:rPr lang="en-US" sz="2400" dirty="0" err="1" smtClean="0"/>
              <a:t>spreiding</a:t>
            </a: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smtClean="0"/>
              <a:t>Wat is het nut van </a:t>
            </a:r>
            <a:r>
              <a:rPr lang="en-US" sz="2400" dirty="0" err="1" smtClean="0"/>
              <a:t>datavisualisatie</a:t>
            </a:r>
            <a:r>
              <a:rPr lang="en-US" sz="2400" dirty="0" smtClean="0"/>
              <a:t>?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Verschillende</a:t>
            </a:r>
            <a:r>
              <a:rPr lang="en-US" sz="2400" dirty="0" smtClean="0"/>
              <a:t> </a:t>
            </a:r>
            <a:r>
              <a:rPr lang="en-US" sz="2400" dirty="0" err="1" smtClean="0"/>
              <a:t>soorten</a:t>
            </a:r>
            <a:r>
              <a:rPr lang="en-US" sz="2400" dirty="0" smtClean="0"/>
              <a:t> </a:t>
            </a:r>
            <a:r>
              <a:rPr lang="en-US" sz="2400" dirty="0" err="1" smtClean="0"/>
              <a:t>visualisaties</a:t>
            </a: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Waar</a:t>
            </a:r>
            <a:r>
              <a:rPr lang="en-US" sz="2400" dirty="0" smtClean="0"/>
              <a:t> </a:t>
            </a:r>
            <a:r>
              <a:rPr lang="en-US" sz="2400" dirty="0" err="1" smtClean="0"/>
              <a:t>moet</a:t>
            </a:r>
            <a:r>
              <a:rPr lang="en-US" sz="2400" dirty="0" smtClean="0"/>
              <a:t> je op </a:t>
            </a:r>
            <a:r>
              <a:rPr lang="en-US" sz="2400" dirty="0" err="1" smtClean="0"/>
              <a:t>letten</a:t>
            </a:r>
            <a:r>
              <a:rPr lang="en-US" sz="2400" dirty="0" smtClean="0"/>
              <a:t> </a:t>
            </a:r>
            <a:r>
              <a:rPr lang="en-US" sz="2400" dirty="0" err="1" smtClean="0"/>
              <a:t>bij</a:t>
            </a:r>
            <a:r>
              <a:rPr lang="en-US" sz="2400" dirty="0" smtClean="0"/>
              <a:t> </a:t>
            </a:r>
            <a:r>
              <a:rPr lang="en-US" sz="2400" dirty="0" err="1" smtClean="0"/>
              <a:t>misleidende</a:t>
            </a:r>
            <a:r>
              <a:rPr lang="en-US" sz="2400" dirty="0" smtClean="0"/>
              <a:t> </a:t>
            </a:r>
            <a:r>
              <a:rPr lang="en-US" sz="2400" dirty="0" err="1" smtClean="0"/>
              <a:t>visualisaties</a:t>
            </a:r>
            <a:r>
              <a:rPr lang="en-US" sz="2400" dirty="0" smtClean="0"/>
              <a:t>?</a:t>
            </a:r>
            <a:endParaRPr lang="en-US" sz="2400" dirty="0"/>
          </a:p>
        </p:txBody>
      </p:sp>
      <p:sp>
        <p:nvSpPr>
          <p:cNvPr id="5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sp>
        <p:nvSpPr>
          <p:cNvPr id="2" name="Rechthoek 1"/>
          <p:cNvSpPr/>
          <p:nvPr/>
        </p:nvSpPr>
        <p:spPr bwMode="auto">
          <a:xfrm>
            <a:off x="5951984" y="6381328"/>
            <a:ext cx="1656184" cy="36004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Leerdoelen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 eaLnBrk="1" hangingPunct="1">
              <a:spcBef>
                <a:spcPts val="1200"/>
              </a:spcBef>
            </a:pPr>
            <a:r>
              <a:rPr lang="nl-NL" dirty="0" smtClean="0"/>
              <a:t>Aan het einde van dit college kunnen jullie:</a:t>
            </a:r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nl-NL" dirty="0" smtClean="0"/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nl-NL" dirty="0" smtClean="0"/>
              <a:t>De eigenschappen van een discrete </a:t>
            </a:r>
            <a:r>
              <a:rPr lang="nl-NL" dirty="0" err="1" smtClean="0"/>
              <a:t>kansvariabele</a:t>
            </a:r>
            <a:r>
              <a:rPr lang="nl-NL" dirty="0" smtClean="0"/>
              <a:t> definiëren en herkennen.</a:t>
            </a:r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nl-NL" dirty="0" smtClean="0"/>
              <a:t>Een </a:t>
            </a:r>
            <a:r>
              <a:rPr lang="nl-NL" dirty="0" err="1" smtClean="0"/>
              <a:t>kansfunctie</a:t>
            </a:r>
            <a:r>
              <a:rPr lang="nl-NL" dirty="0" smtClean="0"/>
              <a:t> en een cumulatieve verdelingsfunctie (CDF) interpreteren</a:t>
            </a:r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De </a:t>
            </a:r>
            <a:r>
              <a:rPr lang="en-US" dirty="0" err="1" smtClean="0"/>
              <a:t>verwachtingswaarde</a:t>
            </a:r>
            <a:r>
              <a:rPr lang="en-US" dirty="0" smtClean="0"/>
              <a:t>, </a:t>
            </a:r>
            <a:r>
              <a:rPr lang="en-US" dirty="0" err="1" smtClean="0"/>
              <a:t>variantie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standaarddeviatie</a:t>
            </a:r>
            <a:r>
              <a:rPr lang="en-US" dirty="0" smtClean="0"/>
              <a:t> </a:t>
            </a:r>
            <a:r>
              <a:rPr lang="en-US" dirty="0" smtClean="0"/>
              <a:t>van discrete </a:t>
            </a:r>
            <a:r>
              <a:rPr lang="en-US" dirty="0" err="1" smtClean="0"/>
              <a:t>kansvariabele</a:t>
            </a:r>
            <a:r>
              <a:rPr lang="en-US" dirty="0" err="1" smtClean="0"/>
              <a:t>n</a:t>
            </a:r>
            <a:r>
              <a:rPr lang="en-US" dirty="0" smtClean="0"/>
              <a:t> </a:t>
            </a:r>
            <a:r>
              <a:rPr lang="en-US" dirty="0" err="1" smtClean="0"/>
              <a:t>uitrekenen</a:t>
            </a:r>
            <a:r>
              <a:rPr lang="en-US" dirty="0" smtClean="0"/>
              <a:t>. </a:t>
            </a:r>
            <a:endParaRPr lang="nl-NL" dirty="0" smtClean="0"/>
          </a:p>
        </p:txBody>
      </p:sp>
      <p:sp>
        <p:nvSpPr>
          <p:cNvPr id="6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sp>
        <p:nvSpPr>
          <p:cNvPr id="7" name="Rechthoek 6"/>
          <p:cNvSpPr/>
          <p:nvPr/>
        </p:nvSpPr>
        <p:spPr bwMode="auto">
          <a:xfrm>
            <a:off x="5951984" y="6381328"/>
            <a:ext cx="1656184" cy="36004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37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Geschiedenis</a:t>
            </a:r>
            <a:r>
              <a:rPr lang="en-US" b="1" dirty="0" smtClean="0"/>
              <a:t> van de </a:t>
            </a:r>
            <a:r>
              <a:rPr lang="en-US" b="1" dirty="0" err="1" smtClean="0"/>
              <a:t>kansrekening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dirty="0" smtClean="0"/>
              <a:t>De </a:t>
            </a:r>
            <a:r>
              <a:rPr lang="en-US" dirty="0" err="1" smtClean="0"/>
              <a:t>eerste</a:t>
            </a:r>
            <a:r>
              <a:rPr lang="en-US" dirty="0" smtClean="0"/>
              <a:t> </a:t>
            </a:r>
            <a:r>
              <a:rPr lang="en-US" dirty="0" err="1" smtClean="0"/>
              <a:t>mensen</a:t>
            </a:r>
            <a:r>
              <a:rPr lang="en-US" dirty="0" smtClean="0"/>
              <a:t> die </a:t>
            </a:r>
            <a:r>
              <a:rPr lang="en-US" dirty="0" err="1" smtClean="0"/>
              <a:t>nadachten</a:t>
            </a:r>
            <a:r>
              <a:rPr lang="en-US" dirty="0" smtClean="0"/>
              <a:t> over </a:t>
            </a:r>
            <a:r>
              <a:rPr lang="en-US" dirty="0" smtClean="0"/>
              <a:t>de </a:t>
            </a:r>
            <a:r>
              <a:rPr lang="en-US" dirty="0" err="1" smtClean="0"/>
              <a:t>wiskunde</a:t>
            </a:r>
            <a:r>
              <a:rPr lang="en-US" dirty="0" smtClean="0"/>
              <a:t> van </a:t>
            </a:r>
            <a:r>
              <a:rPr lang="en-US" dirty="0" err="1" smtClean="0"/>
              <a:t>rekenen</a:t>
            </a:r>
            <a:r>
              <a:rPr lang="en-US" dirty="0" smtClean="0"/>
              <a:t> met </a:t>
            </a:r>
            <a:r>
              <a:rPr lang="en-US" dirty="0" err="1" smtClean="0"/>
              <a:t>kansen</a:t>
            </a:r>
            <a:r>
              <a:rPr lang="en-US" dirty="0" smtClean="0"/>
              <a:t>:</a:t>
            </a:r>
            <a:endParaRPr lang="en-US" dirty="0" smtClean="0"/>
          </a:p>
          <a:p>
            <a:pPr lvl="1" indent="0">
              <a:lnSpc>
                <a:spcPct val="150000"/>
              </a:lnSpc>
              <a:buNone/>
            </a:pPr>
            <a:r>
              <a:rPr lang="en-US" i="1" dirty="0" smtClean="0"/>
              <a:t>“Hoe </a:t>
            </a:r>
            <a:r>
              <a:rPr lang="en-US" i="1" dirty="0" err="1" smtClean="0"/>
              <a:t>kan</a:t>
            </a:r>
            <a:r>
              <a:rPr lang="en-US" i="1" dirty="0" smtClean="0"/>
              <a:t> </a:t>
            </a:r>
            <a:r>
              <a:rPr lang="en-US" i="1" dirty="0" err="1" smtClean="0"/>
              <a:t>ik</a:t>
            </a:r>
            <a:r>
              <a:rPr lang="en-US" i="1" dirty="0" smtClean="0"/>
              <a:t> </a:t>
            </a:r>
            <a:r>
              <a:rPr lang="en-US" i="1" dirty="0" err="1" smtClean="0"/>
              <a:t>meer</a:t>
            </a:r>
            <a:r>
              <a:rPr lang="en-US" i="1" dirty="0" smtClean="0"/>
              <a:t> geld </a:t>
            </a:r>
            <a:r>
              <a:rPr lang="en-US" i="1" dirty="0" err="1" smtClean="0"/>
              <a:t>verdienen</a:t>
            </a:r>
            <a:r>
              <a:rPr lang="en-US" i="1" dirty="0" smtClean="0"/>
              <a:t> met </a:t>
            </a:r>
            <a:r>
              <a:rPr lang="en-US" i="1" dirty="0" err="1" smtClean="0"/>
              <a:t>dobbel</a:t>
            </a:r>
            <a:r>
              <a:rPr lang="en-US" i="1" dirty="0" smtClean="0"/>
              <a:t>- </a:t>
            </a:r>
            <a:r>
              <a:rPr lang="en-US" i="1" dirty="0" err="1" smtClean="0"/>
              <a:t>en</a:t>
            </a:r>
            <a:r>
              <a:rPr lang="en-US" i="1" dirty="0" smtClean="0"/>
              <a:t> </a:t>
            </a:r>
            <a:r>
              <a:rPr lang="en-US" i="1" dirty="0" err="1" smtClean="0"/>
              <a:t>kaartspellen</a:t>
            </a:r>
            <a:r>
              <a:rPr lang="en-US" i="1" dirty="0" smtClean="0"/>
              <a:t>?”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en-US" b="1" i="1" dirty="0"/>
              <a:t>	</a:t>
            </a:r>
            <a:endParaRPr lang="en-US" b="1" i="1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i="1" dirty="0"/>
          </a:p>
          <a:p>
            <a:pPr lvl="1" indent="0">
              <a:lnSpc>
                <a:spcPct val="150000"/>
              </a:lnSpc>
              <a:buNone/>
            </a:pPr>
            <a:endParaRPr lang="en-US" b="1" i="1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i="1" dirty="0"/>
          </a:p>
          <a:p>
            <a:pPr lvl="1" indent="0">
              <a:lnSpc>
                <a:spcPct val="150000"/>
              </a:lnSpc>
              <a:buNone/>
            </a:pPr>
            <a:endParaRPr lang="en-US" b="1" i="1" dirty="0" smtClean="0"/>
          </a:p>
          <a:p>
            <a:pPr lvl="1" indent="0">
              <a:buNone/>
            </a:pPr>
            <a:r>
              <a:rPr lang="en-US" b="1" i="1" dirty="0"/>
              <a:t>	 </a:t>
            </a:r>
            <a:r>
              <a:rPr lang="en-US" b="1" i="1" dirty="0" smtClean="0"/>
              <a:t>      </a:t>
            </a:r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415480" y="335699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40" y="2997752"/>
            <a:ext cx="1554032" cy="2452571"/>
          </a:xfrm>
          <a:prstGeom prst="rect">
            <a:avLst/>
          </a:prstGeom>
        </p:spPr>
      </p:pic>
      <p:sp>
        <p:nvSpPr>
          <p:cNvPr id="3" name="AutoShape 2" descr="https://upload.wikimedia.org/wikipedia/commons/thumb/0/03/Cardano.jpg/260px-Cardano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2997752"/>
            <a:ext cx="2016224" cy="2452571"/>
          </a:xfrm>
          <a:prstGeom prst="rect">
            <a:avLst/>
          </a:prstGeom>
        </p:spPr>
      </p:pic>
      <p:sp>
        <p:nvSpPr>
          <p:cNvPr id="5" name="AutoShape 4" descr="undefine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1884480" y="5535097"/>
            <a:ext cx="23743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latin typeface="+mj-lt"/>
              </a:rPr>
              <a:t>Girolamo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Cardano</a:t>
            </a:r>
            <a:endParaRPr lang="en-US" dirty="0" smtClean="0">
              <a:latin typeface="+mj-lt"/>
            </a:endParaRPr>
          </a:p>
          <a:p>
            <a:pPr algn="ctr"/>
            <a:r>
              <a:rPr lang="en-US" dirty="0" smtClean="0">
                <a:latin typeface="+mj-lt"/>
              </a:rPr>
              <a:t>(1501 – 1576)</a:t>
            </a:r>
            <a:endParaRPr lang="nl-NL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79976" y="5535097"/>
            <a:ext cx="60486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Antoine </a:t>
            </a:r>
            <a:r>
              <a:rPr lang="en-US" dirty="0" err="1" smtClean="0">
                <a:latin typeface="+mj-lt"/>
              </a:rPr>
              <a:t>Gombaud</a:t>
            </a:r>
            <a:r>
              <a:rPr lang="en-US" dirty="0" smtClean="0">
                <a:latin typeface="+mj-lt"/>
              </a:rPr>
              <a:t>, Chevalier de </a:t>
            </a:r>
            <a:r>
              <a:rPr lang="en-US" dirty="0" err="1" smtClean="0">
                <a:latin typeface="+mj-lt"/>
              </a:rPr>
              <a:t>Méré</a:t>
            </a:r>
            <a:endParaRPr lang="en-US" dirty="0" smtClean="0">
              <a:latin typeface="+mj-lt"/>
            </a:endParaRPr>
          </a:p>
          <a:p>
            <a:pPr algn="ctr"/>
            <a:r>
              <a:rPr lang="en-US" dirty="0" smtClean="0">
                <a:latin typeface="+mj-lt"/>
              </a:rPr>
              <a:t>(1607 – 1684)</a:t>
            </a:r>
            <a:endParaRPr lang="nl-NL" dirty="0">
              <a:latin typeface="+mj-lt"/>
            </a:endParaRPr>
          </a:p>
        </p:txBody>
      </p:sp>
      <p:sp>
        <p:nvSpPr>
          <p:cNvPr id="12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14604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Geschiedenis</a:t>
            </a:r>
            <a:r>
              <a:rPr lang="en-US" b="1" dirty="0" smtClean="0"/>
              <a:t> van de </a:t>
            </a:r>
            <a:r>
              <a:rPr lang="en-US" b="1" dirty="0" err="1" smtClean="0"/>
              <a:t>kansrekening</a:t>
            </a:r>
            <a:r>
              <a:rPr lang="en-US" b="1" dirty="0" smtClean="0"/>
              <a:t> </a:t>
            </a:r>
            <a:endParaRPr lang="nl-NL" b="1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2775" y="1773238"/>
                <a:ext cx="11099849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000" b="1" dirty="0" smtClean="0"/>
                  <a:t>Voorbeeld: </a:t>
                </a:r>
                <a:r>
                  <a:rPr lang="en-US" sz="2000" dirty="0" err="1" smtClean="0"/>
                  <a:t>worp</a:t>
                </a:r>
                <a:r>
                  <a:rPr lang="en-US" sz="2000" dirty="0" smtClean="0"/>
                  <a:t> met 2 </a:t>
                </a:r>
                <a:r>
                  <a:rPr lang="en-US" sz="2000" dirty="0" err="1" smtClean="0"/>
                  <a:t>dobbelstenen</a:t>
                </a:r>
                <a:r>
                  <a:rPr lang="en-US" sz="2000" dirty="0" smtClean="0"/>
                  <a:t>.</a:t>
                </a:r>
                <a:endParaRPr lang="en-US" sz="2000" dirty="0" smtClean="0"/>
              </a:p>
              <a:p>
                <a:pPr marL="660400" lvl="1" indent="-285750">
                  <a:lnSpc>
                    <a:spcPct val="150000"/>
                  </a:lnSpc>
                </a:pPr>
                <a:r>
                  <a:rPr lang="en-US" sz="2000" dirty="0" smtClean="0"/>
                  <a:t>De </a:t>
                </a:r>
                <a:r>
                  <a:rPr lang="en-US" sz="2000" dirty="0" err="1" smtClean="0"/>
                  <a:t>uitkomst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i="1" dirty="0">
                        <a:latin typeface="Cambria Math" panose="02040503050406030204" pitchFamily="18" charset="0"/>
                      </a:rPr>
                      <m:t>(6, 6)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 smtClean="0"/>
                  <a:t>wordt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gerealiseerd</a:t>
                </a:r>
                <a:r>
                  <a:rPr lang="en-US" sz="2000" dirty="0" smtClean="0"/>
                  <a:t> met </a:t>
                </a:r>
                <a:r>
                  <a:rPr lang="en-US" sz="2000" dirty="0" err="1" smtClean="0"/>
                  <a:t>kans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sz="2000" dirty="0" smtClean="0"/>
                  <a:t>.</a:t>
                </a:r>
              </a:p>
              <a:p>
                <a:pPr marL="660400" lvl="1" indent="-285750">
                  <a:lnSpc>
                    <a:spcPct val="150000"/>
                  </a:lnSpc>
                </a:pPr>
                <a:r>
                  <a:rPr lang="nl-NL" sz="2000" dirty="0" smtClean="0"/>
                  <a:t>Een andere uitkomst wordt gerealiseerd met kans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sz="2000" dirty="0" smtClean="0"/>
                  <a:t>.</a:t>
                </a:r>
                <a:endParaRPr lang="en-US" sz="20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sz="1800" b="1" i="1" dirty="0" smtClean="0"/>
                  <a:t>Stel nu dat we niet één worp van 2 dobbelstenen nemen, maar 24 keer achter elkaar.</a:t>
                </a:r>
              </a:p>
              <a:p>
                <a:pPr lvl="1" indent="0">
                  <a:buNone/>
                </a:pPr>
                <a:endParaRPr lang="en-US" sz="2000" b="1" dirty="0" smtClean="0"/>
              </a:p>
              <a:p>
                <a:pPr lvl="1" indent="0">
                  <a:buNone/>
                </a:pPr>
                <a:r>
                  <a:rPr lang="en-US" sz="2000" b="1" dirty="0" smtClean="0"/>
                  <a:t>Antoine </a:t>
                </a:r>
                <a:r>
                  <a:rPr lang="en-US" sz="2000" b="1" dirty="0" err="1" smtClean="0"/>
                  <a:t>Gombaud</a:t>
                </a:r>
                <a:r>
                  <a:rPr lang="en-US" sz="2000" b="1" dirty="0" smtClean="0"/>
                  <a:t>, chevalier de </a:t>
                </a:r>
                <a:r>
                  <a:rPr lang="en-US" sz="2000" b="1" dirty="0" err="1" smtClean="0"/>
                  <a:t>Méré</a:t>
                </a:r>
                <a:r>
                  <a:rPr lang="en-US" sz="2000" b="1" dirty="0" smtClean="0"/>
                  <a:t> (</a:t>
                </a:r>
                <a:r>
                  <a:rPr lang="en-US" sz="2000" b="1" dirty="0" err="1" smtClean="0"/>
                  <a:t>gokverslaafde</a:t>
                </a:r>
                <a:r>
                  <a:rPr lang="en-US" sz="2000" b="1" dirty="0" smtClean="0"/>
                  <a:t>): </a:t>
                </a:r>
                <a:endParaRPr lang="en-US" sz="2000" b="1" dirty="0" smtClean="0"/>
              </a:p>
              <a:p>
                <a:pPr lvl="1" indent="0">
                  <a:buNone/>
                </a:pPr>
                <a:r>
                  <a:rPr lang="en-US" sz="2000" dirty="0" smtClean="0"/>
                  <a:t>De </a:t>
                </a:r>
                <a:r>
                  <a:rPr lang="en-US" sz="2000" dirty="0" err="1" smtClean="0"/>
                  <a:t>kans</a:t>
                </a:r>
                <a:r>
                  <a:rPr lang="en-US" sz="2000" dirty="0" smtClean="0"/>
                  <a:t> op </a:t>
                </a:r>
                <a:r>
                  <a:rPr lang="en-US" sz="2000" dirty="0" err="1" smtClean="0"/>
                  <a:t>minstens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één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keer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nl-NL" sz="2000" b="0" i="1" dirty="0" smtClean="0">
                        <a:latin typeface="Cambria Math" panose="02040503050406030204" pitchFamily="18" charset="0"/>
                      </a:rPr>
                      <m:t>(6, 6)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err="1" smtClean="0"/>
                  <a:t>bij</a:t>
                </a:r>
                <a:r>
                  <a:rPr lang="en-US" sz="2000" dirty="0" smtClean="0"/>
                  <a:t> 24 </a:t>
                </a:r>
                <a:r>
                  <a:rPr lang="en-US" sz="2000" dirty="0" err="1" smtClean="0"/>
                  <a:t>pogingen</a:t>
                </a:r>
                <a:r>
                  <a:rPr lang="en-US" sz="2000" dirty="0" smtClean="0"/>
                  <a:t> is </a:t>
                </a:r>
                <a:r>
                  <a:rPr lang="en-US" sz="2000" dirty="0" err="1" smtClean="0"/>
                  <a:t>gelijk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aan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24∗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 smtClean="0"/>
                  <a:t>.</a:t>
                </a:r>
              </a:p>
              <a:p>
                <a:pPr lvl="1" indent="0">
                  <a:buNone/>
                </a:pPr>
                <a:endParaRPr lang="en-US" sz="2000" b="1" dirty="0" smtClean="0"/>
              </a:p>
              <a:p>
                <a:pPr lvl="1" indent="0">
                  <a:buNone/>
                </a:pPr>
                <a:r>
                  <a:rPr lang="en-US" sz="2000" b="1" dirty="0" smtClean="0"/>
                  <a:t>Blaise </a:t>
                </a:r>
                <a:r>
                  <a:rPr lang="en-US" sz="2000" b="1" dirty="0" smtClean="0"/>
                  <a:t>Pascal </a:t>
                </a:r>
                <a:r>
                  <a:rPr lang="en-US" sz="2000" b="1" dirty="0" smtClean="0"/>
                  <a:t>(</a:t>
                </a:r>
                <a:r>
                  <a:rPr lang="en-US" sz="2000" b="1" dirty="0" err="1" smtClean="0"/>
                  <a:t>wiskundige</a:t>
                </a:r>
                <a:r>
                  <a:rPr lang="en-US" sz="2000" b="1" dirty="0" smtClean="0"/>
                  <a:t>): </a:t>
                </a:r>
                <a:r>
                  <a:rPr lang="en-US" sz="2000" dirty="0" smtClean="0"/>
                  <a:t>Nee, </a:t>
                </a:r>
                <a:r>
                  <a:rPr lang="en-US" sz="2000" dirty="0" err="1" smtClean="0"/>
                  <a:t>deze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kans</a:t>
                </a:r>
                <a:r>
                  <a:rPr lang="en-US" sz="2000" dirty="0" smtClean="0"/>
                  <a:t> is </a:t>
                </a:r>
                <a:r>
                  <a:rPr lang="en-US" sz="2000" dirty="0" err="1" smtClean="0"/>
                  <a:t>gelijk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aan</a:t>
                </a:r>
                <a:endParaRPr lang="en-US" sz="2000" dirty="0" smtClean="0"/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geen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enkele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(6, 6)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24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pogingen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35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≈0,491…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775" y="1773238"/>
                <a:ext cx="11099849" cy="4246562"/>
              </a:xfrm>
              <a:blipFill>
                <a:blip r:embed="rId2"/>
                <a:stretch>
                  <a:fillRect b="-10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415480" y="335699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3" name="AutoShape 2" descr="https://upload.wikimedia.org/wikipedia/commons/thumb/0/03/Cardano.jpg/260px-Cardano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5" name="AutoShape 4" descr="undefine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6855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worp</a:t>
            </a:r>
            <a:r>
              <a:rPr lang="en-US" b="1" dirty="0" smtClean="0"/>
              <a:t> van twee </a:t>
            </a:r>
            <a:r>
              <a:rPr lang="en-US" b="1" dirty="0" err="1" smtClean="0"/>
              <a:t>dobbelstenen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127448" y="1829103"/>
                <a:ext cx="10897707" cy="4296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+mn-lt"/>
                  </a:rPr>
                  <a:t>Bij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worp</a:t>
                </a:r>
                <a:r>
                  <a:rPr lang="en-US" dirty="0" smtClean="0">
                    <a:latin typeface="+mn-lt"/>
                  </a:rPr>
                  <a:t> van twee </a:t>
                </a:r>
                <a:r>
                  <a:rPr lang="en-US" dirty="0" err="1" smtClean="0">
                    <a:latin typeface="+mn-lt"/>
                  </a:rPr>
                  <a:t>dobbelstenen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spelen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aantal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zaken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rol</a:t>
                </a:r>
                <a:r>
                  <a:rPr lang="en-US" dirty="0" smtClean="0">
                    <a:latin typeface="+mn-lt"/>
                  </a:rPr>
                  <a:t>:</a:t>
                </a:r>
              </a:p>
              <a:p>
                <a:endParaRPr lang="en-US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+mn-lt"/>
                  </a:rPr>
                  <a:t>Er</a:t>
                </a:r>
                <a:r>
                  <a:rPr lang="en-US" dirty="0" smtClean="0">
                    <a:latin typeface="+mn-lt"/>
                  </a:rPr>
                  <a:t> is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+mn-lt"/>
                  </a:rPr>
                  <a:t>uitkomstenruimte</a:t>
                </a:r>
                <a:r>
                  <a:rPr lang="en-US" dirty="0" smtClean="0">
                    <a:latin typeface="+mn-lt"/>
                  </a:rPr>
                  <a:t>, </a:t>
                </a:r>
                <a:r>
                  <a:rPr lang="en-US" dirty="0" err="1" smtClean="0">
                    <a:latin typeface="+mn-lt"/>
                  </a:rPr>
                  <a:t>namelijk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,…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6,4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6,5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6,6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nl-NL" dirty="0" smtClean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+mn-lt"/>
                  </a:rPr>
                  <a:t>Er</a:t>
                </a:r>
                <a:r>
                  <a:rPr lang="en-US" dirty="0" smtClean="0">
                    <a:latin typeface="+mn-lt"/>
                  </a:rPr>
                  <a:t> is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onderliggende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+mn-lt"/>
                  </a:rPr>
                  <a:t>kansverdeling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dirty="0" smtClean="0">
                    <a:latin typeface="+mn-lt"/>
                  </a:rPr>
                  <a:t>over </a:t>
                </a:r>
                <a:r>
                  <a:rPr lang="en-US" dirty="0" err="1" smtClean="0">
                    <a:latin typeface="+mn-lt"/>
                  </a:rPr>
                  <a:t>deze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verzameling</a:t>
                </a:r>
                <a:endParaRPr lang="en-US" dirty="0">
                  <a:latin typeface="+mn-lt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+mn-lt"/>
                  </a:rPr>
                  <a:t>Iedere </a:t>
                </a:r>
                <a:r>
                  <a:rPr lang="en-US" dirty="0" err="1" smtClean="0">
                    <a:latin typeface="+mn-lt"/>
                  </a:rPr>
                  <a:t>mogelijke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uitkomst</a:t>
                </a:r>
                <a:r>
                  <a:rPr lang="en-US" dirty="0" smtClean="0">
                    <a:latin typeface="+mn-lt"/>
                  </a:rPr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>
                    <a:latin typeface="+mn-lt"/>
                  </a:rPr>
                  <a:t> wordt met </a:t>
                </a:r>
                <a:r>
                  <a:rPr lang="en-US" dirty="0" err="1" smtClean="0">
                    <a:latin typeface="+mn-lt"/>
                  </a:rPr>
                  <a:t>kans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dirty="0" smtClean="0">
                    <a:latin typeface="+mn-lt"/>
                  </a:rPr>
                  <a:t> gerealiseerd (</a:t>
                </a:r>
                <a:r>
                  <a:rPr lang="en-US" b="1" dirty="0" err="1" smtClean="0">
                    <a:latin typeface="+mn-lt"/>
                  </a:rPr>
                  <a:t>uniforme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verdeling</a:t>
                </a:r>
                <a:r>
                  <a:rPr lang="en-US" dirty="0" smtClean="0">
                    <a:latin typeface="+mn-lt"/>
                  </a:rPr>
                  <a:t>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>
                  <a:latin typeface="+mn-lt"/>
                </a:endParaRPr>
              </a:p>
              <a:p>
                <a:r>
                  <a:rPr lang="en-US" b="1" dirty="0" smtClean="0">
                    <a:latin typeface="+mn-lt"/>
                  </a:rPr>
                  <a:t>Van </a:t>
                </a:r>
                <a:r>
                  <a:rPr lang="en-US" b="1" dirty="0" err="1" smtClean="0">
                    <a:latin typeface="+mn-lt"/>
                  </a:rPr>
                  <a:t>tevoren</a:t>
                </a:r>
                <a:endParaRPr lang="en-US" b="1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+mn-lt"/>
                  </a:rPr>
                  <a:t>Is </a:t>
                </a:r>
                <a:r>
                  <a:rPr lang="en-US" dirty="0" err="1" smtClean="0">
                    <a:latin typeface="+mn-lt"/>
                  </a:rPr>
                  <a:t>niet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te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voorspellen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smtClean="0">
                    <a:latin typeface="+mn-lt"/>
                  </a:rPr>
                  <a:t>wat de </a:t>
                </a:r>
                <a:r>
                  <a:rPr lang="en-US" dirty="0" err="1" smtClean="0">
                    <a:latin typeface="+mn-lt"/>
                  </a:rPr>
                  <a:t>uitkomst</a:t>
                </a:r>
                <a:r>
                  <a:rPr lang="en-US" dirty="0" smtClean="0">
                    <a:latin typeface="+mn-lt"/>
                  </a:rPr>
                  <a:t> van de </a:t>
                </a:r>
                <a:r>
                  <a:rPr lang="en-US" dirty="0" err="1" smtClean="0">
                    <a:latin typeface="+mn-lt"/>
                  </a:rPr>
                  <a:t>worp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gaat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zijn</a:t>
                </a:r>
                <a:r>
                  <a:rPr lang="en-US" dirty="0" smtClean="0">
                    <a:latin typeface="+mn-lt"/>
                  </a:rPr>
                  <a:t>!</a:t>
                </a:r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r>
                  <a:rPr lang="en-US" b="1" dirty="0" err="1" smtClean="0">
                    <a:latin typeface="+mn-lt"/>
                  </a:rPr>
                  <a:t>Achteraf</a:t>
                </a:r>
                <a:r>
                  <a:rPr lang="en-US" b="1" dirty="0" smtClean="0">
                    <a:latin typeface="+mn-lt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+mn-lt"/>
                  </a:rPr>
                  <a:t>precies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één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mogelijke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uitkomst</a:t>
                </a:r>
                <a:r>
                  <a:rPr lang="en-US" dirty="0" smtClean="0">
                    <a:latin typeface="+mn-lt"/>
                  </a:rPr>
                  <a:t> uit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latin typeface="+mn-lt"/>
                  </a:rPr>
                  <a:t>wordt gerealiseerd</a:t>
                </a:r>
                <a:r>
                  <a:rPr lang="en-US" dirty="0" smtClean="0">
                    <a:latin typeface="+mn-lt"/>
                  </a:rPr>
                  <a:t>, </a:t>
                </a:r>
                <a:r>
                  <a:rPr lang="en-US" dirty="0" err="1" smtClean="0">
                    <a:latin typeface="+mn-lt"/>
                  </a:rPr>
                  <a:t>bv</a:t>
                </a:r>
                <a:r>
                  <a:rPr lang="en-US" dirty="0" smtClean="0">
                    <a:latin typeface="+mn-lt"/>
                  </a:rPr>
                  <a:t>.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(4, 2)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l-NL" dirty="0" smtClean="0">
                    <a:latin typeface="+mn-lt"/>
                  </a:rPr>
                  <a:t> </a:t>
                </a:r>
                <a:r>
                  <a:rPr lang="nl-NL" b="1" dirty="0" smtClean="0">
                    <a:solidFill>
                      <a:schemeClr val="accent1"/>
                    </a:solidFill>
                    <a:latin typeface="+mn-lt"/>
                  </a:rPr>
                  <a:t>trekking</a:t>
                </a:r>
                <a:endParaRPr lang="nl-NL" b="1" dirty="0">
                  <a:solidFill>
                    <a:schemeClr val="accent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448" y="1829103"/>
                <a:ext cx="10897707" cy="4296625"/>
              </a:xfrm>
              <a:prstGeom prst="rect">
                <a:avLst/>
              </a:prstGeom>
              <a:blipFill>
                <a:blip r:embed="rId2"/>
                <a:stretch>
                  <a:fillRect l="-727" t="-993" b="-1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352" y="4005064"/>
            <a:ext cx="2598245" cy="1730462"/>
          </a:xfrm>
          <a:prstGeom prst="rect">
            <a:avLst/>
          </a:prstGeom>
        </p:spPr>
      </p:pic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75144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Diagram 9"/>
              <p:cNvGraphicFramePr/>
              <p:nvPr>
                <p:extLst>
                  <p:ext uri="{D42A27DB-BD31-4B8C-83A1-F6EECF244321}">
                    <p14:modId xmlns:p14="http://schemas.microsoft.com/office/powerpoint/2010/main" val="4020364875"/>
                  </p:ext>
                </p:extLst>
              </p:nvPr>
            </p:nvGraphicFramePr>
            <p:xfrm>
              <a:off x="539277" y="1265239"/>
              <a:ext cx="11269018" cy="505862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0" name="Diagram 9"/>
              <p:cNvGraphicFramePr/>
              <p:nvPr>
                <p:extLst>
                  <p:ext uri="{D42A27DB-BD31-4B8C-83A1-F6EECF244321}">
                    <p14:modId xmlns:p14="http://schemas.microsoft.com/office/powerpoint/2010/main" val="4020364875"/>
                  </p:ext>
                </p:extLst>
              </p:nvPr>
            </p:nvGraphicFramePr>
            <p:xfrm>
              <a:off x="539277" y="1265239"/>
              <a:ext cx="11269018" cy="505862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Kansexperiment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Rounded Rectangle 6"/>
          <p:cNvSpPr/>
          <p:nvPr/>
        </p:nvSpPr>
        <p:spPr bwMode="auto">
          <a:xfrm>
            <a:off x="2135560" y="4221088"/>
            <a:ext cx="1800200" cy="792088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1824" y="3683175"/>
            <a:ext cx="367240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RijksoverheidSansText" panose="020B0503040202060203" pitchFamily="34" charset="0"/>
              </a:rPr>
              <a:t>Lab-experiment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RijksoverheidSansText" panose="020B0503040202060203" pitchFamily="34" charset="0"/>
              </a:rPr>
              <a:t>Meting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Afname</a:t>
            </a:r>
            <a:r>
              <a:rPr lang="en-US" dirty="0" smtClean="0">
                <a:latin typeface="RijksoverheidSansText" panose="020B0503040202060203" pitchFamily="34" charset="0"/>
              </a:rPr>
              <a:t> van </a:t>
            </a:r>
            <a:r>
              <a:rPr lang="en-US" dirty="0" err="1" smtClean="0">
                <a:latin typeface="RijksoverheidSansText" panose="020B0503040202060203" pitchFamily="34" charset="0"/>
              </a:rPr>
              <a:t>een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enquête</a:t>
            </a:r>
            <a:endParaRPr lang="en-US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Simulatie</a:t>
            </a:r>
            <a:endParaRPr lang="en-US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RijksoverheidSansText" panose="020B0503040202060203" pitchFamily="34" charset="0"/>
              </a:rPr>
              <a:t>…</a:t>
            </a: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5400" y="5819050"/>
            <a:ext cx="1180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+mn-lt"/>
              </a:rPr>
              <a:t>Kansvariabele</a:t>
            </a:r>
            <a:r>
              <a:rPr lang="en-US" b="1" dirty="0" smtClean="0">
                <a:latin typeface="+mn-lt"/>
              </a:rPr>
              <a:t>: </a:t>
            </a:r>
            <a:r>
              <a:rPr lang="en-US" dirty="0" err="1" smtClean="0">
                <a:latin typeface="+mn-lt"/>
              </a:rPr>
              <a:t>aan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toeval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onderhevige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variabele</a:t>
            </a:r>
            <a:r>
              <a:rPr lang="en-US" dirty="0" smtClean="0">
                <a:latin typeface="+mn-lt"/>
              </a:rPr>
              <a:t> die </a:t>
            </a:r>
            <a:r>
              <a:rPr lang="en-US" dirty="0" err="1" smtClean="0">
                <a:latin typeface="+mn-lt"/>
              </a:rPr>
              <a:t>tijdens</a:t>
            </a:r>
            <a:r>
              <a:rPr lang="en-US" dirty="0" smtClean="0">
                <a:latin typeface="+mn-lt"/>
              </a:rPr>
              <a:t> het experiment </a:t>
            </a:r>
            <a:r>
              <a:rPr lang="en-US" dirty="0" err="1" smtClean="0">
                <a:latin typeface="+mn-lt"/>
              </a:rPr>
              <a:t>wordt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gemeten</a:t>
            </a:r>
            <a:endParaRPr lang="nl-NL" b="1" dirty="0">
              <a:latin typeface="+mn-lt"/>
            </a:endParaRPr>
          </a:p>
        </p:txBody>
      </p:sp>
      <p:sp>
        <p:nvSpPr>
          <p:cNvPr id="9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90022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worp</a:t>
            </a:r>
            <a:r>
              <a:rPr lang="en-US" b="1" dirty="0" smtClean="0"/>
              <a:t> van twee </a:t>
            </a:r>
            <a:r>
              <a:rPr lang="en-US" b="1" dirty="0" err="1" smtClean="0"/>
              <a:t>dobbelstenen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14917" y="1772816"/>
                <a:ext cx="10897707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+mn-lt"/>
                  </a:rPr>
                  <a:t>Vaak </a:t>
                </a:r>
                <a:r>
                  <a:rPr lang="en-US" dirty="0" err="1" smtClean="0">
                    <a:latin typeface="+mn-lt"/>
                  </a:rPr>
                  <a:t>bekijken</a:t>
                </a:r>
                <a:r>
                  <a:rPr lang="en-US" dirty="0" smtClean="0">
                    <a:latin typeface="+mn-lt"/>
                  </a:rPr>
                  <a:t> we </a:t>
                </a:r>
                <a:r>
                  <a:rPr lang="en-US" dirty="0" err="1" smtClean="0">
                    <a:latin typeface="+mn-lt"/>
                  </a:rPr>
                  <a:t>ook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+mn-lt"/>
                  </a:rPr>
                  <a:t>gebeurtenissen</a:t>
                </a:r>
                <a:r>
                  <a:rPr lang="en-US" dirty="0" smtClean="0">
                    <a:latin typeface="+mn-lt"/>
                  </a:rPr>
                  <a:t>, </a:t>
                </a:r>
                <a:r>
                  <a:rPr lang="en-US" dirty="0" err="1" smtClean="0">
                    <a:latin typeface="+mn-lt"/>
                  </a:rPr>
                  <a:t>oftewel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samenstelling</a:t>
                </a:r>
                <a:r>
                  <a:rPr lang="en-US" dirty="0" smtClean="0">
                    <a:latin typeface="+mn-lt"/>
                  </a:rPr>
                  <a:t> van </a:t>
                </a:r>
                <a:r>
                  <a:rPr lang="en-US" dirty="0" err="1" smtClean="0">
                    <a:latin typeface="+mn-lt"/>
                  </a:rPr>
                  <a:t>meerdere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uitkomsten</a:t>
                </a:r>
                <a:endParaRPr lang="en-US" dirty="0" smtClean="0">
                  <a:latin typeface="+mn-lt"/>
                </a:endParaRPr>
              </a:p>
              <a:p>
                <a:endParaRPr lang="en-US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+mn-lt"/>
                  </a:rPr>
                  <a:t>Gebeurtenis</a:t>
                </a:r>
                <a:r>
                  <a:rPr lang="en-US" b="1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 smtClean="0">
                    <a:latin typeface="+mn-lt"/>
                  </a:rPr>
                  <a:t>: </a:t>
                </a:r>
                <a:r>
                  <a:rPr lang="en-US" dirty="0" err="1" smtClean="0">
                    <a:latin typeface="+mn-lt"/>
                  </a:rPr>
                  <a:t>er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wordt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minstens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één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zes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gegooid</a:t>
                </a:r>
                <a:r>
                  <a:rPr lang="en-US" dirty="0" smtClean="0">
                    <a:latin typeface="+mn-lt"/>
                  </a:rPr>
                  <a:t>: 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1,6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2,6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3,6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4,6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5,6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6,1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+mn-lt"/>
                  </a:rPr>
                  <a:t>Gebeurtenis</a:t>
                </a:r>
                <a:r>
                  <a:rPr lang="en-US" b="1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 smtClean="0">
                    <a:latin typeface="+mn-lt"/>
                  </a:rPr>
                  <a:t>: </a:t>
                </a:r>
                <a:r>
                  <a:rPr lang="en-US" dirty="0" smtClean="0">
                    <a:latin typeface="+mn-lt"/>
                  </a:rPr>
                  <a:t>de </a:t>
                </a:r>
                <a:r>
                  <a:rPr lang="en-US" dirty="0" err="1" smtClean="0">
                    <a:latin typeface="+mn-lt"/>
                  </a:rPr>
                  <a:t>som</a:t>
                </a:r>
                <a:r>
                  <a:rPr lang="en-US" dirty="0" smtClean="0">
                    <a:latin typeface="+mn-lt"/>
                  </a:rPr>
                  <a:t> van de twee </a:t>
                </a:r>
                <a:r>
                  <a:rPr lang="en-US" dirty="0" err="1" smtClean="0">
                    <a:latin typeface="+mn-lt"/>
                  </a:rPr>
                  <a:t>worpen</a:t>
                </a:r>
                <a:r>
                  <a:rPr lang="en-US" dirty="0" smtClean="0">
                    <a:latin typeface="+mn-lt"/>
                  </a:rPr>
                  <a:t> is </a:t>
                </a:r>
                <a:r>
                  <a:rPr lang="en-US" dirty="0" err="1" smtClean="0">
                    <a:latin typeface="+mn-lt"/>
                  </a:rPr>
                  <a:t>gelijk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aan</a:t>
                </a:r>
                <a:r>
                  <a:rPr lang="en-US" dirty="0" smtClean="0">
                    <a:latin typeface="+mn-lt"/>
                  </a:rPr>
                  <a:t> 9</a:t>
                </a:r>
                <a:endParaRPr lang="en-US" b="1" dirty="0" smtClean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3,6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4,5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5,4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,(6,3)</m:t>
                          </m:r>
                        </m:e>
                      </m:d>
                    </m:oMath>
                  </m:oMathPara>
                </a14:m>
                <a:endParaRPr lang="en-US" dirty="0" smtClean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r>
                  <a:rPr lang="en-US" b="1" dirty="0" err="1" smtClean="0">
                    <a:latin typeface="+mn-lt"/>
                  </a:rPr>
                  <a:t>Vraag</a:t>
                </a:r>
                <a:r>
                  <a:rPr lang="en-US" b="1" dirty="0" smtClean="0">
                    <a:latin typeface="+mn-lt"/>
                  </a:rPr>
                  <a:t>: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>
                    <a:latin typeface="+mn-lt"/>
                  </a:rPr>
                  <a:t>Wat is de </a:t>
                </a:r>
                <a:r>
                  <a:rPr lang="en-US" dirty="0" err="1" smtClean="0">
                    <a:latin typeface="+mn-lt"/>
                  </a:rPr>
                  <a:t>kans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dat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gebeurtenis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niet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plaatsvindt</a:t>
                </a:r>
                <a:r>
                  <a:rPr lang="en-US" dirty="0" smtClean="0">
                    <a:latin typeface="+mn-lt"/>
                  </a:rPr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>
                    <a:latin typeface="+mn-lt"/>
                  </a:rPr>
                  <a:t>Wat is de </a:t>
                </a:r>
                <a:r>
                  <a:rPr lang="en-US" dirty="0" err="1" smtClean="0">
                    <a:latin typeface="+mn-lt"/>
                  </a:rPr>
                  <a:t>kans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dat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minstens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één</a:t>
                </a:r>
                <a:r>
                  <a:rPr lang="en-US" dirty="0" smtClean="0">
                    <a:latin typeface="+mn-lt"/>
                  </a:rPr>
                  <a:t> van </a:t>
                </a:r>
                <a:r>
                  <a:rPr lang="en-US" dirty="0" err="1" smtClean="0">
                    <a:latin typeface="+mn-lt"/>
                  </a:rPr>
                  <a:t>beide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gebeurtenissen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>
                    <a:latin typeface="+mn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 smtClean="0">
                    <a:latin typeface="+mn-lt"/>
                  </a:rPr>
                  <a:t> plaatsvindt?</a:t>
                </a:r>
              </a:p>
              <a:p>
                <a:r>
                  <a:rPr lang="en-US" b="1" dirty="0" smtClean="0">
                    <a:latin typeface="+mn-lt"/>
                  </a:rPr>
                  <a:t> </a:t>
                </a:r>
              </a:p>
              <a:p>
                <a:endParaRPr lang="en-US" dirty="0" smtClean="0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7" y="1772816"/>
                <a:ext cx="10897707" cy="5170646"/>
              </a:xfrm>
              <a:prstGeom prst="rect">
                <a:avLst/>
              </a:prstGeom>
              <a:blipFill>
                <a:blip r:embed="rId2"/>
                <a:stretch>
                  <a:fillRect l="-727" t="-10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24970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worp</a:t>
            </a:r>
            <a:r>
              <a:rPr lang="en-US" b="1" dirty="0" smtClean="0"/>
              <a:t> van twee </a:t>
            </a:r>
            <a:r>
              <a:rPr lang="en-US" b="1" dirty="0" err="1" smtClean="0"/>
              <a:t>dobbelstenen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814917" y="1728477"/>
                <a:ext cx="10897707" cy="410234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dirty="0" smtClean="0">
                    <a:latin typeface="+mn-lt"/>
                  </a:rPr>
                  <a:t>We </a:t>
                </a:r>
                <a:r>
                  <a:rPr lang="en-US" dirty="0" err="1" smtClean="0">
                    <a:latin typeface="+mn-lt"/>
                  </a:rPr>
                  <a:t>willen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dus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dirty="0" smtClean="0">
                    <a:latin typeface="+mn-lt"/>
                  </a:rPr>
                  <a:t>“</a:t>
                </a:r>
                <a:r>
                  <a:rPr lang="en-US" dirty="0" err="1" smtClean="0">
                    <a:latin typeface="+mn-lt"/>
                  </a:rPr>
                  <a:t>niet</a:t>
                </a:r>
                <a:r>
                  <a:rPr lang="en-US" dirty="0" smtClean="0">
                    <a:latin typeface="+mn-lt"/>
                  </a:rPr>
                  <a:t>-B”) </a:t>
                </a:r>
                <a:r>
                  <a:rPr lang="en-US" dirty="0" err="1" smtClean="0">
                    <a:latin typeface="+mn-lt"/>
                  </a:rPr>
                  <a:t>en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en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berekenen</a:t>
                </a:r>
                <a:r>
                  <a:rPr lang="en-US" dirty="0" smtClean="0">
                    <a:latin typeface="+mn-lt"/>
                  </a:rPr>
                  <a:t>.</a:t>
                </a:r>
              </a:p>
              <a:p>
                <a:endParaRPr lang="en-US" b="1" dirty="0" smtClean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r>
                  <a:rPr lang="en-US" b="1" dirty="0" err="1" smtClean="0">
                    <a:latin typeface="+mn-lt"/>
                  </a:rPr>
                  <a:t>Complementregel</a:t>
                </a:r>
                <a:r>
                  <a:rPr lang="en-US" b="1" dirty="0" smtClean="0">
                    <a:latin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vindt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wel</a:t>
                </a:r>
                <a:r>
                  <a:rPr lang="en-US" b="1" dirty="0" smtClean="0">
                    <a:latin typeface="+mn-lt"/>
                  </a:rPr>
                  <a:t> of </a:t>
                </a:r>
                <a:r>
                  <a:rPr lang="en-US" b="1" dirty="0" err="1" smtClean="0">
                    <a:latin typeface="+mn-lt"/>
                  </a:rPr>
                  <a:t>niet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plaats</a:t>
                </a:r>
                <a:r>
                  <a:rPr lang="en-US" b="1" dirty="0" smtClean="0">
                    <a:latin typeface="+mn-lt"/>
                  </a:rPr>
                  <a:t>):</a:t>
                </a:r>
                <a:endParaRPr lang="en-US" b="1" dirty="0" smtClean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(¬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dirty="0" smtClean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r>
                  <a:rPr lang="en-US" b="1" dirty="0" err="1" smtClean="0">
                    <a:latin typeface="+mn-lt"/>
                  </a:rPr>
                  <a:t>Algemene</a:t>
                </a:r>
                <a:r>
                  <a:rPr lang="en-US" b="1" dirty="0" smtClean="0">
                    <a:latin typeface="+mn-lt"/>
                  </a:rPr>
                  <a:t> </a:t>
                </a:r>
                <a:r>
                  <a:rPr lang="en-US" b="1" dirty="0" err="1" smtClean="0">
                    <a:latin typeface="+mn-lt"/>
                  </a:rPr>
                  <a:t>optelregel</a:t>
                </a:r>
                <a:r>
                  <a:rPr lang="en-US" b="1" dirty="0" smtClean="0">
                    <a:latin typeface="+mn-lt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>
                  <a:latin typeface="+mn-lt"/>
                </a:endParaRPr>
              </a:p>
              <a:p>
                <a:r>
                  <a:rPr lang="en-US" dirty="0" smtClean="0">
                    <a:latin typeface="+mn-lt"/>
                  </a:rPr>
                  <a:t>	</a:t>
                </a:r>
                <a:r>
                  <a:rPr lang="en-US" sz="1200" b="1" dirty="0">
                    <a:latin typeface="+mn-lt"/>
                  </a:rPr>
                  <a:t> </a:t>
                </a:r>
                <a:r>
                  <a:rPr lang="en-US" sz="1200" b="1" dirty="0" smtClean="0">
                    <a:latin typeface="+mn-lt"/>
                  </a:rPr>
                  <a:t>              </a:t>
                </a:r>
                <a:r>
                  <a:rPr lang="en-US" sz="1200" b="1" dirty="0" err="1" smtClean="0">
                    <a:solidFill>
                      <a:srgbClr val="CC3399"/>
                    </a:solidFill>
                    <a:latin typeface="+mn-lt"/>
                  </a:rPr>
                  <a:t>paars</a:t>
                </a:r>
                <a:r>
                  <a:rPr lang="en-US" sz="1200" b="1" dirty="0" err="1" smtClean="0">
                    <a:latin typeface="+mn-lt"/>
                  </a:rPr>
                  <a:t>+</a:t>
                </a:r>
                <a:r>
                  <a:rPr lang="en-US" sz="1200" b="1" dirty="0" err="1" smtClean="0">
                    <a:solidFill>
                      <a:srgbClr val="996633"/>
                    </a:solidFill>
                    <a:latin typeface="+mn-lt"/>
                  </a:rPr>
                  <a:t>bruin</a:t>
                </a:r>
                <a:r>
                  <a:rPr lang="en-US" sz="1200" b="1" dirty="0" smtClean="0">
                    <a:solidFill>
                      <a:schemeClr val="tx2">
                        <a:lumMod val="40000"/>
                        <a:lumOff val="60000"/>
                      </a:schemeClr>
                    </a:solidFill>
                    <a:latin typeface="+mn-lt"/>
                  </a:rPr>
                  <a:t>    </a:t>
                </a:r>
                <a:r>
                  <a:rPr lang="en-US" sz="1200" b="1" dirty="0" err="1" smtClean="0">
                    <a:solidFill>
                      <a:schemeClr val="bg2"/>
                    </a:solidFill>
                    <a:latin typeface="+mn-lt"/>
                  </a:rPr>
                  <a:t>lichtblauw</a:t>
                </a:r>
                <a:r>
                  <a:rPr lang="en-US" sz="1200" b="1" dirty="0" err="1" smtClean="0">
                    <a:latin typeface="+mn-lt"/>
                  </a:rPr>
                  <a:t>+</a:t>
                </a:r>
                <a:r>
                  <a:rPr lang="en-US" sz="1200" b="1" dirty="0" err="1" smtClean="0">
                    <a:solidFill>
                      <a:srgbClr val="996633"/>
                    </a:solidFill>
                    <a:latin typeface="+mn-lt"/>
                  </a:rPr>
                  <a:t>bruin</a:t>
                </a:r>
                <a:r>
                  <a:rPr lang="en-US" sz="1200" b="1" dirty="0" smtClean="0">
                    <a:solidFill>
                      <a:srgbClr val="FF0000"/>
                    </a:solidFill>
                    <a:latin typeface="+mn-lt"/>
                  </a:rPr>
                  <a:t>       	   </a:t>
                </a:r>
                <a:r>
                  <a:rPr lang="en-US" sz="1200" b="1" dirty="0">
                    <a:solidFill>
                      <a:srgbClr val="996633"/>
                    </a:solidFill>
                    <a:latin typeface="+mj-lt"/>
                  </a:rPr>
                  <a:t>bruin</a:t>
                </a:r>
                <a:endParaRPr lang="en-US" sz="1200" b="1" dirty="0" smtClean="0">
                  <a:solidFill>
                    <a:schemeClr val="tx2"/>
                  </a:solidFill>
                  <a:latin typeface="+mj-lt"/>
                </a:endParaRPr>
              </a:p>
              <a:p>
                <a:r>
                  <a:rPr lang="en-US" sz="1200" b="0" dirty="0">
                    <a:solidFill>
                      <a:srgbClr val="FFC000"/>
                    </a:solidFill>
                    <a:latin typeface="+mn-lt"/>
                  </a:rPr>
                  <a:t>	</a:t>
                </a:r>
                <a:r>
                  <a:rPr lang="en-US" sz="1200" b="0" dirty="0" smtClean="0">
                    <a:solidFill>
                      <a:srgbClr val="FFC000"/>
                    </a:solidFill>
                    <a:latin typeface="+mn-lt"/>
                  </a:rPr>
                  <a:t>          </a:t>
                </a:r>
                <a:endParaRPr lang="en-US" b="0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             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dirty="0" smtClean="0">
                    <a:latin typeface="+mn-lt"/>
                  </a:rPr>
                  <a:t>	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7" y="1728477"/>
                <a:ext cx="10897707" cy="4102341"/>
              </a:xfrm>
              <a:prstGeom prst="rect">
                <a:avLst/>
              </a:prstGeom>
              <a:blipFill>
                <a:blip r:embed="rId2"/>
                <a:stretch>
                  <a:fillRect l="-727" t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392" y="1124744"/>
            <a:ext cx="4851622" cy="5184576"/>
          </a:xfrm>
          <a:prstGeom prst="rect">
            <a:avLst/>
          </a:prstGeom>
        </p:spPr>
      </p:pic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kstvak 2"/>
              <p:cNvSpPr txBox="1"/>
              <p:nvPr/>
            </p:nvSpPr>
            <p:spPr>
              <a:xfrm>
                <a:off x="7752184" y="160338"/>
                <a:ext cx="417739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b="1" dirty="0" smtClean="0">
                    <a:latin typeface="+mn-lt"/>
                  </a:rPr>
                  <a:t>Notatie: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+mn-lt"/>
                        </a:rPr>
                        <m:t>∪ =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"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of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", ∩ = "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en</m:t>
                      </m:r>
                      <m:r>
                        <m:rPr>
                          <m:nor/>
                        </m:rPr>
                        <a:rPr lang="nl-NL" i="0" smtClean="0">
                          <a:latin typeface="+mn-lt"/>
                        </a:rPr>
                        <m:t>", ¬ = </m:t>
                      </m:r>
                      <m:r>
                        <a:rPr lang="nl-NL" b="0" i="1" smtClean="0">
                          <a:latin typeface="+mn-lt"/>
                        </a:rPr>
                        <m:t>"</m:t>
                      </m:r>
                      <m:r>
                        <m:rPr>
                          <m:sty m:val="p"/>
                        </m:rPr>
                        <a:rPr lang="nl-NL" b="0" i="0" smtClean="0">
                          <a:latin typeface="+mn-lt"/>
                        </a:rPr>
                        <m:t>niet</m:t>
                      </m:r>
                      <m:r>
                        <a:rPr lang="nl-NL" b="0" i="1" smtClean="0">
                          <a:latin typeface="+mn-lt"/>
                        </a:rPr>
                        <m:t>" 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Tekstvak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184" y="160338"/>
                <a:ext cx="4177393" cy="769441"/>
              </a:xfrm>
              <a:prstGeom prst="rect">
                <a:avLst/>
              </a:prstGeom>
              <a:blipFill>
                <a:blip r:embed="rId4"/>
                <a:stretch>
                  <a:fillRect l="-1898" t="-4724" b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72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Waarom</a:t>
            </a:r>
            <a:r>
              <a:rPr lang="en-US" b="1" dirty="0" smtClean="0"/>
              <a:t> </a:t>
            </a:r>
            <a:r>
              <a:rPr lang="en-US" b="1" dirty="0" err="1" smtClean="0"/>
              <a:t>leren</a:t>
            </a:r>
            <a:r>
              <a:rPr lang="en-US" b="1" dirty="0" smtClean="0"/>
              <a:t> we over </a:t>
            </a:r>
            <a:r>
              <a:rPr lang="en-US" b="1" dirty="0" err="1" smtClean="0"/>
              <a:t>kansvariabelen</a:t>
            </a:r>
            <a:r>
              <a:rPr lang="en-US" b="1" dirty="0" smtClean="0"/>
              <a:t> </a:t>
            </a:r>
            <a:r>
              <a:rPr lang="en-US" b="1" dirty="0" err="1" smtClean="0"/>
              <a:t>voor</a:t>
            </a:r>
            <a:r>
              <a:rPr lang="en-US" b="1" dirty="0" smtClean="0"/>
              <a:t> </a:t>
            </a:r>
            <a:r>
              <a:rPr lang="en-US" b="1" dirty="0" err="1" smtClean="0"/>
              <a:t>statistiek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827816" cy="4246562"/>
          </a:xfrm>
        </p:spPr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dirty="0" err="1" smtClean="0"/>
              <a:t>onderzoek</a:t>
            </a:r>
            <a:r>
              <a:rPr lang="en-US" dirty="0" smtClean="0"/>
              <a:t> </a:t>
            </a:r>
            <a:r>
              <a:rPr lang="en-US" dirty="0" err="1" smtClean="0"/>
              <a:t>naar</a:t>
            </a:r>
            <a:r>
              <a:rPr lang="en-US" dirty="0" smtClean="0"/>
              <a:t> </a:t>
            </a:r>
            <a:r>
              <a:rPr lang="en-US" dirty="0" err="1" smtClean="0"/>
              <a:t>beweegredenen</a:t>
            </a:r>
            <a:r>
              <a:rPr lang="en-US" dirty="0" smtClean="0"/>
              <a:t> van </a:t>
            </a:r>
            <a:r>
              <a:rPr lang="en-US" dirty="0" err="1" smtClean="0"/>
              <a:t>jongeren</a:t>
            </a:r>
            <a:r>
              <a:rPr lang="en-US" dirty="0" smtClean="0"/>
              <a:t> om </a:t>
            </a:r>
            <a:r>
              <a:rPr lang="en-US" dirty="0" err="1" smtClean="0"/>
              <a:t>zich</a:t>
            </a:r>
            <a:r>
              <a:rPr lang="en-US" dirty="0" smtClean="0"/>
              <a:t> al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niet</a:t>
            </a:r>
            <a:r>
              <a:rPr lang="en-US" dirty="0" smtClean="0"/>
              <a:t> </a:t>
            </a:r>
            <a:r>
              <a:rPr lang="en-US" dirty="0" err="1" smtClean="0"/>
              <a:t>aan</a:t>
            </a:r>
            <a:r>
              <a:rPr lang="en-US" dirty="0" smtClean="0"/>
              <a:t> </a:t>
            </a:r>
            <a:r>
              <a:rPr lang="en-US" dirty="0" err="1" smtClean="0"/>
              <a:t>te</a:t>
            </a:r>
            <a:r>
              <a:rPr lang="en-US" dirty="0" smtClean="0"/>
              <a:t> </a:t>
            </a:r>
            <a:r>
              <a:rPr lang="en-US" dirty="0" err="1" smtClean="0"/>
              <a:t>melden</a:t>
            </a:r>
            <a:r>
              <a:rPr lang="en-US" dirty="0" smtClean="0"/>
              <a:t> </a:t>
            </a:r>
            <a:r>
              <a:rPr lang="en-US" dirty="0" err="1" smtClean="0"/>
              <a:t>voor</a:t>
            </a:r>
            <a:r>
              <a:rPr lang="en-US" dirty="0" smtClean="0"/>
              <a:t> het </a:t>
            </a:r>
            <a:r>
              <a:rPr lang="en-US" dirty="0" err="1" smtClean="0"/>
              <a:t>Dienjaar</a:t>
            </a:r>
            <a:r>
              <a:rPr lang="en-US" dirty="0" smtClean="0"/>
              <a:t> </a:t>
            </a:r>
            <a:r>
              <a:rPr lang="en-US" dirty="0" err="1" smtClean="0"/>
              <a:t>Defensie</a:t>
            </a:r>
            <a:r>
              <a:rPr lang="en-US" dirty="0" smtClean="0"/>
              <a:t>.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b="1" dirty="0" err="1" smtClean="0"/>
              <a:t>Populatie</a:t>
            </a:r>
            <a:r>
              <a:rPr lang="en-US" b="1" dirty="0"/>
              <a:t>:</a:t>
            </a:r>
            <a:r>
              <a:rPr lang="en-US" dirty="0" smtClean="0"/>
              <a:t> </a:t>
            </a:r>
            <a:r>
              <a:rPr lang="en-US" dirty="0" err="1" smtClean="0"/>
              <a:t>alle</a:t>
            </a:r>
            <a:r>
              <a:rPr lang="en-US" dirty="0" smtClean="0"/>
              <a:t> </a:t>
            </a:r>
            <a:r>
              <a:rPr lang="en-US" dirty="0" err="1" smtClean="0"/>
              <a:t>jongeren</a:t>
            </a:r>
            <a:r>
              <a:rPr lang="en-US" dirty="0" smtClean="0"/>
              <a:t> </a:t>
            </a:r>
            <a:r>
              <a:rPr lang="en-US" dirty="0" err="1" smtClean="0"/>
              <a:t>tussen</a:t>
            </a:r>
            <a:r>
              <a:rPr lang="en-US" dirty="0" smtClean="0"/>
              <a:t> 18 </a:t>
            </a:r>
            <a:r>
              <a:rPr lang="en-US" dirty="0" err="1" smtClean="0"/>
              <a:t>en</a:t>
            </a:r>
            <a:r>
              <a:rPr lang="en-US" dirty="0" smtClean="0"/>
              <a:t> 27 </a:t>
            </a:r>
            <a:r>
              <a:rPr lang="en-US" dirty="0" err="1" smtClean="0"/>
              <a:t>jaar</a:t>
            </a: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b="1" dirty="0" smtClean="0"/>
          </a:p>
          <a:p>
            <a:pPr marL="717550" lvl="1" indent="-342900">
              <a:lnSpc>
                <a:spcPct val="150000"/>
              </a:lnSpc>
            </a:pPr>
            <a:r>
              <a:rPr lang="en-US" b="1" dirty="0" err="1" smtClean="0"/>
              <a:t>Variabelen</a:t>
            </a:r>
            <a:r>
              <a:rPr lang="en-US" b="1" dirty="0" smtClean="0"/>
              <a:t>: </a:t>
            </a:r>
            <a:r>
              <a:rPr lang="en-US" dirty="0" err="1" smtClean="0"/>
              <a:t>opleiding</a:t>
            </a:r>
            <a:r>
              <a:rPr lang="en-US" dirty="0" smtClean="0"/>
              <a:t>, </a:t>
            </a:r>
            <a:r>
              <a:rPr lang="en-US" dirty="0" err="1" smtClean="0"/>
              <a:t>inkomen</a:t>
            </a:r>
            <a:r>
              <a:rPr lang="en-US" dirty="0" smtClean="0"/>
              <a:t>, </a:t>
            </a:r>
            <a:r>
              <a:rPr lang="en-US" dirty="0" err="1" smtClean="0"/>
              <a:t>persoonlijkheid</a:t>
            </a:r>
            <a:r>
              <a:rPr lang="en-US" dirty="0" smtClean="0"/>
              <a:t>, </a:t>
            </a:r>
            <a:r>
              <a:rPr lang="en-US" dirty="0" err="1" smtClean="0"/>
              <a:t>beïnvloeding</a:t>
            </a:r>
            <a:r>
              <a:rPr lang="en-US" dirty="0" smtClean="0"/>
              <a:t> door </a:t>
            </a:r>
            <a:r>
              <a:rPr lang="en-US" dirty="0" err="1" smtClean="0"/>
              <a:t>omgeving</a:t>
            </a:r>
            <a:r>
              <a:rPr lang="en-US" dirty="0" smtClean="0"/>
              <a:t>, …</a:t>
            </a:r>
            <a:endParaRPr lang="en-US" b="1" dirty="0"/>
          </a:p>
          <a:p>
            <a:pPr marL="717550" lvl="1" indent="-342900">
              <a:lnSpc>
                <a:spcPct val="150000"/>
              </a:lnSpc>
            </a:pPr>
            <a:endParaRPr lang="en-US" b="1" dirty="0" smtClean="0"/>
          </a:p>
          <a:p>
            <a:pPr marL="717550" lvl="1" indent="-342900">
              <a:lnSpc>
                <a:spcPct val="150000"/>
              </a:lnSpc>
            </a:pPr>
            <a:r>
              <a:rPr lang="en-US" b="1" dirty="0" err="1" smtClean="0"/>
              <a:t>Steekproef</a:t>
            </a:r>
            <a:r>
              <a:rPr lang="en-US" b="1" dirty="0" smtClean="0"/>
              <a:t>: </a:t>
            </a:r>
            <a:r>
              <a:rPr lang="en-US" dirty="0" err="1" smtClean="0"/>
              <a:t>deel</a:t>
            </a:r>
            <a:r>
              <a:rPr lang="en-US" dirty="0" smtClean="0"/>
              <a:t> van de </a:t>
            </a:r>
            <a:r>
              <a:rPr lang="en-US" dirty="0" err="1" smtClean="0"/>
              <a:t>jongeren</a:t>
            </a:r>
            <a:r>
              <a:rPr lang="en-US" dirty="0" smtClean="0"/>
              <a:t> </a:t>
            </a:r>
            <a:r>
              <a:rPr lang="en-US" dirty="0" err="1" smtClean="0"/>
              <a:t>tussen</a:t>
            </a:r>
            <a:r>
              <a:rPr lang="en-US" dirty="0" smtClean="0"/>
              <a:t> 18 </a:t>
            </a:r>
            <a:r>
              <a:rPr lang="en-US" dirty="0" err="1" smtClean="0"/>
              <a:t>en</a:t>
            </a:r>
            <a:r>
              <a:rPr lang="en-US" dirty="0" smtClean="0"/>
              <a:t> 27 </a:t>
            </a:r>
            <a:r>
              <a:rPr lang="en-US" dirty="0" err="1" smtClean="0"/>
              <a:t>jaar</a:t>
            </a:r>
            <a:r>
              <a:rPr lang="en-US" dirty="0" smtClean="0"/>
              <a:t> die we </a:t>
            </a:r>
            <a:r>
              <a:rPr lang="en-US" dirty="0" err="1" smtClean="0"/>
              <a:t>gaan</a:t>
            </a:r>
            <a:r>
              <a:rPr lang="en-US" dirty="0" smtClean="0"/>
              <a:t> </a:t>
            </a:r>
            <a:r>
              <a:rPr lang="en-US" dirty="0" err="1" smtClean="0"/>
              <a:t>interviewen</a:t>
            </a:r>
            <a:endParaRPr lang="en-US" dirty="0" smtClean="0"/>
          </a:p>
          <a:p>
            <a:pPr marL="965200" lvl="2" indent="-342900">
              <a:lnSpc>
                <a:spcPct val="150000"/>
              </a:lnSpc>
            </a:pPr>
            <a:r>
              <a:rPr lang="en-US" dirty="0" err="1" smtClean="0"/>
              <a:t>Ieder</a:t>
            </a:r>
            <a:r>
              <a:rPr lang="en-US" dirty="0" smtClean="0"/>
              <a:t> </a:t>
            </a:r>
            <a:r>
              <a:rPr lang="en-US" dirty="0" err="1" smtClean="0"/>
              <a:t>steekproefelement</a:t>
            </a:r>
            <a:r>
              <a:rPr lang="en-US" dirty="0" smtClean="0"/>
              <a:t>: </a:t>
            </a:r>
            <a:r>
              <a:rPr lang="en-US" dirty="0" err="1" smtClean="0"/>
              <a:t>trekkingen</a:t>
            </a:r>
            <a:r>
              <a:rPr lang="en-US" dirty="0" smtClean="0"/>
              <a:t> van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aantal</a:t>
            </a:r>
            <a:r>
              <a:rPr lang="en-US" dirty="0" smtClean="0"/>
              <a:t> (</a:t>
            </a:r>
            <a:r>
              <a:rPr lang="en-US" dirty="0" err="1" smtClean="0"/>
              <a:t>kans</a:t>
            </a:r>
            <a:r>
              <a:rPr lang="en-US" dirty="0" smtClean="0"/>
              <a:t>)</a:t>
            </a:r>
            <a:r>
              <a:rPr lang="en-US" dirty="0" err="1" smtClean="0"/>
              <a:t>variabelen</a:t>
            </a:r>
            <a:endParaRPr lang="en-US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4341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smtClean="0"/>
              <a:t>Focus: </a:t>
            </a:r>
            <a:r>
              <a:rPr lang="en-US" b="1" dirty="0" err="1" smtClean="0"/>
              <a:t>kwantitatieve</a:t>
            </a:r>
            <a:r>
              <a:rPr lang="en-US" b="1" dirty="0" smtClean="0"/>
              <a:t> </a:t>
            </a:r>
            <a:r>
              <a:rPr lang="en-US" b="1" dirty="0" err="1" smtClean="0"/>
              <a:t>variabelen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827816" cy="4246562"/>
          </a:xfrm>
        </p:spPr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dirty="0" smtClean="0"/>
              <a:t>In college 1 </a:t>
            </a:r>
            <a:r>
              <a:rPr lang="en-US" dirty="0" err="1" smtClean="0"/>
              <a:t>hebben</a:t>
            </a:r>
            <a:r>
              <a:rPr lang="en-US" dirty="0" smtClean="0"/>
              <a:t> we </a:t>
            </a:r>
            <a:r>
              <a:rPr lang="en-US" dirty="0" err="1" smtClean="0"/>
              <a:t>geleerd</a:t>
            </a:r>
            <a:r>
              <a:rPr lang="en-US" dirty="0" smtClean="0"/>
              <a:t> over </a:t>
            </a:r>
            <a:r>
              <a:rPr lang="en-US" dirty="0" err="1" smtClean="0"/>
              <a:t>maten</a:t>
            </a:r>
            <a:r>
              <a:rPr lang="en-US" dirty="0" smtClean="0"/>
              <a:t> </a:t>
            </a:r>
            <a:r>
              <a:rPr lang="en-US" dirty="0" err="1" smtClean="0"/>
              <a:t>voor</a:t>
            </a:r>
            <a:r>
              <a:rPr lang="en-US" dirty="0" smtClean="0"/>
              <a:t> </a:t>
            </a:r>
            <a:r>
              <a:rPr lang="en-US" dirty="0" err="1" smtClean="0"/>
              <a:t>ligging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spreiding</a:t>
            </a: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r>
              <a:rPr lang="en-US" dirty="0" err="1" smtClean="0"/>
              <a:t>gemiddelde</a:t>
            </a:r>
            <a:r>
              <a:rPr lang="en-US" dirty="0" smtClean="0"/>
              <a:t>, modus, </a:t>
            </a:r>
            <a:r>
              <a:rPr lang="en-US" dirty="0" err="1" smtClean="0"/>
              <a:t>mediaan</a:t>
            </a:r>
            <a:r>
              <a:rPr lang="en-US" dirty="0" smtClean="0"/>
              <a:t>, </a:t>
            </a:r>
            <a:r>
              <a:rPr lang="en-US" dirty="0" err="1" smtClean="0"/>
              <a:t>variantie</a:t>
            </a:r>
            <a:r>
              <a:rPr lang="en-US" dirty="0" smtClean="0"/>
              <a:t>, </a:t>
            </a:r>
            <a:r>
              <a:rPr lang="en-US" dirty="0" err="1" smtClean="0"/>
              <a:t>standaardafwijking</a:t>
            </a:r>
            <a:endParaRPr lang="en-US" dirty="0" smtClean="0"/>
          </a:p>
          <a:p>
            <a:pPr lvl="1" indent="0">
              <a:lnSpc>
                <a:spcPct val="150000"/>
              </a:lnSpc>
              <a:buNone/>
            </a:pPr>
            <a:endParaRPr lang="en-US" dirty="0"/>
          </a:p>
          <a:p>
            <a:pPr lvl="1" indent="0">
              <a:lnSpc>
                <a:spcPct val="150000"/>
              </a:lnSpc>
              <a:buNone/>
            </a:pPr>
            <a:endParaRPr lang="en-US" dirty="0" smtClean="0"/>
          </a:p>
          <a:p>
            <a:pPr lvl="1" indent="0">
              <a:lnSpc>
                <a:spcPct val="150000"/>
              </a:lnSpc>
              <a:buNone/>
            </a:pPr>
            <a:r>
              <a:rPr lang="en-US" dirty="0" smtClean="0"/>
              <a:t>In </a:t>
            </a:r>
            <a:r>
              <a:rPr lang="en-US" dirty="0" err="1" smtClean="0"/>
              <a:t>dit</a:t>
            </a:r>
            <a:r>
              <a:rPr lang="en-US" dirty="0" smtClean="0"/>
              <a:t> </a:t>
            </a:r>
            <a:r>
              <a:rPr lang="en-US" dirty="0" err="1" smtClean="0"/>
              <a:t>vak</a:t>
            </a:r>
            <a:r>
              <a:rPr lang="en-US" dirty="0" smtClean="0"/>
              <a:t> </a:t>
            </a:r>
            <a:r>
              <a:rPr lang="en-US" dirty="0" err="1" smtClean="0"/>
              <a:t>ligt</a:t>
            </a:r>
            <a:r>
              <a:rPr lang="en-US" dirty="0" smtClean="0"/>
              <a:t> de focus op </a:t>
            </a:r>
            <a:r>
              <a:rPr lang="en-US" b="1" dirty="0" err="1" smtClean="0"/>
              <a:t>kwantitatieve</a:t>
            </a:r>
            <a:r>
              <a:rPr lang="en-US" b="1" dirty="0" smtClean="0"/>
              <a:t> </a:t>
            </a:r>
            <a:r>
              <a:rPr lang="en-US" b="1" dirty="0" err="1" smtClean="0"/>
              <a:t>kansvariabelen</a:t>
            </a:r>
            <a:r>
              <a:rPr lang="en-US" dirty="0" smtClean="0"/>
              <a:t> (</a:t>
            </a:r>
            <a:r>
              <a:rPr lang="en-US" dirty="0" err="1" smtClean="0"/>
              <a:t>oftewel</a:t>
            </a:r>
            <a:r>
              <a:rPr lang="en-US" dirty="0" smtClean="0"/>
              <a:t> interval / </a:t>
            </a:r>
            <a:r>
              <a:rPr lang="en-US" dirty="0" err="1" smtClean="0"/>
              <a:t>ratioschaal</a:t>
            </a:r>
            <a:r>
              <a:rPr lang="en-US" dirty="0" smtClean="0"/>
              <a:t>). </a:t>
            </a:r>
            <a:endParaRPr lang="en-US" dirty="0"/>
          </a:p>
          <a:p>
            <a:pPr lvl="1" indent="0">
              <a:lnSpc>
                <a:spcPct val="150000"/>
              </a:lnSpc>
              <a:buNone/>
            </a:pPr>
            <a:r>
              <a:rPr lang="en-US" dirty="0" smtClean="0"/>
              <a:t>De </a:t>
            </a:r>
            <a:r>
              <a:rPr lang="en-US" dirty="0" err="1" smtClean="0"/>
              <a:t>volgende</a:t>
            </a:r>
            <a:r>
              <a:rPr lang="en-US" dirty="0" smtClean="0"/>
              <a:t> </a:t>
            </a:r>
            <a:r>
              <a:rPr lang="en-US" dirty="0" err="1" smtClean="0"/>
              <a:t>vragen</a:t>
            </a:r>
            <a:r>
              <a:rPr lang="en-US" dirty="0" smtClean="0"/>
              <a:t> </a:t>
            </a:r>
            <a:r>
              <a:rPr lang="en-US" dirty="0" err="1" smtClean="0"/>
              <a:t>zijn</a:t>
            </a:r>
            <a:r>
              <a:rPr lang="en-US" dirty="0" smtClean="0"/>
              <a:t> </a:t>
            </a:r>
            <a:r>
              <a:rPr lang="en-US" dirty="0" err="1" smtClean="0"/>
              <a:t>onzinnig</a:t>
            </a:r>
            <a:r>
              <a:rPr lang="en-US" dirty="0" smtClean="0"/>
              <a:t>: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dirty="0" smtClean="0"/>
              <a:t>Wat is het </a:t>
            </a:r>
            <a:r>
              <a:rPr lang="en-US" dirty="0" err="1" smtClean="0"/>
              <a:t>gemiddelde</a:t>
            </a:r>
            <a:r>
              <a:rPr lang="en-US" dirty="0" smtClean="0"/>
              <a:t> OPCO van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defensiemedewerker</a:t>
            </a:r>
            <a:r>
              <a:rPr lang="en-US" dirty="0" smtClean="0"/>
              <a:t>? 	(</a:t>
            </a:r>
            <a:r>
              <a:rPr lang="en-US" dirty="0" err="1" smtClean="0"/>
              <a:t>nominaal</a:t>
            </a:r>
            <a:r>
              <a:rPr lang="en-US" dirty="0" smtClean="0"/>
              <a:t>)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dirty="0" smtClean="0"/>
              <a:t>Wat is de </a:t>
            </a:r>
            <a:r>
              <a:rPr lang="en-US" dirty="0" err="1" smtClean="0"/>
              <a:t>standaardafwijking</a:t>
            </a:r>
            <a:r>
              <a:rPr lang="en-US" dirty="0" smtClean="0"/>
              <a:t> in de </a:t>
            </a:r>
            <a:r>
              <a:rPr lang="en-US" dirty="0" err="1" smtClean="0"/>
              <a:t>rangen</a:t>
            </a:r>
            <a:r>
              <a:rPr lang="en-US" dirty="0" smtClean="0"/>
              <a:t> van </a:t>
            </a:r>
            <a:r>
              <a:rPr lang="en-US" dirty="0" err="1" smtClean="0"/>
              <a:t>officieren</a:t>
            </a:r>
            <a:r>
              <a:rPr lang="en-US" dirty="0" smtClean="0"/>
              <a:t>?	 	 (</a:t>
            </a:r>
            <a:r>
              <a:rPr lang="en-US" dirty="0" err="1" smtClean="0"/>
              <a:t>ordinaal</a:t>
            </a:r>
            <a:r>
              <a:rPr lang="en-US" dirty="0" smtClean="0"/>
              <a:t>)</a:t>
            </a:r>
          </a:p>
          <a:p>
            <a:pPr lvl="1" indent="0">
              <a:lnSpc>
                <a:spcPct val="150000"/>
              </a:lnSpc>
              <a:buNone/>
            </a:pPr>
            <a:endParaRPr lang="en-US" dirty="0"/>
          </a:p>
          <a:p>
            <a:pPr lvl="1" indent="0">
              <a:lnSpc>
                <a:spcPct val="150000"/>
              </a:lnSpc>
              <a:buNone/>
            </a:pPr>
            <a:endParaRPr lang="en-US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97809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smtClean="0"/>
              <a:t>Discrete </a:t>
            </a:r>
            <a:r>
              <a:rPr lang="en-US" b="1" dirty="0" err="1" smtClean="0"/>
              <a:t>kansvariabelen</a:t>
            </a:r>
            <a:r>
              <a:rPr lang="en-US" b="1" dirty="0" smtClean="0"/>
              <a:t> (“</a:t>
            </a:r>
            <a:r>
              <a:rPr lang="en-US" b="1" dirty="0" err="1" smtClean="0"/>
              <a:t>tellen</a:t>
            </a:r>
            <a:r>
              <a:rPr lang="en-US" b="1" dirty="0" smtClean="0"/>
              <a:t>”)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sz="2000" dirty="0" err="1" smtClean="0"/>
              <a:t>Een</a:t>
            </a:r>
            <a:r>
              <a:rPr lang="en-US" sz="2000" dirty="0" smtClean="0"/>
              <a:t> </a:t>
            </a:r>
            <a:r>
              <a:rPr lang="en-US" sz="2000" b="1" dirty="0" smtClean="0"/>
              <a:t>discrete </a:t>
            </a:r>
            <a:r>
              <a:rPr lang="en-US" sz="2000" b="1" dirty="0" err="1" smtClean="0"/>
              <a:t>kansvariabele</a:t>
            </a:r>
            <a:r>
              <a:rPr lang="en-US" sz="2000" b="1" dirty="0" smtClean="0"/>
              <a:t> </a:t>
            </a:r>
            <a:r>
              <a:rPr lang="en-US" sz="2000" dirty="0" err="1" smtClean="0"/>
              <a:t>heeft</a:t>
            </a:r>
            <a:r>
              <a:rPr lang="en-US" sz="2000" dirty="0" smtClean="0"/>
              <a:t> de </a:t>
            </a:r>
            <a:r>
              <a:rPr lang="en-US" sz="2000" dirty="0" err="1" smtClean="0"/>
              <a:t>volgende</a:t>
            </a:r>
            <a:r>
              <a:rPr lang="en-US" sz="2000" dirty="0" smtClean="0"/>
              <a:t> </a:t>
            </a:r>
            <a:r>
              <a:rPr lang="en-US" sz="2000" dirty="0" err="1" smtClean="0"/>
              <a:t>eigenschappen</a:t>
            </a:r>
            <a:r>
              <a:rPr lang="en-US" sz="2000" dirty="0" smtClean="0"/>
              <a:t>:</a:t>
            </a:r>
            <a:endParaRPr lang="en-US" sz="2000" dirty="0"/>
          </a:p>
          <a:p>
            <a:pPr marL="717550" lvl="1" indent="-342900">
              <a:lnSpc>
                <a:spcPct val="150000"/>
              </a:lnSpc>
            </a:pPr>
            <a:r>
              <a:rPr lang="en-US" sz="2000" dirty="0" err="1" smtClean="0"/>
              <a:t>Eindige</a:t>
            </a:r>
            <a:r>
              <a:rPr lang="en-US" sz="2000" dirty="0" smtClean="0"/>
              <a:t> / “</a:t>
            </a:r>
            <a:r>
              <a:rPr lang="en-US" sz="2000" dirty="0" err="1" smtClean="0"/>
              <a:t>aftelbare</a:t>
            </a:r>
            <a:r>
              <a:rPr lang="en-US" sz="2000" dirty="0" smtClean="0"/>
              <a:t>” </a:t>
            </a:r>
            <a:r>
              <a:rPr lang="en-US" sz="2000" b="1" dirty="0" err="1" smtClean="0"/>
              <a:t>uitkomstenruimte</a:t>
            </a:r>
            <a:endParaRPr lang="en-US" sz="2000" dirty="0" smtClean="0"/>
          </a:p>
          <a:p>
            <a:pPr marL="717550" lvl="1" indent="-342900">
              <a:lnSpc>
                <a:spcPct val="150000"/>
              </a:lnSpc>
            </a:pPr>
            <a:r>
              <a:rPr lang="en-US" sz="2000" dirty="0" err="1" smtClean="0"/>
              <a:t>Opeenvolgende</a:t>
            </a:r>
            <a:r>
              <a:rPr lang="en-US" sz="2000" dirty="0" smtClean="0"/>
              <a:t> </a:t>
            </a:r>
            <a:r>
              <a:rPr lang="en-US" sz="2000" dirty="0" err="1" smtClean="0"/>
              <a:t>waardes</a:t>
            </a:r>
            <a:r>
              <a:rPr lang="en-US" sz="2000" dirty="0" smtClean="0"/>
              <a:t> </a:t>
            </a:r>
            <a:r>
              <a:rPr lang="en-US" sz="2000" dirty="0" err="1" smtClean="0"/>
              <a:t>kunnen</a:t>
            </a:r>
            <a:r>
              <a:rPr lang="en-US" sz="2000" dirty="0" smtClean="0"/>
              <a:t> </a:t>
            </a:r>
            <a:r>
              <a:rPr lang="en-US" sz="2000" dirty="0" err="1" smtClean="0"/>
              <a:t>worden</a:t>
            </a:r>
            <a:r>
              <a:rPr lang="en-US" sz="2000" dirty="0" smtClean="0"/>
              <a:t> </a:t>
            </a:r>
            <a:r>
              <a:rPr lang="en-US" sz="2000" dirty="0" err="1" smtClean="0"/>
              <a:t>onderscheiden</a:t>
            </a:r>
            <a:endParaRPr lang="en-US" sz="2000" dirty="0" smtClean="0"/>
          </a:p>
          <a:p>
            <a:pPr marL="965200" lvl="2" indent="-342900">
              <a:lnSpc>
                <a:spcPct val="150000"/>
              </a:lnSpc>
            </a:pPr>
            <a:r>
              <a:rPr lang="en-US" sz="2000" dirty="0" err="1" smtClean="0"/>
              <a:t>Gehele</a:t>
            </a:r>
            <a:r>
              <a:rPr lang="en-US" sz="2000" dirty="0" smtClean="0"/>
              <a:t> </a:t>
            </a:r>
            <a:r>
              <a:rPr lang="en-US" sz="2000" dirty="0" err="1" smtClean="0"/>
              <a:t>getallen</a:t>
            </a:r>
            <a:r>
              <a:rPr lang="en-US" sz="2000" dirty="0" smtClean="0"/>
              <a:t> (</a:t>
            </a:r>
            <a:r>
              <a:rPr lang="en-US" sz="2000" dirty="0" err="1" smtClean="0"/>
              <a:t>aantallen</a:t>
            </a:r>
            <a:r>
              <a:rPr lang="en-US" sz="2000" dirty="0"/>
              <a:t>)</a:t>
            </a:r>
            <a:r>
              <a:rPr lang="en-US" sz="2000" dirty="0" smtClean="0"/>
              <a:t>, 1-6 (</a:t>
            </a:r>
            <a:r>
              <a:rPr lang="en-US" sz="2000" dirty="0" err="1" smtClean="0"/>
              <a:t>dobbelsteenworp</a:t>
            </a:r>
            <a:r>
              <a:rPr lang="en-US" sz="2000" dirty="0" smtClean="0"/>
              <a:t>), 0/1 (</a:t>
            </a:r>
            <a:r>
              <a:rPr lang="en-US" sz="2000" dirty="0" err="1" smtClean="0"/>
              <a:t>muntworp</a:t>
            </a:r>
            <a:r>
              <a:rPr lang="en-US" sz="2000" dirty="0" smtClean="0"/>
              <a:t>)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sz="2000" b="1" dirty="0" err="1" smtClean="0"/>
              <a:t>Kansverdeling</a:t>
            </a:r>
            <a:r>
              <a:rPr lang="en-US" sz="2000" dirty="0" smtClean="0"/>
              <a:t>: </a:t>
            </a:r>
            <a:r>
              <a:rPr lang="en-US" sz="2000" dirty="0" err="1" smtClean="0"/>
              <a:t>kans</a:t>
            </a:r>
            <a:r>
              <a:rPr lang="en-US" sz="2000" dirty="0" smtClean="0"/>
              <a:t> op </a:t>
            </a:r>
            <a:r>
              <a:rPr lang="en-US" sz="2000" dirty="0" err="1" smtClean="0"/>
              <a:t>een</a:t>
            </a:r>
            <a:r>
              <a:rPr lang="en-US" sz="2000" dirty="0" smtClean="0"/>
              <a:t> </a:t>
            </a:r>
            <a:r>
              <a:rPr lang="en-US" sz="2000" dirty="0" err="1" smtClean="0"/>
              <a:t>uitkomst</a:t>
            </a:r>
            <a:r>
              <a:rPr lang="en-US" sz="2000" dirty="0"/>
              <a:t> </a:t>
            </a:r>
            <a:r>
              <a:rPr lang="en-US" sz="2000" dirty="0" smtClean="0"/>
              <a:t>is </a:t>
            </a:r>
            <a:r>
              <a:rPr lang="en-US" sz="2000" dirty="0" err="1" smtClean="0"/>
              <a:t>een</a:t>
            </a:r>
            <a:r>
              <a:rPr lang="en-US" sz="2000" dirty="0" smtClean="0"/>
              <a:t> </a:t>
            </a:r>
            <a:r>
              <a:rPr lang="en-US" sz="2000" dirty="0" err="1" smtClean="0"/>
              <a:t>getal</a:t>
            </a:r>
            <a:r>
              <a:rPr lang="en-US" sz="2000" dirty="0" smtClean="0"/>
              <a:t> </a:t>
            </a:r>
            <a:r>
              <a:rPr lang="en-US" sz="2000" dirty="0" err="1" smtClean="0"/>
              <a:t>tussen</a:t>
            </a:r>
            <a:r>
              <a:rPr lang="en-US" sz="2000" dirty="0" smtClean="0"/>
              <a:t> 0 </a:t>
            </a:r>
            <a:r>
              <a:rPr lang="en-US" sz="2000" dirty="0" err="1" smtClean="0"/>
              <a:t>en</a:t>
            </a:r>
            <a:r>
              <a:rPr lang="en-US" sz="2000" dirty="0" smtClean="0"/>
              <a:t> 1.</a:t>
            </a:r>
            <a:endParaRPr lang="en-US" sz="2000" dirty="0"/>
          </a:p>
          <a:p>
            <a:pPr marL="717550" lvl="1" indent="-342900">
              <a:lnSpc>
                <a:spcPct val="150000"/>
              </a:lnSpc>
            </a:pPr>
            <a:endParaRPr lang="en-US" sz="2000" dirty="0" smtClean="0"/>
          </a:p>
          <a:p>
            <a:pPr lvl="1" indent="0">
              <a:lnSpc>
                <a:spcPct val="150000"/>
              </a:lnSpc>
              <a:buNone/>
            </a:pPr>
            <a:r>
              <a:rPr lang="en-US" sz="2000" b="1" dirty="0" err="1" smtClean="0"/>
              <a:t>Voorbeelden</a:t>
            </a:r>
            <a:r>
              <a:rPr lang="en-US" sz="2000" b="1" dirty="0" smtClean="0"/>
              <a:t>: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sz="2000" dirty="0" err="1" smtClean="0"/>
              <a:t>aantal</a:t>
            </a:r>
            <a:r>
              <a:rPr lang="en-US" sz="2000" dirty="0" smtClean="0"/>
              <a:t> </a:t>
            </a:r>
            <a:r>
              <a:rPr lang="en-US" sz="2000" dirty="0" err="1" smtClean="0"/>
              <a:t>explosieven</a:t>
            </a:r>
            <a:r>
              <a:rPr lang="en-US" sz="2000" dirty="0" smtClean="0"/>
              <a:t> </a:t>
            </a:r>
            <a:r>
              <a:rPr lang="en-US" sz="2000" dirty="0" err="1" smtClean="0"/>
              <a:t>vernietigd</a:t>
            </a:r>
            <a:r>
              <a:rPr lang="en-US" sz="2000" dirty="0" smtClean="0"/>
              <a:t> door EOD</a:t>
            </a:r>
          </a:p>
          <a:p>
            <a:pPr marL="717550" lvl="1" indent="-342900">
              <a:lnSpc>
                <a:spcPct val="150000"/>
              </a:lnSpc>
            </a:pPr>
            <a:r>
              <a:rPr lang="en-US" sz="2000" dirty="0" err="1" smtClean="0"/>
              <a:t>aantal</a:t>
            </a:r>
            <a:r>
              <a:rPr lang="en-US" sz="2000" dirty="0" smtClean="0"/>
              <a:t> </a:t>
            </a:r>
            <a:r>
              <a:rPr lang="en-US" sz="2000" dirty="0" err="1" smtClean="0"/>
              <a:t>Iraanse</a:t>
            </a:r>
            <a:r>
              <a:rPr lang="en-US" sz="2000" dirty="0" smtClean="0"/>
              <a:t> </a:t>
            </a:r>
            <a:r>
              <a:rPr lang="en-US" sz="2000" dirty="0" err="1" smtClean="0"/>
              <a:t>raketten</a:t>
            </a:r>
            <a:r>
              <a:rPr lang="en-US" sz="2000" dirty="0" smtClean="0"/>
              <a:t> </a:t>
            </a:r>
            <a:r>
              <a:rPr lang="en-US" sz="2000" dirty="0" err="1" smtClean="0"/>
              <a:t>onderschept</a:t>
            </a:r>
            <a:r>
              <a:rPr lang="en-US" sz="2000" dirty="0" smtClean="0"/>
              <a:t> door de “Iron Dome”</a:t>
            </a:r>
          </a:p>
          <a:p>
            <a:pPr marL="831850" lvl="1" indent="-457200">
              <a:lnSpc>
                <a:spcPct val="150000"/>
              </a:lnSpc>
              <a:buFont typeface="+mj-lt"/>
              <a:buAutoNum type="arabicPeriod"/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1196752"/>
            <a:ext cx="3026313" cy="45684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06752" y="5803990"/>
            <a:ext cx="236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/>
              <a:t>https://lms.chanakyamandal.org/current-event/iron-dome-air-defence-system-israel/</a:t>
            </a:r>
          </a:p>
        </p:txBody>
      </p:sp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13485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smtClean="0"/>
              <a:t>Discrete </a:t>
            </a:r>
            <a:r>
              <a:rPr lang="en-US" b="1" dirty="0" err="1" smtClean="0"/>
              <a:t>kansvariabelen</a:t>
            </a:r>
            <a:r>
              <a:rPr lang="en-US" b="1" dirty="0" smtClean="0"/>
              <a:t>: </a:t>
            </a:r>
            <a:r>
              <a:rPr lang="en-US" b="1" dirty="0" err="1" smtClean="0"/>
              <a:t>notatie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4917" y="1772816"/>
                <a:ext cx="10363200" cy="4246562"/>
              </a:xfrm>
            </p:spPr>
            <p:txBody>
              <a:bodyPr anchor="ctr"/>
              <a:lstStyle/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is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b="1" dirty="0" smtClean="0">
                    <a:solidFill>
                      <a:schemeClr val="accent1"/>
                    </a:solidFill>
                  </a:rPr>
                  <a:t>discrete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kansvariabele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specifieke</a:t>
                </a:r>
                <a:r>
                  <a:rPr lang="en-US" sz="2400" dirty="0" smtClean="0"/>
                  <a:t>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waarde</a:t>
                </a:r>
                <a:r>
                  <a:rPr lang="en-US" sz="2400" b="1" dirty="0" smtClean="0">
                    <a:solidFill>
                      <a:schemeClr val="accent1"/>
                    </a:solidFill>
                  </a:rPr>
                  <a:t> /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uitkomst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en-US" sz="2400" dirty="0" err="1" smtClean="0"/>
                  <a:t>bv</a:t>
                </a:r>
                <a:r>
                  <a:rPr lang="en-US" sz="2400" dirty="0" smtClean="0"/>
                  <a:t>. 0, 1, 2, 3, …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 smtClean="0"/>
                  <a:t> is de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kans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variabele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/>
                  <a:t> de waarde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aanneemt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endParaRPr lang="en-US" sz="2400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sz="2400" dirty="0" smtClean="0"/>
                  <a:t>De </a:t>
                </a:r>
                <a:r>
                  <a:rPr lang="en-US" sz="2400" dirty="0" err="1" smtClean="0"/>
                  <a:t>functie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noemen</a:t>
                </a:r>
                <a:r>
                  <a:rPr lang="en-US" sz="2400" dirty="0" smtClean="0"/>
                  <a:t> we de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kansfunctie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van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4917" y="1772816"/>
                <a:ext cx="10363200" cy="42465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3431704" y="292494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07020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39"/>
                <a:ext cx="10363200" cy="400110"/>
              </a:xfrm>
            </p:spPr>
            <p:txBody>
              <a:bodyPr/>
              <a:lstStyle/>
              <a:p>
                <a:pPr eaLnBrk="1" hangingPunct="1"/>
                <a:r>
                  <a:rPr lang="en-US" b="1" dirty="0" smtClean="0"/>
                  <a:t>Twee </a:t>
                </a:r>
                <a:r>
                  <a:rPr lang="en-US" b="1" dirty="0" err="1" smtClean="0"/>
                  <a:t>representaties</a:t>
                </a:r>
                <a:r>
                  <a:rPr lang="en-US" b="1" dirty="0" smtClean="0"/>
                  <a:t> van de </a:t>
                </a:r>
                <a:r>
                  <a:rPr lang="en-US" b="1" dirty="0" err="1" smtClean="0"/>
                  <a:t>kansfunctie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b="1" dirty="0" smtClean="0"/>
              </a:p>
            </p:txBody>
          </p:sp>
        </mc:Choice>
        <mc:Fallback xmlns=""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39"/>
                <a:ext cx="10363200" cy="400110"/>
              </a:xfrm>
              <a:blipFill>
                <a:blip r:embed="rId2"/>
                <a:stretch>
                  <a:fillRect l="-1941" t="-26154" b="-5076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814916" y="1916832"/>
            <a:ext cx="111857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US" dirty="0" smtClean="0">
              <a:latin typeface="+mn-lt"/>
            </a:endParaRPr>
          </a:p>
          <a:p>
            <a:endParaRPr lang="en-US" dirty="0">
              <a:latin typeface="+mj-lt"/>
            </a:endParaRPr>
          </a:p>
          <a:p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429379"/>
                  </p:ext>
                </p:extLst>
              </p:nvPr>
            </p:nvGraphicFramePr>
            <p:xfrm>
              <a:off x="1352000" y="1728083"/>
              <a:ext cx="9597833" cy="1124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8642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421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94511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27934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784543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689018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06767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1208373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784543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1132285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689018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487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429379"/>
                  </p:ext>
                </p:extLst>
              </p:nvPr>
            </p:nvGraphicFramePr>
            <p:xfrm>
              <a:off x="1352000" y="1728083"/>
              <a:ext cx="9597833" cy="1124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8642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421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94511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27934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784543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689018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06767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1208373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784543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1132285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689018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48789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9" t="-1099" r="-925974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9" t="-96842" r="-925974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672" y="2915670"/>
            <a:ext cx="4392488" cy="3342515"/>
          </a:xfrm>
          <a:prstGeom prst="rect">
            <a:avLst/>
          </a:prstGeom>
        </p:spPr>
      </p:pic>
      <p:sp>
        <p:nvSpPr>
          <p:cNvPr id="9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17393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Eigenschappen</a:t>
            </a:r>
            <a:r>
              <a:rPr lang="en-US" b="1" dirty="0" smtClean="0"/>
              <a:t> van de </a:t>
            </a:r>
            <a:r>
              <a:rPr lang="en-US" b="1" dirty="0" err="1" smtClean="0"/>
              <a:t>kansfunctie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4916" y="1916832"/>
                <a:ext cx="11185740" cy="422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+mn-lt"/>
                  </a:rPr>
                  <a:t>De </a:t>
                </a:r>
                <a:r>
                  <a:rPr lang="en-US" sz="2400" dirty="0" err="1" smtClean="0">
                    <a:latin typeface="+mn-lt"/>
                  </a:rPr>
                  <a:t>kans</a:t>
                </a:r>
                <a:r>
                  <a:rPr lang="en-US" sz="2400" dirty="0" smtClean="0">
                    <a:latin typeface="+mn-lt"/>
                  </a:rPr>
                  <a:t> op </a:t>
                </a:r>
                <a:r>
                  <a:rPr lang="en-US" sz="2400" dirty="0" err="1" smtClean="0">
                    <a:latin typeface="+mn-lt"/>
                  </a:rPr>
                  <a:t>een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bepaalde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uitkomst</a:t>
                </a:r>
                <a:r>
                  <a:rPr lang="en-US" sz="2400" dirty="0" smtClean="0">
                    <a:latin typeface="+mn-lt"/>
                  </a:rPr>
                  <a:t> is </a:t>
                </a:r>
                <a:r>
                  <a:rPr lang="en-US" sz="2400" dirty="0" err="1" smtClean="0">
                    <a:latin typeface="+mn-lt"/>
                  </a:rPr>
                  <a:t>altijd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een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getal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tussen</a:t>
                </a:r>
                <a:r>
                  <a:rPr lang="en-US" sz="2400" dirty="0" smtClean="0">
                    <a:latin typeface="+mn-lt"/>
                  </a:rPr>
                  <a:t> 0 </a:t>
                </a:r>
                <a:r>
                  <a:rPr lang="en-US" sz="2400" dirty="0" err="1" smtClean="0">
                    <a:latin typeface="+mn-lt"/>
                  </a:rPr>
                  <a:t>en</a:t>
                </a:r>
                <a:r>
                  <a:rPr lang="en-US" sz="2400" dirty="0" smtClean="0">
                    <a:latin typeface="+mn-lt"/>
                  </a:rPr>
                  <a:t> 1: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2400" dirty="0" smtClean="0">
                  <a:latin typeface="+mn-lt"/>
                </a:endParaRPr>
              </a:p>
              <a:p>
                <a:endParaRPr lang="en-US" sz="2400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+mn-lt"/>
                  </a:rPr>
                  <a:t>De </a:t>
                </a:r>
                <a:r>
                  <a:rPr lang="en-US" sz="2400" dirty="0" err="1" smtClean="0">
                    <a:latin typeface="+mn-lt"/>
                  </a:rPr>
                  <a:t>som</a:t>
                </a:r>
                <a:r>
                  <a:rPr lang="en-US" sz="2400" dirty="0" smtClean="0">
                    <a:latin typeface="+mn-lt"/>
                  </a:rPr>
                  <a:t> van </a:t>
                </a:r>
                <a:r>
                  <a:rPr lang="en-US" sz="2400" dirty="0" err="1" smtClean="0">
                    <a:latin typeface="+mn-lt"/>
                  </a:rPr>
                  <a:t>alle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kansen</a:t>
                </a:r>
                <a:r>
                  <a:rPr lang="en-US" sz="2400" dirty="0" smtClean="0">
                    <a:latin typeface="+mn-lt"/>
                  </a:rPr>
                  <a:t> is </a:t>
                </a:r>
                <a:r>
                  <a:rPr lang="en-US" sz="2400" dirty="0" err="1" smtClean="0">
                    <a:latin typeface="+mn-lt"/>
                  </a:rPr>
                  <a:t>gelijk</a:t>
                </a:r>
                <a:r>
                  <a:rPr lang="en-US" sz="2400" dirty="0" smtClean="0">
                    <a:latin typeface="+mn-lt"/>
                  </a:rPr>
                  <a:t> </a:t>
                </a:r>
                <a:r>
                  <a:rPr lang="en-US" sz="2400" dirty="0" err="1" smtClean="0">
                    <a:latin typeface="+mn-lt"/>
                  </a:rPr>
                  <a:t>aan</a:t>
                </a:r>
                <a:endParaRPr lang="en-US" sz="2400" dirty="0" smtClean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b="0" dirty="0" smtClean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nl-NL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6" y="1916832"/>
                <a:ext cx="11185740" cy="4220194"/>
              </a:xfrm>
              <a:prstGeom prst="rect">
                <a:avLst/>
              </a:prstGeom>
              <a:blipFill>
                <a:blip r:embed="rId2"/>
                <a:stretch>
                  <a:fillRect l="-763" t="-115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23613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Cumulatieve</a:t>
            </a:r>
            <a:r>
              <a:rPr lang="en-US" b="1" dirty="0" smtClean="0"/>
              <a:t> </a:t>
            </a:r>
            <a:r>
              <a:rPr lang="en-US" b="1" dirty="0" err="1" smtClean="0"/>
              <a:t>verdelingsfunctie</a:t>
            </a:r>
            <a:r>
              <a:rPr lang="en-US" b="1" dirty="0" smtClean="0"/>
              <a:t> (CDF)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4916" y="1916832"/>
                <a:ext cx="11257748" cy="4637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+mn-lt"/>
                  </a:rPr>
                  <a:t>De </a:t>
                </a:r>
                <a:r>
                  <a:rPr lang="en-US" b="1" dirty="0" err="1">
                    <a:solidFill>
                      <a:srgbClr val="00B0F0"/>
                    </a:solidFill>
                    <a:latin typeface="+mj-lt"/>
                  </a:rPr>
                  <a:t>cumulatieve</a:t>
                </a:r>
                <a:r>
                  <a:rPr lang="en-US" b="1" dirty="0">
                    <a:solidFill>
                      <a:srgbClr val="00B0F0"/>
                    </a:solidFill>
                    <a:latin typeface="+mj-lt"/>
                  </a:rPr>
                  <a:t> </a:t>
                </a:r>
                <a:r>
                  <a:rPr lang="en-US" b="1" dirty="0" err="1">
                    <a:solidFill>
                      <a:srgbClr val="00B0F0"/>
                    </a:solidFill>
                    <a:latin typeface="+mj-lt"/>
                  </a:rPr>
                  <a:t>verdelingsfunctie</a:t>
                </a:r>
                <a:r>
                  <a:rPr lang="en-US" b="1" dirty="0">
                    <a:solidFill>
                      <a:srgbClr val="00B0F0"/>
                    </a:solidFill>
                    <a:latin typeface="+mj-lt"/>
                  </a:rPr>
                  <a:t> </a:t>
                </a:r>
                <a:r>
                  <a:rPr lang="en-US" dirty="0">
                    <a:latin typeface="+mj-lt"/>
                  </a:rPr>
                  <a:t>(</a:t>
                </a:r>
                <a:r>
                  <a:rPr lang="en-US" b="1" u="sng" dirty="0">
                    <a:latin typeface="+mj-lt"/>
                  </a:rPr>
                  <a:t>cumulative distribution function, </a:t>
                </a:r>
                <a:r>
                  <a:rPr lang="en-US" b="1" u="sng" dirty="0" smtClean="0">
                    <a:latin typeface="+mj-lt"/>
                  </a:rPr>
                  <a:t>CDF</a:t>
                </a:r>
                <a:r>
                  <a:rPr lang="en-US" dirty="0" smtClean="0">
                    <a:latin typeface="+mj-lt"/>
                  </a:rPr>
                  <a:t>) </a:t>
                </a:r>
                <a:r>
                  <a:rPr lang="en-US" dirty="0" err="1" smtClean="0">
                    <a:latin typeface="+mn-lt"/>
                  </a:rPr>
                  <a:t>beschrijft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kansen</a:t>
                </a:r>
                <a:r>
                  <a:rPr lang="en-US" dirty="0" smtClean="0">
                    <a:latin typeface="+mn-lt"/>
                  </a:rPr>
                  <a:t> op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waarde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kleiner</a:t>
                </a:r>
                <a:r>
                  <a:rPr lang="en-US" dirty="0" smtClean="0">
                    <a:latin typeface="+mn-lt"/>
                  </a:rPr>
                  <a:t> of </a:t>
                </a:r>
                <a:r>
                  <a:rPr lang="en-US" dirty="0" err="1" smtClean="0">
                    <a:latin typeface="+mn-lt"/>
                  </a:rPr>
                  <a:t>gelijk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aan</a:t>
                </a:r>
                <a:r>
                  <a:rPr lang="en-US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>
                    <a:latin typeface="+mn-lt"/>
                  </a:rPr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ℓ:ℓ≤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=ℓ)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ℓ:ℓ≤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(ℓ)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dirty="0" smtClean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endParaRPr lang="en-US" dirty="0" smtClean="0">
                  <a:latin typeface="+mn-lt"/>
                </a:endParaRPr>
              </a:p>
              <a:p>
                <a:r>
                  <a:rPr lang="en-US" dirty="0" err="1" smtClean="0">
                    <a:latin typeface="+mn-lt"/>
                  </a:rPr>
                  <a:t>Soms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kan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een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berekening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sneller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gedaan</a:t>
                </a:r>
                <a:r>
                  <a:rPr lang="en-US" dirty="0" smtClean="0">
                    <a:latin typeface="+mn-lt"/>
                  </a:rPr>
                  <a:t> </a:t>
                </a:r>
                <a:r>
                  <a:rPr lang="en-US" dirty="0" err="1" smtClean="0">
                    <a:latin typeface="+mn-lt"/>
                  </a:rPr>
                  <a:t>worden</a:t>
                </a:r>
                <a:r>
                  <a:rPr lang="en-US" dirty="0" smtClean="0">
                    <a:latin typeface="+mn-lt"/>
                  </a:rPr>
                  <a:t> met de CDF in </a:t>
                </a:r>
                <a:r>
                  <a:rPr lang="en-US" dirty="0" err="1" smtClean="0">
                    <a:latin typeface="+mn-lt"/>
                  </a:rPr>
                  <a:t>plaats</a:t>
                </a:r>
                <a:r>
                  <a:rPr lang="en-US" dirty="0" smtClean="0">
                    <a:latin typeface="+mn-lt"/>
                  </a:rPr>
                  <a:t> van de </a:t>
                </a:r>
                <a:r>
                  <a:rPr lang="en-US" dirty="0" err="1" smtClean="0">
                    <a:latin typeface="+mn-lt"/>
                  </a:rPr>
                  <a:t>kansfunctie</a:t>
                </a:r>
                <a:r>
                  <a:rPr lang="en-US" dirty="0" smtClean="0">
                    <a:latin typeface="+mn-lt"/>
                  </a:rPr>
                  <a:t>!</a:t>
                </a:r>
                <a:endParaRPr lang="nl-NL" dirty="0" smtClean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endParaRPr lang="en-US" dirty="0" smtClean="0">
                  <a:latin typeface="+mn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6" y="1916832"/>
                <a:ext cx="11257748" cy="4637936"/>
              </a:xfrm>
              <a:prstGeom prst="rect">
                <a:avLst/>
              </a:prstGeom>
              <a:blipFill>
                <a:blip r:embed="rId2"/>
                <a:stretch>
                  <a:fillRect l="-704" t="-1051" r="-21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5000594"/>
                  </p:ext>
                </p:extLst>
              </p:nvPr>
            </p:nvGraphicFramePr>
            <p:xfrm>
              <a:off x="470265" y="3645024"/>
              <a:ext cx="1138730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031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4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6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9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0.13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0.53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0.62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0.87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5000594"/>
                  </p:ext>
                </p:extLst>
              </p:nvPr>
            </p:nvGraphicFramePr>
            <p:xfrm>
              <a:off x="470265" y="3645024"/>
              <a:ext cx="1138730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031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44" t="-7143" r="-356829" b="-2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4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6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9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44" t="-105882" r="-356829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0.13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44" t="-208333" r="-356829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0.53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0.62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0.87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816080" y="160338"/>
                <a:ext cx="5041488" cy="654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 smtClean="0">
                    <a:latin typeface="+mn-lt"/>
                  </a:rPr>
                  <a:t>De </a:t>
                </a:r>
                <a:r>
                  <a:rPr lang="en-US" sz="1800" dirty="0" err="1" smtClean="0">
                    <a:latin typeface="+mn-lt"/>
                  </a:rPr>
                  <a:t>notatie</a:t>
                </a:r>
                <a:r>
                  <a:rPr lang="en-US" sz="1800" dirty="0" smtClean="0">
                    <a:latin typeface="+mn-lt"/>
                  </a:rPr>
                  <a:t> “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ℓ:ℓ≤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(ℓ)</m:t>
                        </m:r>
                      </m:e>
                    </m:nary>
                  </m:oMath>
                </a14:m>
                <a:r>
                  <a:rPr lang="en-US" sz="1800" dirty="0" smtClean="0">
                    <a:latin typeface="+mn-lt"/>
                  </a:rPr>
                  <a:t>” </a:t>
                </a:r>
                <a:r>
                  <a:rPr lang="en-US" sz="1800" dirty="0" err="1" smtClean="0">
                    <a:latin typeface="+mn-lt"/>
                  </a:rPr>
                  <a:t>betekent</a:t>
                </a:r>
                <a:r>
                  <a:rPr lang="en-US" sz="1800" dirty="0" smtClean="0">
                    <a:latin typeface="+mn-lt"/>
                  </a:rPr>
                  <a:t>: </a:t>
                </a:r>
                <a:r>
                  <a:rPr lang="en-US" sz="1800" dirty="0" err="1" smtClean="0">
                    <a:latin typeface="+mn-lt"/>
                  </a:rPr>
                  <a:t>sommeer</a:t>
                </a:r>
                <a:r>
                  <a:rPr lang="en-US" sz="1800" dirty="0" smtClean="0">
                    <a:latin typeface="+mn-lt"/>
                  </a:rPr>
                  <a:t> de </a:t>
                </a:r>
                <a:r>
                  <a:rPr lang="en-US" sz="1800" dirty="0" err="1" smtClean="0">
                    <a:latin typeface="+mn-lt"/>
                  </a:rPr>
                  <a:t>kansen</a:t>
                </a:r>
                <a:r>
                  <a:rPr lang="en-US" sz="1800" dirty="0" smtClean="0">
                    <a:latin typeface="+mn-lt"/>
                  </a:rPr>
                  <a:t> op </a:t>
                </a:r>
                <a:r>
                  <a:rPr lang="en-US" sz="1800" dirty="0" err="1" smtClean="0">
                    <a:latin typeface="+mn-lt"/>
                  </a:rPr>
                  <a:t>een</a:t>
                </a:r>
                <a:r>
                  <a:rPr lang="en-US" sz="1800" dirty="0" smtClean="0">
                    <a:latin typeface="+mn-lt"/>
                  </a:rPr>
                  <a:t> </a:t>
                </a:r>
                <a:r>
                  <a:rPr lang="en-US" sz="1800" dirty="0" err="1" smtClean="0">
                    <a:latin typeface="+mn-lt"/>
                  </a:rPr>
                  <a:t>uitkomst</a:t>
                </a:r>
                <a:r>
                  <a:rPr lang="en-US" sz="1800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1800" b="0" dirty="0" smtClean="0">
                    <a:latin typeface="+mn-lt"/>
                  </a:rPr>
                  <a:t> </a:t>
                </a:r>
                <a:r>
                  <a:rPr lang="en-US" sz="1800" b="0" dirty="0" err="1" smtClean="0">
                    <a:latin typeface="+mn-lt"/>
                  </a:rPr>
                  <a:t>kleiner</a:t>
                </a:r>
                <a:r>
                  <a:rPr lang="en-US" sz="1800" b="0" dirty="0" smtClean="0">
                    <a:latin typeface="+mn-lt"/>
                  </a:rPr>
                  <a:t> </a:t>
                </a:r>
                <a:r>
                  <a:rPr lang="en-US" sz="1800" b="0" dirty="0" err="1" smtClean="0">
                    <a:latin typeface="+mn-lt"/>
                  </a:rPr>
                  <a:t>dan</a:t>
                </a:r>
                <a:r>
                  <a:rPr lang="en-US" sz="1800" b="0" dirty="0" smtClean="0">
                    <a:latin typeface="+mn-lt"/>
                  </a:rPr>
                  <a:t> of </a:t>
                </a:r>
                <a:r>
                  <a:rPr lang="en-US" sz="1800" b="0" dirty="0" err="1" smtClean="0">
                    <a:latin typeface="+mn-lt"/>
                  </a:rPr>
                  <a:t>gelijk</a:t>
                </a:r>
                <a:r>
                  <a:rPr lang="en-US" sz="1800" b="0" dirty="0" smtClean="0">
                    <a:latin typeface="+mn-lt"/>
                  </a:rPr>
                  <a:t> </a:t>
                </a:r>
                <a:r>
                  <a:rPr lang="en-US" sz="1800" b="0" dirty="0" err="1" smtClean="0">
                    <a:latin typeface="+mn-lt"/>
                  </a:rPr>
                  <a:t>aan</a:t>
                </a:r>
                <a:r>
                  <a:rPr lang="en-US" sz="1800" b="0" dirty="0" smtClean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nl-NL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160338"/>
                <a:ext cx="5041488" cy="654795"/>
              </a:xfrm>
              <a:prstGeom prst="rect">
                <a:avLst/>
              </a:prstGeom>
              <a:blipFill>
                <a:blip r:embed="rId4"/>
                <a:stretch>
                  <a:fillRect l="-967" t="-66667" b="-6111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4758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/>
                  <a:t>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defensiemedewerkers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in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uur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Servicedesk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Defensie</a:t>
                </a:r>
                <a:r>
                  <a:rPr lang="en-US" dirty="0" smtClean="0"/>
                  <a:t> belt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IT </a:t>
                </a:r>
                <a:r>
                  <a:rPr lang="en-US" dirty="0" err="1" smtClean="0"/>
                  <a:t>probleem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wordt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beschreven</a:t>
                </a:r>
                <a:r>
                  <a:rPr lang="en-US" dirty="0" smtClean="0"/>
                  <a:t> door de discrete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 err="1" smtClean="0"/>
                  <a:t>waarvoor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831850" lvl="1" indent="-457200">
                  <a:lnSpc>
                    <a:spcPct val="150000"/>
                  </a:lnSpc>
                  <a:buAutoNum type="alphaLcParenR"/>
                </a:pPr>
                <a:endParaRPr lang="en-US" dirty="0" smtClean="0"/>
              </a:p>
              <a:p>
                <a:pPr marL="831850" lvl="1" indent="-457200">
                  <a:lnSpc>
                    <a:spcPct val="150000"/>
                  </a:lnSpc>
                  <a:buAutoNum type="alphaLcParenR"/>
                </a:pPr>
                <a:endParaRPr lang="en-US" dirty="0" smtClean="0"/>
              </a:p>
              <a:p>
                <a:pPr marL="831850" lvl="1" indent="-457200">
                  <a:lnSpc>
                    <a:spcPct val="150000"/>
                  </a:lnSpc>
                  <a:buAutoNum type="alphaLcParenR"/>
                </a:pPr>
                <a:r>
                  <a:rPr lang="en-US" dirty="0" smtClean="0"/>
                  <a:t>Wat </a:t>
                </a:r>
                <a:r>
                  <a:rPr lang="en-US" dirty="0"/>
                  <a:t>is de </a:t>
                </a:r>
                <a:r>
                  <a:rPr lang="en-US" dirty="0" err="1"/>
                  <a:t>kans</a:t>
                </a:r>
                <a:r>
                  <a:rPr lang="en-US" dirty="0"/>
                  <a:t> op </a:t>
                </a:r>
                <a:r>
                  <a:rPr lang="en-US" dirty="0" err="1" smtClean="0"/>
                  <a:t>minimaal</a:t>
                </a:r>
                <a:r>
                  <a:rPr lang="en-US" dirty="0" smtClean="0"/>
                  <a:t> 1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maximaal</a:t>
                </a:r>
                <a:r>
                  <a:rPr lang="en-US" dirty="0" smtClean="0"/>
                  <a:t> 7 </a:t>
                </a:r>
                <a:r>
                  <a:rPr lang="en-US" dirty="0" err="1" smtClean="0"/>
                  <a:t>belletjes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komende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uur</a:t>
                </a:r>
                <a:r>
                  <a:rPr lang="en-US" dirty="0" smtClean="0"/>
                  <a:t>?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r="-63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98682"/>
                  </p:ext>
                </p:extLst>
              </p:nvPr>
            </p:nvGraphicFramePr>
            <p:xfrm>
              <a:off x="443489" y="2996952"/>
              <a:ext cx="1138730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031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4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6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9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0.13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0.53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0.62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0.87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98682"/>
                  </p:ext>
                </p:extLst>
              </p:nvPr>
            </p:nvGraphicFramePr>
            <p:xfrm>
              <a:off x="443489" y="2996952"/>
              <a:ext cx="11387303" cy="1530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00313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88699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44" t="-7143" r="-356829" b="-2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4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6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9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44" t="-107143" r="-356829" b="-1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0.15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0.07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0.13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51016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44" t="-207143" r="-356829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0.19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0.31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0.38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0.53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0.62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0.70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0.77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0.87</a:t>
                          </a:r>
                          <a:endParaRPr lang="nl-NL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/>
                            <a:t>1</a:t>
                          </a:r>
                          <a:endParaRPr lang="nl-NL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5725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b="1" dirty="0"/>
              <a:t>Wat is de </a:t>
            </a:r>
            <a:r>
              <a:rPr lang="en-US" b="1" dirty="0" err="1"/>
              <a:t>kans</a:t>
            </a:r>
            <a:r>
              <a:rPr lang="en-US" b="1" dirty="0"/>
              <a:t> op </a:t>
            </a:r>
            <a:r>
              <a:rPr lang="en-US" b="1" dirty="0" err="1"/>
              <a:t>minimaal</a:t>
            </a:r>
            <a:r>
              <a:rPr lang="en-US" b="1" dirty="0"/>
              <a:t> 1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maximaal</a:t>
            </a:r>
            <a:r>
              <a:rPr lang="en-US" b="1" dirty="0"/>
              <a:t> </a:t>
            </a:r>
            <a:r>
              <a:rPr lang="en-US" b="1" dirty="0" smtClean="0"/>
              <a:t>7 </a:t>
            </a:r>
            <a:r>
              <a:rPr lang="en-US" b="1" dirty="0" err="1"/>
              <a:t>belletjes</a:t>
            </a:r>
            <a:r>
              <a:rPr lang="en-US" b="1" dirty="0"/>
              <a:t> het </a:t>
            </a:r>
            <a:r>
              <a:rPr lang="en-US" b="1" dirty="0" err="1"/>
              <a:t>komende</a:t>
            </a:r>
            <a:r>
              <a:rPr lang="en-US" b="1" dirty="0"/>
              <a:t> </a:t>
            </a:r>
            <a:r>
              <a:rPr lang="en-US" b="1" dirty="0" err="1"/>
              <a:t>uur</a:t>
            </a:r>
            <a:r>
              <a:rPr lang="en-US" b="1" dirty="0" smtClean="0"/>
              <a:t>?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044768" cy="1871786"/>
              </a:xfrm>
            </p:spPr>
            <p:txBody>
              <a:bodyPr/>
              <a:lstStyle/>
              <a:p>
                <a:pPr marL="717550" lvl="1" indent="-342900">
                  <a:lnSpc>
                    <a:spcPct val="150000"/>
                  </a:lnSpc>
                </a:pPr>
                <a:r>
                  <a:rPr lang="en-US" b="1" dirty="0" smtClean="0"/>
                  <a:t>Methode 1 (</a:t>
                </a:r>
                <a:r>
                  <a:rPr lang="en-US" b="1" dirty="0" err="1" smtClean="0"/>
                  <a:t>kansen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optellen</a:t>
                </a:r>
                <a:r>
                  <a:rPr lang="en-US" b="1" dirty="0" smtClean="0"/>
                  <a:t>): </a:t>
                </a:r>
                <a:r>
                  <a:rPr lang="en-US" dirty="0"/>
                  <a:t>Tel de </a:t>
                </a:r>
                <a:r>
                  <a:rPr lang="en-US" dirty="0" err="1"/>
                  <a:t>kansen</a:t>
                </a:r>
                <a:r>
                  <a:rPr lang="en-US" dirty="0"/>
                  <a:t> op die </a:t>
                </a:r>
                <a:r>
                  <a:rPr lang="en-US" dirty="0" err="1"/>
                  <a:t>horen</a:t>
                </a:r>
                <a:r>
                  <a:rPr lang="en-US" dirty="0"/>
                  <a:t> </a:t>
                </a:r>
                <a:r>
                  <a:rPr lang="en-US" dirty="0" err="1"/>
                  <a:t>bij</a:t>
                </a:r>
                <a:r>
                  <a:rPr lang="en-US" dirty="0"/>
                  <a:t> </a:t>
                </a:r>
                <a:r>
                  <a:rPr lang="en-US" dirty="0" err="1"/>
                  <a:t>aantallen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 2, 3, 4, 5,6,7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=7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=0,09+0.12+…+0,07=0,67</m:t>
                      </m:r>
                    </m:oMath>
                  </m:oMathPara>
                </a14:m>
                <a:endParaRPr lang="en-US" dirty="0"/>
              </a:p>
              <a:p>
                <a:pPr marL="717550" lvl="1" indent="-342900"/>
                <a:endParaRPr lang="en-US" b="1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b="1" dirty="0" err="1" smtClean="0"/>
                  <a:t>Methode</a:t>
                </a:r>
                <a:r>
                  <a:rPr lang="en-US" b="1" dirty="0" smtClean="0"/>
                  <a:t> </a:t>
                </a:r>
                <a:r>
                  <a:rPr lang="en-US" b="1" dirty="0"/>
                  <a:t>2 (met </a:t>
                </a:r>
                <a:r>
                  <a:rPr lang="en-US" b="1" dirty="0" err="1"/>
                  <a:t>behulp</a:t>
                </a:r>
                <a:r>
                  <a:rPr lang="en-US" b="1" dirty="0"/>
                  <a:t> van CDF</a:t>
                </a:r>
                <a:r>
                  <a:rPr lang="en-US" b="1" dirty="0" smtClean="0"/>
                  <a:t>):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044768" cy="1871786"/>
              </a:xfrm>
              <a:blipFill>
                <a:blip r:embed="rId2"/>
                <a:stretch>
                  <a:fillRect r="-1049" b="-651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1" name="Oval 10"/>
          <p:cNvSpPr/>
          <p:nvPr/>
        </p:nvSpPr>
        <p:spPr bwMode="auto">
          <a:xfrm>
            <a:off x="2423592" y="4077072"/>
            <a:ext cx="5040560" cy="936104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2436381"/>
                  </p:ext>
                </p:extLst>
              </p:nvPr>
            </p:nvGraphicFramePr>
            <p:xfrm>
              <a:off x="6384032" y="28709"/>
              <a:ext cx="5688632" cy="9773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7861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428387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422602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434173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416816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26168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1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3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4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5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6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9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3578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0,15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0,13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3578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0,31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0,38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0,53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0,62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0,70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0,77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0,87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1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2436381"/>
                  </p:ext>
                </p:extLst>
              </p:nvPr>
            </p:nvGraphicFramePr>
            <p:xfrm>
              <a:off x="6384032" y="28709"/>
              <a:ext cx="5688632" cy="9773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7861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428387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422602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434173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451527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441404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416816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261687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465" t="-2326" r="-336279" b="-2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1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3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4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5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6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9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35782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465" t="-73333" r="-336279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0,15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0,07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0,13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  <a:tr h="35782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465" t="-176271" r="-336279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0,19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0,31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0,38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0,53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0,62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0,70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0,77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0,87</a:t>
                          </a:r>
                          <a:endParaRPr lang="nl-NL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1</a:t>
                          </a:r>
                          <a:endParaRPr lang="nl-NL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7662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83432" y="3752913"/>
                <a:ext cx="4189772" cy="6355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0  1  2  3  4  5  6  7  8  9	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0" dirty="0"/>
                  <a:t>	</a:t>
                </a:r>
                <a:r>
                  <a:rPr lang="en-US" b="0" dirty="0" smtClean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0  1  2  3  4  5  6  7  8  9 	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0" dirty="0"/>
                  <a:t>	</a:t>
                </a:r>
                <a:r>
                  <a:rPr lang="en-US" b="0" dirty="0" smtClean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0  1  2  3  4  5  6  7  8  9</a:t>
                </a:r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 smtClean="0"/>
              </a:p>
              <a:p>
                <a:r>
                  <a:rPr lang="en-US" dirty="0"/>
                  <a:t>0	1	2	3	4	5	6	7	8	9</a:t>
                </a:r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0" dirty="0" smtClean="0"/>
              </a:p>
              <a:p>
                <a:r>
                  <a:rPr lang="en-US" dirty="0"/>
                  <a:t>0	1	2	3	4	5	6	7	8	9</a:t>
                </a: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3752913"/>
                <a:ext cx="4189772" cy="6355586"/>
              </a:xfrm>
              <a:prstGeom prst="rect">
                <a:avLst/>
              </a:prstGeom>
              <a:blipFill>
                <a:blip r:embed="rId4"/>
                <a:stretch>
                  <a:fillRect l="-189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 bwMode="auto">
          <a:xfrm>
            <a:off x="1271464" y="3645024"/>
            <a:ext cx="2736304" cy="767202"/>
          </a:xfrm>
          <a:prstGeom prst="ellipse">
            <a:avLst/>
          </a:prstGeom>
          <a:solidFill>
            <a:srgbClr val="00CCFF">
              <a:alpha val="25098"/>
            </a:srgbClr>
          </a:solidFill>
          <a:ln>
            <a:solidFill>
              <a:schemeClr val="accent1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826108" y="4725144"/>
            <a:ext cx="3194968" cy="720080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FF000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849064" y="5890075"/>
            <a:ext cx="620346" cy="406740"/>
          </a:xfrm>
          <a:prstGeom prst="ellipse">
            <a:avLst/>
          </a:prstGeom>
          <a:solidFill>
            <a:srgbClr val="33CC33">
              <a:alpha val="25098"/>
            </a:srgbClr>
          </a:solidFill>
          <a:ln>
            <a:solidFill>
              <a:srgbClr val="00B05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84032" y="4005064"/>
                <a:ext cx="4794085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=0,77−0,10=0,67</m:t>
                      </m:r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4005064"/>
                <a:ext cx="4794085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7982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Verwachtingswaarde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verwachtingswaarde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 (“expected value”) 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van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discrete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kansvariabele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is de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waarde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die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“</a:t>
                </a:r>
                <a:r>
                  <a:rPr lang="en-US" dirty="0" err="1" smtClean="0"/>
                  <a:t>gemiddeld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genomen</a:t>
                </a:r>
                <a:r>
                  <a:rPr lang="en-US" dirty="0" smtClean="0"/>
                  <a:t>” </a:t>
                </a:r>
                <a:r>
                  <a:rPr lang="en-US" dirty="0" err="1" smtClean="0"/>
                  <a:t>zal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aannemen</a:t>
                </a:r>
                <a:r>
                  <a:rPr lang="en-US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r>
                  <a:rPr lang="en-US" b="0" dirty="0" smtClean="0"/>
                  <a:t/>
                </a:r>
                <a:br>
                  <a:rPr lang="en-US" b="0" dirty="0" smtClean="0"/>
                </a:b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err="1" smtClean="0"/>
                  <a:t>Intuitie</a:t>
                </a:r>
                <a:r>
                  <a:rPr lang="en-US" b="1" dirty="0" smtClean="0"/>
                  <a:t>: </a:t>
                </a:r>
                <a:r>
                  <a:rPr lang="en-US" dirty="0" err="1" smtClean="0"/>
                  <a:t>gewogen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gemiddelde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alle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mogelijke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/>
                  <a:t>, met </a:t>
                </a:r>
                <a:r>
                  <a:rPr lang="en-US" dirty="0" err="1" smtClean="0"/>
                  <a:t>weging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 smtClean="0"/>
                  <a:t>.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353" b="-344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418327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544893"/>
          </a:xfrm>
        </p:spPr>
        <p:txBody>
          <a:bodyPr/>
          <a:lstStyle/>
          <a:p>
            <a:pPr lvl="1" indent="0">
              <a:lnSpc>
                <a:spcPct val="150000"/>
              </a:lnSpc>
              <a:buNone/>
            </a:pPr>
            <a:r>
              <a:rPr lang="en-US" b="1" dirty="0" smtClean="0">
                <a:latin typeface="+mj-lt"/>
              </a:rPr>
              <a:t>Wat </a:t>
            </a:r>
            <a:r>
              <a:rPr lang="en-US" b="1" dirty="0">
                <a:latin typeface="+mj-lt"/>
              </a:rPr>
              <a:t>is de </a:t>
            </a:r>
            <a:r>
              <a:rPr lang="en-US" b="1" dirty="0" err="1">
                <a:latin typeface="+mj-lt"/>
              </a:rPr>
              <a:t>verwachtingswaarde</a:t>
            </a:r>
            <a:r>
              <a:rPr lang="en-US" b="1" dirty="0">
                <a:latin typeface="+mj-lt"/>
              </a:rPr>
              <a:t> van het </a:t>
            </a:r>
            <a:r>
              <a:rPr lang="en-US" b="1" dirty="0" err="1">
                <a:latin typeface="+mj-lt"/>
              </a:rPr>
              <a:t>aantal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belletjes</a:t>
            </a:r>
            <a:r>
              <a:rPr lang="en-US" b="1" dirty="0">
                <a:latin typeface="+mj-lt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799" y="1773238"/>
                <a:ext cx="10963543" cy="4246562"/>
              </a:xfrm>
            </p:spPr>
            <p:txBody>
              <a:bodyPr anchor="ctr"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 smtClean="0"/>
                  <a:t>We </a:t>
                </a:r>
                <a:r>
                  <a:rPr lang="en-US" sz="2400" dirty="0" err="1" smtClean="0"/>
                  <a:t>berekenen</a:t>
                </a:r>
                <a:r>
                  <a:rPr lang="en-US" sz="2400" dirty="0" smtClean="0"/>
                  <a:t> de </a:t>
                </a:r>
                <a:r>
                  <a:rPr lang="en-US" sz="2400" dirty="0" err="1" smtClean="0"/>
                  <a:t>verwachtingswaarde</a:t>
                </a:r>
                <a:r>
                  <a:rPr lang="en-US" sz="2400" dirty="0" smtClean="0"/>
                  <a:t> met de </a:t>
                </a:r>
                <a:r>
                  <a:rPr lang="en-US" sz="2400" dirty="0" err="1" smtClean="0"/>
                  <a:t>formule</a:t>
                </a:r>
                <a:r>
                  <a:rPr lang="en-US" sz="2400" dirty="0" smtClean="0"/>
                  <a:t>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+…+9∗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=9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=0∗0,10+1∗0,09+…+9∗0,13=4,53</m:t>
                      </m:r>
                    </m:oMath>
                  </m:oMathPara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b="0" i="1" dirty="0" smtClean="0">
                    <a:latin typeface="Cambria Math" panose="02040503050406030204" pitchFamily="18" charset="0"/>
                  </a:rPr>
                </a:b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 err="1" smtClean="0"/>
                  <a:t>Getal</a:t>
                </a:r>
                <a:r>
                  <a:rPr lang="en-US" sz="2400" dirty="0" smtClean="0"/>
                  <a:t> in </a:t>
                </a:r>
                <a:r>
                  <a:rPr lang="en-US" sz="2400" dirty="0" err="1" smtClean="0"/>
                  <a:t>eerste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rij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vermenigvuldigen</a:t>
                </a:r>
                <a:r>
                  <a:rPr lang="en-US" sz="2400" dirty="0" smtClean="0"/>
                  <a:t> met wat </a:t>
                </a:r>
                <a:r>
                  <a:rPr lang="en-US" sz="2400" dirty="0" err="1" smtClean="0"/>
                  <a:t>eronder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staat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resultaten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optellen</a:t>
                </a:r>
                <a:r>
                  <a:rPr lang="en-US" sz="2400" dirty="0" smtClean="0"/>
                  <a:t> </a:t>
                </a:r>
                <a:r>
                  <a:rPr lang="en-US" sz="2400" b="1" dirty="0" smtClean="0"/>
                  <a:t>!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799" y="1773238"/>
                <a:ext cx="10963543" cy="4246562"/>
              </a:xfrm>
              <a:blipFill>
                <a:blip r:embed="rId2"/>
                <a:stretch>
                  <a:fillRect b="-1076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763621"/>
                  </p:ext>
                </p:extLst>
              </p:nvPr>
            </p:nvGraphicFramePr>
            <p:xfrm>
              <a:off x="919634" y="1836618"/>
              <a:ext cx="10153766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9466">
                      <a:extLst>
                        <a:ext uri="{9D8B030D-6E8A-4147-A177-3AD203B41FA5}">
                          <a16:colId xmlns:a16="http://schemas.microsoft.com/office/drawing/2014/main" val="2379219297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1909346455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1671799916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787643769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971450467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628517800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2446016869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370226084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2002700051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153913606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980906142"/>
                        </a:ext>
                      </a:extLst>
                    </a:gridCol>
                  </a:tblGrid>
                  <a:tr h="336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183959"/>
                      </a:ext>
                    </a:extLst>
                  </a:tr>
                  <a:tr h="336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8207761"/>
                      </a:ext>
                    </a:extLst>
                  </a:tr>
                  <a:tr h="3360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0.31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0.38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0.53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0.62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0.70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0.77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0.87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9640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763621"/>
                  </p:ext>
                </p:extLst>
              </p:nvPr>
            </p:nvGraphicFramePr>
            <p:xfrm>
              <a:off x="919634" y="1836618"/>
              <a:ext cx="10153766" cy="1188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9466">
                      <a:extLst>
                        <a:ext uri="{9D8B030D-6E8A-4147-A177-3AD203B41FA5}">
                          <a16:colId xmlns:a16="http://schemas.microsoft.com/office/drawing/2014/main" val="2379219297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1909346455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1671799916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787643769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971450467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628517800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2446016869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370226084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2002700051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3153913606"/>
                        </a:ext>
                      </a:extLst>
                    </a:gridCol>
                    <a:gridCol w="792430">
                      <a:extLst>
                        <a:ext uri="{9D8B030D-6E8A-4147-A177-3AD203B41FA5}">
                          <a16:colId xmlns:a16="http://schemas.microsoft.com/office/drawing/2014/main" val="98090614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73" t="-7692" r="-356557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18395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73" t="-106061" r="-356557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82077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73" t="-209231" r="-356557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0.19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0.31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0.38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0.53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0.62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0.70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0.77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0.87</a:t>
                          </a:r>
                          <a:endParaRPr lang="nl-N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9640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47243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Variantie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1384" y="1773238"/>
                <a:ext cx="11449272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variantie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van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discrete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kansvariabele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is de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gekwadrateerde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afstand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tot de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verwachtingswaarde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die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“</a:t>
                </a:r>
                <a:r>
                  <a:rPr lang="en-US" dirty="0" err="1" smtClean="0"/>
                  <a:t>gemiddeld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genomen</a:t>
                </a:r>
                <a:r>
                  <a:rPr lang="en-US" dirty="0" smtClean="0"/>
                  <a:t>” </a:t>
                </a:r>
                <a:r>
                  <a:rPr lang="en-US" dirty="0" err="1" smtClean="0"/>
                  <a:t>zal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aannemen</a:t>
                </a:r>
                <a:r>
                  <a:rPr lang="en-US" dirty="0" smtClean="0"/>
                  <a:t>.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err="1" smtClean="0"/>
                  <a:t>Intuitie</a:t>
                </a:r>
                <a:r>
                  <a:rPr lang="en-US" b="1" dirty="0" smtClean="0"/>
                  <a:t>: </a:t>
                </a:r>
                <a:r>
                  <a:rPr lang="en-US" dirty="0" err="1" smtClean="0"/>
                  <a:t>gewogen</a:t>
                </a:r>
                <a:r>
                  <a:rPr lang="en-US" dirty="0" smtClean="0"/>
                  <a:t> </a:t>
                </a:r>
                <a:r>
                  <a:rPr lang="en-US" dirty="0" err="1"/>
                  <a:t>gemiddelde</a:t>
                </a:r>
                <a:r>
                  <a:rPr lang="en-US" dirty="0"/>
                  <a:t> van </a:t>
                </a:r>
                <a:r>
                  <a:rPr lang="en-US" dirty="0" smtClean="0"/>
                  <a:t>de </a:t>
                </a:r>
                <a:r>
                  <a:rPr lang="en-US" dirty="0" err="1" smtClean="0"/>
                  <a:t>gekwadrateerde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afstanden</a:t>
                </a:r>
                <a:r>
                  <a:rPr lang="en-US" dirty="0" smtClean="0"/>
                  <a:t> tot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 smtClean="0"/>
                  <a:t> over </a:t>
                </a:r>
                <a:r>
                  <a:rPr lang="en-US" dirty="0" err="1" smtClean="0"/>
                  <a:t>alle</a:t>
                </a:r>
                <a:r>
                  <a:rPr lang="en-US" dirty="0" smtClean="0"/>
                  <a:t> </a:t>
                </a:r>
                <a:r>
                  <a:rPr lang="en-US" dirty="0" err="1"/>
                  <a:t>mogelijke</a:t>
                </a:r>
                <a:r>
                  <a:rPr lang="en-US" dirty="0"/>
                  <a:t> </a:t>
                </a:r>
                <a:r>
                  <a:rPr lang="en-US" dirty="0" err="1"/>
                  <a:t>uitkomsten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met </a:t>
                </a:r>
                <a:r>
                  <a:rPr lang="en-US" dirty="0" err="1"/>
                  <a:t>weging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>.</a:t>
                </a: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1773238"/>
                <a:ext cx="11449272" cy="42465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83620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Standaardafwijking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1384" y="1773238"/>
                <a:ext cx="11449272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standaardafwijking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van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discrete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kansvariabele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opnieuw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gedefinieerd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als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de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wortel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uit de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variantie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van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sz="2400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1773238"/>
                <a:ext cx="11449272" cy="4246562"/>
              </a:xfrm>
              <a:blipFill>
                <a:blip r:embed="rId2"/>
                <a:stretch>
                  <a:fillRect r="-58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307013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800219"/>
          </a:xfrm>
        </p:spPr>
        <p:txBody>
          <a:bodyPr/>
          <a:lstStyle/>
          <a:p>
            <a:r>
              <a:rPr lang="en-US" b="1" dirty="0"/>
              <a:t>c) Wat is de </a:t>
            </a:r>
            <a:r>
              <a:rPr lang="en-US" b="1" dirty="0" err="1"/>
              <a:t>standaardafwijking</a:t>
            </a:r>
            <a:r>
              <a:rPr lang="en-US" b="1" dirty="0"/>
              <a:t> van het </a:t>
            </a:r>
            <a:r>
              <a:rPr lang="en-US" b="1" dirty="0" err="1"/>
              <a:t>aantal</a:t>
            </a:r>
            <a:r>
              <a:rPr lang="en-US" b="1" dirty="0"/>
              <a:t> </a:t>
            </a:r>
            <a:r>
              <a:rPr lang="en-US" b="1" dirty="0" err="1"/>
              <a:t>belletjes</a:t>
            </a:r>
            <a:r>
              <a:rPr lang="en-US" b="1" dirty="0"/>
              <a:t>?</a:t>
            </a:r>
            <a:br>
              <a:rPr lang="en-US" b="1" dirty="0"/>
            </a:b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835928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831850" lvl="1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b="1" dirty="0" smtClean="0"/>
              </a:p>
              <a:p>
                <a:pPr marL="831850" lvl="1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b="1" dirty="0" smtClean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b="1" dirty="0" err="1" smtClean="0"/>
                  <a:t>Gebruik</a:t>
                </a:r>
                <a:r>
                  <a:rPr lang="en-US" b="1" dirty="0" smtClean="0"/>
                  <a:t> </a:t>
                </a:r>
                <a:r>
                  <a:rPr lang="en-US" b="1" dirty="0"/>
                  <a:t>de </a:t>
                </a:r>
                <a:r>
                  <a:rPr lang="en-US" b="1" dirty="0" err="1" smtClean="0"/>
                  <a:t>formule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voor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variantie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𝐕𝐚𝐫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het </a:t>
                </a:r>
                <a:r>
                  <a:rPr lang="en-US" b="1" dirty="0" err="1" smtClean="0"/>
                  <a:t>feit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𝟓𝟑</m:t>
                    </m:r>
                  </m:oMath>
                </a14:m>
                <a:r>
                  <a:rPr lang="en-US" b="1" dirty="0" smtClean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i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nl-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nl-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=9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0−4,53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∗0,10+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1−4,53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∗0,09+…+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9−4,53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∗0,13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8,5691</m:t>
                      </m:r>
                    </m:oMath>
                  </m:oMathPara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b="0" i="1" dirty="0" smtClean="0">
                    <a:latin typeface="Cambria Math" panose="02040503050406030204" pitchFamily="18" charset="0"/>
                  </a:rPr>
                </a:b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en-US" b="1" dirty="0" err="1" smtClean="0"/>
                  <a:t>Gebruik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formule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Var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8,5691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≈2,9273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835928" cy="42465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6373901"/>
                  </p:ext>
                </p:extLst>
              </p:nvPr>
            </p:nvGraphicFramePr>
            <p:xfrm>
              <a:off x="1445145" y="1712423"/>
              <a:ext cx="9820205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56225">
                      <a:extLst>
                        <a:ext uri="{9D8B030D-6E8A-4147-A177-3AD203B41FA5}">
                          <a16:colId xmlns:a16="http://schemas.microsoft.com/office/drawing/2014/main" val="2379219297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1909346455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1671799916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787643769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3971450467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3628517800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2446016869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3370226084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2002700051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3153913606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980906142"/>
                        </a:ext>
                      </a:extLst>
                    </a:gridCol>
                  </a:tblGrid>
                  <a:tr h="313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3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4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5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6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9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183959"/>
                      </a:ext>
                    </a:extLst>
                  </a:tr>
                  <a:tr h="313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0.15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0.13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8207761"/>
                      </a:ext>
                    </a:extLst>
                  </a:tr>
                  <a:tr h="31395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0.31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0.38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0.53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0.62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0.70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0.77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0.87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9640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6373901"/>
                  </p:ext>
                </p:extLst>
              </p:nvPr>
            </p:nvGraphicFramePr>
            <p:xfrm>
              <a:off x="1445145" y="1712423"/>
              <a:ext cx="9820205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56225">
                      <a:extLst>
                        <a:ext uri="{9D8B030D-6E8A-4147-A177-3AD203B41FA5}">
                          <a16:colId xmlns:a16="http://schemas.microsoft.com/office/drawing/2014/main" val="2379219297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1909346455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1671799916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787643769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3971450467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3628517800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2446016869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3370226084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2002700051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3153913606"/>
                        </a:ext>
                      </a:extLst>
                    </a:gridCol>
                    <a:gridCol w="766398">
                      <a:extLst>
                        <a:ext uri="{9D8B030D-6E8A-4147-A177-3AD203B41FA5}">
                          <a16:colId xmlns:a16="http://schemas.microsoft.com/office/drawing/2014/main" val="98090614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82" t="-8333" r="-356497" b="-2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3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4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5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6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9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1839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82" t="-106557" r="-356497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0.15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0.07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0.13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82077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82" t="-210000" r="-356497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0.19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0.31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0.38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0.53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0.62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0.70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0.77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0.87</a:t>
                          </a:r>
                          <a:endParaRPr lang="nl-NL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</a:t>
                          </a:r>
                          <a:endParaRPr lang="nl-NL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9640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29540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b="1" dirty="0" err="1" smtClean="0"/>
              <a:t>Toepassingen</a:t>
            </a:r>
            <a:r>
              <a:rPr lang="en-US" b="1" dirty="0" smtClean="0"/>
              <a:t> in de </a:t>
            </a:r>
            <a:r>
              <a:rPr lang="en-US" b="1" dirty="0" err="1" smtClean="0"/>
              <a:t>defensiecontext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72096" y="1772816"/>
            <a:ext cx="11285472" cy="4246562"/>
          </a:xfrm>
        </p:spPr>
        <p:txBody>
          <a:bodyPr/>
          <a:lstStyle/>
          <a:p>
            <a:pPr lvl="1">
              <a:lnSpc>
                <a:spcPct val="150000"/>
              </a:lnSpc>
              <a:buNone/>
            </a:pPr>
            <a:r>
              <a:rPr lang="en-US" sz="2400" b="1" dirty="0" err="1" smtClean="0"/>
              <a:t>Landmacht</a:t>
            </a:r>
            <a:r>
              <a:rPr lang="en-US" sz="2400" b="1" dirty="0" smtClean="0"/>
              <a:t>: </a:t>
            </a:r>
            <a:r>
              <a:rPr lang="en-US" sz="2400" dirty="0" err="1" smtClean="0"/>
              <a:t>aantal</a:t>
            </a:r>
            <a:r>
              <a:rPr lang="en-US" sz="2400" dirty="0" smtClean="0"/>
              <a:t> </a:t>
            </a:r>
            <a:r>
              <a:rPr lang="en-US" sz="2400" dirty="0" err="1" smtClean="0"/>
              <a:t>voertuigen</a:t>
            </a:r>
            <a:r>
              <a:rPr lang="en-US" sz="2400" dirty="0" smtClean="0"/>
              <a:t> met </a:t>
            </a:r>
            <a:r>
              <a:rPr lang="en-US" sz="2400" dirty="0" err="1" smtClean="0"/>
              <a:t>mankementen</a:t>
            </a:r>
            <a:r>
              <a:rPr lang="en-US" sz="2400" dirty="0" smtClean="0"/>
              <a:t> </a:t>
            </a:r>
            <a:r>
              <a:rPr lang="en-US" sz="2400" dirty="0" err="1" smtClean="0"/>
              <a:t>tijdens</a:t>
            </a:r>
            <a:r>
              <a:rPr lang="en-US" sz="2400" dirty="0" smtClean="0"/>
              <a:t> </a:t>
            </a:r>
            <a:r>
              <a:rPr lang="en-US" sz="2400" dirty="0" err="1" smtClean="0"/>
              <a:t>een</a:t>
            </a:r>
            <a:r>
              <a:rPr lang="en-US" sz="2400" dirty="0" smtClean="0"/>
              <a:t> </a:t>
            </a:r>
            <a:r>
              <a:rPr lang="en-US" sz="2400" dirty="0" err="1" smtClean="0"/>
              <a:t>verplaatsing</a:t>
            </a:r>
            <a:r>
              <a:rPr lang="en-US" sz="2400" dirty="0" smtClean="0"/>
              <a:t>.</a:t>
            </a:r>
          </a:p>
          <a:p>
            <a:pPr lvl="1">
              <a:lnSpc>
                <a:spcPct val="150000"/>
              </a:lnSpc>
              <a:buNone/>
            </a:pPr>
            <a:endParaRPr lang="en-US" sz="2400" dirty="0"/>
          </a:p>
          <a:p>
            <a:pPr lvl="1">
              <a:lnSpc>
                <a:spcPct val="150000"/>
              </a:lnSpc>
              <a:buNone/>
            </a:pPr>
            <a:r>
              <a:rPr lang="en-US" sz="2400" b="1" dirty="0" err="1" smtClean="0"/>
              <a:t>Luchtmacht</a:t>
            </a:r>
            <a:r>
              <a:rPr lang="en-US" sz="2400" b="1" dirty="0" smtClean="0"/>
              <a:t>: </a:t>
            </a:r>
            <a:r>
              <a:rPr lang="en-US" sz="2400" dirty="0" err="1" smtClean="0"/>
              <a:t>aantal</a:t>
            </a:r>
            <a:r>
              <a:rPr lang="en-US" sz="2400" dirty="0" smtClean="0"/>
              <a:t> </a:t>
            </a:r>
            <a:r>
              <a:rPr lang="en-US" sz="2400" dirty="0" err="1" smtClean="0"/>
              <a:t>Shahed</a:t>
            </a:r>
            <a:r>
              <a:rPr lang="en-US" sz="2400" dirty="0" smtClean="0"/>
              <a:t> drones </a:t>
            </a:r>
            <a:r>
              <a:rPr lang="en-US" sz="2400" dirty="0" err="1" smtClean="0"/>
              <a:t>onderschept</a:t>
            </a:r>
            <a:r>
              <a:rPr lang="en-US" sz="2400" dirty="0" smtClean="0"/>
              <a:t> door de </a:t>
            </a:r>
            <a:r>
              <a:rPr lang="en-US" sz="2400" dirty="0" err="1" smtClean="0"/>
              <a:t>Israelische</a:t>
            </a:r>
            <a:r>
              <a:rPr lang="en-US" sz="2400" dirty="0" smtClean="0"/>
              <a:t> “Iron Dome”.</a:t>
            </a:r>
          </a:p>
          <a:p>
            <a:pPr lvl="1">
              <a:lnSpc>
                <a:spcPct val="150000"/>
              </a:lnSpc>
              <a:buNone/>
            </a:pPr>
            <a:endParaRPr lang="en-US" sz="2400" b="1" dirty="0"/>
          </a:p>
          <a:p>
            <a:pPr lvl="1">
              <a:lnSpc>
                <a:spcPct val="150000"/>
              </a:lnSpc>
              <a:buNone/>
            </a:pPr>
            <a:r>
              <a:rPr lang="en-US" sz="2400" b="1" dirty="0" smtClean="0"/>
              <a:t>Marine: </a:t>
            </a:r>
            <a:r>
              <a:rPr lang="en-US" sz="2400" dirty="0" err="1" smtClean="0"/>
              <a:t>aantal</a:t>
            </a:r>
            <a:r>
              <a:rPr lang="en-US" sz="2400" dirty="0" smtClean="0"/>
              <a:t> </a:t>
            </a:r>
            <a:r>
              <a:rPr lang="en-US" sz="2400" dirty="0" err="1" smtClean="0"/>
              <a:t>keren</a:t>
            </a:r>
            <a:r>
              <a:rPr lang="en-US" sz="2400" dirty="0" smtClean="0"/>
              <a:t> </a:t>
            </a:r>
            <a:r>
              <a:rPr lang="en-US" sz="2400" dirty="0" err="1" smtClean="0"/>
              <a:t>dat</a:t>
            </a:r>
            <a:r>
              <a:rPr lang="en-US" sz="2400" dirty="0" smtClean="0"/>
              <a:t> de </a:t>
            </a:r>
            <a:r>
              <a:rPr lang="en-US" sz="2400" dirty="0" err="1" smtClean="0"/>
              <a:t>Kustwacht</a:t>
            </a:r>
            <a:r>
              <a:rPr lang="en-US" sz="2400" dirty="0" smtClean="0"/>
              <a:t> </a:t>
            </a:r>
            <a:r>
              <a:rPr lang="en-US" sz="2400" dirty="0" err="1" smtClean="0"/>
              <a:t>wordt</a:t>
            </a:r>
            <a:r>
              <a:rPr lang="en-US" sz="2400" dirty="0" smtClean="0"/>
              <a:t> </a:t>
            </a:r>
            <a:r>
              <a:rPr lang="en-US" sz="2400" dirty="0" err="1" smtClean="0"/>
              <a:t>ingeschakeld</a:t>
            </a:r>
            <a:r>
              <a:rPr lang="en-US" sz="2400" dirty="0" smtClean="0"/>
              <a:t> </a:t>
            </a:r>
            <a:r>
              <a:rPr lang="en-US" sz="2400" dirty="0" err="1" smtClean="0"/>
              <a:t>voor</a:t>
            </a:r>
            <a:r>
              <a:rPr lang="en-US" sz="2400" dirty="0" smtClean="0"/>
              <a:t> “search-and-rescue”.</a:t>
            </a:r>
          </a:p>
          <a:p>
            <a:pPr lvl="1">
              <a:lnSpc>
                <a:spcPct val="150000"/>
              </a:lnSpc>
              <a:buNone/>
            </a:pPr>
            <a:endParaRPr lang="en-US" sz="2400" b="1" dirty="0"/>
          </a:p>
          <a:p>
            <a:pPr lvl="1">
              <a:lnSpc>
                <a:spcPct val="150000"/>
              </a:lnSpc>
              <a:buNone/>
            </a:pPr>
            <a:r>
              <a:rPr lang="en-US" sz="2400" b="1" dirty="0" err="1" smtClean="0"/>
              <a:t>Marechaussee</a:t>
            </a:r>
            <a:r>
              <a:rPr lang="en-US" sz="2400" b="1" dirty="0" smtClean="0"/>
              <a:t>: </a:t>
            </a:r>
            <a:r>
              <a:rPr lang="en-US" sz="2400" dirty="0" err="1" smtClean="0"/>
              <a:t>aantal</a:t>
            </a:r>
            <a:r>
              <a:rPr lang="en-US" sz="2400" dirty="0" smtClean="0"/>
              <a:t> </a:t>
            </a:r>
            <a:r>
              <a:rPr lang="en-US" sz="2400" dirty="0" err="1" smtClean="0"/>
              <a:t>keren</a:t>
            </a:r>
            <a:r>
              <a:rPr lang="en-US" sz="2400" dirty="0" smtClean="0"/>
              <a:t> </a:t>
            </a:r>
            <a:r>
              <a:rPr lang="en-US" sz="2400" dirty="0" err="1" smtClean="0"/>
              <a:t>dat</a:t>
            </a:r>
            <a:r>
              <a:rPr lang="en-US" sz="2400" dirty="0" smtClean="0"/>
              <a:t> </a:t>
            </a:r>
            <a:r>
              <a:rPr lang="en-US" sz="2400" dirty="0" err="1" smtClean="0"/>
              <a:t>ondersteuning</a:t>
            </a:r>
            <a:r>
              <a:rPr lang="en-US" sz="2400" dirty="0" smtClean="0"/>
              <a:t> </a:t>
            </a:r>
            <a:r>
              <a:rPr lang="en-US" sz="2400" dirty="0" err="1" smtClean="0"/>
              <a:t>wordt</a:t>
            </a:r>
            <a:r>
              <a:rPr lang="en-US" sz="2400" dirty="0" smtClean="0"/>
              <a:t> </a:t>
            </a:r>
            <a:r>
              <a:rPr lang="en-US" sz="2400" dirty="0" err="1" smtClean="0"/>
              <a:t>geboden</a:t>
            </a:r>
            <a:r>
              <a:rPr lang="en-US" sz="2400" dirty="0" smtClean="0"/>
              <a:t> </a:t>
            </a:r>
            <a:r>
              <a:rPr lang="en-US" sz="2400" dirty="0" err="1" smtClean="0"/>
              <a:t>voor</a:t>
            </a:r>
            <a:r>
              <a:rPr lang="en-US" sz="2400" dirty="0" smtClean="0"/>
              <a:t> de </a:t>
            </a:r>
            <a:r>
              <a:rPr lang="en-US" sz="2400" dirty="0" err="1" smtClean="0"/>
              <a:t>openbare</a:t>
            </a:r>
            <a:r>
              <a:rPr lang="en-US" sz="2400" dirty="0" smtClean="0"/>
              <a:t> </a:t>
            </a:r>
            <a:r>
              <a:rPr lang="en-US" sz="2400" dirty="0" err="1" smtClean="0"/>
              <a:t>orde</a:t>
            </a:r>
            <a:r>
              <a:rPr lang="en-US" sz="2400" dirty="0" smtClean="0"/>
              <a:t>.</a:t>
            </a:r>
          </a:p>
          <a:p>
            <a:pPr marL="965200" lvl="2" indent="-342900">
              <a:lnSpc>
                <a:spcPct val="150000"/>
              </a:lnSpc>
            </a:pPr>
            <a:endParaRPr lang="en-US" sz="2400" dirty="0"/>
          </a:p>
          <a:p>
            <a:pPr marL="965200" lvl="2" indent="-342900">
              <a:lnSpc>
                <a:spcPct val="150000"/>
              </a:lnSpc>
            </a:pPr>
            <a:endParaRPr lang="en-US" sz="2400" dirty="0" smtClean="0"/>
          </a:p>
          <a:p>
            <a:pPr marL="965200" lvl="2" indent="-342900">
              <a:lnSpc>
                <a:spcPct val="150000"/>
              </a:lnSpc>
            </a:pPr>
            <a:endParaRPr lang="en-US" sz="2400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87034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Overzicht</a:t>
            </a:r>
            <a:r>
              <a:rPr lang="en-US" b="1" dirty="0" smtClean="0"/>
              <a:t>: </a:t>
            </a:r>
            <a:r>
              <a:rPr lang="en-US" b="1" dirty="0" err="1" smtClean="0"/>
              <a:t>kansvariabelen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7275505"/>
                  </p:ext>
                </p:extLst>
              </p:nvPr>
            </p:nvGraphicFramePr>
            <p:xfrm>
              <a:off x="812800" y="1720277"/>
              <a:ext cx="11044767" cy="4591374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196320">
                      <a:extLst>
                        <a:ext uri="{9D8B030D-6E8A-4147-A177-3AD203B41FA5}">
                          <a16:colId xmlns:a16="http://schemas.microsoft.com/office/drawing/2014/main" val="53111846"/>
                        </a:ext>
                      </a:extLst>
                    </a:gridCol>
                    <a:gridCol w="4166858">
                      <a:extLst>
                        <a:ext uri="{9D8B030D-6E8A-4147-A177-3AD203B41FA5}">
                          <a16:colId xmlns:a16="http://schemas.microsoft.com/office/drawing/2014/main" val="3992352482"/>
                        </a:ext>
                      </a:extLst>
                    </a:gridCol>
                    <a:gridCol w="3681589">
                      <a:extLst>
                        <a:ext uri="{9D8B030D-6E8A-4147-A177-3AD203B41FA5}">
                          <a16:colId xmlns:a16="http://schemas.microsoft.com/office/drawing/2014/main" val="1664887837"/>
                        </a:ext>
                      </a:extLst>
                    </a:gridCol>
                  </a:tblGrid>
                  <a:tr h="371829">
                    <a:tc>
                      <a:txBody>
                        <a:bodyPr/>
                        <a:lstStyle/>
                        <a:p>
                          <a:pPr algn="ctr"/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9244383"/>
                      </a:ext>
                    </a:extLst>
                  </a:tr>
                  <a:tr h="616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Mogelijke</a:t>
                          </a:r>
                          <a:r>
                            <a:rPr lang="en-US" b="1" dirty="0" smtClean="0"/>
                            <a:t> </a:t>
                          </a:r>
                          <a:r>
                            <a:rPr lang="en-US" b="1" dirty="0" err="1" smtClean="0"/>
                            <a:t>uitkomsten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Eindig</a:t>
                          </a:r>
                          <a:r>
                            <a:rPr lang="en-US" baseline="0" dirty="0" smtClean="0"/>
                            <a:t> / </a:t>
                          </a:r>
                          <a:r>
                            <a:rPr lang="en-US" baseline="0" dirty="0" err="1" smtClean="0"/>
                            <a:t>aftelbaar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aantal</a:t>
                          </a:r>
                          <a:r>
                            <a:rPr lang="en-US" baseline="0" dirty="0" smtClean="0"/>
                            <a:t>, bv. 0, 1, 2, 3, …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6121795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Toepassingen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err="1" smtClean="0"/>
                            <a:t>Tellen</a:t>
                          </a:r>
                          <a:r>
                            <a:rPr lang="en-US" dirty="0" smtClean="0"/>
                            <a:t> of </a:t>
                          </a:r>
                          <a:r>
                            <a:rPr lang="en-US" dirty="0" err="1" smtClean="0"/>
                            <a:t>categoriseren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3277512"/>
                      </a:ext>
                    </a:extLst>
                  </a:tr>
                  <a:tr h="8813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Kansdefinitie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Kansfunctie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endParaRPr lang="nl-NL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voor</a:t>
                          </a:r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alle</a:t>
                          </a:r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uitkomsten</a:t>
                          </a:r>
                          <a:r>
                            <a:rPr lang="en-US" b="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dirty="0" smtClean="0"/>
                            <a:t> (kansen tellen op tot</a:t>
                          </a:r>
                          <a:r>
                            <a:rPr lang="nl-NL" baseline="0" dirty="0" smtClean="0"/>
                            <a:t> 1)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021700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CDF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680656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Verwachtingswaarde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8609556"/>
                      </a:ext>
                    </a:extLst>
                  </a:tr>
                  <a:tr h="729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Variantie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538043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Standaardafwijking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584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7275505"/>
                  </p:ext>
                </p:extLst>
              </p:nvPr>
            </p:nvGraphicFramePr>
            <p:xfrm>
              <a:off x="812800" y="1720277"/>
              <a:ext cx="11044767" cy="4591374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196320">
                      <a:extLst>
                        <a:ext uri="{9D8B030D-6E8A-4147-A177-3AD203B41FA5}">
                          <a16:colId xmlns:a16="http://schemas.microsoft.com/office/drawing/2014/main" val="53111846"/>
                        </a:ext>
                      </a:extLst>
                    </a:gridCol>
                    <a:gridCol w="4166858">
                      <a:extLst>
                        <a:ext uri="{9D8B030D-6E8A-4147-A177-3AD203B41FA5}">
                          <a16:colId xmlns:a16="http://schemas.microsoft.com/office/drawing/2014/main" val="3992352482"/>
                        </a:ext>
                      </a:extLst>
                    </a:gridCol>
                    <a:gridCol w="3681589">
                      <a:extLst>
                        <a:ext uri="{9D8B030D-6E8A-4147-A177-3AD203B41FA5}">
                          <a16:colId xmlns:a16="http://schemas.microsoft.com/office/drawing/2014/main" val="1664887837"/>
                        </a:ext>
                      </a:extLst>
                    </a:gridCol>
                  </a:tblGrid>
                  <a:tr h="371829">
                    <a:tc>
                      <a:txBody>
                        <a:bodyPr/>
                        <a:lstStyle/>
                        <a:p>
                          <a:pPr algn="ctr"/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9244383"/>
                      </a:ext>
                    </a:extLst>
                  </a:tr>
                  <a:tr h="616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Mogelijke</a:t>
                          </a:r>
                          <a:r>
                            <a:rPr lang="en-US" b="1" dirty="0" smtClean="0"/>
                            <a:t> </a:t>
                          </a:r>
                          <a:r>
                            <a:rPr lang="en-US" b="1" dirty="0" err="1" smtClean="0"/>
                            <a:t>uitkomsten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Eindig</a:t>
                          </a:r>
                          <a:r>
                            <a:rPr lang="en-US" baseline="0" dirty="0" smtClean="0"/>
                            <a:t> / </a:t>
                          </a:r>
                          <a:r>
                            <a:rPr lang="en-US" baseline="0" dirty="0" err="1" smtClean="0"/>
                            <a:t>aftelbaar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aantal</a:t>
                          </a:r>
                          <a:r>
                            <a:rPr lang="en-US" baseline="0" dirty="0" smtClean="0"/>
                            <a:t>, bv. 0, 1, 2, 3, …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6121795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Toepassingen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err="1" smtClean="0"/>
                            <a:t>Tellen</a:t>
                          </a:r>
                          <a:r>
                            <a:rPr lang="en-US" dirty="0" smtClean="0"/>
                            <a:t> of </a:t>
                          </a:r>
                          <a:r>
                            <a:rPr lang="en-US" dirty="0" err="1" smtClean="0"/>
                            <a:t>categoriseren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327751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Kansdefinitie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150993" r="-88889" b="-258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021700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CDF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611290" r="-88889" b="-530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6806567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Verwachtingswaarde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355645" r="-88889" b="-165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8609556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Variantie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455645" r="-88889" b="-65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538043"/>
                      </a:ext>
                    </a:extLst>
                  </a:tr>
                  <a:tr h="4236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Standaardafwijking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984286" r="-88889" b="-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584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61549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Samenvatting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3" name="TextBox 2"/>
          <p:cNvSpPr txBox="1"/>
          <p:nvPr/>
        </p:nvSpPr>
        <p:spPr>
          <a:xfrm>
            <a:off x="812800" y="1844824"/>
            <a:ext cx="1075580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+mn-lt"/>
              </a:rPr>
              <a:t>Introductie</a:t>
            </a:r>
            <a:r>
              <a:rPr lang="en-US" dirty="0" smtClean="0">
                <a:latin typeface="+mn-lt"/>
              </a:rPr>
              <a:t> in </a:t>
            </a:r>
            <a:r>
              <a:rPr lang="en-US" dirty="0" err="1" smtClean="0">
                <a:latin typeface="+mn-lt"/>
              </a:rPr>
              <a:t>kansrekening</a:t>
            </a:r>
            <a:endParaRPr lang="en-US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Discrete </a:t>
            </a:r>
            <a:r>
              <a:rPr lang="en-US" dirty="0" err="1" smtClean="0">
                <a:latin typeface="+mn-lt"/>
              </a:rPr>
              <a:t>kansvariabelen</a:t>
            </a:r>
            <a:endParaRPr lang="en-US" dirty="0" smtClean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+mn-lt"/>
              </a:rPr>
              <a:t>Eigenschappen</a:t>
            </a:r>
            <a:r>
              <a:rPr lang="en-US" dirty="0" smtClean="0">
                <a:latin typeface="+mn-lt"/>
              </a:rPr>
              <a:t> van discrete </a:t>
            </a:r>
            <a:r>
              <a:rPr lang="en-US" dirty="0" err="1" smtClean="0">
                <a:latin typeface="+mn-lt"/>
              </a:rPr>
              <a:t>kansvariabelen</a:t>
            </a:r>
            <a:endParaRPr lang="en-US" dirty="0" smtClean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50727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Volgend</a:t>
            </a:r>
            <a:r>
              <a:rPr lang="en-US" b="1" dirty="0" smtClean="0"/>
              <a:t> college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b="1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Continue </a:t>
                </a:r>
                <a:r>
                  <a:rPr lang="en-US" dirty="0" err="1" smtClean="0"/>
                  <a:t>kansvariabelen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Huiswerk</a:t>
                </a:r>
                <a:r>
                  <a:rPr lang="en-US" sz="2400" b="1" dirty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err="1">
                    <a:latin typeface="RijksoverheidSansText" panose="020B0503040202060203" pitchFamily="34" charset="0"/>
                  </a:rPr>
                  <a:t>Lezen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van A. Buijs: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hoofdstuk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3.2 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(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blz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.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108-119), 4.1, 4.2, 4.3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err="1" smtClean="0">
                    <a:latin typeface="RijksoverheidSansText" panose="020B0503040202060203" pitchFamily="34" charset="0"/>
                  </a:rPr>
                  <a:t>Verschil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: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notatie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kansvariabelen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ipv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4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err="1">
                    <a:latin typeface="RijksoverheidSansText" panose="020B0503040202060203" pitchFamily="34" charset="0"/>
                  </a:rPr>
                  <a:t>Opdrachten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: 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err="1">
                    <a:latin typeface="RijksoverheidSansText" panose="020B0503040202060203" pitchFamily="34" charset="0"/>
                  </a:rPr>
                  <a:t>Hoofdstuk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3: 3.11, 3.24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err="1" smtClean="0">
                    <a:latin typeface="RijksoverheidSansText" panose="020B0503040202060203" pitchFamily="34" charset="0"/>
                  </a:rPr>
                  <a:t>Hoofdstuk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4: m1-m5, 4.3, 4.4, 4.6, 4.7, 4.9, 4.12, 4.13abcde</a:t>
                </a:r>
                <a:endParaRPr lang="en-US" sz="2400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3" name="TextBox 2"/>
          <p:cNvSpPr txBox="1"/>
          <p:nvPr/>
        </p:nvSpPr>
        <p:spPr>
          <a:xfrm>
            <a:off x="812800" y="1844824"/>
            <a:ext cx="107558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nl-NL" dirty="0">
              <a:latin typeface="+mn-lt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2: discrete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24400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17000"/>
        </a:solidFill>
        <a:ln>
          <a:noFill/>
        </a:ln>
        <a:effectLst/>
        <a:extLst/>
      </a:spPr>
      <a:bodyPr vert="horz" wrap="square" lIns="0" tIns="0" rIns="0" bIns="0" numCol="1" rtlCol="0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</Template>
  <TotalTime>0</TotalTime>
  <Words>2599</Words>
  <Application>Microsoft Office PowerPoint</Application>
  <PresentationFormat>Breedbeeld</PresentationFormat>
  <Paragraphs>484</Paragraphs>
  <Slides>27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27</vt:i4>
      </vt:variant>
    </vt:vector>
  </HeadingPairs>
  <TitlesOfParts>
    <vt:vector size="34" baseType="lpstr">
      <vt:lpstr>Arial</vt:lpstr>
      <vt:lpstr>Cambria Math</vt:lpstr>
      <vt:lpstr>RijksoverheidSansHeadingTT</vt:lpstr>
      <vt:lpstr>RijksoverheidSansText</vt:lpstr>
      <vt:lpstr>RijksoverheidSansWebText Bold</vt:lpstr>
      <vt:lpstr>Verdana</vt:lpstr>
      <vt:lpstr>Presentatie</vt:lpstr>
      <vt:lpstr>Statistiek: college 2</vt:lpstr>
      <vt:lpstr>Recap: vorige week</vt:lpstr>
      <vt:lpstr>Leerdoelen</vt:lpstr>
      <vt:lpstr>Geschiedenis van de kansrekening</vt:lpstr>
      <vt:lpstr>Geschiedenis van de kansrekening </vt:lpstr>
      <vt:lpstr>Voorbeeld: worp van twee dobbelstenen</vt:lpstr>
      <vt:lpstr>Kansexperiment</vt:lpstr>
      <vt:lpstr>Voorbeeld: worp van twee dobbelstenen</vt:lpstr>
      <vt:lpstr>Voorbeeld: worp van twee dobbelstenen</vt:lpstr>
      <vt:lpstr>Waarom leren we over kansvariabelen voor statistiek</vt:lpstr>
      <vt:lpstr>Focus: kwantitatieve variabelen</vt:lpstr>
      <vt:lpstr>Discrete kansvariabelen (“tellen”)</vt:lpstr>
      <vt:lpstr>Discrete kansvariabelen: notatie</vt:lpstr>
      <vt:lpstr>Twee representaties van de kansfunctie p(k)=P(X=k)</vt:lpstr>
      <vt:lpstr>Eigenschappen van de kansfunctie</vt:lpstr>
      <vt:lpstr>Cumulatieve verdelingsfunctie (CDF)</vt:lpstr>
      <vt:lpstr>Voorbeeld</vt:lpstr>
      <vt:lpstr>Wat is de kans op minimaal 1 en maximaal 7 belletjes het komende uur?</vt:lpstr>
      <vt:lpstr>Verwachtingswaarde</vt:lpstr>
      <vt:lpstr>Wat is de verwachtingswaarde van het aantal belletjes?</vt:lpstr>
      <vt:lpstr>Variantie</vt:lpstr>
      <vt:lpstr>Standaardafwijking</vt:lpstr>
      <vt:lpstr>c) Wat is de standaardafwijking van het aantal belletjes? </vt:lpstr>
      <vt:lpstr>Toepassingen in de defensiecontext</vt:lpstr>
      <vt:lpstr>Overzicht: kansvariabelen</vt:lpstr>
      <vt:lpstr>Samenvatting</vt:lpstr>
      <vt:lpstr>Volgend college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2: Statistiek</dc:title>
  <dc:creator>Blom, DAMP, Dr. ir., DOSCO/NLDA/FMW/CG MTW</dc:creator>
  <cp:lastModifiedBy>Gebruiker</cp:lastModifiedBy>
  <cp:revision>211</cp:revision>
  <cp:lastPrinted>2011-09-21T07:52:24Z</cp:lastPrinted>
  <dcterms:created xsi:type="dcterms:W3CDTF">2024-10-30T14:05:14Z</dcterms:created>
  <dcterms:modified xsi:type="dcterms:W3CDTF">2026-02-04T15:43:36Z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