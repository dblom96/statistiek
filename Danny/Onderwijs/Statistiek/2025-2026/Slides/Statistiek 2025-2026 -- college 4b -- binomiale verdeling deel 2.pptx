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86" r:id="rId2"/>
    <p:sldMasterId id="2147483698" r:id="rId3"/>
  </p:sldMasterIdLst>
  <p:notesMasterIdLst>
    <p:notesMasterId r:id="rId25"/>
  </p:notesMasterIdLst>
  <p:handoutMasterIdLst>
    <p:handoutMasterId r:id="rId26"/>
  </p:handoutMasterIdLst>
  <p:sldIdLst>
    <p:sldId id="288" r:id="rId4"/>
    <p:sldId id="257" r:id="rId5"/>
    <p:sldId id="260" r:id="rId6"/>
    <p:sldId id="262" r:id="rId7"/>
    <p:sldId id="264" r:id="rId8"/>
    <p:sldId id="263" r:id="rId9"/>
    <p:sldId id="261" r:id="rId10"/>
    <p:sldId id="265" r:id="rId11"/>
    <p:sldId id="266" r:id="rId12"/>
    <p:sldId id="267" r:id="rId13"/>
    <p:sldId id="286" r:id="rId14"/>
    <p:sldId id="271" r:id="rId15"/>
    <p:sldId id="272" r:id="rId16"/>
    <p:sldId id="275" r:id="rId17"/>
    <p:sldId id="276" r:id="rId18"/>
    <p:sldId id="285" r:id="rId19"/>
    <p:sldId id="287" r:id="rId20"/>
    <p:sldId id="279" r:id="rId21"/>
    <p:sldId id="280" r:id="rId22"/>
    <p:sldId id="283" r:id="rId23"/>
    <p:sldId id="284" r:id="rId24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0047"/>
    <a:srgbClr val="000000"/>
    <a:srgbClr val="55286E"/>
    <a:srgbClr val="FFFFFF"/>
    <a:srgbClr val="0E3B6E"/>
    <a:srgbClr val="005187"/>
    <a:srgbClr val="00423C"/>
    <a:srgbClr val="0E6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00"/>
  </p:normalViewPr>
  <p:slideViewPr>
    <p:cSldViewPr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 dirty="0">
                <a:latin typeface="RijksoverheidSansText" panose="020B0503040202060203" pitchFamily="34" charset="0"/>
              </a:rPr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>
                <a:latin typeface="RijksoverheidSansText" panose="020B0503040202060203" pitchFamily="34" charset="0"/>
              </a:rPr>
              <a:pPr>
                <a:defRPr/>
              </a:pPr>
              <a:t>‹nr.›</a:t>
            </a:fld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Klik</a:t>
            </a:r>
            <a:r>
              <a:rPr lang="en-US" noProof="0" dirty="0"/>
              <a:t> om het </a:t>
            </a:r>
            <a:r>
              <a:rPr lang="en-US" noProof="0" dirty="0" err="1"/>
              <a:t>opmaakprofiel</a:t>
            </a:r>
            <a:r>
              <a:rPr lang="en-US" noProof="0" dirty="0"/>
              <a:t> van de </a:t>
            </a:r>
            <a:r>
              <a:rPr lang="en-US" noProof="0" dirty="0" err="1"/>
              <a:t>modeltekst</a:t>
            </a:r>
            <a:r>
              <a:rPr lang="en-US" noProof="0" dirty="0"/>
              <a:t> </a:t>
            </a:r>
            <a:r>
              <a:rPr lang="en-US" noProof="0" dirty="0" err="1"/>
              <a:t>te</a:t>
            </a:r>
            <a:r>
              <a:rPr lang="en-US" noProof="0" dirty="0"/>
              <a:t> </a:t>
            </a:r>
            <a:r>
              <a:rPr lang="en-US" noProof="0" dirty="0" err="1"/>
              <a:t>bewerken</a:t>
            </a:r>
            <a:endParaRPr lang="en-US" noProof="0" dirty="0"/>
          </a:p>
          <a:p>
            <a:pPr lvl="1"/>
            <a:r>
              <a:rPr lang="en-US" noProof="0" dirty="0" err="1"/>
              <a:t>Tweede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Derde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Vierde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Vijfde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Eventuele</a:t>
            </a:r>
            <a:r>
              <a:rPr lang="en-US" dirty="0"/>
              <a:t> </a:t>
            </a:r>
            <a:r>
              <a:rPr lang="en-US" dirty="0" err="1"/>
              <a:t>voettekst</a:t>
            </a: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2" y="2474916"/>
            <a:ext cx="4798484" cy="9429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2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6" y="5386391"/>
            <a:ext cx="5183716" cy="287337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3"/>
            <a:ext cx="5181600" cy="2016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+mn-lt"/>
              </a:rPr>
              <a:t>Dr. ir. Danny Blom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3"/>
            <a:ext cx="5181600" cy="2016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+mn-lt"/>
              </a:rPr>
              <a:t>Nederlandse</a:t>
            </a:r>
            <a:r>
              <a:rPr lang="nl-NL" sz="1200" baseline="0" dirty="0">
                <a:solidFill>
                  <a:schemeClr val="bg1"/>
                </a:solidFill>
                <a:latin typeface="+mn-lt"/>
              </a:rPr>
              <a:t> Defensie Academie</a:t>
            </a:r>
            <a:endParaRPr lang="nl-NL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6"/>
            <a:ext cx="5181600" cy="14287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b="0" dirty="0" err="1">
                <a:solidFill>
                  <a:schemeClr val="bg1"/>
                </a:solidFill>
                <a:latin typeface="+mn-lt"/>
              </a:rPr>
              <a:t>Faculteit</a:t>
            </a:r>
            <a:r>
              <a:rPr lang="en-US" sz="12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b="0" dirty="0" err="1">
                <a:solidFill>
                  <a:schemeClr val="bg1"/>
                </a:solidFill>
                <a:latin typeface="+mn-lt"/>
              </a:rPr>
              <a:t>Militaire</a:t>
            </a:r>
            <a:r>
              <a:rPr lang="en-US" sz="12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b="0" dirty="0" err="1">
                <a:solidFill>
                  <a:schemeClr val="bg1"/>
                </a:solidFill>
                <a:latin typeface="+mn-lt"/>
              </a:rPr>
              <a:t>Wetenschappen</a:t>
            </a:r>
            <a:endParaRPr sz="12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2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nl-NL" noProof="0" dirty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2" y="2781303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nl-NL" noProof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6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FB72F70-86A0-4C14-B328-A142BCCD4395}" type="datetime4">
              <a:rPr lang="nl-NL" smtClean="0"/>
              <a:pPr>
                <a:defRPr/>
              </a:pPr>
              <a:t>27 februari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BA442-CF7C-446F-A5C6-9C80A1EA92B1}" type="datetime4">
              <a:rPr lang="nl-NL" smtClean="0"/>
              <a:t>27 februari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ACE4E-5F74-4A37-951C-E2AD8C0ABF31}" type="datetime4">
              <a:rPr lang="nl-NL" smtClean="0"/>
              <a:t>27 februari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04096-2ED3-453C-8E78-E00AE5454056}" type="datetime4">
              <a:rPr lang="nl-NL" smtClean="0"/>
              <a:t>27 februari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09A98-FEF1-486E-836B-0182E6ED18CF}" type="datetime4">
              <a:rPr lang="nl-NL" smtClean="0"/>
              <a:t>27 februari 2026</a:t>
            </a:fld>
            <a:endParaRPr lang="nl-NL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E3D14-5EDE-4B69-BCF9-7871170F920B}" type="datetime4">
              <a:rPr lang="nl-NL" smtClean="0"/>
              <a:t>27 februari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C7BC3-7CD1-41E9-B4B5-084A2D120935}" type="datetime4">
              <a:rPr lang="nl-NL" smtClean="0"/>
              <a:t>27 februari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1127324"/>
            <a:ext cx="4011084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7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D4273-E583-4234-8A15-01E636C03DBC}" type="datetime4">
              <a:rPr lang="nl-NL" smtClean="0"/>
              <a:t>27 februari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3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6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2C121-03D7-4443-9B4B-D1ED7325FD6F}" type="datetime4">
              <a:rPr lang="nl-NL" smtClean="0"/>
              <a:t>27 februari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90545-2047-4712-ADC2-09AB81876442}" type="datetime4">
              <a:rPr lang="nl-NL" smtClean="0"/>
              <a:t>27 februari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dirty="0" err="1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</a:t>
            </a:r>
            <a:r>
              <a:rPr lang="en-US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ijksoverheidSansHeadingTT" panose="020B0503040202060203" pitchFamily="34" charset="0"/>
              </a:rPr>
              <a:t>Militaire</a:t>
            </a:r>
            <a:r>
              <a:rPr lang="en-US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ijksoverheidSansHeadingTT" panose="020B0503040202060203" pitchFamily="34" charset="0"/>
              </a:rPr>
              <a:t>Wetenschappen</a:t>
            </a:r>
            <a:endParaRPr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nl-NL" noProof="0" dirty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  <a:endParaRPr lang="nl-NL" noProof="0" dirty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>
              <a:defRPr/>
            </a:pPr>
            <a:r>
              <a:rPr lang="nl-NL" dirty="0"/>
              <a:t>27 januari 2025</a:t>
            </a:r>
          </a:p>
        </p:txBody>
      </p:sp>
    </p:spTree>
    <p:extLst>
      <p:ext uri="{BB962C8B-B14F-4D97-AF65-F5344CB8AC3E}">
        <p14:creationId xmlns:p14="http://schemas.microsoft.com/office/powerpoint/2010/main" val="4121326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ijksoverheidSansHeadingTT" panose="020B0503040202060203" pitchFamily="34" charset="0"/>
              </a:defRPr>
            </a:lvl1pPr>
            <a:lvl2pPr>
              <a:defRPr>
                <a:latin typeface="RijksoverheidSansHeadingTT" panose="020B0503040202060203" pitchFamily="34" charset="0"/>
              </a:defRPr>
            </a:lvl2pPr>
            <a:lvl3pPr>
              <a:defRPr>
                <a:latin typeface="RijksoverheidSansHeadingTT" panose="020B0503040202060203" pitchFamily="34" charset="0"/>
              </a:defRPr>
            </a:lvl3pPr>
            <a:lvl4pPr>
              <a:defRPr>
                <a:latin typeface="RijksoverheidSansHeadingTT" panose="020B0503040202060203" pitchFamily="34" charset="0"/>
              </a:defRPr>
            </a:lvl4pPr>
            <a:lvl5pPr>
              <a:defRPr>
                <a:latin typeface="RijksoverheidSansHeadingTT" panose="020B050304020206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46712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01618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59923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7510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97573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40193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13662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27923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301376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8094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Nederlandse Defensie Academie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Dr. ir. D. Blom / Dr. M. van Ee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1700213"/>
            <a:ext cx="4798484" cy="889000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 smtClean="0"/>
              <a:t>Klik om de stijl te bewerken</a:t>
            </a:r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smtClean="0"/>
              <a:t>Klik om de ondertitelstijl van het model te bewerken</a:t>
            </a:r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04400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109033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RijksoverheidSansText" panose="020B0503040202060203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87000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24592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Text" panose="020B05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4872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6101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09747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>
                <a:latin typeface="RijksoverheidSansText" panose="020B0503040202060203" pitchFamily="34" charset="0"/>
              </a:defRPr>
            </a:lvl1pPr>
            <a:lvl2pPr>
              <a:defRPr sz="2800">
                <a:latin typeface="RijksoverheidSansText" panose="020B0503040202060203" pitchFamily="34" charset="0"/>
              </a:defRPr>
            </a:lvl2pPr>
            <a:lvl3pPr>
              <a:defRPr sz="2400">
                <a:latin typeface="RijksoverheidSansText" panose="020B0503040202060203" pitchFamily="34" charset="0"/>
              </a:defRPr>
            </a:lvl3pPr>
            <a:lvl4pPr>
              <a:defRPr sz="2000">
                <a:latin typeface="RijksoverheidSansText" panose="020B0503040202060203" pitchFamily="34" charset="0"/>
              </a:defRPr>
            </a:lvl4pPr>
            <a:lvl5pPr>
              <a:defRPr sz="2000">
                <a:latin typeface="RijksoverheidSansText" panose="020B050304020206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0952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>
                <a:latin typeface="RijksoverheidSansText" panose="020B050304020206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 dirty="0" smtClean="0"/>
              <a:t>Klik op het pictogram als u een afbeelding wilt toevoegen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31867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23457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3270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het opmaakprofiel van de modeltekst te bewerken</a:t>
            </a:r>
          </a:p>
          <a:p>
            <a:pPr lvl="1"/>
            <a:r>
              <a:rPr lang="nl-NL"/>
              <a:t> </a:t>
            </a:r>
          </a:p>
          <a:p>
            <a:pPr lvl="2"/>
            <a:r>
              <a:rPr lang="nl-NL"/>
              <a:t> </a:t>
            </a:r>
          </a:p>
          <a:p>
            <a:pPr lvl="3"/>
            <a:r>
              <a:rPr lang="nl-NL"/>
              <a:t> </a:t>
            </a:r>
          </a:p>
          <a:p>
            <a:pPr lvl="4"/>
            <a:r>
              <a:rPr lang="nl-NL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3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41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endParaRPr sz="2200"/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4" y="3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6" y="6520261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578AD08-3C54-48F2-9382-C141D1496CCF}" type="datetime4">
              <a:rPr lang="nl-NL" smtClean="0"/>
              <a:t>27 februari 2026</a:t>
            </a:fld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het opmaakprofiel van de modeltekst te bewerken</a:t>
            </a:r>
          </a:p>
          <a:p>
            <a:pPr lvl="1"/>
            <a:r>
              <a:rPr lang="nl-NL"/>
              <a:t> </a:t>
            </a:r>
          </a:p>
          <a:p>
            <a:pPr lvl="2"/>
            <a:r>
              <a:rPr lang="nl-NL"/>
              <a:t> </a:t>
            </a:r>
          </a:p>
          <a:p>
            <a:pPr lvl="3"/>
            <a:r>
              <a:rPr lang="nl-NL"/>
              <a:t> </a:t>
            </a:r>
          </a:p>
          <a:p>
            <a:pPr lvl="4"/>
            <a:r>
              <a:rPr lang="nl-NL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5506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 MBW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9202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Statistiek</a:t>
            </a:r>
            <a:r>
              <a:rPr lang="en-US" dirty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: college </a:t>
            </a:r>
            <a:r>
              <a:rPr lang="en-US" dirty="0" smtClean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4b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pPr eaLnBrk="1" hangingPunct="1"/>
            <a:r>
              <a:rPr lang="nl-NL" dirty="0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De binomiale verdeling </a:t>
            </a:r>
            <a:r>
              <a:rPr lang="nl-NL" dirty="0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(2/2</a:t>
            </a:r>
            <a:r>
              <a:rPr lang="nl-NL" dirty="0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)</a:t>
            </a: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2026</a:t>
            </a:r>
          </a:p>
        </p:txBody>
      </p:sp>
    </p:spTree>
    <p:extLst>
      <p:ext uri="{BB962C8B-B14F-4D97-AF65-F5344CB8AC3E}">
        <p14:creationId xmlns:p14="http://schemas.microsoft.com/office/powerpoint/2010/main" val="145664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Recap: </a:t>
            </a:r>
            <a:r>
              <a:rPr lang="en-US" dirty="0" err="1"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vorig</a:t>
            </a:r>
            <a:r>
              <a:rPr lang="en-US" dirty="0"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 college</a:t>
            </a:r>
            <a:endParaRPr lang="nl-NL" dirty="0"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3" name="Rectangle 1027"/>
              <p:cNvSpPr>
                <a:spLocks noGrp="1" noChangeAspect="1" noChangeArrowheads="1"/>
              </p:cNvSpPr>
              <p:nvPr>
                <p:ph type="body"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 anchor="ctr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4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 err="1" smtClean="0"/>
                  <a:t>Bernoulli</a:t>
                </a:r>
                <a:r>
                  <a:rPr lang="nl-NL" sz="2400" dirty="0" err="1" smtClean="0"/>
                  <a:t>-kansvariabelen</a:t>
                </a:r>
                <a:endParaRPr lang="nl-NL" sz="2400" dirty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/>
                  <a:t>Twee </a:t>
                </a:r>
                <a:r>
                  <a:rPr lang="nl-NL" sz="2400" dirty="0"/>
                  <a:t>uitkomsten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400" dirty="0"/>
                  <a:t>Succeskans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dirty="0"/>
              </a:p>
              <a:p>
                <a:pPr lvl="1" indent="0">
                  <a:buNone/>
                </a:pPr>
                <a:endParaRPr lang="nl-NL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/>
                  <a:t>Binomiale </a:t>
                </a:r>
                <a:r>
                  <a:rPr lang="nl-NL" sz="2400" dirty="0" err="1" smtClean="0"/>
                  <a:t>kansvariabelen</a:t>
                </a:r>
                <a:endParaRPr lang="nl-NL" sz="2400" dirty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/>
                  <a:t>Som van onafhankelijke </a:t>
                </a:r>
                <a:r>
                  <a:rPr lang="nl-NL" sz="2400" dirty="0" err="1" smtClean="0"/>
                  <a:t>Bernoulli</a:t>
                </a:r>
                <a:r>
                  <a:rPr lang="nl-NL" sz="2400" dirty="0" smtClean="0"/>
                  <a:t>-variabelen. 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/>
                  <a:t>Aantal </a:t>
                </a:r>
                <a:r>
                  <a:rPr lang="nl-NL" sz="2400" dirty="0" err="1" smtClean="0"/>
                  <a:t>Bernoulli</a:t>
                </a:r>
                <a:r>
                  <a:rPr lang="nl-NL" sz="2400" dirty="0" smtClean="0"/>
                  <a:t>-variabelen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/>
                  <a:t>Succeskans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err="1" smtClean="0"/>
                  <a:t>Kansen</a:t>
                </a:r>
                <a:r>
                  <a:rPr lang="en-US" sz="2400" dirty="0" smtClean="0"/>
                  <a:t> </a:t>
                </a:r>
                <a:r>
                  <a:rPr lang="en-US" sz="2400" dirty="0" err="1"/>
                  <a:t>berekenen</a:t>
                </a:r>
                <a:r>
                  <a:rPr lang="en-US" sz="2400" dirty="0"/>
                  <a:t> met </a:t>
                </a:r>
                <a:r>
                  <a:rPr lang="en-US" sz="2400" dirty="0" err="1"/>
                  <a:t>kansfunctie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en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de </a:t>
                </a:r>
                <a:r>
                  <a:rPr lang="en-US" sz="2400" dirty="0" err="1" smtClean="0"/>
                  <a:t>grafische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rekenmachine</a:t>
                </a:r>
                <a:endParaRPr lang="nl-NL" sz="2400" dirty="0"/>
              </a:p>
              <a:p>
                <a:endParaRPr lang="nl-NL" sz="2400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>
          <p:sp>
            <p:nvSpPr>
              <p:cNvPr id="5123" name="Rectangle 102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2"/>
                <a:stretch>
                  <a:fillRect l="-1566" t="-1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D3A7412-F543-44FD-B1CE-8BFBA1C5DC6E}" type="datetime4">
              <a:rPr lang="nl-NL" smtClean="0"/>
              <a:t>27 februari 2026</a:t>
            </a:fld>
            <a:endParaRPr lang="nl-N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800219"/>
          </a:xfrm>
        </p:spPr>
        <p:txBody>
          <a:bodyPr/>
          <a:lstStyle/>
          <a:p>
            <a:pPr eaLnBrk="1" hangingPunct="1"/>
            <a:r>
              <a:rPr lang="en-US" dirty="0" err="1"/>
              <a:t>Leerdoelen</a:t>
            </a:r>
            <a:r>
              <a:rPr lang="en-US" dirty="0"/>
              <a:t/>
            </a:r>
            <a:br>
              <a:rPr lang="en-US" dirty="0"/>
            </a:br>
            <a:endParaRPr lang="nl-NL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400" dirty="0"/>
              <a:t>Aan het eind van dit college kunnen studenten:</a:t>
            </a:r>
          </a:p>
          <a:p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Verwachtingswaarde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variantie</a:t>
            </a:r>
            <a:r>
              <a:rPr lang="en-US" sz="2400" dirty="0"/>
              <a:t> </a:t>
            </a:r>
            <a:r>
              <a:rPr lang="en-US" sz="2400" dirty="0" err="1"/>
              <a:t>berekenen</a:t>
            </a:r>
            <a:r>
              <a:rPr lang="en-US" sz="2400" dirty="0"/>
              <a:t> van Bernoulli-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binomiaal</a:t>
            </a:r>
            <a:r>
              <a:rPr lang="en-US" sz="2400" dirty="0"/>
              <a:t> </a:t>
            </a:r>
            <a:r>
              <a:rPr lang="en-US" sz="2400" dirty="0" err="1"/>
              <a:t>verdeelde</a:t>
            </a:r>
            <a:r>
              <a:rPr lang="en-US" sz="2400" dirty="0"/>
              <a:t> </a:t>
            </a:r>
            <a:r>
              <a:rPr lang="en-US" sz="2400" dirty="0" err="1"/>
              <a:t>kansvariabelen</a:t>
            </a:r>
            <a:endParaRPr lang="nl-NL" sz="2400" dirty="0"/>
          </a:p>
          <a:p>
            <a:pPr marL="0" indent="0">
              <a:buNone/>
            </a:pPr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/>
              <a:t>De connectie van de binomiale verdeling met statistiek begrijpen en uitleggen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481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dirty="0" smtClean="0"/>
              <a:t>Bernoulli-</a:t>
            </a:r>
            <a:r>
              <a:rPr lang="en-US" dirty="0" err="1" smtClean="0"/>
              <a:t>variabele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latin typeface="RijksoverheidSansText" panose="020B0503040202060203" pitchFamily="34" charset="0"/>
                  </a:rPr>
                  <a:t>Twee </a:t>
                </a:r>
                <a:r>
                  <a:rPr lang="en-US" sz="2400" b="1" dirty="0" err="1">
                    <a:latin typeface="RijksoverheidSansText" panose="020B0503040202060203" pitchFamily="34" charset="0"/>
                  </a:rPr>
                  <a:t>uitkomsten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 “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”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)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en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“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mislukking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”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b="1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Parameter</a:t>
                </a:r>
                <a:r>
                  <a:rPr lang="en-US" sz="2400" b="1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 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de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succeskans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i="1" dirty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nl-NL" sz="24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400" b="1" dirty="0" smtClean="0">
                  <a:latin typeface="RijksoverheidSansText" panose="020B0503040202060203" pitchFamily="34" charset="0"/>
                </a:endParaRPr>
              </a:p>
              <a:p>
                <a:endParaRPr lang="nl-NL" sz="2400" b="1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b="1" dirty="0">
                  <a:latin typeface="RijksoverheidSansText" panose="020B0503040202060203" pitchFamily="34" charset="0"/>
                </a:endParaRPr>
              </a:p>
              <a:p>
                <a:pPr algn="ctr"/>
                <a:r>
                  <a:rPr lang="en-US" sz="2400" b="1" i="1" dirty="0" err="1">
                    <a:latin typeface="RijksoverheidSansText" panose="020B0503040202060203" pitchFamily="34" charset="0"/>
                  </a:rPr>
                  <a:t>Andere</a:t>
                </a:r>
                <a:r>
                  <a:rPr lang="en-US" sz="2400" b="1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i="1" dirty="0" err="1">
                    <a:latin typeface="RijksoverheidSansText" panose="020B0503040202060203" pitchFamily="34" charset="0"/>
                  </a:rPr>
                  <a:t>interpretatie</a:t>
                </a:r>
                <a:r>
                  <a:rPr lang="en-US" sz="2400" b="1" i="1" dirty="0">
                    <a:latin typeface="RijksoverheidSansText" panose="020B0503040202060203" pitchFamily="34" charset="0"/>
                  </a:rPr>
                  <a:t>: </a:t>
                </a:r>
                <a:r>
                  <a:rPr lang="en-US" sz="2400" i="1" dirty="0" err="1">
                    <a:latin typeface="RijksoverheidSansText" panose="020B0503040202060203" pitchFamily="34" charset="0"/>
                  </a:rPr>
                  <a:t>worp</a:t>
                </a:r>
                <a:r>
                  <a:rPr lang="en-US" sz="2400" i="1" dirty="0">
                    <a:latin typeface="RijksoverheidSansText" panose="020B0503040202060203" pitchFamily="34" charset="0"/>
                  </a:rPr>
                  <a:t> met </a:t>
                </a:r>
                <a:r>
                  <a:rPr lang="en-US" sz="2400" i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sz="2400" i="1" dirty="0">
                    <a:latin typeface="RijksoverheidSansText" panose="020B0503040202060203" pitchFamily="34" charset="0"/>
                  </a:rPr>
                  <a:t> munt met </a:t>
                </a:r>
                <a:r>
                  <a:rPr lang="en-US" sz="2400" i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sz="2400" i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i="1" dirty="0">
                    <a:latin typeface="RijksoverheidSansText" panose="020B0503040202060203" pitchFamily="34" charset="0"/>
                  </a:rPr>
                  <a:t> op kop, </a:t>
                </a:r>
                <a:r>
                  <a:rPr lang="en-US" sz="2400" i="1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sz="2400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i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sz="2400" i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i="1" dirty="0">
                    <a:latin typeface="RijksoverheidSansText" panose="020B0503040202060203" pitchFamily="34" charset="0"/>
                  </a:rPr>
                  <a:t> op munt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582" b="-3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6575282"/>
                  </p:ext>
                </p:extLst>
              </p:nvPr>
            </p:nvGraphicFramePr>
            <p:xfrm>
              <a:off x="3229868" y="3645024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29883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6575282"/>
                  </p:ext>
                </p:extLst>
              </p:nvPr>
            </p:nvGraphicFramePr>
            <p:xfrm>
              <a:off x="3229868" y="3645024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" t="-1639" r="-199686" b="-1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49" t="-1639" r="-100949" b="-1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87" t="-1639" r="-1270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" t="-101639" r="-199686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49" t="-101639" r="-10094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87" t="-101639" r="-1270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73364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Vraag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Laat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een</a:t>
                </a:r>
                <a:r>
                  <a:rPr lang="en-US" dirty="0"/>
                  <a:t> Bernoulli </a:t>
                </a:r>
                <a:r>
                  <a:rPr lang="en-US" dirty="0" err="1"/>
                  <a:t>verdeelde</a:t>
                </a:r>
                <a:r>
                  <a:rPr lang="en-US" dirty="0"/>
                  <a:t> </a:t>
                </a:r>
                <a:r>
                  <a:rPr lang="en-US" dirty="0" err="1"/>
                  <a:t>kansvariabele</a:t>
                </a:r>
                <a:r>
                  <a:rPr lang="en-US" dirty="0"/>
                  <a:t> </a:t>
                </a:r>
                <a:r>
                  <a:rPr lang="en-US" dirty="0" err="1" smtClean="0"/>
                  <a:t>zijn</a:t>
                </a:r>
                <a:r>
                  <a:rPr lang="en-US" dirty="0" smtClean="0"/>
                  <a:t> met </a:t>
                </a:r>
                <a:r>
                  <a:rPr lang="en-US" dirty="0" err="1" smtClean="0"/>
                  <a:t>succeskans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:</a:t>
                </a:r>
                <a:endParaRPr lang="nl-NL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endParaRPr lang="nl-NL" dirty="0"/>
              </a:p>
              <a:p>
                <a:pPr marL="0" indent="0">
                  <a:buNone/>
                </a:pPr>
                <a:endParaRPr lang="nl-NL" b="1" dirty="0"/>
              </a:p>
              <a:p>
                <a:pPr marL="0" indent="0">
                  <a:buNone/>
                </a:pPr>
                <a:r>
                  <a:rPr lang="nl-NL" b="1" dirty="0"/>
                  <a:t>Wat is de verwachtingswaarde en de variantie van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nl-NL" dirty="0"/>
                  <a:t>?</a:t>
                </a:r>
              </a:p>
              <a:p>
                <a:pPr marL="0" indent="0">
                  <a:buNone/>
                </a:pPr>
                <a:r>
                  <a:rPr lang="nl-NL" b="1" dirty="0">
                    <a:solidFill>
                      <a:srgbClr val="00B050"/>
                    </a:solidFill>
                  </a:rPr>
                  <a:t>Verwachtingswaarde: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=0∗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+1∗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=0∗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+1∗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nl-NL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nary>
                    </m:oMath>
                  </m:oMathPara>
                </a14:m>
                <a:endParaRPr lang="nl-NL" sz="2000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solidFill>
                      <a:srgbClr val="00B050"/>
                    </a:solidFill>
                  </a:rPr>
                  <a:t>Variantie</a:t>
                </a:r>
                <a:r>
                  <a:rPr lang="en-US" b="1" dirty="0">
                    <a:solidFill>
                      <a:srgbClr val="00B050"/>
                    </a:solidFill>
                  </a:rPr>
                  <a:t>:</a:t>
                </a:r>
                <a:endParaRPr lang="nl-NL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sz="2000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nl-NL" sz="20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0−</m:t>
                                  </m:r>
                                  <m: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e>
                      </m:nary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sz="2000" b="1" dirty="0">
                  <a:solidFill>
                    <a:srgbClr val="00B050"/>
                  </a:solidFill>
                </a:endParaRPr>
              </a:p>
              <a:p>
                <a:endParaRPr lang="nl-NL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47" t="-2296" b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1116822"/>
                  </p:ext>
                </p:extLst>
              </p:nvPr>
            </p:nvGraphicFramePr>
            <p:xfrm>
              <a:off x="2063552" y="2276872"/>
              <a:ext cx="8127999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57282783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91259525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951389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8807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46090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1116822"/>
                  </p:ext>
                </p:extLst>
              </p:nvPr>
            </p:nvGraphicFramePr>
            <p:xfrm>
              <a:off x="2063552" y="2276872"/>
              <a:ext cx="8127999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57282783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91259525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951389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25" t="-1613" r="-200899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1613" r="-101351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13" r="-1124" b="-1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8807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25" t="-103279" r="-20089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103279" r="-101351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3279" r="-1124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46090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407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Eigenschappen</a:t>
            </a:r>
            <a:r>
              <a:rPr lang="en-US" dirty="0"/>
              <a:t> van de </a:t>
            </a:r>
            <a:r>
              <a:rPr lang="en-US" dirty="0" smtClean="0"/>
              <a:t>Bernoulli-</a:t>
            </a:r>
            <a:r>
              <a:rPr lang="en-US" dirty="0" err="1" smtClean="0"/>
              <a:t>verdeling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r>
                  <a:rPr lang="en-US" b="1" dirty="0">
                    <a:latin typeface="RijksoverheidSansText" panose="020B0503040202060203" pitchFamily="34" charset="0"/>
                  </a:rPr>
                  <a:t>Verwachtingswaarde: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b="1" dirty="0" err="1">
                    <a:latin typeface="RijksoverheidSansText" panose="020B0503040202060203" pitchFamily="34" charset="0"/>
                  </a:rPr>
                  <a:t>Variantie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: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b="0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b="0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b="0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b="0" dirty="0">
                  <a:latin typeface="RijksoverheidSansText" panose="020B0503040202060203" pitchFamily="34" charset="0"/>
                </a:endParaRPr>
              </a:p>
              <a:p>
                <a:endParaRPr lang="en-US" b="1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619" t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6" name="Afbeelding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" t="5527" r="7622"/>
          <a:stretch/>
        </p:blipFill>
        <p:spPr>
          <a:xfrm>
            <a:off x="3963561" y="2996953"/>
            <a:ext cx="4184556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1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Binomiale</a:t>
            </a:r>
            <a:r>
              <a:rPr lang="en-US" dirty="0"/>
              <a:t> </a:t>
            </a:r>
            <a:r>
              <a:rPr lang="en-US" dirty="0" err="1"/>
              <a:t>verdeling</a:t>
            </a:r>
            <a:r>
              <a:rPr lang="en-US" dirty="0"/>
              <a:t>: </a:t>
            </a:r>
            <a:r>
              <a:rPr lang="en-US" dirty="0" err="1"/>
              <a:t>verwachtingswaarde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variantie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365317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/>
                  <a:t>Wat is de </a:t>
                </a:r>
                <a:r>
                  <a:rPr lang="en-US" b="1" dirty="0" err="1"/>
                  <a:t>verwachtingswaarde</a:t>
                </a:r>
                <a:r>
                  <a:rPr lang="en-US" b="1" dirty="0"/>
                  <a:t> </a:t>
                </a:r>
                <a:r>
                  <a:rPr lang="en-US" b="1" dirty="0" err="1"/>
                  <a:t>en</a:t>
                </a:r>
                <a:r>
                  <a:rPr lang="en-US" b="1" dirty="0"/>
                  <a:t> </a:t>
                </a:r>
                <a:r>
                  <a:rPr lang="en-US" b="1" dirty="0" err="1"/>
                  <a:t>variantie</a:t>
                </a:r>
                <a:r>
                  <a:rPr lang="en-US" b="1" dirty="0"/>
                  <a:t> van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binomiaal</a:t>
                </a:r>
                <a:r>
                  <a:rPr lang="en-US" b="1" dirty="0"/>
                  <a:t> </a:t>
                </a:r>
                <a:r>
                  <a:rPr lang="en-US" b="1" dirty="0" err="1"/>
                  <a:t>verdeelde</a:t>
                </a:r>
                <a:r>
                  <a:rPr lang="en-US" b="1" dirty="0"/>
                  <a:t> </a:t>
                </a:r>
                <a:r>
                  <a:rPr lang="en-US" b="1" dirty="0" err="1"/>
                  <a:t>kansvariabele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nl-NL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 err="1">
                    <a:latin typeface="RijksoverheidSansText" panose="020B0503040202060203" pitchFamily="34" charset="0"/>
                  </a:rPr>
                  <a:t>Methode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1: </a:t>
                </a:r>
                <a:r>
                  <a:rPr lang="en-US" dirty="0">
                    <a:latin typeface="RijksoverheidSansText" panose="020B0503040202060203" pitchFamily="34" charset="0"/>
                  </a:rPr>
                  <a:t>direct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gebruik</a:t>
                </a:r>
                <a:r>
                  <a:rPr lang="en-US" dirty="0">
                    <a:latin typeface="RijksoverheidSansText" panose="020B0503040202060203" pitchFamily="34" charset="0"/>
                  </a:rPr>
                  <a:t> van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algemene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formules</a:t>
                </a:r>
                <a:r>
                  <a:rPr lang="en-US" dirty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0" indent="0">
                  <a:buNone/>
                </a:pPr>
                <a:endParaRPr lang="nl-NL" dirty="0">
                  <a:latin typeface="RijksoverheidSansText" panose="020B0503040202060203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nl-NL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NL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nl-NL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NL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nl-NL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nl-N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nl-NL" i="1">
                          <a:latin typeface="Cambria Math" panose="02040503050406030204" pitchFamily="18" charset="0"/>
                        </a:rPr>
                        <m:t>=…</m:t>
                      </m:r>
                    </m:oMath>
                  </m:oMathPara>
                </a14:m>
                <a:endParaRPr lang="nl-NL" dirty="0">
                  <a:latin typeface="RijksoverheidSansText" panose="020B0503040202060203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nl-NL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Var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nl-NL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nl-N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nl-NL" i="1">
                          <a:latin typeface="Cambria Math" panose="02040503050406030204" pitchFamily="18" charset="0"/>
                        </a:rPr>
                        <m:t>= …</m:t>
                      </m:r>
                    </m:oMath>
                  </m:oMathPara>
                </a14:m>
                <a:endParaRPr lang="nl-NL" dirty="0">
                  <a:latin typeface="RijksoverheidSansText" panose="020B0503040202060203" pitchFamily="34" charset="0"/>
                </a:endParaRPr>
              </a:p>
              <a:p>
                <a:pPr marL="0" indent="0" algn="ctr">
                  <a:buNone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en-US" dirty="0" err="1">
                    <a:latin typeface="RijksoverheidSansText" panose="020B0503040202060203" pitchFamily="34" charset="0"/>
                  </a:rPr>
                  <a:t>Dit</a:t>
                </a:r>
                <a:r>
                  <a:rPr lang="en-US" dirty="0">
                    <a:latin typeface="RijksoverheidSansText" panose="020B0503040202060203" pitchFamily="34" charset="0"/>
                  </a:rPr>
                  <a:t> is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mogelijke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methode</a:t>
                </a:r>
                <a:r>
                  <a:rPr lang="en-US" dirty="0">
                    <a:latin typeface="RijksoverheidSansText" panose="020B0503040202060203" pitchFamily="34" charset="0"/>
                  </a:rPr>
                  <a:t> om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mee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rekenen</a:t>
                </a:r>
                <a:r>
                  <a:rPr lang="en-US" dirty="0">
                    <a:latin typeface="RijksoverheidSansText" panose="020B0503040202060203" pitchFamily="34" charset="0"/>
                  </a:rPr>
                  <a:t>, maar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onnodig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moeilijk</a:t>
                </a:r>
                <a:r>
                  <a:rPr lang="en-US" dirty="0">
                    <a:latin typeface="RijksoverheidSansText" panose="020B0503040202060203" pitchFamily="34" charset="0"/>
                  </a:rPr>
                  <a:t>…</a:t>
                </a:r>
                <a:endParaRPr lang="nl-NL" dirty="0">
                  <a:latin typeface="RijksoverheidSansText" panose="020B050304020206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365317" cy="4246562"/>
              </a:xfrm>
              <a:blipFill>
                <a:blip r:embed="rId2"/>
                <a:stretch>
                  <a:fillRect l="-1646" t="-2009" b="-4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62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Binomiale</a:t>
            </a:r>
            <a:r>
              <a:rPr lang="en-US" dirty="0"/>
              <a:t> </a:t>
            </a:r>
            <a:r>
              <a:rPr lang="en-US" dirty="0" err="1"/>
              <a:t>verdeling</a:t>
            </a:r>
            <a:r>
              <a:rPr lang="en-US" dirty="0"/>
              <a:t>: </a:t>
            </a:r>
            <a:r>
              <a:rPr lang="en-US" dirty="0" err="1"/>
              <a:t>verwachtingswaarde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variantie</a:t>
            </a:r>
            <a:endParaRPr lang="nl-NL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 err="1" smtClean="0"/>
                  <a:t>Methode</a:t>
                </a:r>
                <a:r>
                  <a:rPr lang="en-US" sz="2400" b="1" dirty="0" smtClean="0"/>
                  <a:t> </a:t>
                </a:r>
                <a:r>
                  <a:rPr lang="en-US" sz="2400" b="1" dirty="0"/>
                  <a:t>2: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de </a:t>
                </a:r>
                <a:r>
                  <a:rPr lang="en-US" sz="2400" dirty="0" err="1"/>
                  <a:t>som</a:t>
                </a:r>
                <a:r>
                  <a:rPr lang="en-US" sz="2400" dirty="0"/>
                  <a:t> van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b="1" dirty="0" err="1"/>
                  <a:t>onafhankelijke</a:t>
                </a:r>
                <a:r>
                  <a:rPr lang="en-US" sz="2400" b="1" dirty="0"/>
                  <a:t> </a:t>
                </a:r>
                <a:r>
                  <a:rPr lang="en-US" sz="2400" dirty="0"/>
                  <a:t>Bernoulli-</a:t>
                </a:r>
                <a:r>
                  <a:rPr lang="en-US" sz="2400" dirty="0" err="1"/>
                  <a:t>variabelen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,….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NL" sz="24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=…=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nl-NL" sz="2400" b="0" i="0" dirty="0" smtClean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=…=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 err="1"/>
                  <a:t>Verwachtingswaarde</a:t>
                </a:r>
                <a:r>
                  <a:rPr lang="en-US" sz="24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b="1" dirty="0" err="1"/>
                  <a:t>Variantie</a:t>
                </a:r>
                <a:r>
                  <a:rPr lang="en-US" sz="2400" b="1" dirty="0"/>
                  <a:t>:</a:t>
                </a:r>
                <a:endParaRPr lang="nl-NL" sz="2400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nl-NL" sz="24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Va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nl-NL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723" t="-2296" r="-57" b="-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47928" y="4365104"/>
            <a:ext cx="11801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rPr>
              <a:t>onafhankelijkheid</a:t>
            </a:r>
            <a:endParaRPr kumimoji="0" lang="nl-NL" sz="1000" b="1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RijksoverheidSansText" panose="020B0503040202060203" pitchFamily="34" charset="0"/>
              <a:ea typeface="+mn-ea"/>
              <a:cs typeface="+mn-cs"/>
            </a:endParaRPr>
          </a:p>
        </p:txBody>
      </p:sp>
      <p:cxnSp>
        <p:nvCxnSpPr>
          <p:cNvPr id="10" name="Straight Arrow Connector 9"/>
          <p:cNvCxnSpPr>
            <a:stCxn id="4" idx="2"/>
          </p:cNvCxnSpPr>
          <p:nvPr/>
        </p:nvCxnSpPr>
        <p:spPr bwMode="auto">
          <a:xfrm flipH="1">
            <a:off x="6037993" y="4611325"/>
            <a:ext cx="1" cy="25783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28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: </a:t>
            </a:r>
            <a:r>
              <a:rPr lang="en-US" dirty="0" err="1"/>
              <a:t>bergoperaties</a:t>
            </a:r>
            <a:r>
              <a:rPr lang="en-US" dirty="0"/>
              <a:t> van Mountain Leaders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467776" cy="4246562"/>
          </a:xfrm>
        </p:spPr>
        <p:txBody>
          <a:bodyPr/>
          <a:lstStyle/>
          <a:p>
            <a:r>
              <a:rPr lang="en-US" sz="2400" dirty="0">
                <a:latin typeface="RijksoverheidSansText" panose="020B0503040202060203" pitchFamily="34" charset="0"/>
              </a:rPr>
              <a:t>Tien </a:t>
            </a:r>
            <a:r>
              <a:rPr lang="en-US" sz="2400" dirty="0" err="1">
                <a:latin typeface="RijksoverheidSansText" panose="020B0503040202060203" pitchFamily="34" charset="0"/>
              </a:rPr>
              <a:t>eenheden</a:t>
            </a:r>
            <a:r>
              <a:rPr lang="en-US" sz="2400" dirty="0">
                <a:latin typeface="RijksoverheidSansText" panose="020B0503040202060203" pitchFamily="34" charset="0"/>
              </a:rPr>
              <a:t> van Mountain Leaders, </a:t>
            </a:r>
            <a:r>
              <a:rPr lang="en-US" sz="2400" dirty="0" err="1">
                <a:latin typeface="RijksoverheidSansText" panose="020B0503040202060203" pitchFamily="34" charset="0"/>
              </a:rPr>
              <a:t>vanuit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verschillende</a:t>
            </a:r>
            <a:r>
              <a:rPr lang="en-US" sz="2400" dirty="0">
                <a:latin typeface="RijksoverheidSansText" panose="020B0503040202060203" pitchFamily="34" charset="0"/>
              </a:rPr>
              <a:t> NAVO-</a:t>
            </a:r>
            <a:r>
              <a:rPr lang="en-US" sz="2400" dirty="0" err="1">
                <a:latin typeface="RijksoverheidSansText" panose="020B0503040202060203" pitchFamily="34" charset="0"/>
              </a:rPr>
              <a:t>landen</a:t>
            </a:r>
            <a:r>
              <a:rPr lang="en-US" sz="2400" dirty="0">
                <a:latin typeface="RijksoverheidSansText" panose="020B0503040202060203" pitchFamily="34" charset="0"/>
              </a:rPr>
              <a:t>, </a:t>
            </a:r>
            <a:r>
              <a:rPr lang="en-US" sz="2400" dirty="0" err="1">
                <a:latin typeface="RijksoverheidSansText" panose="020B0503040202060203" pitchFamily="34" charset="0"/>
              </a:rPr>
              <a:t>voeren</a:t>
            </a:r>
            <a:r>
              <a:rPr lang="en-US" sz="2400" dirty="0">
                <a:latin typeface="RijksoverheidSansText" panose="020B0503040202060203" pitchFamily="34" charset="0"/>
              </a:rPr>
              <a:t> in het </a:t>
            </a:r>
            <a:r>
              <a:rPr lang="en-US" sz="2400" dirty="0" err="1">
                <a:latin typeface="RijksoverheidSansText" panose="020B0503040202060203" pitchFamily="34" charset="0"/>
              </a:rPr>
              <a:t>kader</a:t>
            </a:r>
            <a:r>
              <a:rPr lang="en-US" sz="2400" dirty="0">
                <a:latin typeface="RijksoverheidSansText" panose="020B0503040202060203" pitchFamily="34" charset="0"/>
              </a:rPr>
              <a:t> van </a:t>
            </a:r>
            <a:r>
              <a:rPr lang="en-US" sz="2400" dirty="0" err="1">
                <a:latin typeface="RijksoverheidSansText" panose="020B0503040202060203" pitchFamily="34" charset="0"/>
              </a:rPr>
              <a:t>een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gezamenlijke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oefening</a:t>
            </a:r>
            <a:r>
              <a:rPr lang="en-US" sz="2400" dirty="0">
                <a:latin typeface="RijksoverheidSansText" panose="020B0503040202060203" pitchFamily="34" charset="0"/>
              </a:rPr>
              <a:t>, ‘s </a:t>
            </a:r>
            <a:r>
              <a:rPr lang="en-US" sz="2400" dirty="0" err="1">
                <a:latin typeface="RijksoverheidSansText" panose="020B0503040202060203" pitchFamily="34" charset="0"/>
              </a:rPr>
              <a:t>nachts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een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verplaatsing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uit</a:t>
            </a:r>
            <a:r>
              <a:rPr lang="en-US" sz="2400" dirty="0">
                <a:latin typeface="RijksoverheidSansText" panose="020B0503040202060203" pitchFamily="34" charset="0"/>
              </a:rPr>
              <a:t> in </a:t>
            </a:r>
            <a:r>
              <a:rPr lang="en-US" sz="2400" dirty="0" err="1">
                <a:latin typeface="RijksoverheidSansText" panose="020B0503040202060203" pitchFamily="34" charset="0"/>
              </a:rPr>
              <a:t>extreem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bergachtig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terrein</a:t>
            </a:r>
            <a:r>
              <a:rPr lang="en-US" sz="2400" dirty="0">
                <a:latin typeface="RijksoverheidSansText" panose="020B0503040202060203" pitchFamily="34" charset="0"/>
              </a:rPr>
              <a:t>. Het </a:t>
            </a:r>
            <a:r>
              <a:rPr lang="en-US" sz="2400" dirty="0" err="1">
                <a:latin typeface="RijksoverheidSansText" panose="020B0503040202060203" pitchFamily="34" charset="0"/>
              </a:rPr>
              <a:t>doel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hierbij</a:t>
            </a:r>
            <a:r>
              <a:rPr lang="en-US" sz="2400" dirty="0">
                <a:latin typeface="RijksoverheidSansText" panose="020B0503040202060203" pitchFamily="34" charset="0"/>
              </a:rPr>
              <a:t> is om in </a:t>
            </a:r>
            <a:r>
              <a:rPr lang="en-US" sz="2400" dirty="0" err="1">
                <a:latin typeface="RijksoverheidSansText" panose="020B0503040202060203" pitchFamily="34" charset="0"/>
              </a:rPr>
              <a:t>een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uur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ongezien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een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bergpas</a:t>
            </a:r>
            <a:r>
              <a:rPr lang="en-US" sz="2400" dirty="0">
                <a:latin typeface="RijksoverheidSansText" panose="020B0503040202060203" pitchFamily="34" charset="0"/>
              </a:rPr>
              <a:t> over </a:t>
            </a:r>
            <a:r>
              <a:rPr lang="en-US" sz="2400" dirty="0" err="1">
                <a:latin typeface="RijksoverheidSansText" panose="020B0503040202060203" pitchFamily="34" charset="0"/>
              </a:rPr>
              <a:t>te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steken</a:t>
            </a:r>
            <a:r>
              <a:rPr lang="en-US" sz="2400" dirty="0">
                <a:latin typeface="RijksoverheidSansText" panose="020B0503040202060203" pitchFamily="34" charset="0"/>
              </a:rPr>
              <a:t>. </a:t>
            </a:r>
            <a:r>
              <a:rPr lang="en-US" sz="2400" dirty="0" err="1">
                <a:latin typeface="RijksoverheidSansText" panose="020B0503040202060203" pitchFamily="34" charset="0"/>
              </a:rPr>
              <a:t>Uit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historische</a:t>
            </a:r>
            <a:r>
              <a:rPr lang="en-US" sz="2400" dirty="0">
                <a:latin typeface="RijksoverheidSansText" panose="020B0503040202060203" pitchFamily="34" charset="0"/>
              </a:rPr>
              <a:t> data van </a:t>
            </a:r>
            <a:r>
              <a:rPr lang="en-US" sz="2400" dirty="0" err="1">
                <a:latin typeface="RijksoverheidSansText" panose="020B0503040202060203" pitchFamily="34" charset="0"/>
              </a:rPr>
              <a:t>oefeningen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blijkt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dat</a:t>
            </a:r>
            <a:r>
              <a:rPr lang="en-US" sz="2400" dirty="0">
                <a:latin typeface="RijksoverheidSansText" panose="020B0503040202060203" pitchFamily="34" charset="0"/>
              </a:rPr>
              <a:t> de </a:t>
            </a:r>
            <a:r>
              <a:rPr lang="en-US" sz="2400" dirty="0" err="1">
                <a:latin typeface="RijksoverheidSansText" panose="020B0503040202060203" pitchFamily="34" charset="0"/>
              </a:rPr>
              <a:t>verplaatsing</a:t>
            </a:r>
            <a:r>
              <a:rPr lang="en-US" sz="2400" dirty="0">
                <a:latin typeface="RijksoverheidSansText" panose="020B0503040202060203" pitchFamily="34" charset="0"/>
              </a:rPr>
              <a:t> met 75% </a:t>
            </a:r>
            <a:r>
              <a:rPr lang="en-US" sz="2400" dirty="0" err="1">
                <a:latin typeface="RijksoverheidSansText" panose="020B0503040202060203" pitchFamily="34" charset="0"/>
              </a:rPr>
              <a:t>kans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binnen</a:t>
            </a:r>
            <a:r>
              <a:rPr lang="en-US" sz="2400" dirty="0">
                <a:latin typeface="RijksoverheidSansText" panose="020B0503040202060203" pitchFamily="34" charset="0"/>
              </a:rPr>
              <a:t> de </a:t>
            </a:r>
            <a:r>
              <a:rPr lang="en-US" sz="2400" dirty="0" err="1">
                <a:latin typeface="RijksoverheidSansText" panose="020B0503040202060203" pitchFamily="34" charset="0"/>
              </a:rPr>
              <a:t>tijd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ongezien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wordt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uitgevoerd</a:t>
            </a:r>
            <a:r>
              <a:rPr lang="en-US" sz="2400" dirty="0">
                <a:latin typeface="RijksoverheidSansText" panose="020B0503040202060203" pitchFamily="34" charset="0"/>
              </a:rPr>
              <a:t>. De commandant van de </a:t>
            </a:r>
            <a:r>
              <a:rPr lang="en-US" sz="2400" dirty="0" err="1">
                <a:latin typeface="RijksoverheidSansText" panose="020B0503040202060203" pitchFamily="34" charset="0"/>
              </a:rPr>
              <a:t>gezamenlijke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oefening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wil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informatie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vergaren</a:t>
            </a:r>
            <a:r>
              <a:rPr lang="en-US" sz="2400" dirty="0">
                <a:latin typeface="RijksoverheidSansText" panose="020B0503040202060203" pitchFamily="34" charset="0"/>
              </a:rPr>
              <a:t> over het </a:t>
            </a:r>
            <a:r>
              <a:rPr lang="en-US" sz="2400" dirty="0" err="1">
                <a:latin typeface="RijksoverheidSansText" panose="020B0503040202060203" pitchFamily="34" charset="0"/>
              </a:rPr>
              <a:t>aantal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eenheden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dat</a:t>
            </a:r>
            <a:r>
              <a:rPr lang="en-US" sz="2400" dirty="0">
                <a:latin typeface="RijksoverheidSansText" panose="020B0503040202060203" pitchFamily="34" charset="0"/>
              </a:rPr>
              <a:t> de </a:t>
            </a:r>
            <a:r>
              <a:rPr lang="en-US" sz="2400" dirty="0" err="1">
                <a:latin typeface="RijksoverheidSansText" panose="020B0503040202060203" pitchFamily="34" charset="0"/>
              </a:rPr>
              <a:t>verplaatsing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succesvol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uitvoert</a:t>
            </a:r>
            <a:r>
              <a:rPr lang="en-US" sz="2400" dirty="0">
                <a:latin typeface="RijksoverheidSansText" panose="020B0503040202060203" pitchFamily="34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latin typeface="RijksoverheidSansText" panose="020B0503040202060203" pitchFamily="34" charset="0"/>
            </a:endParaRPr>
          </a:p>
          <a:p>
            <a:r>
              <a:rPr lang="en-US" sz="2400" b="1" dirty="0"/>
              <a:t>Wat is de </a:t>
            </a:r>
            <a:r>
              <a:rPr lang="en-US" sz="2400" b="1" dirty="0" err="1"/>
              <a:t>verwachtingswaarde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de </a:t>
            </a:r>
            <a:r>
              <a:rPr lang="en-US" sz="2400" b="1" dirty="0" err="1"/>
              <a:t>standaardafwijking</a:t>
            </a:r>
            <a:r>
              <a:rPr lang="en-US" sz="2400" b="1" dirty="0"/>
              <a:t> van het </a:t>
            </a:r>
            <a:r>
              <a:rPr lang="en-US" sz="2400" b="1" dirty="0" err="1"/>
              <a:t>aantal</a:t>
            </a:r>
            <a:r>
              <a:rPr lang="en-US" sz="2400" b="1" dirty="0"/>
              <a:t> </a:t>
            </a:r>
            <a:r>
              <a:rPr lang="en-US" sz="2400" b="1" dirty="0" err="1" smtClean="0"/>
              <a:t>eenheden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dat</a:t>
            </a:r>
            <a:r>
              <a:rPr lang="en-US" sz="2400" b="1" dirty="0" smtClean="0"/>
              <a:t> de </a:t>
            </a:r>
            <a:r>
              <a:rPr lang="en-US" sz="2400" b="1" dirty="0" err="1" smtClean="0"/>
              <a:t>verplaatsing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ongezien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en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binnen</a:t>
            </a:r>
            <a:r>
              <a:rPr lang="en-US" sz="2400" b="1" dirty="0" smtClean="0"/>
              <a:t> de </a:t>
            </a:r>
            <a:r>
              <a:rPr lang="en-US" sz="2400" b="1" dirty="0" err="1" smtClean="0"/>
              <a:t>tijd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uitvoert</a:t>
            </a:r>
            <a:r>
              <a:rPr lang="en-US" sz="2400" b="1" dirty="0" smtClean="0"/>
              <a:t>?</a:t>
            </a:r>
            <a:endParaRPr lang="en-US" sz="2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94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: </a:t>
            </a:r>
            <a:r>
              <a:rPr lang="en-US" dirty="0" err="1"/>
              <a:t>bergoperaties</a:t>
            </a:r>
            <a:r>
              <a:rPr lang="en-US" dirty="0"/>
              <a:t> van Mountain Leaders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/>
              <a:lstStyle/>
              <a:p>
                <a:r>
                  <a:rPr lang="en-US" b="1" dirty="0" smtClean="0"/>
                  <a:t>Wat is de </a:t>
                </a:r>
                <a:r>
                  <a:rPr lang="en-US" b="1" dirty="0" err="1"/>
                  <a:t>verwachtingswaarde</a:t>
                </a:r>
                <a:r>
                  <a:rPr lang="en-US" b="1" dirty="0"/>
                  <a:t> </a:t>
                </a:r>
                <a:r>
                  <a:rPr lang="en-US" b="1" dirty="0" err="1"/>
                  <a:t>en</a:t>
                </a:r>
                <a:r>
                  <a:rPr lang="en-US" b="1" dirty="0"/>
                  <a:t> de </a:t>
                </a:r>
                <a:r>
                  <a:rPr lang="en-US" b="1" dirty="0" err="1"/>
                  <a:t>standaardafwijking</a:t>
                </a:r>
                <a:r>
                  <a:rPr lang="en-US" b="1" dirty="0"/>
                  <a:t> van het </a:t>
                </a:r>
                <a:r>
                  <a:rPr lang="en-US" b="1" dirty="0" err="1"/>
                  <a:t>aantal</a:t>
                </a:r>
                <a:r>
                  <a:rPr lang="en-US" b="1" dirty="0"/>
                  <a:t> </a:t>
                </a:r>
                <a:r>
                  <a:rPr lang="en-US" b="1" dirty="0" err="1"/>
                  <a:t>succesvolle</a:t>
                </a:r>
                <a:r>
                  <a:rPr lang="en-US" b="1" dirty="0"/>
                  <a:t> </a:t>
                </a:r>
                <a:r>
                  <a:rPr lang="en-US" b="1" dirty="0" err="1"/>
                  <a:t>operaties</a:t>
                </a:r>
                <a:r>
                  <a:rPr lang="en-US" b="1" dirty="0"/>
                  <a:t>?</a:t>
                </a:r>
              </a:p>
              <a:p>
                <a:pPr marL="0" indent="0">
                  <a:buNone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en-US" dirty="0" err="1">
                    <a:latin typeface="RijksoverheidSansText" panose="020B0503040202060203" pitchFamily="34" charset="0"/>
                  </a:rPr>
                  <a:t>Laat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het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succesvolle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operaties</a:t>
                </a:r>
                <a:r>
                  <a:rPr lang="en-US" dirty="0">
                    <a:latin typeface="RijksoverheidSansText" panose="020B0503040202060203" pitchFamily="34" charset="0"/>
                  </a:rPr>
                  <a:t> van 10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eenheden</a:t>
                </a:r>
                <a:r>
                  <a:rPr lang="en-US" dirty="0">
                    <a:latin typeface="RijksoverheidSansText" panose="020B0503040202060203" pitchFamily="34" charset="0"/>
                  </a:rPr>
                  <a:t> van Mountain Leaders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zijn</a:t>
                </a:r>
                <a:r>
                  <a:rPr lang="en-US" dirty="0">
                    <a:latin typeface="RijksoverheidSansText" panose="020B0503040202060203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RijksoverheidSansText" panose="020B0503040202060203" pitchFamily="34" charset="0"/>
                  </a:rPr>
                  <a:t>Dan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binomiaal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verdeelde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kansvariabele</a:t>
                </a:r>
                <a:r>
                  <a:rPr lang="en-US" dirty="0">
                    <a:latin typeface="RijksoverheidSansText" panose="020B0503040202060203" pitchFamily="34" charset="0"/>
                  </a:rPr>
                  <a:t> met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(eenheden)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=0,75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(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succeskans</a:t>
                </a:r>
                <a:r>
                  <a:rPr lang="en-US" dirty="0">
                    <a:latin typeface="RijksoverheidSansText" panose="020B0503040202060203" pitchFamily="34" charset="0"/>
                  </a:rPr>
                  <a:t>),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dus</a:t>
                </a:r>
                <a:r>
                  <a:rPr lang="en-US" dirty="0">
                    <a:latin typeface="RijksoverheidSansText" panose="020B0503040202060203" pitchFamily="34" charset="0"/>
                  </a:rPr>
                  <a:t> de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dat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eenheid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tijdig</a:t>
                </a:r>
                <a:r>
                  <a:rPr lang="en-US" dirty="0">
                    <a:latin typeface="RijksoverheidSansText" panose="020B0503040202060203" pitchFamily="34" charset="0"/>
                  </a:rPr>
                  <a:t> het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observatiepunt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bereikt</a:t>
                </a:r>
                <a:r>
                  <a:rPr lang="en-US" dirty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b="1" dirty="0" err="1">
                    <a:latin typeface="RijksoverheidSansText" panose="020B0503040202060203" pitchFamily="34" charset="0"/>
                  </a:rPr>
                  <a:t>Verwachtingswaarde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=10⋅0.75=7.5</m:t>
                      </m:r>
                    </m:oMath>
                  </m:oMathPara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b="1" dirty="0" err="1">
                    <a:latin typeface="RijksoverheidSansText" panose="020B0503040202060203" pitchFamily="34" charset="0"/>
                  </a:rPr>
                  <a:t>Standaardafwijking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5=1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75</m:t>
                          </m:r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≈1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3693</m:t>
                      </m:r>
                    </m:oMath>
                  </m:oMathPara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2"/>
                <a:stretch>
                  <a:fillRect l="-1556" t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469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29062384"/>
                  </p:ext>
                </p:extLst>
              </p:nvPr>
            </p:nvGraphicFramePr>
            <p:xfrm>
              <a:off x="480304" y="1340768"/>
              <a:ext cx="11377264" cy="48115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82411">
                      <a:extLst>
                        <a:ext uri="{9D8B030D-6E8A-4147-A177-3AD203B41FA5}">
                          <a16:colId xmlns:a16="http://schemas.microsoft.com/office/drawing/2014/main" val="1330714194"/>
                        </a:ext>
                      </a:extLst>
                    </a:gridCol>
                    <a:gridCol w="3766586">
                      <a:extLst>
                        <a:ext uri="{9D8B030D-6E8A-4147-A177-3AD203B41FA5}">
                          <a16:colId xmlns:a16="http://schemas.microsoft.com/office/drawing/2014/main" val="2200371005"/>
                        </a:ext>
                      </a:extLst>
                    </a:gridCol>
                    <a:gridCol w="4728267">
                      <a:extLst>
                        <a:ext uri="{9D8B030D-6E8A-4147-A177-3AD203B41FA5}">
                          <a16:colId xmlns:a16="http://schemas.microsoft.com/office/drawing/2014/main" val="35546053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Bernoulli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Binomiaal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8240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Parameters: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Succeskans</a:t>
                          </a: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Aantal Bernoulli-</a:t>
                          </a: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experimenten</a:t>
                          </a: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sz="2200" dirty="0">
                            <a:latin typeface="RijksoverheidSansText" panose="020B0503040202060203" pitchFamily="34" charset="0"/>
                          </a:endParaRPr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Succeskans</a:t>
                          </a: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0132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Kansfunctie</a:t>
                          </a:r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: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1,            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b="0" i="0" smtClean="0">
                                            <a:latin typeface="Cambria Math" panose="02040503050406030204" pitchFamily="18" charset="0"/>
                                          </a:rPr>
                                          <m:t>kans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0,   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b="0" i="0" smtClean="0">
                                            <a:latin typeface="Cambria Math" panose="02040503050406030204" pitchFamily="18" charset="0"/>
                                          </a:rPr>
                                          <m:t>kans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 1−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2971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GR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2200" dirty="0" smtClean="0">
                              <a:latin typeface="RijksoverheidSansText" panose="020B0503040202060203" pitchFamily="34" charset="0"/>
                            </a:rPr>
                            <a:t>-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i="0" u="none" dirty="0" smtClean="0">
                                  <a:latin typeface="Cambria Math" panose="02040503050406030204" pitchFamily="18" charset="0"/>
                                </a:rPr>
                                <m:t>binompdf</m:t>
                              </m:r>
                              <m:r>
                                <a:rPr lang="en-US" sz="2200" b="0" i="0" u="none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NL" sz="2200" b="0" i="1" u="none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nl-NL" sz="2200" b="0" i="1" u="none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200" i="0" u="none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2200" i="0" u="none" dirty="0" err="1">
                              <a:latin typeface="RijksoverheidSansText" panose="020B0503040202060203" pitchFamily="34" charset="0"/>
                            </a:rPr>
                            <a:t>voor</a:t>
                          </a:r>
                          <a:r>
                            <a:rPr lang="en-US" sz="2200" i="0" u="none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nl-NL" sz="2200" i="0" u="none" dirty="0">
                            <a:latin typeface="RijksoverheidSansText" panose="020B0503040202060203" pitchFamily="34" charset="0"/>
                          </a:endParaRPr>
                        </a:p>
                        <a:p>
                          <a:pPr marL="342900" indent="-34290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i="0" u="none" dirty="0" smtClean="0">
                                  <a:latin typeface="Cambria Math" panose="02040503050406030204" pitchFamily="18" charset="0"/>
                                </a:rPr>
                                <m:t>binom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u="none" dirty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 u="none" dirty="0" smtClean="0">
                                  <a:latin typeface="Cambria Math" panose="02040503050406030204" pitchFamily="18" charset="0"/>
                                </a:rPr>
                                <m:t>df</m:t>
                              </m:r>
                              <m:r>
                                <a:rPr lang="en-US" sz="2200" b="0" i="0" u="none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NL" sz="2200" b="0" i="1" u="none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nl-NL" sz="2200" b="0" i="1" u="none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nl-NL" sz="2200" i="0" u="none" dirty="0">
                              <a:latin typeface="RijksoverheidSansText" panose="020B0503040202060203" pitchFamily="34" charset="0"/>
                            </a:rPr>
                            <a:t> voor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0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nl-NL" sz="2200" i="0" u="none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86203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Verwachtingswaarde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035812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Standaarddeviatie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nl-NL" sz="2200" i="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53125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Interpretatie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“</a:t>
                          </a: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Er</a:t>
                          </a: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 is</a:t>
                          </a:r>
                          <a:r>
                            <a:rPr lang="en-US" sz="2200" baseline="0" dirty="0">
                              <a:latin typeface="RijksoverheidSansText" panose="020B0503040202060203" pitchFamily="34" charset="0"/>
                            </a:rPr>
                            <a:t> kop </a:t>
                          </a:r>
                          <a:r>
                            <a:rPr lang="en-US" sz="2200" baseline="0" dirty="0" err="1">
                              <a:latin typeface="RijksoverheidSansText" panose="020B0503040202060203" pitchFamily="34" charset="0"/>
                            </a:rPr>
                            <a:t>gegooid</a:t>
                          </a:r>
                          <a:r>
                            <a:rPr lang="en-US" sz="2200" baseline="0" dirty="0">
                              <a:latin typeface="RijksoverheidSansText" panose="020B0503040202060203" pitchFamily="34" charset="0"/>
                            </a:rPr>
                            <a:t>” </a:t>
                          </a:r>
                          <a:r>
                            <a:rPr lang="en-US" sz="2200" baseline="0" dirty="0" err="1">
                              <a:latin typeface="RijksoverheidSansText" panose="020B0503040202060203" pitchFamily="34" charset="0"/>
                            </a:rPr>
                            <a:t>bij</a:t>
                          </a:r>
                          <a:r>
                            <a:rPr lang="en-US" sz="2200" baseline="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2200" baseline="0" dirty="0" err="1">
                              <a:latin typeface="RijksoverheidSansText" panose="020B0503040202060203" pitchFamily="34" charset="0"/>
                            </a:rPr>
                            <a:t>een</a:t>
                          </a:r>
                          <a:r>
                            <a:rPr lang="en-US" sz="2200" baseline="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2200" baseline="0" dirty="0" err="1">
                              <a:latin typeface="RijksoverheidSansText" panose="020B0503040202060203" pitchFamily="34" charset="0"/>
                            </a:rPr>
                            <a:t>m</a:t>
                          </a: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untworp</a:t>
                          </a: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 met </a:t>
                          </a: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kans</a:t>
                          </a: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nl-NL" sz="2200" dirty="0">
                              <a:latin typeface="RijksoverheidSansText" panose="020B0503040202060203" pitchFamily="34" charset="0"/>
                            </a:rPr>
                            <a:t> op kop en kans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nl-NL" sz="2200" dirty="0">
                              <a:latin typeface="RijksoverheidSansText" panose="020B0503040202060203" pitchFamily="34" charset="0"/>
                            </a:rPr>
                            <a:t> op munt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“</a:t>
                          </a: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Aantal</a:t>
                          </a:r>
                          <a:r>
                            <a:rPr lang="en-US" sz="2200" baseline="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2200" baseline="0" dirty="0" err="1">
                              <a:latin typeface="RijksoverheidSansText" panose="020B0503040202060203" pitchFamily="34" charset="0"/>
                            </a:rPr>
                            <a:t>keer</a:t>
                          </a:r>
                          <a:r>
                            <a:rPr lang="en-US" sz="2200" baseline="0" dirty="0">
                              <a:latin typeface="RijksoverheidSansText" panose="020B0503040202060203" pitchFamily="34" charset="0"/>
                            </a:rPr>
                            <a:t> kop” </a:t>
                          </a:r>
                          <a:r>
                            <a:rPr lang="en-US" sz="2200" baseline="0" dirty="0" err="1">
                              <a:latin typeface="RijksoverheidSansText" panose="020B0503040202060203" pitchFamily="34" charset="0"/>
                            </a:rPr>
                            <a:t>bij</a:t>
                          </a:r>
                          <a:r>
                            <a:rPr lang="en-US" sz="2200" baseline="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nl-NL" sz="2200" dirty="0">
                              <a:latin typeface="RijksoverheidSansText" panose="020B0503040202060203" pitchFamily="34" charset="0"/>
                            </a:rPr>
                            <a:t> muntworpen met kans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nl-NL" sz="2200" dirty="0">
                              <a:latin typeface="RijksoverheidSansText" panose="020B0503040202060203" pitchFamily="34" charset="0"/>
                            </a:rPr>
                            <a:t> op kop en kans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nl-NL" sz="2200" dirty="0">
                              <a:latin typeface="RijksoverheidSansText" panose="020B0503040202060203" pitchFamily="34" charset="0"/>
                            </a:rPr>
                            <a:t> op munt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1084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29062384"/>
                  </p:ext>
                </p:extLst>
              </p:nvPr>
            </p:nvGraphicFramePr>
            <p:xfrm>
              <a:off x="480304" y="1340768"/>
              <a:ext cx="11377264" cy="48115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82411">
                      <a:extLst>
                        <a:ext uri="{9D8B030D-6E8A-4147-A177-3AD203B41FA5}">
                          <a16:colId xmlns:a16="http://schemas.microsoft.com/office/drawing/2014/main" val="1330714194"/>
                        </a:ext>
                      </a:extLst>
                    </a:gridCol>
                    <a:gridCol w="3766586">
                      <a:extLst>
                        <a:ext uri="{9D8B030D-6E8A-4147-A177-3AD203B41FA5}">
                          <a16:colId xmlns:a16="http://schemas.microsoft.com/office/drawing/2014/main" val="2200371005"/>
                        </a:ext>
                      </a:extLst>
                    </a:gridCol>
                    <a:gridCol w="4728267">
                      <a:extLst>
                        <a:ext uri="{9D8B030D-6E8A-4147-A177-3AD203B41FA5}">
                          <a16:colId xmlns:a16="http://schemas.microsoft.com/office/drawing/2014/main" val="3554605379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Bernoulli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Binomiaal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824072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Parameters: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575" t="-60800" r="-126010" b="-492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60800" r="-515" b="-4928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0132548"/>
                      </a:ext>
                    </a:extLst>
                  </a:tr>
                  <a:tr h="8393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Kansfunctie</a:t>
                          </a:r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: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575" t="-145652" r="-126010" b="-3463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145652" r="-515" b="-3463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297116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GR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2200" dirty="0" smtClean="0">
                              <a:latin typeface="RijksoverheidSansText" panose="020B0503040202060203" pitchFamily="34" charset="0"/>
                            </a:rPr>
                            <a:t>-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269048" r="-515" b="-2793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620380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Verwachtingswaarde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575" t="-664286" r="-126010" b="-4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664286" r="-515" b="-4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3581276"/>
                      </a:ext>
                    </a:extLst>
                  </a:tr>
                  <a:tr h="4974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Standaarddeviatie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575" t="-652439" r="-126010" b="-24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652439" r="-515" b="-24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3125036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Interpretatie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575" t="-342778" r="-12601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342778" r="-515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10841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415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611792" cy="4246562"/>
          </a:xfrm>
        </p:spPr>
        <p:txBody>
          <a:bodyPr/>
          <a:lstStyle/>
          <a:p>
            <a:r>
              <a:rPr lang="en-US" b="1" dirty="0"/>
              <a:t>Bij </a:t>
            </a:r>
            <a:r>
              <a:rPr lang="en-US" b="1" dirty="0" err="1"/>
              <a:t>een</a:t>
            </a:r>
            <a:r>
              <a:rPr lang="en-US" b="1" dirty="0"/>
              <a:t> </a:t>
            </a:r>
            <a:r>
              <a:rPr lang="en-US" b="1" dirty="0" err="1"/>
              <a:t>keukenbedrijf</a:t>
            </a:r>
            <a:r>
              <a:rPr lang="en-US" b="1" dirty="0"/>
              <a:t> is </a:t>
            </a:r>
            <a:r>
              <a:rPr lang="en-US" b="1" dirty="0" err="1"/>
              <a:t>bekend</a:t>
            </a:r>
            <a:r>
              <a:rPr lang="en-US" b="1" dirty="0"/>
              <a:t> </a:t>
            </a:r>
            <a:r>
              <a:rPr lang="en-US" b="1" dirty="0" err="1"/>
              <a:t>dat</a:t>
            </a:r>
            <a:r>
              <a:rPr lang="en-US" b="1" dirty="0"/>
              <a:t> van alle </a:t>
            </a:r>
            <a:r>
              <a:rPr lang="en-US" b="1" dirty="0" err="1"/>
              <a:t>klanten</a:t>
            </a:r>
            <a:r>
              <a:rPr lang="en-US" b="1" dirty="0"/>
              <a:t> die </a:t>
            </a:r>
            <a:r>
              <a:rPr lang="en-US" b="1" dirty="0" err="1"/>
              <a:t>een</a:t>
            </a:r>
            <a:r>
              <a:rPr lang="en-US" b="1" dirty="0"/>
              <a:t> </a:t>
            </a:r>
            <a:r>
              <a:rPr lang="en-US" b="1" dirty="0" err="1"/>
              <a:t>catalogus</a:t>
            </a:r>
            <a:r>
              <a:rPr lang="en-US" b="1" dirty="0"/>
              <a:t> </a:t>
            </a:r>
            <a:r>
              <a:rPr lang="en-US" b="1" dirty="0" err="1"/>
              <a:t>aanvragen</a:t>
            </a:r>
            <a:r>
              <a:rPr lang="en-US" b="1" dirty="0"/>
              <a:t>, 15% </a:t>
            </a:r>
            <a:r>
              <a:rPr lang="en-US" b="1" dirty="0" err="1"/>
              <a:t>daadwerkelijk</a:t>
            </a:r>
            <a:r>
              <a:rPr lang="en-US" b="1" dirty="0"/>
              <a:t> </a:t>
            </a:r>
            <a:r>
              <a:rPr lang="en-US" b="1" dirty="0" err="1"/>
              <a:t>een</a:t>
            </a:r>
            <a:r>
              <a:rPr lang="en-US" b="1" dirty="0"/>
              <a:t> </a:t>
            </a:r>
            <a:r>
              <a:rPr lang="en-US" b="1" dirty="0" err="1"/>
              <a:t>bestelling</a:t>
            </a:r>
            <a:r>
              <a:rPr lang="en-US" b="1" dirty="0"/>
              <a:t> </a:t>
            </a:r>
            <a:r>
              <a:rPr lang="en-US" b="1" dirty="0" err="1"/>
              <a:t>plaatst</a:t>
            </a:r>
            <a:r>
              <a:rPr lang="en-US" b="1" dirty="0"/>
              <a:t> in de </a:t>
            </a:r>
            <a:r>
              <a:rPr lang="en-US" b="1" dirty="0" err="1"/>
              <a:t>maand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ontvangst</a:t>
            </a:r>
            <a:r>
              <a:rPr lang="en-US" b="1" dirty="0"/>
              <a:t> van de </a:t>
            </a:r>
            <a:r>
              <a:rPr lang="en-US" b="1" dirty="0" err="1"/>
              <a:t>catalogus</a:t>
            </a:r>
            <a:r>
              <a:rPr lang="en-US" b="1" dirty="0"/>
              <a:t>. </a:t>
            </a:r>
            <a:r>
              <a:rPr lang="en-US" b="1" dirty="0" err="1"/>
              <a:t>Daarna</a:t>
            </a:r>
            <a:r>
              <a:rPr lang="en-US" b="1" dirty="0"/>
              <a:t>, </a:t>
            </a:r>
            <a:r>
              <a:rPr lang="en-US" b="1" dirty="0" err="1"/>
              <a:t>dus</a:t>
            </a:r>
            <a:r>
              <a:rPr lang="en-US" b="1" dirty="0"/>
              <a:t> </a:t>
            </a:r>
            <a:r>
              <a:rPr lang="en-US" b="1" dirty="0" err="1"/>
              <a:t>méér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een</a:t>
            </a:r>
            <a:r>
              <a:rPr lang="en-US" b="1" dirty="0"/>
              <a:t> </a:t>
            </a:r>
            <a:r>
              <a:rPr lang="en-US" b="1" dirty="0" err="1"/>
              <a:t>maand</a:t>
            </a:r>
            <a:r>
              <a:rPr lang="en-US" b="1" dirty="0"/>
              <a:t> later, </a:t>
            </a:r>
            <a:r>
              <a:rPr lang="en-US" b="1" dirty="0" err="1"/>
              <a:t>blijken</a:t>
            </a:r>
            <a:r>
              <a:rPr lang="en-US" b="1" dirty="0"/>
              <a:t> </a:t>
            </a:r>
            <a:r>
              <a:rPr lang="en-US" b="1" dirty="0" err="1"/>
              <a:t>er</a:t>
            </a:r>
            <a:r>
              <a:rPr lang="en-US" b="1" dirty="0"/>
              <a:t> </a:t>
            </a:r>
            <a:r>
              <a:rPr lang="en-US" b="1" dirty="0" err="1"/>
              <a:t>nooit</a:t>
            </a:r>
            <a:r>
              <a:rPr lang="en-US" b="1" dirty="0"/>
              <a:t> </a:t>
            </a:r>
            <a:r>
              <a:rPr lang="en-US" b="1" dirty="0" err="1"/>
              <a:t>bestellingen</a:t>
            </a:r>
            <a:r>
              <a:rPr lang="en-US" b="1" dirty="0"/>
              <a:t> </a:t>
            </a:r>
            <a:r>
              <a:rPr lang="en-US" b="1" dirty="0" err="1"/>
              <a:t>te</a:t>
            </a:r>
            <a:r>
              <a:rPr lang="en-US" b="1" dirty="0"/>
              <a:t> </a:t>
            </a:r>
            <a:r>
              <a:rPr lang="en-US" b="1" dirty="0" err="1"/>
              <a:t>worden</a:t>
            </a:r>
            <a:r>
              <a:rPr lang="en-US" b="1" dirty="0"/>
              <a:t> </a:t>
            </a:r>
            <a:r>
              <a:rPr lang="en-US" b="1" dirty="0" err="1"/>
              <a:t>gedaan</a:t>
            </a:r>
            <a:r>
              <a:rPr lang="en-US" b="1" dirty="0"/>
              <a:t>.</a:t>
            </a:r>
          </a:p>
          <a:p>
            <a:pPr marL="457200" indent="-457200">
              <a:buFont typeface="+mj-lt"/>
              <a:buAutoNum type="alphaLcParenR"/>
            </a:pPr>
            <a:r>
              <a:rPr lang="en-US" b="1" dirty="0"/>
              <a:t>In </a:t>
            </a:r>
            <a:r>
              <a:rPr lang="en-US" b="1" dirty="0" err="1"/>
              <a:t>een</a:t>
            </a:r>
            <a:r>
              <a:rPr lang="en-US" b="1" dirty="0"/>
              <a:t> </a:t>
            </a:r>
            <a:r>
              <a:rPr lang="en-US" b="1" dirty="0" err="1"/>
              <a:t>bepaalde</a:t>
            </a:r>
            <a:r>
              <a:rPr lang="en-US" b="1" dirty="0"/>
              <a:t> </a:t>
            </a:r>
            <a:r>
              <a:rPr lang="en-US" b="1" dirty="0" err="1"/>
              <a:t>maand</a:t>
            </a:r>
            <a:r>
              <a:rPr lang="en-US" b="1" dirty="0"/>
              <a:t> </a:t>
            </a:r>
            <a:r>
              <a:rPr lang="en-US" b="1" dirty="0" err="1"/>
              <a:t>worden</a:t>
            </a:r>
            <a:r>
              <a:rPr lang="en-US" b="1" dirty="0"/>
              <a:t> 120 </a:t>
            </a:r>
            <a:r>
              <a:rPr lang="en-US" b="1" dirty="0" err="1"/>
              <a:t>catalogi</a:t>
            </a:r>
            <a:r>
              <a:rPr lang="en-US" b="1" dirty="0"/>
              <a:t> </a:t>
            </a:r>
            <a:r>
              <a:rPr lang="en-US" b="1" dirty="0" err="1"/>
              <a:t>verzonden</a:t>
            </a:r>
            <a:r>
              <a:rPr lang="en-US" b="1" dirty="0"/>
              <a:t>. </a:t>
            </a:r>
            <a:r>
              <a:rPr lang="en-US" b="1" dirty="0" err="1"/>
              <a:t>Bereken</a:t>
            </a:r>
            <a:r>
              <a:rPr lang="en-US" b="1" dirty="0"/>
              <a:t> de </a:t>
            </a:r>
            <a:r>
              <a:rPr lang="en-US" b="1" dirty="0" err="1"/>
              <a:t>kans</a:t>
            </a:r>
            <a:r>
              <a:rPr lang="en-US" b="1" dirty="0"/>
              <a:t> </a:t>
            </a:r>
            <a:r>
              <a:rPr lang="en-US" b="1" dirty="0" err="1"/>
              <a:t>dat</a:t>
            </a:r>
            <a:r>
              <a:rPr lang="en-US" b="1" dirty="0"/>
              <a:t> </a:t>
            </a:r>
            <a:r>
              <a:rPr lang="en-US" b="1" dirty="0" err="1"/>
              <a:t>meer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twintig</a:t>
            </a:r>
            <a:r>
              <a:rPr lang="en-US" b="1" dirty="0"/>
              <a:t> </a:t>
            </a:r>
            <a:r>
              <a:rPr lang="en-US" b="1" dirty="0" err="1"/>
              <a:t>klanten</a:t>
            </a:r>
            <a:r>
              <a:rPr lang="en-US" b="1" dirty="0"/>
              <a:t> </a:t>
            </a:r>
            <a:r>
              <a:rPr lang="en-US" b="1" dirty="0" err="1"/>
              <a:t>een</a:t>
            </a:r>
            <a:r>
              <a:rPr lang="en-US" b="1" dirty="0"/>
              <a:t> </a:t>
            </a:r>
            <a:r>
              <a:rPr lang="en-US" b="1" dirty="0" err="1"/>
              <a:t>bestelling</a:t>
            </a:r>
            <a:r>
              <a:rPr lang="en-US" b="1" dirty="0"/>
              <a:t> </a:t>
            </a:r>
            <a:r>
              <a:rPr lang="en-US" b="1" dirty="0" err="1"/>
              <a:t>gaan</a:t>
            </a:r>
            <a:r>
              <a:rPr lang="en-US" b="1" dirty="0"/>
              <a:t> </a:t>
            </a:r>
            <a:r>
              <a:rPr lang="en-US" b="1" dirty="0" err="1"/>
              <a:t>plaatsen</a:t>
            </a:r>
            <a:r>
              <a:rPr lang="en-US" b="1" dirty="0"/>
              <a:t>.</a:t>
            </a:r>
          </a:p>
          <a:p>
            <a:pPr marL="457200" indent="-457200">
              <a:buFont typeface="+mj-lt"/>
              <a:buAutoNum type="alphaLcParenR"/>
            </a:pPr>
            <a:endParaRPr lang="en-US" b="1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112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lphaLcParenR"/>
                </a:pPr>
                <a:r>
                  <a:rPr lang="en-US" b="1" dirty="0" smtClean="0"/>
                  <a:t>In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bepaalde</a:t>
                </a:r>
                <a:r>
                  <a:rPr lang="en-US" b="1" dirty="0"/>
                  <a:t> </a:t>
                </a:r>
                <a:r>
                  <a:rPr lang="en-US" b="1" dirty="0" err="1"/>
                  <a:t>maand</a:t>
                </a:r>
                <a:r>
                  <a:rPr lang="en-US" b="1" dirty="0"/>
                  <a:t> </a:t>
                </a:r>
                <a:r>
                  <a:rPr lang="en-US" b="1" dirty="0" err="1"/>
                  <a:t>worden</a:t>
                </a:r>
                <a:r>
                  <a:rPr lang="en-US" b="1" dirty="0"/>
                  <a:t> 120 </a:t>
                </a:r>
                <a:r>
                  <a:rPr lang="en-US" b="1" dirty="0" err="1"/>
                  <a:t>catalogi</a:t>
                </a:r>
                <a:r>
                  <a:rPr lang="en-US" b="1" dirty="0"/>
                  <a:t> </a:t>
                </a:r>
                <a:r>
                  <a:rPr lang="en-US" b="1" dirty="0" err="1"/>
                  <a:t>verzonden</a:t>
                </a:r>
                <a:r>
                  <a:rPr lang="en-US" b="1" dirty="0"/>
                  <a:t>. </a:t>
                </a:r>
                <a:r>
                  <a:rPr lang="en-US" b="1" dirty="0" err="1"/>
                  <a:t>Bereken</a:t>
                </a:r>
                <a:r>
                  <a:rPr lang="en-US" b="1" dirty="0"/>
                  <a:t> 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</a:t>
                </a:r>
                <a:r>
                  <a:rPr lang="en-US" b="1" dirty="0" err="1"/>
                  <a:t>meer</a:t>
                </a:r>
                <a:r>
                  <a:rPr lang="en-US" b="1" dirty="0"/>
                  <a:t> </a:t>
                </a:r>
                <a:r>
                  <a:rPr lang="en-US" b="1" dirty="0" err="1"/>
                  <a:t>dan</a:t>
                </a:r>
                <a:r>
                  <a:rPr lang="en-US" b="1" dirty="0"/>
                  <a:t> </a:t>
                </a:r>
                <a:r>
                  <a:rPr lang="en-US" b="1" dirty="0" err="1"/>
                  <a:t>twintig</a:t>
                </a:r>
                <a:r>
                  <a:rPr lang="en-US" b="1" dirty="0"/>
                  <a:t> </a:t>
                </a:r>
                <a:r>
                  <a:rPr lang="en-US" b="1" dirty="0" err="1"/>
                  <a:t>klanten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bestelling</a:t>
                </a:r>
                <a:r>
                  <a:rPr lang="en-US" b="1" dirty="0"/>
                  <a:t> </a:t>
                </a:r>
                <a:r>
                  <a:rPr lang="en-US" b="1" dirty="0" err="1"/>
                  <a:t>gaan</a:t>
                </a:r>
                <a:r>
                  <a:rPr lang="en-US" b="1" dirty="0"/>
                  <a:t> </a:t>
                </a:r>
                <a:r>
                  <a:rPr lang="en-US" b="1" dirty="0" err="1"/>
                  <a:t>plaatsen</a:t>
                </a:r>
                <a:r>
                  <a:rPr lang="en-US" b="1" dirty="0"/>
                  <a:t>.</a:t>
                </a:r>
              </a:p>
              <a:p>
                <a:r>
                  <a:rPr lang="en-US" dirty="0"/>
                  <a:t>Laat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het </a:t>
                </a:r>
                <a:r>
                  <a:rPr lang="en-US" dirty="0" err="1"/>
                  <a:t>aantal</a:t>
                </a:r>
                <a:r>
                  <a:rPr lang="en-US" dirty="0"/>
                  <a:t> </a:t>
                </a:r>
                <a:r>
                  <a:rPr lang="en-US" dirty="0" err="1"/>
                  <a:t>klanten</a:t>
                </a:r>
                <a:r>
                  <a:rPr lang="en-US" dirty="0"/>
                  <a:t> </a:t>
                </a:r>
                <a:r>
                  <a:rPr lang="en-US" dirty="0" err="1"/>
                  <a:t>zijn</a:t>
                </a:r>
                <a:r>
                  <a:rPr lang="en-US" dirty="0"/>
                  <a:t> </a:t>
                </a:r>
                <a:r>
                  <a:rPr lang="en-US" dirty="0" err="1"/>
                  <a:t>dat</a:t>
                </a:r>
                <a:r>
                  <a:rPr lang="en-US" dirty="0"/>
                  <a:t> </a:t>
                </a:r>
                <a:r>
                  <a:rPr lang="en-US" dirty="0" err="1"/>
                  <a:t>bestelt</a:t>
                </a:r>
                <a:r>
                  <a:rPr lang="en-US" dirty="0"/>
                  <a:t>.</a:t>
                </a:r>
              </a:p>
              <a:p>
                <a:r>
                  <a:rPr lang="en-US" dirty="0" smtClean="0"/>
                  <a:t>Dan is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binomiale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kansvariabele</a:t>
                </a:r>
                <a:r>
                  <a:rPr lang="en-US" dirty="0" smtClean="0"/>
                  <a:t> met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aantal</a:t>
                </a:r>
                <a:r>
                  <a:rPr lang="en-US" dirty="0"/>
                  <a:t> </a:t>
                </a:r>
                <a:r>
                  <a:rPr lang="en-US" dirty="0" err="1"/>
                  <a:t>klanten</a:t>
                </a:r>
                <a:r>
                  <a:rPr lang="en-US" dirty="0"/>
                  <a:t> die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catalogus</a:t>
                </a:r>
                <a:r>
                  <a:rPr lang="en-US" dirty="0"/>
                  <a:t> </a:t>
                </a:r>
                <a:r>
                  <a:rPr lang="en-US" dirty="0" err="1"/>
                  <a:t>hebben</a:t>
                </a:r>
                <a:r>
                  <a:rPr lang="en-US" dirty="0"/>
                  <a:t> </a:t>
                </a:r>
                <a:r>
                  <a:rPr lang="en-US" dirty="0" err="1"/>
                  <a:t>ontvangen</a:t>
                </a:r>
                <a:r>
                  <a:rPr lang="en-US" dirty="0"/>
                  <a:t>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kans</a:t>
                </a:r>
                <a:r>
                  <a:rPr lang="en-US" dirty="0"/>
                  <a:t> </a:t>
                </a:r>
                <a:r>
                  <a:rPr lang="en-US" dirty="0" err="1"/>
                  <a:t>dat</a:t>
                </a:r>
                <a:r>
                  <a:rPr lang="en-US" dirty="0"/>
                  <a:t> </a:t>
                </a:r>
                <a:r>
                  <a:rPr lang="en-US" dirty="0" err="1"/>
                  <a:t>zo’n</a:t>
                </a:r>
                <a:r>
                  <a:rPr lang="en-US" dirty="0"/>
                  <a:t> </a:t>
                </a:r>
                <a:r>
                  <a:rPr lang="en-US" dirty="0" err="1"/>
                  <a:t>klant</a:t>
                </a:r>
                <a:r>
                  <a:rPr lang="en-US" dirty="0"/>
                  <a:t>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bestelling</a:t>
                </a:r>
                <a:r>
                  <a:rPr lang="en-US" dirty="0"/>
                  <a:t> </a:t>
                </a:r>
                <a:r>
                  <a:rPr lang="en-US" dirty="0" err="1"/>
                  <a:t>plaatst</a:t>
                </a:r>
                <a:r>
                  <a:rPr lang="en-US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/>
                  <a:t>We </a:t>
                </a:r>
                <a:r>
                  <a:rPr lang="en-US" dirty="0" err="1"/>
                  <a:t>willen</a:t>
                </a:r>
                <a:r>
                  <a:rPr lang="en-US" dirty="0"/>
                  <a:t> de </a:t>
                </a:r>
                <a:r>
                  <a:rPr lang="en-US" dirty="0" err="1"/>
                  <a:t>kans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&gt;20)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bepalen</a:t>
                </a:r>
                <a:r>
                  <a:rPr lang="en-US" dirty="0"/>
                  <a:t> (“&gt;” </a:t>
                </a:r>
                <a:r>
                  <a:rPr lang="en-US" dirty="0" err="1"/>
                  <a:t>betekent</a:t>
                </a:r>
                <a:r>
                  <a:rPr lang="en-US" dirty="0"/>
                  <a:t> “</a:t>
                </a:r>
                <a:r>
                  <a:rPr lang="en-US" dirty="0" err="1"/>
                  <a:t>meer</a:t>
                </a:r>
                <a:r>
                  <a:rPr lang="en-US" dirty="0"/>
                  <a:t> dan” 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&gt;20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≥21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≤20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=120,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=0.15,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2557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i="1" dirty="0"/>
              </a:p>
              <a:p>
                <a:r>
                  <a:rPr lang="en-US" b="1" dirty="0"/>
                  <a:t>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</a:t>
                </a:r>
                <a:r>
                  <a:rPr lang="en-US" b="1" dirty="0" err="1"/>
                  <a:t>meer</a:t>
                </a:r>
                <a:r>
                  <a:rPr lang="en-US" b="1" dirty="0"/>
                  <a:t> dan </a:t>
                </a:r>
                <a:r>
                  <a:rPr lang="en-US" b="1" dirty="0" err="1"/>
                  <a:t>twintig</a:t>
                </a:r>
                <a:r>
                  <a:rPr lang="en-US" b="1" dirty="0"/>
                  <a:t> </a:t>
                </a:r>
                <a:r>
                  <a:rPr lang="en-US" b="1" dirty="0" err="1"/>
                  <a:t>klanten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bestelling</a:t>
                </a:r>
                <a:r>
                  <a:rPr lang="en-US" b="1" dirty="0"/>
                  <a:t> </a:t>
                </a:r>
                <a:r>
                  <a:rPr lang="en-US" b="1" dirty="0" err="1"/>
                  <a:t>plaatsen</a:t>
                </a:r>
                <a:r>
                  <a:rPr lang="en-US" b="1" dirty="0"/>
                  <a:t> is </a:t>
                </a:r>
                <a:r>
                  <a:rPr lang="en-US" b="1" dirty="0" err="1"/>
                  <a:t>slechts</a:t>
                </a:r>
                <a:r>
                  <a:rPr lang="en-US" b="1" dirty="0"/>
                  <a:t> </a:t>
                </a:r>
                <a:r>
                  <a:rPr lang="en-US" b="1" dirty="0" smtClean="0"/>
                  <a:t>25.57</a:t>
                </a:r>
                <a:r>
                  <a:rPr lang="en-US" b="1" dirty="0"/>
                  <a:t>%.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b="-1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86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r>
                  <a:rPr lang="en-US" b="1" dirty="0" smtClean="0"/>
                  <a:t>Bij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keukenbedrijf</a:t>
                </a:r>
                <a:r>
                  <a:rPr lang="en-US" b="1" dirty="0"/>
                  <a:t> is </a:t>
                </a:r>
                <a:r>
                  <a:rPr lang="en-US" b="1" dirty="0" err="1"/>
                  <a:t>bekend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van alle </a:t>
                </a:r>
                <a:r>
                  <a:rPr lang="en-US" b="1" dirty="0" err="1"/>
                  <a:t>klanten</a:t>
                </a:r>
                <a:r>
                  <a:rPr lang="en-US" b="1" dirty="0"/>
                  <a:t> die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catalogus</a:t>
                </a:r>
                <a:r>
                  <a:rPr lang="en-US" b="1" dirty="0"/>
                  <a:t> </a:t>
                </a:r>
                <a:r>
                  <a:rPr lang="en-US" b="1" dirty="0" err="1"/>
                  <a:t>aanvragen</a:t>
                </a:r>
                <a:r>
                  <a:rPr lang="en-US" b="1" dirty="0"/>
                  <a:t>, 15% </a:t>
                </a:r>
                <a:r>
                  <a:rPr lang="en-US" b="1" dirty="0" err="1"/>
                  <a:t>daadwerkelijk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bestelling</a:t>
                </a:r>
                <a:r>
                  <a:rPr lang="en-US" b="1" dirty="0"/>
                  <a:t> </a:t>
                </a:r>
                <a:r>
                  <a:rPr lang="en-US" b="1" dirty="0" err="1"/>
                  <a:t>plaatst</a:t>
                </a:r>
                <a:r>
                  <a:rPr lang="en-US" b="1" dirty="0"/>
                  <a:t> in de </a:t>
                </a:r>
                <a:r>
                  <a:rPr lang="en-US" b="1" dirty="0" err="1"/>
                  <a:t>maand</a:t>
                </a:r>
                <a:r>
                  <a:rPr lang="en-US" b="1" dirty="0"/>
                  <a:t> </a:t>
                </a:r>
                <a:r>
                  <a:rPr lang="en-US" b="1" dirty="0" err="1"/>
                  <a:t>na</a:t>
                </a:r>
                <a:r>
                  <a:rPr lang="en-US" b="1" dirty="0"/>
                  <a:t> </a:t>
                </a:r>
                <a:r>
                  <a:rPr lang="en-US" b="1" dirty="0" err="1"/>
                  <a:t>ontvangst</a:t>
                </a:r>
                <a:r>
                  <a:rPr lang="en-US" b="1" dirty="0"/>
                  <a:t> van de </a:t>
                </a:r>
                <a:r>
                  <a:rPr lang="en-US" b="1" dirty="0" err="1"/>
                  <a:t>catalogus</a:t>
                </a:r>
                <a:r>
                  <a:rPr lang="en-US" b="1" dirty="0"/>
                  <a:t>. </a:t>
                </a:r>
                <a:r>
                  <a:rPr lang="en-US" b="1" dirty="0" err="1"/>
                  <a:t>Daarna</a:t>
                </a:r>
                <a:r>
                  <a:rPr lang="en-US" b="1" dirty="0"/>
                  <a:t>, </a:t>
                </a:r>
                <a:r>
                  <a:rPr lang="en-US" b="1" dirty="0" err="1"/>
                  <a:t>dus</a:t>
                </a:r>
                <a:r>
                  <a:rPr lang="en-US" b="1" dirty="0"/>
                  <a:t> </a:t>
                </a:r>
                <a:r>
                  <a:rPr lang="en-US" b="1" dirty="0" err="1"/>
                  <a:t>méér</a:t>
                </a:r>
                <a:r>
                  <a:rPr lang="en-US" b="1" dirty="0"/>
                  <a:t> dan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maand</a:t>
                </a:r>
                <a:r>
                  <a:rPr lang="en-US" b="1" dirty="0"/>
                  <a:t> later, </a:t>
                </a:r>
                <a:r>
                  <a:rPr lang="en-US" b="1" dirty="0" err="1"/>
                  <a:t>blijken</a:t>
                </a:r>
                <a:r>
                  <a:rPr lang="en-US" b="1" dirty="0"/>
                  <a:t> er nooit </a:t>
                </a:r>
                <a:r>
                  <a:rPr lang="en-US" b="1" dirty="0" err="1"/>
                  <a:t>bestellingen</a:t>
                </a:r>
                <a:r>
                  <a:rPr lang="en-US" b="1" dirty="0"/>
                  <a:t> </a:t>
                </a:r>
                <a:r>
                  <a:rPr lang="en-US" b="1" dirty="0" err="1"/>
                  <a:t>te</a:t>
                </a:r>
                <a:r>
                  <a:rPr lang="en-US" b="1" dirty="0"/>
                  <a:t> </a:t>
                </a:r>
                <a:r>
                  <a:rPr lang="en-US" b="1" dirty="0" err="1"/>
                  <a:t>worden</a:t>
                </a:r>
                <a:r>
                  <a:rPr lang="en-US" b="1" dirty="0"/>
                  <a:t> </a:t>
                </a:r>
                <a:r>
                  <a:rPr lang="en-US" b="1" dirty="0" err="1"/>
                  <a:t>gedaan</a:t>
                </a:r>
                <a:r>
                  <a:rPr lang="en-US" b="1" dirty="0"/>
                  <a:t>.</a:t>
                </a:r>
              </a:p>
              <a:p>
                <a:pPr marL="457200" indent="-457200">
                  <a:buFont typeface="+mj-lt"/>
                  <a:buAutoNum type="alphaLcParenR" startAt="2"/>
                </a:pPr>
                <a:r>
                  <a:rPr lang="en-US" b="1" dirty="0"/>
                  <a:t>In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bepaald</a:t>
                </a:r>
                <a:r>
                  <a:rPr lang="en-US" b="1" dirty="0"/>
                  <a:t> </a:t>
                </a:r>
                <a:r>
                  <a:rPr lang="en-US" b="1" dirty="0" err="1"/>
                  <a:t>jaar</a:t>
                </a:r>
                <a:r>
                  <a:rPr lang="en-US" b="1" dirty="0"/>
                  <a:t> </a:t>
                </a:r>
                <a:r>
                  <a:rPr lang="en-US" b="1" dirty="0" err="1"/>
                  <a:t>worden</a:t>
                </a:r>
                <a:r>
                  <a:rPr lang="en-US" b="1" dirty="0"/>
                  <a:t> 1200 </a:t>
                </a:r>
                <a:r>
                  <a:rPr lang="en-US" b="1" dirty="0" err="1"/>
                  <a:t>catalogi</a:t>
                </a:r>
                <a:r>
                  <a:rPr lang="en-US" b="1" dirty="0"/>
                  <a:t> </a:t>
                </a:r>
                <a:r>
                  <a:rPr lang="en-US" b="1" dirty="0" err="1"/>
                  <a:t>aangevraagd</a:t>
                </a:r>
                <a:r>
                  <a:rPr lang="en-US" b="1" dirty="0"/>
                  <a:t>. </a:t>
                </a:r>
                <a:r>
                  <a:rPr lang="en-US" b="1" dirty="0" err="1"/>
                  <a:t>Bereken</a:t>
                </a:r>
                <a:r>
                  <a:rPr lang="en-US" b="1" dirty="0"/>
                  <a:t> het </a:t>
                </a:r>
                <a:r>
                  <a:rPr lang="en-US" b="1" dirty="0" err="1"/>
                  <a:t>verwachte</a:t>
                </a:r>
                <a:r>
                  <a:rPr lang="en-US" b="1" dirty="0"/>
                  <a:t> </a:t>
                </a:r>
                <a:r>
                  <a:rPr lang="en-US" b="1" dirty="0" err="1"/>
                  <a:t>aantal</a:t>
                </a:r>
                <a:r>
                  <a:rPr lang="en-US" b="1" dirty="0"/>
                  <a:t> </a:t>
                </a:r>
                <a:r>
                  <a:rPr lang="en-US" b="1" dirty="0" err="1"/>
                  <a:t>bestellingen</a:t>
                </a:r>
                <a:r>
                  <a:rPr lang="en-US" b="1" dirty="0"/>
                  <a:t>. </a:t>
                </a:r>
                <a:r>
                  <a:rPr lang="en-US" b="1" dirty="0" err="1"/>
                  <a:t>Bereken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95%-</a:t>
                </a:r>
                <a:r>
                  <a:rPr lang="en-US" b="1" dirty="0" err="1"/>
                  <a:t>voorspellingsinterval</a:t>
                </a:r>
                <a:r>
                  <a:rPr lang="en-US" b="1" dirty="0"/>
                  <a:t> </a:t>
                </a:r>
                <a:r>
                  <a:rPr lang="en-US" b="1" dirty="0" err="1"/>
                  <a:t>voor</a:t>
                </a:r>
                <a:r>
                  <a:rPr lang="en-US" b="1" dirty="0"/>
                  <a:t> het </a:t>
                </a:r>
                <a:r>
                  <a:rPr lang="en-US" b="1" dirty="0" err="1"/>
                  <a:t>aantal</a:t>
                </a:r>
                <a:r>
                  <a:rPr lang="en-US" b="1" dirty="0"/>
                  <a:t> </a:t>
                </a:r>
                <a:r>
                  <a:rPr lang="en-US" b="1" dirty="0" err="1"/>
                  <a:t>bestellingen</a:t>
                </a:r>
                <a:r>
                  <a:rPr lang="en-US" b="1" dirty="0"/>
                  <a:t>.</a:t>
                </a:r>
              </a:p>
              <a:p>
                <a:pPr marL="457200" indent="-457200">
                  <a:buFont typeface="+mj-lt"/>
                  <a:buAutoNum type="alphaLcParenR" startAt="2"/>
                </a:pPr>
                <a:endParaRPr lang="en-US" b="1" dirty="0"/>
              </a:p>
              <a:p>
                <a:pPr marL="457200" indent="-457200">
                  <a:buFont typeface="+mj-lt"/>
                  <a:buAutoNum type="alphaLcParenR" startAt="2"/>
                </a:pPr>
                <a:endParaRPr lang="en-US" b="1" dirty="0"/>
              </a:p>
              <a:p>
                <a:r>
                  <a:rPr lang="en-US" b="1" dirty="0" err="1"/>
                  <a:t>Vuistregel</a:t>
                </a:r>
                <a:r>
                  <a:rPr lang="en-US" dirty="0"/>
                  <a:t>: </a:t>
                </a:r>
                <a:r>
                  <a:rPr lang="en-US" dirty="0" err="1"/>
                  <a:t>een</a:t>
                </a:r>
                <a:r>
                  <a:rPr lang="en-US" dirty="0"/>
                  <a:t> 95%-</a:t>
                </a:r>
                <a:r>
                  <a:rPr lang="en-US" dirty="0" err="1"/>
                  <a:t>voorspellingsinterval</a:t>
                </a:r>
                <a:r>
                  <a:rPr lang="en-US" dirty="0"/>
                  <a:t> van de </a:t>
                </a:r>
                <a:r>
                  <a:rPr lang="en-US" dirty="0" err="1"/>
                  <a:t>binomiale</a:t>
                </a:r>
                <a:r>
                  <a:rPr lang="en-US" dirty="0"/>
                  <a:t> </a:t>
                </a:r>
                <a:r>
                  <a:rPr lang="en-US" dirty="0" err="1"/>
                  <a:t>verdeling</a:t>
                </a:r>
                <a:r>
                  <a:rPr lang="en-US" dirty="0"/>
                  <a:t> </a:t>
                </a:r>
                <a:r>
                  <a:rPr lang="en-US" dirty="0" err="1"/>
                  <a:t>loopt</a:t>
                </a:r>
                <a:r>
                  <a:rPr lang="en-US" dirty="0"/>
                  <a:t> </a:t>
                </a:r>
                <a:r>
                  <a:rPr lang="en-US" dirty="0" err="1"/>
                  <a:t>ongeveer</a:t>
                </a:r>
                <a:r>
                  <a:rPr lang="en-US" dirty="0"/>
                  <a:t> van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 err="1"/>
                  <a:t>en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Met 95% </a:t>
                </a:r>
                <a:r>
                  <a:rPr lang="en-US" dirty="0" err="1"/>
                  <a:t>kans</a:t>
                </a:r>
                <a:r>
                  <a:rPr lang="en-US" dirty="0"/>
                  <a:t> </a:t>
                </a:r>
                <a:r>
                  <a:rPr lang="en-US" dirty="0" err="1"/>
                  <a:t>ligt</a:t>
                </a:r>
                <a:r>
                  <a:rPr lang="en-US" dirty="0"/>
                  <a:t>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toekomstige</a:t>
                </a:r>
                <a:r>
                  <a:rPr lang="en-US" dirty="0"/>
                  <a:t> trekking in </a:t>
                </a:r>
                <a:r>
                  <a:rPr lang="en-US" dirty="0" err="1"/>
                  <a:t>dit</a:t>
                </a:r>
                <a:r>
                  <a:rPr lang="en-US" dirty="0"/>
                  <a:t> interval.</a:t>
                </a:r>
              </a:p>
              <a:p>
                <a:pPr marL="457200" indent="-457200">
                  <a:buFont typeface="+mj-lt"/>
                  <a:buAutoNum type="alphaLcParenR" startAt="2"/>
                </a:pPr>
                <a:endParaRPr lang="en-US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r="-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455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83800" cy="4246562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lphaLcParenR" startAt="2"/>
                </a:pPr>
                <a:r>
                  <a:rPr lang="en-US" b="1" dirty="0" smtClean="0"/>
                  <a:t>In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bepaald</a:t>
                </a:r>
                <a:r>
                  <a:rPr lang="en-US" b="1" dirty="0"/>
                  <a:t> </a:t>
                </a:r>
                <a:r>
                  <a:rPr lang="en-US" b="1" dirty="0" err="1"/>
                  <a:t>jaar</a:t>
                </a:r>
                <a:r>
                  <a:rPr lang="en-US" b="1" dirty="0"/>
                  <a:t> </a:t>
                </a:r>
                <a:r>
                  <a:rPr lang="en-US" b="1" dirty="0" err="1"/>
                  <a:t>worden</a:t>
                </a:r>
                <a:r>
                  <a:rPr lang="en-US" b="1" dirty="0"/>
                  <a:t> 1200 </a:t>
                </a:r>
                <a:r>
                  <a:rPr lang="en-US" b="1" dirty="0" err="1"/>
                  <a:t>catalogi</a:t>
                </a:r>
                <a:r>
                  <a:rPr lang="en-US" b="1" dirty="0"/>
                  <a:t> </a:t>
                </a:r>
                <a:r>
                  <a:rPr lang="en-US" b="1" dirty="0" err="1"/>
                  <a:t>aangevraagd</a:t>
                </a:r>
                <a:r>
                  <a:rPr lang="en-US" b="1" dirty="0"/>
                  <a:t>. </a:t>
                </a:r>
                <a:r>
                  <a:rPr lang="en-US" b="1" dirty="0" err="1"/>
                  <a:t>Bereken</a:t>
                </a:r>
                <a:r>
                  <a:rPr lang="en-US" b="1" dirty="0"/>
                  <a:t> het </a:t>
                </a:r>
                <a:r>
                  <a:rPr lang="en-US" b="1" dirty="0" err="1"/>
                  <a:t>verwachte</a:t>
                </a:r>
                <a:r>
                  <a:rPr lang="en-US" b="1" dirty="0"/>
                  <a:t> </a:t>
                </a:r>
                <a:r>
                  <a:rPr lang="en-US" b="1" dirty="0" err="1"/>
                  <a:t>aantal</a:t>
                </a:r>
                <a:r>
                  <a:rPr lang="en-US" b="1" dirty="0"/>
                  <a:t> </a:t>
                </a:r>
                <a:r>
                  <a:rPr lang="en-US" b="1" dirty="0" err="1"/>
                  <a:t>bestellingen</a:t>
                </a:r>
                <a:r>
                  <a:rPr lang="en-US" b="1" dirty="0"/>
                  <a:t>. </a:t>
                </a:r>
                <a:r>
                  <a:rPr lang="en-US" b="1" dirty="0" err="1"/>
                  <a:t>Bereken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95%-</a:t>
                </a:r>
                <a:r>
                  <a:rPr lang="en-US" b="1" dirty="0" err="1"/>
                  <a:t>voorspellingsinterval</a:t>
                </a:r>
                <a:r>
                  <a:rPr lang="en-US" b="1" dirty="0"/>
                  <a:t> </a:t>
                </a:r>
                <a:r>
                  <a:rPr lang="en-US" b="1" dirty="0" err="1"/>
                  <a:t>voor</a:t>
                </a:r>
                <a:r>
                  <a:rPr lang="en-US" b="1" dirty="0"/>
                  <a:t> het </a:t>
                </a:r>
                <a:r>
                  <a:rPr lang="en-US" b="1" dirty="0" err="1"/>
                  <a:t>aantal</a:t>
                </a:r>
                <a:r>
                  <a:rPr lang="en-US" b="1" dirty="0"/>
                  <a:t> </a:t>
                </a:r>
                <a:r>
                  <a:rPr lang="en-US" b="1" dirty="0" err="1"/>
                  <a:t>bestellingen</a:t>
                </a:r>
                <a:r>
                  <a:rPr lang="en-US" b="1" dirty="0"/>
                  <a:t>.</a:t>
                </a:r>
              </a:p>
              <a:p>
                <a:endParaRPr lang="en-US" b="1" dirty="0"/>
              </a:p>
              <a:p>
                <a:r>
                  <a:rPr lang="en-US" dirty="0" err="1" smtClean="0"/>
                  <a:t>Gegeven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bestelling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binomiale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kansvariabele</a:t>
                </a:r>
                <a:r>
                  <a:rPr lang="en-US" dirty="0" smtClean="0"/>
                  <a:t> is met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=1200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nl-NL" dirty="0" smtClean="0"/>
                  <a:t>Dan geldt: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=1200⋅0.15=180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1200⋅0.15⋅0.85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≈12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3693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/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Het </a:t>
                </a:r>
                <a:r>
                  <a:rPr lang="en-US" dirty="0">
                    <a:latin typeface="RijksoverheidSansText" panose="020B0503040202060203" pitchFamily="34" charset="0"/>
                  </a:rPr>
                  <a:t>95%-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voorspellingsinterval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worden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dan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gegeven</a:t>
                </a:r>
                <a:r>
                  <a:rPr lang="en-US" dirty="0">
                    <a:latin typeface="RijksoverheidSansText" panose="020B0503040202060203" pitchFamily="34" charset="0"/>
                  </a:rPr>
                  <a:t> door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	</a:t>
                </a:r>
                <a:r>
                  <a:rPr lang="en-US" dirty="0" err="1"/>
                  <a:t>Ondergrens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180−2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3693≈155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2614</m:t>
                    </m:r>
                  </m:oMath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r>
                  <a:rPr lang="en-US" dirty="0"/>
                  <a:t>	</a:t>
                </a:r>
                <a:r>
                  <a:rPr lang="en-US" dirty="0" err="1"/>
                  <a:t>Bovengrens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180+2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3693≈204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7386→[155;205]</m:t>
                    </m:r>
                  </m:oMath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r>
                  <a:rPr lang="en-US" b="1" dirty="0" smtClean="0">
                    <a:latin typeface="RijksoverheidSansText" panose="020B0503040202060203" pitchFamily="34" charset="0"/>
                  </a:rPr>
                  <a:t>Met 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95%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zal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het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waar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nemen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tussen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155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205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liggen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en-US" b="1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83800" cy="4246562"/>
              </a:xfrm>
              <a:blipFill>
                <a:blip r:embed="rId2"/>
                <a:stretch>
                  <a:fillRect l="-1597" t="-2009" b="-3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288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err="1"/>
              <a:t>Fracties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r>
                  <a:rPr lang="en-US" dirty="0"/>
                  <a:t>In </a:t>
                </a:r>
                <a:r>
                  <a:rPr lang="en-US" dirty="0" err="1"/>
                  <a:t>statistische</a:t>
                </a:r>
                <a:r>
                  <a:rPr lang="en-US" dirty="0"/>
                  <a:t> analyses </a:t>
                </a:r>
                <a:r>
                  <a:rPr lang="en-US" dirty="0" err="1"/>
                  <a:t>zijn</a:t>
                </a:r>
                <a:r>
                  <a:rPr lang="en-US" dirty="0"/>
                  <a:t> we </a:t>
                </a:r>
                <a:r>
                  <a:rPr lang="en-US" dirty="0" err="1"/>
                  <a:t>vaak</a:t>
                </a:r>
                <a:r>
                  <a:rPr lang="en-US" dirty="0"/>
                  <a:t> </a:t>
                </a:r>
                <a:r>
                  <a:rPr lang="en-US" dirty="0" err="1"/>
                  <a:t>niet</a:t>
                </a:r>
                <a:r>
                  <a:rPr lang="en-US" dirty="0"/>
                  <a:t> </a:t>
                </a:r>
                <a:r>
                  <a:rPr lang="en-US" dirty="0" err="1"/>
                  <a:t>zozeer</a:t>
                </a:r>
                <a:r>
                  <a:rPr lang="en-US" dirty="0"/>
                  <a:t> </a:t>
                </a:r>
                <a:r>
                  <a:rPr lang="en-US" dirty="0" err="1"/>
                  <a:t>geinteresseerd</a:t>
                </a:r>
                <a:r>
                  <a:rPr lang="en-US" dirty="0"/>
                  <a:t> in </a:t>
                </a:r>
                <a:r>
                  <a:rPr lang="en-US" b="1" dirty="0" err="1"/>
                  <a:t>aantallen</a:t>
                </a:r>
                <a:r>
                  <a:rPr lang="en-US" dirty="0"/>
                  <a:t> </a:t>
                </a:r>
                <a:r>
                  <a:rPr lang="en-US" dirty="0" err="1"/>
                  <a:t>successen</a:t>
                </a:r>
                <a:r>
                  <a:rPr lang="en-US" dirty="0"/>
                  <a:t> in </a:t>
                </a:r>
                <a:r>
                  <a:rPr lang="en-US" dirty="0" err="1"/>
                  <a:t>een</a:t>
                </a:r>
                <a:r>
                  <a:rPr lang="en-US" dirty="0"/>
                  <a:t> dataset, maar </a:t>
                </a:r>
                <a:r>
                  <a:rPr lang="en-US" dirty="0" err="1"/>
                  <a:t>eerder</a:t>
                </a:r>
                <a:r>
                  <a:rPr lang="en-US" dirty="0"/>
                  <a:t> het </a:t>
                </a:r>
                <a:r>
                  <a:rPr lang="en-US" b="1" dirty="0"/>
                  <a:t>percentage / </a:t>
                </a:r>
                <a:r>
                  <a:rPr lang="en-US" b="1" dirty="0" err="1"/>
                  <a:t>fractie</a:t>
                </a:r>
                <a:r>
                  <a:rPr lang="en-US" dirty="0"/>
                  <a:t> </a:t>
                </a:r>
                <a:r>
                  <a:rPr lang="en-US" dirty="0" err="1"/>
                  <a:t>successen</a:t>
                </a:r>
                <a:r>
                  <a:rPr lang="en-US" dirty="0"/>
                  <a:t> van het </a:t>
                </a:r>
                <a:r>
                  <a:rPr lang="en-US" dirty="0" err="1"/>
                  <a:t>totaal</a:t>
                </a:r>
                <a:r>
                  <a:rPr lang="en-US" dirty="0"/>
                  <a:t> </a:t>
                </a:r>
                <a:r>
                  <a:rPr lang="en-US" dirty="0" err="1"/>
                  <a:t>aantal</a:t>
                </a:r>
                <a:r>
                  <a:rPr lang="en-US" dirty="0"/>
                  <a:t> </a:t>
                </a:r>
                <a:r>
                  <a:rPr lang="en-US" dirty="0" err="1" smtClean="0"/>
                  <a:t>datapunten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Gegeven</a:t>
                </a:r>
                <a:r>
                  <a:rPr lang="en-US" dirty="0"/>
                  <a:t>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binomiaal</a:t>
                </a:r>
                <a:r>
                  <a:rPr lang="en-US" dirty="0"/>
                  <a:t> </a:t>
                </a:r>
                <a:r>
                  <a:rPr lang="en-US" dirty="0" err="1"/>
                  <a:t>verdeelde</a:t>
                </a:r>
                <a:r>
                  <a:rPr lang="en-US" dirty="0"/>
                  <a:t> </a:t>
                </a:r>
                <a:r>
                  <a:rPr lang="en-US" dirty="0" err="1"/>
                  <a:t>kansvariabele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Binomiaal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, </a:t>
                </a:r>
                <a:r>
                  <a:rPr lang="en-US" dirty="0" err="1"/>
                  <a:t>kunnen</a:t>
                </a:r>
                <a:r>
                  <a:rPr lang="en-US" dirty="0"/>
                  <a:t> we de </a:t>
                </a:r>
                <a:r>
                  <a:rPr lang="en-US" dirty="0" err="1"/>
                  <a:t>fractie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van </a:t>
                </a:r>
                <a:r>
                  <a:rPr lang="en-US" dirty="0" err="1"/>
                  <a:t>successen</a:t>
                </a:r>
                <a:r>
                  <a:rPr lang="en-US" dirty="0"/>
                  <a:t> </a:t>
                </a:r>
                <a:r>
                  <a:rPr lang="en-US" dirty="0" err="1"/>
                  <a:t>definiëren</a:t>
                </a:r>
                <a:r>
                  <a:rPr lang="en-US" dirty="0"/>
                  <a:t> </a:t>
                </a:r>
                <a:r>
                  <a:rPr lang="en-US" dirty="0" err="1"/>
                  <a:t>als</a:t>
                </a:r>
                <a:r>
                  <a:rPr lang="en-US" dirty="0"/>
                  <a:t> </a:t>
                </a:r>
                <a:r>
                  <a:rPr lang="en-US" dirty="0" err="1"/>
                  <a:t>volgt</a:t>
                </a:r>
                <a:r>
                  <a:rPr lang="en-US" dirty="0"/>
                  <a:t>:</a:t>
                </a: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 err="1"/>
                  <a:t>Merk</a:t>
                </a:r>
                <a:r>
                  <a:rPr lang="en-US" b="1" dirty="0"/>
                  <a:t> op: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kansvariabele</a:t>
                </a:r>
                <a:r>
                  <a:rPr lang="en-US" dirty="0"/>
                  <a:t>, </a:t>
                </a:r>
                <a:r>
                  <a:rPr lang="en-US" dirty="0" err="1"/>
                  <a:t>dus</a:t>
                </a:r>
                <a:r>
                  <a:rPr lang="en-US" dirty="0"/>
                  <a:t> is de </a:t>
                </a:r>
                <a:r>
                  <a:rPr lang="en-US" dirty="0" err="1"/>
                  <a:t>fractie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dat</a:t>
                </a:r>
                <a:r>
                  <a:rPr lang="en-US" dirty="0"/>
                  <a:t> </a:t>
                </a:r>
                <a:r>
                  <a:rPr lang="en-US" dirty="0" err="1"/>
                  <a:t>ook</a:t>
                </a:r>
                <a:r>
                  <a:rPr lang="en-US" dirty="0"/>
                  <a:t>!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b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580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err="1"/>
              <a:t>Fracties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r>
                  <a:rPr lang="en-US" sz="2400" dirty="0"/>
                  <a:t>Gegeven </a:t>
                </a:r>
                <a:r>
                  <a:rPr lang="en-US" sz="2400" dirty="0" err="1"/>
                  <a:t>een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binomiaal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verdeelde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kansvariabele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Binomiaal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, </a:t>
                </a:r>
                <a:r>
                  <a:rPr lang="en-US" sz="2400" dirty="0" err="1"/>
                  <a:t>kunnen</a:t>
                </a:r>
                <a:r>
                  <a:rPr lang="en-US" sz="2400" dirty="0"/>
                  <a:t> we de </a:t>
                </a:r>
                <a:r>
                  <a:rPr lang="en-US" sz="2400" dirty="0" err="1"/>
                  <a:t>fractie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van </a:t>
                </a:r>
                <a:r>
                  <a:rPr lang="en-US" sz="2400" dirty="0" err="1"/>
                  <a:t>successen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definiëren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als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volgt</a:t>
                </a:r>
                <a:r>
                  <a:rPr lang="en-US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 err="1"/>
                  <a:t>Verwachtingswaarde</a:t>
                </a:r>
                <a:r>
                  <a:rPr lang="en-US" dirty="0"/>
                  <a:t>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:endParaRPr lang="en-US" b="1" dirty="0"/>
              </a:p>
              <a:p>
                <a:r>
                  <a:rPr lang="en-US" b="1" dirty="0" err="1"/>
                  <a:t>Variantie</a:t>
                </a:r>
                <a:r>
                  <a:rPr lang="en-US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723" t="-229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342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827816" cy="4246562"/>
          </a:xfrm>
        </p:spPr>
        <p:txBody>
          <a:bodyPr/>
          <a:lstStyle/>
          <a:p>
            <a:r>
              <a:rPr lang="en-US" sz="2400" b="1" dirty="0"/>
              <a:t>Bij </a:t>
            </a:r>
            <a:r>
              <a:rPr lang="en-US" sz="2400" b="1" dirty="0" err="1"/>
              <a:t>een</a:t>
            </a:r>
            <a:r>
              <a:rPr lang="en-US" sz="2400" b="1" dirty="0"/>
              <a:t> </a:t>
            </a:r>
            <a:r>
              <a:rPr lang="en-US" sz="2400" b="1" dirty="0" err="1"/>
              <a:t>keukenbedrijf</a:t>
            </a:r>
            <a:r>
              <a:rPr lang="en-US" sz="2400" b="1" dirty="0"/>
              <a:t> is </a:t>
            </a:r>
            <a:r>
              <a:rPr lang="en-US" sz="2400" b="1" dirty="0" err="1"/>
              <a:t>bekend</a:t>
            </a:r>
            <a:r>
              <a:rPr lang="en-US" sz="2400" b="1" dirty="0"/>
              <a:t> </a:t>
            </a:r>
            <a:r>
              <a:rPr lang="en-US" sz="2400" b="1" dirty="0" err="1"/>
              <a:t>dat</a:t>
            </a:r>
            <a:r>
              <a:rPr lang="en-US" sz="2400" b="1" dirty="0"/>
              <a:t> van de </a:t>
            </a:r>
            <a:r>
              <a:rPr lang="en-US" sz="2400" b="1" dirty="0" err="1"/>
              <a:t>klanten</a:t>
            </a:r>
            <a:r>
              <a:rPr lang="en-US" sz="2400" b="1" dirty="0"/>
              <a:t> die </a:t>
            </a:r>
            <a:r>
              <a:rPr lang="en-US" sz="2400" b="1" dirty="0" err="1"/>
              <a:t>een</a:t>
            </a:r>
            <a:r>
              <a:rPr lang="en-US" sz="2400" b="1" dirty="0"/>
              <a:t> </a:t>
            </a:r>
            <a:r>
              <a:rPr lang="en-US" sz="2400" b="1" dirty="0" err="1"/>
              <a:t>catalogus</a:t>
            </a:r>
            <a:r>
              <a:rPr lang="en-US" sz="2400" b="1" dirty="0"/>
              <a:t> </a:t>
            </a:r>
            <a:r>
              <a:rPr lang="en-US" sz="2400" b="1" dirty="0" err="1"/>
              <a:t>aanvragen</a:t>
            </a:r>
            <a:r>
              <a:rPr lang="en-US" sz="2400" b="1" dirty="0"/>
              <a:t>, 15% </a:t>
            </a:r>
            <a:r>
              <a:rPr lang="en-US" sz="2400" b="1" dirty="0" err="1"/>
              <a:t>daadwerkelijk</a:t>
            </a:r>
            <a:r>
              <a:rPr lang="en-US" sz="2400" b="1" dirty="0"/>
              <a:t> </a:t>
            </a:r>
            <a:r>
              <a:rPr lang="en-US" sz="2400" b="1" dirty="0" err="1"/>
              <a:t>een</a:t>
            </a:r>
            <a:r>
              <a:rPr lang="en-US" sz="2400" b="1" dirty="0"/>
              <a:t> </a:t>
            </a:r>
            <a:r>
              <a:rPr lang="en-US" sz="2400" b="1" dirty="0" err="1"/>
              <a:t>bestelling</a:t>
            </a:r>
            <a:r>
              <a:rPr lang="en-US" sz="2400" b="1" dirty="0"/>
              <a:t> </a:t>
            </a:r>
            <a:r>
              <a:rPr lang="en-US" sz="2400" b="1" dirty="0" err="1"/>
              <a:t>plaatst</a:t>
            </a:r>
            <a:r>
              <a:rPr lang="en-US" sz="2400" b="1" dirty="0"/>
              <a:t> in de </a:t>
            </a:r>
            <a:r>
              <a:rPr lang="en-US" sz="2400" b="1" dirty="0" err="1"/>
              <a:t>maand</a:t>
            </a:r>
            <a:r>
              <a:rPr lang="en-US" sz="2400" b="1" dirty="0"/>
              <a:t> </a:t>
            </a:r>
            <a:r>
              <a:rPr lang="en-US" sz="2400" b="1" dirty="0" err="1"/>
              <a:t>na</a:t>
            </a:r>
            <a:r>
              <a:rPr lang="en-US" sz="2400" b="1" dirty="0"/>
              <a:t> </a:t>
            </a:r>
            <a:r>
              <a:rPr lang="en-US" sz="2400" b="1" dirty="0" err="1"/>
              <a:t>ontvangst</a:t>
            </a:r>
            <a:r>
              <a:rPr lang="en-US" sz="2400" b="1" dirty="0"/>
              <a:t> van de </a:t>
            </a:r>
            <a:r>
              <a:rPr lang="en-US" sz="2400" b="1" dirty="0" err="1"/>
              <a:t>catalogus</a:t>
            </a:r>
            <a:r>
              <a:rPr lang="en-US" sz="2400" b="1" dirty="0"/>
              <a:t>. </a:t>
            </a:r>
            <a:r>
              <a:rPr lang="en-US" sz="2400" b="1" dirty="0" err="1"/>
              <a:t>Daarna</a:t>
            </a:r>
            <a:r>
              <a:rPr lang="en-US" sz="2400" b="1" dirty="0"/>
              <a:t> </a:t>
            </a:r>
            <a:r>
              <a:rPr lang="en-US" sz="2400" b="1" dirty="0" err="1"/>
              <a:t>blijken</a:t>
            </a:r>
            <a:r>
              <a:rPr lang="en-US" sz="2400" b="1" dirty="0"/>
              <a:t> er nooit </a:t>
            </a:r>
            <a:r>
              <a:rPr lang="en-US" sz="2400" b="1" dirty="0" err="1"/>
              <a:t>bestellingen</a:t>
            </a:r>
            <a:r>
              <a:rPr lang="en-US" sz="2400" b="1" dirty="0"/>
              <a:t> </a:t>
            </a:r>
            <a:r>
              <a:rPr lang="en-US" sz="2400" b="1" dirty="0" err="1"/>
              <a:t>te</a:t>
            </a:r>
            <a:r>
              <a:rPr lang="en-US" sz="2400" b="1" dirty="0"/>
              <a:t> </a:t>
            </a:r>
            <a:r>
              <a:rPr lang="en-US" sz="2400" b="1" dirty="0" err="1"/>
              <a:t>worden</a:t>
            </a:r>
            <a:r>
              <a:rPr lang="en-US" sz="2400" b="1" dirty="0"/>
              <a:t> </a:t>
            </a:r>
            <a:r>
              <a:rPr lang="en-US" sz="2400" b="1" dirty="0" err="1"/>
              <a:t>gedaan</a:t>
            </a:r>
            <a:r>
              <a:rPr lang="en-US" sz="2400" b="1" dirty="0"/>
              <a:t>.</a:t>
            </a:r>
          </a:p>
          <a:p>
            <a:pPr marL="457200" indent="-457200">
              <a:buFont typeface="+mj-lt"/>
              <a:buAutoNum type="alphaLcParenR" startAt="3"/>
            </a:pPr>
            <a:r>
              <a:rPr lang="en-US" sz="2400" b="1" dirty="0"/>
              <a:t>In </a:t>
            </a:r>
            <a:r>
              <a:rPr lang="en-US" sz="2400" b="1" dirty="0" err="1"/>
              <a:t>een</a:t>
            </a:r>
            <a:r>
              <a:rPr lang="en-US" sz="2400" b="1" dirty="0"/>
              <a:t> </a:t>
            </a:r>
            <a:r>
              <a:rPr lang="en-US" sz="2400" b="1" dirty="0" err="1"/>
              <a:t>bepaalde</a:t>
            </a:r>
            <a:r>
              <a:rPr lang="en-US" sz="2400" b="1" dirty="0"/>
              <a:t> </a:t>
            </a:r>
            <a:r>
              <a:rPr lang="en-US" sz="2400" b="1" dirty="0" err="1"/>
              <a:t>periode</a:t>
            </a:r>
            <a:r>
              <a:rPr lang="en-US" sz="2400" b="1" dirty="0"/>
              <a:t> </a:t>
            </a:r>
            <a:r>
              <a:rPr lang="en-US" sz="2400" b="1" dirty="0" err="1"/>
              <a:t>werden</a:t>
            </a:r>
            <a:r>
              <a:rPr lang="en-US" sz="2400" b="1" dirty="0"/>
              <a:t> 800 </a:t>
            </a:r>
            <a:r>
              <a:rPr lang="en-US" sz="2400" b="1" dirty="0" err="1"/>
              <a:t>catalogi</a:t>
            </a:r>
            <a:r>
              <a:rPr lang="en-US" sz="2400" b="1" dirty="0"/>
              <a:t> </a:t>
            </a:r>
            <a:r>
              <a:rPr lang="en-US" sz="2400" b="1" dirty="0" err="1"/>
              <a:t>verzonden</a:t>
            </a:r>
            <a:r>
              <a:rPr lang="en-US" sz="2400" b="1" dirty="0"/>
              <a:t>. Hoe </a:t>
            </a:r>
            <a:r>
              <a:rPr lang="en-US" sz="2400" b="1" dirty="0" err="1"/>
              <a:t>groot</a:t>
            </a:r>
            <a:r>
              <a:rPr lang="en-US" sz="2400" b="1" dirty="0"/>
              <a:t> is de </a:t>
            </a:r>
            <a:r>
              <a:rPr lang="en-US" sz="2400" b="1" dirty="0" err="1"/>
              <a:t>kans</a:t>
            </a:r>
            <a:r>
              <a:rPr lang="en-US" sz="2400" b="1" dirty="0"/>
              <a:t> </a:t>
            </a:r>
            <a:r>
              <a:rPr lang="en-US" sz="2400" b="1" dirty="0" err="1"/>
              <a:t>dat</a:t>
            </a:r>
            <a:r>
              <a:rPr lang="en-US" sz="2400" b="1" dirty="0"/>
              <a:t> de </a:t>
            </a:r>
            <a:r>
              <a:rPr lang="en-US" sz="2400" b="1" dirty="0" err="1"/>
              <a:t>fractie</a:t>
            </a:r>
            <a:r>
              <a:rPr lang="en-US" sz="2400" b="1" dirty="0"/>
              <a:t> </a:t>
            </a:r>
            <a:r>
              <a:rPr lang="en-US" sz="2400" b="1" dirty="0" err="1"/>
              <a:t>bestellers</a:t>
            </a:r>
            <a:r>
              <a:rPr lang="en-US" sz="2400" b="1" dirty="0"/>
              <a:t> minder is </a:t>
            </a:r>
            <a:r>
              <a:rPr lang="en-US" sz="2400" b="1" dirty="0" err="1"/>
              <a:t>dan</a:t>
            </a:r>
            <a:r>
              <a:rPr lang="en-US" sz="2400" b="1" dirty="0"/>
              <a:t> 10% </a:t>
            </a:r>
            <a:r>
              <a:rPr lang="en-US" sz="2400" b="1" dirty="0" err="1"/>
              <a:t>voor</a:t>
            </a:r>
            <a:r>
              <a:rPr lang="en-US" sz="2400" b="1" dirty="0"/>
              <a:t> </a:t>
            </a:r>
            <a:r>
              <a:rPr lang="en-US" sz="2400" b="1" dirty="0" err="1"/>
              <a:t>deze</a:t>
            </a:r>
            <a:r>
              <a:rPr lang="en-US" sz="2400" b="1" dirty="0"/>
              <a:t> </a:t>
            </a:r>
            <a:r>
              <a:rPr lang="en-US" sz="2400" b="1" dirty="0" err="1"/>
              <a:t>groep</a:t>
            </a:r>
            <a:r>
              <a:rPr lang="en-US" sz="2400" b="1" dirty="0"/>
              <a:t> </a:t>
            </a:r>
            <a:r>
              <a:rPr lang="en-US" sz="2400" b="1" dirty="0" err="1"/>
              <a:t>aanvragers</a:t>
            </a:r>
            <a:r>
              <a:rPr lang="en-US" sz="2400" b="1" dirty="0"/>
              <a:t>?</a:t>
            </a:r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373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lphaLcParenR" startAt="3"/>
                </a:pPr>
                <a:r>
                  <a:rPr lang="en-US" b="1" dirty="0" smtClean="0"/>
                  <a:t>In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bepaalde</a:t>
                </a:r>
                <a:r>
                  <a:rPr lang="en-US" b="1" dirty="0"/>
                  <a:t> </a:t>
                </a:r>
                <a:r>
                  <a:rPr lang="en-US" b="1" dirty="0" err="1"/>
                  <a:t>periode</a:t>
                </a:r>
                <a:r>
                  <a:rPr lang="en-US" b="1" dirty="0"/>
                  <a:t> </a:t>
                </a:r>
                <a:r>
                  <a:rPr lang="en-US" b="1" dirty="0" err="1"/>
                  <a:t>werden</a:t>
                </a:r>
                <a:r>
                  <a:rPr lang="en-US" b="1" dirty="0"/>
                  <a:t> 800 </a:t>
                </a:r>
                <a:r>
                  <a:rPr lang="en-US" b="1" dirty="0" err="1"/>
                  <a:t>catalogi</a:t>
                </a:r>
                <a:r>
                  <a:rPr lang="en-US" b="1" dirty="0"/>
                  <a:t> </a:t>
                </a:r>
                <a:r>
                  <a:rPr lang="en-US" b="1" dirty="0" err="1"/>
                  <a:t>verzonden</a:t>
                </a:r>
                <a:r>
                  <a:rPr lang="en-US" b="1" dirty="0"/>
                  <a:t>. Hoe </a:t>
                </a:r>
                <a:r>
                  <a:rPr lang="en-US" b="1" dirty="0" err="1"/>
                  <a:t>groot</a:t>
                </a:r>
                <a:r>
                  <a:rPr lang="en-US" b="1" dirty="0"/>
                  <a:t> is 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de </a:t>
                </a:r>
                <a:r>
                  <a:rPr lang="en-US" b="1" dirty="0" err="1"/>
                  <a:t>fractie</a:t>
                </a:r>
                <a:r>
                  <a:rPr lang="en-US" b="1" dirty="0"/>
                  <a:t> </a:t>
                </a:r>
                <a:r>
                  <a:rPr lang="en-US" b="1" dirty="0" err="1"/>
                  <a:t>bestellers</a:t>
                </a:r>
                <a:r>
                  <a:rPr lang="en-US" b="1" dirty="0"/>
                  <a:t> minder is </a:t>
                </a:r>
                <a:r>
                  <a:rPr lang="en-US" b="1" dirty="0" err="1"/>
                  <a:t>dan</a:t>
                </a:r>
                <a:r>
                  <a:rPr lang="en-US" b="1" dirty="0"/>
                  <a:t> 10% </a:t>
                </a:r>
                <a:r>
                  <a:rPr lang="en-US" b="1" dirty="0" err="1"/>
                  <a:t>voor</a:t>
                </a:r>
                <a:r>
                  <a:rPr lang="en-US" b="1" dirty="0"/>
                  <a:t> </a:t>
                </a:r>
                <a:r>
                  <a:rPr lang="en-US" b="1" dirty="0" err="1"/>
                  <a:t>deze</a:t>
                </a:r>
                <a:r>
                  <a:rPr lang="en-US" b="1" dirty="0"/>
                  <a:t> </a:t>
                </a:r>
                <a:r>
                  <a:rPr lang="en-US" b="1" dirty="0" err="1"/>
                  <a:t>groep</a:t>
                </a:r>
                <a:r>
                  <a:rPr lang="en-US" b="1" dirty="0"/>
                  <a:t> </a:t>
                </a:r>
                <a:r>
                  <a:rPr lang="en-US" b="1" dirty="0" err="1"/>
                  <a:t>aanvragers</a:t>
                </a:r>
                <a:r>
                  <a:rPr lang="en-US" b="1" dirty="0"/>
                  <a:t>?</a:t>
                </a:r>
              </a:p>
              <a:p>
                <a:pPr marL="457200" indent="-457200">
                  <a:buFont typeface="+mj-lt"/>
                  <a:buAutoNum type="alphaLcParenR" startAt="3"/>
                </a:pPr>
                <a:endParaRPr lang="en-US" b="1" dirty="0"/>
              </a:p>
              <a:p>
                <a:r>
                  <a:rPr lang="nl-NL" b="0" dirty="0" smtClean="0"/>
                  <a:t>Laat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de binomial </a:t>
                </a:r>
                <a:r>
                  <a:rPr lang="en-US" dirty="0" err="1" smtClean="0"/>
                  <a:t>kansvariabele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zijn</a:t>
                </a:r>
                <a:r>
                  <a:rPr lang="en-US" dirty="0" smtClean="0"/>
                  <a:t> die 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aanvragers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telt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bestelling</a:t>
                </a:r>
                <a:r>
                  <a:rPr lang="en-US" dirty="0"/>
                  <a:t> </a:t>
                </a:r>
                <a:r>
                  <a:rPr lang="en-US" dirty="0" err="1" smtClean="0"/>
                  <a:t>plaatst</a:t>
                </a:r>
                <a:r>
                  <a:rPr lang="en-US" dirty="0" smtClean="0"/>
                  <a:t>, met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=800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aantal</a:t>
                </a:r>
                <a:r>
                  <a:rPr lang="en-US" dirty="0"/>
                  <a:t> </a:t>
                </a:r>
                <a:r>
                  <a:rPr lang="en-US" dirty="0" err="1"/>
                  <a:t>klanten</a:t>
                </a:r>
                <a:r>
                  <a:rPr lang="en-US" dirty="0"/>
                  <a:t> die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catalogus</a:t>
                </a:r>
                <a:r>
                  <a:rPr lang="en-US" dirty="0"/>
                  <a:t> </a:t>
                </a:r>
                <a:r>
                  <a:rPr lang="en-US" dirty="0" err="1"/>
                  <a:t>aangevraagd</a:t>
                </a:r>
                <a:r>
                  <a:rPr lang="en-US" dirty="0"/>
                  <a:t> </a:t>
                </a:r>
                <a:r>
                  <a:rPr lang="en-US" dirty="0" err="1"/>
                  <a:t>hebben</a:t>
                </a:r>
                <a:r>
                  <a:rPr lang="en-US" dirty="0"/>
                  <a:t>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kans</a:t>
                </a:r>
                <a:r>
                  <a:rPr lang="en-US" dirty="0"/>
                  <a:t> </a:t>
                </a:r>
                <a:r>
                  <a:rPr lang="en-US" dirty="0" err="1"/>
                  <a:t>dat</a:t>
                </a:r>
                <a:r>
                  <a:rPr lang="en-US" dirty="0"/>
                  <a:t> </a:t>
                </a:r>
                <a:r>
                  <a:rPr lang="en-US" dirty="0" err="1"/>
                  <a:t>zo’n</a:t>
                </a:r>
                <a:r>
                  <a:rPr lang="en-US" dirty="0"/>
                  <a:t> </a:t>
                </a:r>
                <a:r>
                  <a:rPr lang="en-US" dirty="0" err="1"/>
                  <a:t>klant</a:t>
                </a:r>
                <a:r>
                  <a:rPr lang="en-US" dirty="0"/>
                  <a:t>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bestelling</a:t>
                </a:r>
                <a:r>
                  <a:rPr lang="en-US" dirty="0"/>
                  <a:t> </a:t>
                </a:r>
                <a:r>
                  <a:rPr lang="en-US" dirty="0" err="1"/>
                  <a:t>plaatst</a:t>
                </a:r>
                <a:r>
                  <a:rPr lang="en-US" dirty="0"/>
                  <a:t>)</a:t>
                </a:r>
              </a:p>
              <a:p>
                <a:r>
                  <a:rPr lang="en-US" dirty="0" smtClean="0"/>
                  <a:t>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minder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10%</m:t>
                    </m:r>
                  </m:oMath>
                </a14:m>
                <a:r>
                  <a:rPr lang="en-US" dirty="0" smtClean="0"/>
                  <a:t> van de </a:t>
                </a:r>
                <a:r>
                  <a:rPr lang="en-US" dirty="0" err="1" smtClean="0"/>
                  <a:t>aanvrager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bestelling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plaats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gelijk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:</a:t>
                </a:r>
              </a:p>
              <a:p>
                <a:pPr/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&lt;0.1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&lt;0.1⋅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&lt;80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≤79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=800,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=0.15,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=79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2317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b="1" dirty="0">
                    <a:latin typeface="RijksoverheidSansText" panose="020B0503040202060203" pitchFamily="34" charset="0"/>
                  </a:rPr>
                  <a:t>Het is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zeer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onwaarschijnlijk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minder van 10% van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aanvragers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plaatst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r="-1264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 2025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063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Samenvatting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1187856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>
                <a:latin typeface="RijksoverheidSansText" panose="020B0503040202060203" pitchFamily="34" charset="0"/>
              </a:rPr>
              <a:t>Verwachtingswaarde en standaardafwijking van de binomiale verdeling</a:t>
            </a:r>
          </a:p>
          <a:p>
            <a:pPr lvl="1" indent="0">
              <a:buNone/>
            </a:pPr>
            <a:endParaRPr lang="en-US" sz="2400" b="0" dirty="0">
              <a:latin typeface="RijksoverheidSansText" panose="020B0503040202060203" pitchFamily="34" charset="0"/>
            </a:endParaRPr>
          </a:p>
          <a:p>
            <a:pPr lvl="1" indent="0">
              <a:buNone/>
            </a:pPr>
            <a:endParaRPr lang="en-US" sz="2400" b="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Voorspellingsinterval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Rekenen</a:t>
            </a:r>
            <a:r>
              <a:rPr lang="en-US" sz="2400" dirty="0">
                <a:latin typeface="RijksoverheidSansText" panose="020B0503040202060203" pitchFamily="34" charset="0"/>
              </a:rPr>
              <a:t> met </a:t>
            </a:r>
            <a:r>
              <a:rPr lang="en-US" sz="2400" dirty="0" err="1">
                <a:latin typeface="RijksoverheidSansText" panose="020B0503040202060203" pitchFamily="34" charset="0"/>
              </a:rPr>
              <a:t>proporties</a:t>
            </a:r>
            <a:endParaRPr lang="en-US" sz="2400" b="0" dirty="0">
              <a:latin typeface="RijksoverheidSansText" panose="020B0503040202060203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33034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 college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1187856" cy="4246562"/>
          </a:xfrm>
        </p:spPr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ijksoverheidSansText" panose="020B0503040202060203" pitchFamily="34" charset="0"/>
              </a:rPr>
              <a:t>De </a:t>
            </a:r>
            <a:r>
              <a:rPr lang="en-US" sz="2400" dirty="0" err="1">
                <a:latin typeface="RijksoverheidSansText" panose="020B0503040202060203" pitchFamily="34" charset="0"/>
              </a:rPr>
              <a:t>normale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verdeling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endParaRPr lang="en-US" sz="2400" b="1" dirty="0">
              <a:latin typeface="RijksoverheidSansText" panose="020B0503040202060203" pitchFamily="34" charset="0"/>
            </a:endParaRPr>
          </a:p>
          <a:p>
            <a:r>
              <a:rPr lang="en-US" sz="2400" b="1" dirty="0" err="1">
                <a:latin typeface="RijksoverheidSansText" panose="020B0503040202060203" pitchFamily="34" charset="0"/>
              </a:rPr>
              <a:t>Huiswerk</a:t>
            </a:r>
            <a:r>
              <a:rPr lang="en-US" sz="2400" b="1" dirty="0">
                <a:latin typeface="RijksoverheidSansText" panose="020B050304020206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Lezen</a:t>
            </a:r>
            <a:r>
              <a:rPr lang="en-US" sz="2400" dirty="0">
                <a:latin typeface="RijksoverheidSansText" panose="020B0503040202060203" pitchFamily="34" charset="0"/>
              </a:rPr>
              <a:t> van A. Buijs: </a:t>
            </a: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6.2 (</a:t>
            </a:r>
            <a:r>
              <a:rPr lang="en-US" sz="2400" dirty="0" err="1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 207-209), 6.4 (</a:t>
            </a:r>
            <a:r>
              <a:rPr lang="en-US" sz="2400" dirty="0" err="1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 212-215)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Opdrachten</a:t>
            </a:r>
            <a:r>
              <a:rPr lang="en-US" sz="2400" dirty="0">
                <a:latin typeface="RijksoverheidSansText" panose="020B0503040202060203" pitchFamily="34" charset="0"/>
              </a:rPr>
              <a:t>: </a:t>
            </a:r>
            <a:r>
              <a:rPr lang="en-US" sz="2400" dirty="0" smtClean="0">
                <a:latin typeface="RijksoverheidSansText" panose="020B0503040202060203" pitchFamily="34" charset="0"/>
              </a:rPr>
              <a:t>H6: 8, 10, 12, 14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0" indent="0">
              <a:buNone/>
            </a:pPr>
            <a:endParaRPr lang="nl-NL" sz="24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Mei 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53090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1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landmachtNL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3.xml><?xml version="1.0" encoding="utf-8"?>
<a:theme xmlns:a="http://schemas.openxmlformats.org/drawingml/2006/main" name="2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Aangepast 1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</Template>
  <TotalTime>0</TotalTime>
  <Words>2196</Words>
  <Application>Microsoft Office PowerPoint</Application>
  <PresentationFormat>Breedbeeld</PresentationFormat>
  <Paragraphs>231</Paragraphs>
  <Slides>21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3</vt:i4>
      </vt:variant>
      <vt:variant>
        <vt:lpstr>Diatitels</vt:lpstr>
      </vt:variant>
      <vt:variant>
        <vt:i4>21</vt:i4>
      </vt:variant>
    </vt:vector>
  </HeadingPairs>
  <TitlesOfParts>
    <vt:vector size="31" baseType="lpstr">
      <vt:lpstr>Arial</vt:lpstr>
      <vt:lpstr>Cambria Math</vt:lpstr>
      <vt:lpstr>RijksoverheidSansHeadingTT</vt:lpstr>
      <vt:lpstr>RijksoverheidSansText</vt:lpstr>
      <vt:lpstr>RijksoverheidSansWebText Bold</vt:lpstr>
      <vt:lpstr>RijksoverheidSansWebText Regula</vt:lpstr>
      <vt:lpstr>Verdana</vt:lpstr>
      <vt:lpstr>Presentatie</vt:lpstr>
      <vt:lpstr>1_Presentatie</vt:lpstr>
      <vt:lpstr>2_Presentatie</vt:lpstr>
      <vt:lpstr>Statistiek: college 4b</vt:lpstr>
      <vt:lpstr>Recap: vorig college</vt:lpstr>
      <vt:lpstr>Leerdoelen </vt:lpstr>
      <vt:lpstr>Recap: Bernoulli-variabele</vt:lpstr>
      <vt:lpstr>Vraag</vt:lpstr>
      <vt:lpstr>Eigenschappen van de Bernoulli-verdeling</vt:lpstr>
      <vt:lpstr>Binomiale verdeling: verwachtingswaarde en variantie</vt:lpstr>
      <vt:lpstr>Binomiale verdeling: verwachtingswaarde en variantie</vt:lpstr>
      <vt:lpstr>Voorbeeld: bergoperaties van Mountain Leaders</vt:lpstr>
      <vt:lpstr>Voorbeeld: bergoperaties van Mountain Leaders</vt:lpstr>
      <vt:lpstr>PowerPoint-presentatie</vt:lpstr>
      <vt:lpstr>Buijs: opgave 6.14</vt:lpstr>
      <vt:lpstr>Buijs: opgave 6.14</vt:lpstr>
      <vt:lpstr>Buijs: opgave 6.14</vt:lpstr>
      <vt:lpstr>Buijs: opgave 6.14</vt:lpstr>
      <vt:lpstr>Fracties</vt:lpstr>
      <vt:lpstr>Fracties</vt:lpstr>
      <vt:lpstr>Buijs: opgave 6.14</vt:lpstr>
      <vt:lpstr>Buijs: opgave 6.14</vt:lpstr>
      <vt:lpstr>Samenvatting</vt:lpstr>
      <vt:lpstr>Volgend college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Blom, DAMP, Dr. ir., DOSCO/NLDA/FMW/CG MTW</dc:creator>
  <cp:lastModifiedBy>Gebruiker</cp:lastModifiedBy>
  <cp:revision>64</cp:revision>
  <cp:lastPrinted>2011-09-21T07:52:24Z</cp:lastPrinted>
  <dcterms:created xsi:type="dcterms:W3CDTF">2025-01-22T12:46:18Z</dcterms:created>
  <dcterms:modified xsi:type="dcterms:W3CDTF">2026-02-27T14:55:12Z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