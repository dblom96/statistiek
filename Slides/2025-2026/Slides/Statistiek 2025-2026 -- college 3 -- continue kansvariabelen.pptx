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98" r:id="rId2"/>
    <p:sldMasterId id="2147483710" r:id="rId3"/>
  </p:sldMasterIdLst>
  <p:notesMasterIdLst>
    <p:notesMasterId r:id="rId35"/>
  </p:notesMasterIdLst>
  <p:handoutMasterIdLst>
    <p:handoutMasterId r:id="rId36"/>
  </p:handoutMasterIdLst>
  <p:sldIdLst>
    <p:sldId id="330" r:id="rId4"/>
    <p:sldId id="257" r:id="rId5"/>
    <p:sldId id="332" r:id="rId6"/>
    <p:sldId id="333" r:id="rId7"/>
    <p:sldId id="311" r:id="rId8"/>
    <p:sldId id="279" r:id="rId9"/>
    <p:sldId id="321" r:id="rId10"/>
    <p:sldId id="313" r:id="rId11"/>
    <p:sldId id="320" r:id="rId12"/>
    <p:sldId id="323" r:id="rId13"/>
    <p:sldId id="280" r:id="rId14"/>
    <p:sldId id="324" r:id="rId15"/>
    <p:sldId id="319" r:id="rId16"/>
    <p:sldId id="318" r:id="rId17"/>
    <p:sldId id="315" r:id="rId18"/>
    <p:sldId id="325" r:id="rId19"/>
    <p:sldId id="326" r:id="rId20"/>
    <p:sldId id="300" r:id="rId21"/>
    <p:sldId id="334" r:id="rId22"/>
    <p:sldId id="293" r:id="rId23"/>
    <p:sldId id="290" r:id="rId24"/>
    <p:sldId id="316" r:id="rId25"/>
    <p:sldId id="335" r:id="rId26"/>
    <p:sldId id="294" r:id="rId27"/>
    <p:sldId id="317" r:id="rId28"/>
    <p:sldId id="336" r:id="rId29"/>
    <p:sldId id="296" r:id="rId30"/>
    <p:sldId id="337" r:id="rId31"/>
    <p:sldId id="297" r:id="rId32"/>
    <p:sldId id="299" r:id="rId33"/>
    <p:sldId id="322" r:id="rId34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8EFF5"/>
    <a:srgbClr val="E17000"/>
    <a:srgbClr val="B80047"/>
    <a:srgbClr val="000000"/>
    <a:srgbClr val="55286E"/>
    <a:srgbClr val="0E3B6E"/>
    <a:srgbClr val="005187"/>
    <a:srgbClr val="00423C"/>
    <a:srgbClr val="0E6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00"/>
  </p:normalViewPr>
  <p:slideViewPr>
    <p:cSldViewPr>
      <p:cViewPr varScale="1">
        <p:scale>
          <a:sx n="109" d="100"/>
          <a:sy n="109" d="100"/>
        </p:scale>
        <p:origin x="720" y="1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E90AC-1A9D-4974-BAF5-4A7D733043D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26EC6-7821-4C66-ACA0-C4C826A60C6F}">
      <dgm:prSet phldrT="[Text]"/>
      <dgm:spPr/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399CC24F-1863-4927-A03D-9014BC9B1320}" type="parTrans" cxnId="{CE9F6066-92E7-45A3-BEAF-12762EEF7AC3}">
      <dgm:prSet/>
      <dgm:spPr/>
      <dgm:t>
        <a:bodyPr/>
        <a:lstStyle/>
        <a:p>
          <a:endParaRPr lang="en-US"/>
        </a:p>
      </dgm:t>
    </dgm:pt>
    <dgm:pt modelId="{4CC6A34B-8859-47AA-A26A-16DE8E9CD1CE}" type="sibTrans" cxnId="{CE9F6066-92E7-45A3-BEAF-12762EEF7AC3}">
      <dgm:prSet/>
      <dgm:spPr/>
      <dgm:t>
        <a:bodyPr/>
        <a:lstStyle/>
        <a:p>
          <a:endParaRPr lang="en-US"/>
        </a:p>
      </dgm:t>
    </dgm:pt>
    <dgm:pt modelId="{E11C979E-DA7F-44FE-93FF-6B10E1A32EFE}">
      <dgm:prSet phldrT="[Text]"/>
      <dgm:spPr/>
      <dgm:t>
        <a:bodyPr/>
        <a:lstStyle/>
        <a:p>
          <a:r>
            <a:rPr lang="en-US" dirty="0" smtClean="0"/>
            <a:t>Experiment </a:t>
          </a:r>
          <a:endParaRPr lang="en-US" dirty="0"/>
        </a:p>
      </dgm:t>
    </dgm:pt>
    <dgm:pt modelId="{36C2889A-2DD7-4CC0-830A-FD90DB7DE7A3}" type="parTrans" cxnId="{9399D6E6-EC3A-40E7-8D06-30549A77E737}">
      <dgm:prSet/>
      <dgm:spPr/>
      <dgm:t>
        <a:bodyPr/>
        <a:lstStyle/>
        <a:p>
          <a:endParaRPr lang="en-US"/>
        </a:p>
      </dgm:t>
    </dgm:pt>
    <dgm:pt modelId="{CBA8F9A7-B3A3-41C3-888D-E1DD4A1C1874}" type="sibTrans" cxnId="{9399D6E6-EC3A-40E7-8D06-30549A77E737}">
      <dgm:prSet/>
      <dgm:spPr/>
      <dgm:t>
        <a:bodyPr/>
        <a:lstStyle/>
        <a:p>
          <a:endParaRPr lang="en-US"/>
        </a:p>
      </dgm:t>
    </dgm:pt>
    <dgm:pt modelId="{069719F9-BB75-49A5-A166-10F2795AEF0B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692A72E2-8E20-4674-8647-F531720BD7AB}" type="parTrans" cxnId="{CBB670C9-5286-490A-945E-B2BDEB6C2CF3}">
      <dgm:prSet/>
      <dgm:spPr/>
      <dgm:t>
        <a:bodyPr/>
        <a:lstStyle/>
        <a:p>
          <a:endParaRPr lang="en-US"/>
        </a:p>
      </dgm:t>
    </dgm:pt>
    <dgm:pt modelId="{4FE59848-15AC-4F61-9815-B768F5B4D67A}" type="sibTrans" cxnId="{CBB670C9-5286-490A-945E-B2BDEB6C2CF3}">
      <dgm:prSet/>
      <dgm:spPr/>
      <dgm:t>
        <a:bodyPr/>
        <a:lstStyle/>
        <a:p>
          <a:endParaRPr lang="en-US"/>
        </a:p>
      </dgm:t>
    </dgm:pt>
    <dgm:pt modelId="{1DD63560-39EA-40A5-8D8C-D1F346A7411F}">
      <dgm:prSet phldrT="[Text]"/>
      <dgm:spPr/>
      <dgm:t>
        <a:bodyPr/>
        <a:lstStyle/>
        <a:p>
          <a:r>
            <a:rPr lang="en-US" dirty="0" err="1" smtClean="0"/>
            <a:t>Een</a:t>
          </a:r>
          <a:r>
            <a:rPr lang="en-US" dirty="0" smtClean="0"/>
            <a:t> van de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r>
            <a:rPr lang="en-US" dirty="0" smtClean="0"/>
            <a:t> (</a:t>
          </a:r>
          <a:r>
            <a:rPr lang="en-US" b="1" dirty="0" smtClean="0"/>
            <a:t>trekking</a:t>
          </a:r>
          <a:r>
            <a:rPr lang="en-US" dirty="0" smtClean="0"/>
            <a:t>)</a:t>
          </a:r>
          <a:endParaRPr lang="en-US" dirty="0"/>
        </a:p>
      </dgm:t>
    </dgm:pt>
    <dgm:pt modelId="{3F7BE854-47EB-45E1-B095-59561E777271}" type="parTrans" cxnId="{6CD97026-52D1-4004-B7F3-B2201E5C1C44}">
      <dgm:prSet/>
      <dgm:spPr/>
      <dgm:t>
        <a:bodyPr/>
        <a:lstStyle/>
        <a:p>
          <a:endParaRPr lang="en-US"/>
        </a:p>
      </dgm:t>
    </dgm:pt>
    <dgm:pt modelId="{0FDFD97D-4660-4EB9-A519-9BA8162C0D45}" type="sibTrans" cxnId="{6CD97026-52D1-4004-B7F3-B2201E5C1C4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EA94DEB-9F40-4F05-AC41-46C694D6339D}">
          <dgm:prSet/>
          <dgm:spPr/>
          <dgm:t>
            <a:bodyPr/>
            <a:lstStyle/>
            <a:p>
              <a:r>
                <a:rPr lang="en-US" dirty="0" smtClean="0"/>
                <a:t>Uitkomstenruimte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𝑆</m:t>
                  </m:r>
                </m:oMath>
              </a14:m>
              <a:endParaRPr lang="en-US" dirty="0"/>
            </a:p>
          </dgm:t>
        </dgm:pt>
      </mc:Choice>
      <mc:Fallback xmlns="">
        <dgm:pt modelId="{1EA94DEB-9F40-4F05-AC41-46C694D6339D}">
          <dgm:prSet/>
          <dgm:spPr/>
          <dgm:t>
            <a:bodyPr/>
            <a:lstStyle/>
            <a:p>
              <a:r>
                <a:rPr lang="en-US" dirty="0" smtClean="0"/>
                <a:t>Uitkomstenruimte </a:t>
              </a:r>
              <a:r>
                <a:rPr lang="en-US" b="0" i="0" smtClean="0">
                  <a:latin typeface="Cambria Math" panose="02040503050406030204" pitchFamily="18" charset="0"/>
                </a:rPr>
                <a:t>𝑆</a:t>
              </a:r>
              <a:endParaRPr lang="en-US" dirty="0"/>
            </a:p>
          </dgm:t>
        </dgm:pt>
      </mc:Fallback>
    </mc:AlternateContent>
    <dgm:pt modelId="{5776BFE5-B53A-4F74-9EBE-26BBD91CBDBB}" type="parTrans" cxnId="{70DD71B6-9057-4717-BEB6-8D9F43FC6D98}">
      <dgm:prSet/>
      <dgm:spPr/>
      <dgm:t>
        <a:bodyPr/>
        <a:lstStyle/>
        <a:p>
          <a:endParaRPr lang="en-US"/>
        </a:p>
      </dgm:t>
    </dgm:pt>
    <dgm:pt modelId="{980D1F3B-6028-4893-9CA9-B72D00BBD16D}" type="sibTrans" cxnId="{70DD71B6-9057-4717-BEB6-8D9F43FC6D9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64F6326-40AA-4438-91FC-00721E0287A0}">
          <dgm:prSet/>
          <dgm:spPr/>
          <dgm:t>
            <a:bodyPr/>
            <a:lstStyle/>
            <a:p>
              <a:r>
                <a:rPr lang="en-US" dirty="0" smtClean="0"/>
                <a:t>Onderliggende </a:t>
              </a:r>
              <a:r>
                <a:rPr lang="en-US" dirty="0" err="1" smtClean="0"/>
                <a:t>kansverdeling</a:t>
              </a:r>
              <a:r>
                <a:rPr lang="en-US" dirty="0" smtClean="0"/>
                <a:t> over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𝑆</m:t>
                  </m:r>
                </m:oMath>
              </a14:m>
              <a:endParaRPr lang="en-US" dirty="0"/>
            </a:p>
          </dgm:t>
        </dgm:pt>
      </mc:Choice>
      <mc:Fallback xmlns="">
        <dgm:pt modelId="{C64F6326-40AA-4438-91FC-00721E0287A0}">
          <dgm:prSet/>
          <dgm:spPr/>
          <dgm:t>
            <a:bodyPr/>
            <a:lstStyle/>
            <a:p>
              <a:r>
                <a:rPr lang="en-US" dirty="0" smtClean="0"/>
                <a:t>Onderliggende </a:t>
              </a:r>
              <a:r>
                <a:rPr lang="en-US" dirty="0" err="1" smtClean="0"/>
                <a:t>kansverdeling</a:t>
              </a:r>
              <a:r>
                <a:rPr lang="en-US" dirty="0" smtClean="0"/>
                <a:t> over </a:t>
              </a:r>
              <a:r>
                <a:rPr lang="en-US" b="0" i="0" smtClean="0">
                  <a:latin typeface="Cambria Math" panose="02040503050406030204" pitchFamily="18" charset="0"/>
                </a:rPr>
                <a:t>𝑆</a:t>
              </a:r>
              <a:endParaRPr lang="en-US" dirty="0"/>
            </a:p>
          </dgm:t>
        </dgm:pt>
      </mc:Fallback>
    </mc:AlternateContent>
    <dgm:pt modelId="{29CA02DC-F699-4B0E-BD2A-F60754D403C9}" type="parTrans" cxnId="{13D89CF0-3F7E-4312-B1E7-DD186B39D479}">
      <dgm:prSet/>
      <dgm:spPr/>
      <dgm:t>
        <a:bodyPr/>
        <a:lstStyle/>
        <a:p>
          <a:endParaRPr lang="en-US"/>
        </a:p>
      </dgm:t>
    </dgm:pt>
    <dgm:pt modelId="{7B355344-C857-4FDF-91D1-D85357A3849D}" type="sibTrans" cxnId="{13D89CF0-3F7E-4312-B1E7-DD186B39D479}">
      <dgm:prSet/>
      <dgm:spPr/>
      <dgm:t>
        <a:bodyPr/>
        <a:lstStyle/>
        <a:p>
          <a:endParaRPr lang="en-US"/>
        </a:p>
      </dgm:t>
    </dgm:pt>
    <dgm:pt modelId="{03124F20-BE95-4AF4-BB13-FABF503744E6}" type="pres">
      <dgm:prSet presAssocID="{969E90AC-1A9D-4974-BAF5-4A7D733043D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D2FDB-F5EB-4609-8AD8-F3C93B94A9D3}" type="pres">
      <dgm:prSet presAssocID="{2AE26EC6-7821-4C66-ACA0-C4C826A60C6F}" presName="composite" presStyleCnt="0"/>
      <dgm:spPr/>
    </dgm:pt>
    <dgm:pt modelId="{42CEEBA4-1378-4AF5-90B3-23A2D88490E9}" type="pres">
      <dgm:prSet presAssocID="{2AE26EC6-7821-4C66-ACA0-C4C826A60C6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8E15F-C463-4A97-A02E-B468DB006C48}" type="pres">
      <dgm:prSet presAssocID="{2AE26EC6-7821-4C66-ACA0-C4C826A60C6F}" presName="parSh" presStyleLbl="node1" presStyleIdx="0" presStyleCnt="3"/>
      <dgm:spPr/>
      <dgm:t>
        <a:bodyPr/>
        <a:lstStyle/>
        <a:p>
          <a:endParaRPr lang="en-US"/>
        </a:p>
      </dgm:t>
    </dgm:pt>
    <dgm:pt modelId="{ADD3AE7F-21AA-45B5-9626-51D4168ADC97}" type="pres">
      <dgm:prSet presAssocID="{2AE26EC6-7821-4C66-ACA0-C4C826A60C6F}" presName="desTx" presStyleLbl="fgAcc1" presStyleIdx="0" presStyleCnt="3" custScaleX="105343" custScaleY="860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CC56C-82FA-496D-A27C-E92CDD6B587F}" type="pres">
      <dgm:prSet presAssocID="{4CC6A34B-8859-47AA-A26A-16DE8E9CD1C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F028978-9137-4291-926F-A290C98A4E9A}" type="pres">
      <dgm:prSet presAssocID="{4CC6A34B-8859-47AA-A26A-16DE8E9CD1CE}" presName="connTx" presStyleLbl="sibTrans2D1" presStyleIdx="0" presStyleCnt="2"/>
      <dgm:spPr/>
      <dgm:t>
        <a:bodyPr/>
        <a:lstStyle/>
        <a:p>
          <a:endParaRPr lang="en-US"/>
        </a:p>
      </dgm:t>
    </dgm:pt>
    <dgm:pt modelId="{D824E52D-6C6F-428E-9EE3-BDBFB3E2FDB7}" type="pres">
      <dgm:prSet presAssocID="{E11C979E-DA7F-44FE-93FF-6B10E1A32EFE}" presName="composite" presStyleCnt="0"/>
      <dgm:spPr/>
    </dgm:pt>
    <dgm:pt modelId="{D7E26F22-B107-441F-91C8-C2BAF2213382}" type="pres">
      <dgm:prSet presAssocID="{E11C979E-DA7F-44FE-93FF-6B10E1A32EF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A36FA2-C369-4F6B-9E66-F573CE9937C7}" type="pres">
      <dgm:prSet presAssocID="{E11C979E-DA7F-44FE-93FF-6B10E1A32EFE}" presName="parSh" presStyleLbl="node1" presStyleIdx="1" presStyleCnt="3" custLinFactNeighborX="1912" custLinFactNeighborY="13619"/>
      <dgm:spPr/>
      <dgm:t>
        <a:bodyPr/>
        <a:lstStyle/>
        <a:p>
          <a:endParaRPr lang="en-US"/>
        </a:p>
      </dgm:t>
    </dgm:pt>
    <dgm:pt modelId="{91B2C4FF-5229-419A-8888-2858F92609F6}" type="pres">
      <dgm:prSet presAssocID="{E11C979E-DA7F-44FE-93FF-6B10E1A32EFE}" presName="desTx" presStyleLbl="fgAcc1" presStyleIdx="1" presStyleCnt="3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375B698-2873-448F-B324-CD4F680EB8CA}" type="pres">
      <dgm:prSet presAssocID="{CBA8F9A7-B3A3-41C3-888D-E1DD4A1C187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3862587-3509-442D-A6F0-110B0E5EC7B2}" type="pres">
      <dgm:prSet presAssocID="{CBA8F9A7-B3A3-41C3-888D-E1DD4A1C1874}" presName="connTx" presStyleLbl="sibTrans2D1" presStyleIdx="1" presStyleCnt="2"/>
      <dgm:spPr/>
      <dgm:t>
        <a:bodyPr/>
        <a:lstStyle/>
        <a:p>
          <a:endParaRPr lang="en-US"/>
        </a:p>
      </dgm:t>
    </dgm:pt>
    <dgm:pt modelId="{E0F15CA8-39A9-45AB-96B7-41954EE0801B}" type="pres">
      <dgm:prSet presAssocID="{069719F9-BB75-49A5-A166-10F2795AEF0B}" presName="composite" presStyleCnt="0"/>
      <dgm:spPr/>
    </dgm:pt>
    <dgm:pt modelId="{2FBFA388-BE05-44CE-B01B-779EB17B0BF7}" type="pres">
      <dgm:prSet presAssocID="{069719F9-BB75-49A5-A166-10F2795AEF0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D3CB30-4DA4-4350-B7A4-3E648F2EB227}" type="pres">
      <dgm:prSet presAssocID="{069719F9-BB75-49A5-A166-10F2795AEF0B}" presName="parSh" presStyleLbl="node1" presStyleIdx="2" presStyleCnt="3" custLinFactNeighborX="311" custLinFactNeighborY="9606"/>
      <dgm:spPr/>
      <dgm:t>
        <a:bodyPr/>
        <a:lstStyle/>
        <a:p>
          <a:endParaRPr lang="en-US"/>
        </a:p>
      </dgm:t>
    </dgm:pt>
    <dgm:pt modelId="{65612ED5-8892-45FF-B158-3CE141D796A7}" type="pres">
      <dgm:prSet presAssocID="{069719F9-BB75-49A5-A166-10F2795AEF0B}" presName="desTx" presStyleLbl="fgAcc1" presStyleIdx="2" presStyleCnt="3" custScaleY="9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8BCAD4-931C-44B2-9C85-654167CE9A69}" type="presOf" srcId="{E11C979E-DA7F-44FE-93FF-6B10E1A32EFE}" destId="{D7E26F22-B107-441F-91C8-C2BAF2213382}" srcOrd="0" destOrd="0" presId="urn:microsoft.com/office/officeart/2005/8/layout/process3"/>
    <dgm:cxn modelId="{7CEECCED-4FE1-49B1-9243-BF6CAF418BB8}" type="presOf" srcId="{E11C979E-DA7F-44FE-93FF-6B10E1A32EFE}" destId="{58A36FA2-C369-4F6B-9E66-F573CE9937C7}" srcOrd="1" destOrd="0" presId="urn:microsoft.com/office/officeart/2005/8/layout/process3"/>
    <dgm:cxn modelId="{BCA3C229-E5F6-473A-B341-587A45A44BB4}" type="presOf" srcId="{1EA94DEB-9F40-4F05-AC41-46C694D6339D}" destId="{ADD3AE7F-21AA-45B5-9626-51D4168ADC97}" srcOrd="0" destOrd="0" presId="urn:microsoft.com/office/officeart/2005/8/layout/process3"/>
    <dgm:cxn modelId="{ADB9B6C5-EFFC-417D-A9F3-20EC750CE833}" type="presOf" srcId="{4CC6A34B-8859-47AA-A26A-16DE8E9CD1CE}" destId="{5DCCC56C-82FA-496D-A27C-E92CDD6B587F}" srcOrd="0" destOrd="0" presId="urn:microsoft.com/office/officeart/2005/8/layout/process3"/>
    <dgm:cxn modelId="{2BDA2315-127D-47A5-A6F7-58F5D949FAD8}" type="presOf" srcId="{069719F9-BB75-49A5-A166-10F2795AEF0B}" destId="{48D3CB30-4DA4-4350-B7A4-3E648F2EB227}" srcOrd="1" destOrd="0" presId="urn:microsoft.com/office/officeart/2005/8/layout/process3"/>
    <dgm:cxn modelId="{DBD0F1A5-087C-4BE8-A8BC-2A3B93662CB7}" type="presOf" srcId="{969E90AC-1A9D-4974-BAF5-4A7D733043D9}" destId="{03124F20-BE95-4AF4-BB13-FABF503744E6}" srcOrd="0" destOrd="0" presId="urn:microsoft.com/office/officeart/2005/8/layout/process3"/>
    <dgm:cxn modelId="{334B804A-29FA-4013-B447-8612ABE11DA6}" type="presOf" srcId="{4CC6A34B-8859-47AA-A26A-16DE8E9CD1CE}" destId="{CF028978-9137-4291-926F-A290C98A4E9A}" srcOrd="1" destOrd="0" presId="urn:microsoft.com/office/officeart/2005/8/layout/process3"/>
    <dgm:cxn modelId="{9399D6E6-EC3A-40E7-8D06-30549A77E737}" srcId="{969E90AC-1A9D-4974-BAF5-4A7D733043D9}" destId="{E11C979E-DA7F-44FE-93FF-6B10E1A32EFE}" srcOrd="1" destOrd="0" parTransId="{36C2889A-2DD7-4CC0-830A-FD90DB7DE7A3}" sibTransId="{CBA8F9A7-B3A3-41C3-888D-E1DD4A1C1874}"/>
    <dgm:cxn modelId="{80E6E1B5-08FE-4928-A819-DB9CAC909E65}" type="presOf" srcId="{2AE26EC6-7821-4C66-ACA0-C4C826A60C6F}" destId="{42CEEBA4-1378-4AF5-90B3-23A2D88490E9}" srcOrd="0" destOrd="0" presId="urn:microsoft.com/office/officeart/2005/8/layout/process3"/>
    <dgm:cxn modelId="{4A38A417-58F5-4E64-99F3-9C2551F9B067}" type="presOf" srcId="{2AE26EC6-7821-4C66-ACA0-C4C826A60C6F}" destId="{2F28E15F-C463-4A97-A02E-B468DB006C48}" srcOrd="1" destOrd="0" presId="urn:microsoft.com/office/officeart/2005/8/layout/process3"/>
    <dgm:cxn modelId="{CE9F6066-92E7-45A3-BEAF-12762EEF7AC3}" srcId="{969E90AC-1A9D-4974-BAF5-4A7D733043D9}" destId="{2AE26EC6-7821-4C66-ACA0-C4C826A60C6F}" srcOrd="0" destOrd="0" parTransId="{399CC24F-1863-4927-A03D-9014BC9B1320}" sibTransId="{4CC6A34B-8859-47AA-A26A-16DE8E9CD1CE}"/>
    <dgm:cxn modelId="{F95D89BF-4665-4583-80F2-30197FFAD205}" type="presOf" srcId="{CBA8F9A7-B3A3-41C3-888D-E1DD4A1C1874}" destId="{2375B698-2873-448F-B324-CD4F680EB8CA}" srcOrd="0" destOrd="0" presId="urn:microsoft.com/office/officeart/2005/8/layout/process3"/>
    <dgm:cxn modelId="{0F9DCE36-6678-432F-90D7-F0CDE08CA1AF}" type="presOf" srcId="{1DD63560-39EA-40A5-8D8C-D1F346A7411F}" destId="{65612ED5-8892-45FF-B158-3CE141D796A7}" srcOrd="0" destOrd="0" presId="urn:microsoft.com/office/officeart/2005/8/layout/process3"/>
    <dgm:cxn modelId="{4994D5B8-2488-463B-A1B2-2B1A8272DB1E}" type="presOf" srcId="{069719F9-BB75-49A5-A166-10F2795AEF0B}" destId="{2FBFA388-BE05-44CE-B01B-779EB17B0BF7}" srcOrd="0" destOrd="0" presId="urn:microsoft.com/office/officeart/2005/8/layout/process3"/>
    <dgm:cxn modelId="{CBB670C9-5286-490A-945E-B2BDEB6C2CF3}" srcId="{969E90AC-1A9D-4974-BAF5-4A7D733043D9}" destId="{069719F9-BB75-49A5-A166-10F2795AEF0B}" srcOrd="2" destOrd="0" parTransId="{692A72E2-8E20-4674-8647-F531720BD7AB}" sibTransId="{4FE59848-15AC-4F61-9815-B768F5B4D67A}"/>
    <dgm:cxn modelId="{70DD71B6-9057-4717-BEB6-8D9F43FC6D98}" srcId="{2AE26EC6-7821-4C66-ACA0-C4C826A60C6F}" destId="{1EA94DEB-9F40-4F05-AC41-46C694D6339D}" srcOrd="0" destOrd="0" parTransId="{5776BFE5-B53A-4F74-9EBE-26BBD91CBDBB}" sibTransId="{980D1F3B-6028-4893-9CA9-B72D00BBD16D}"/>
    <dgm:cxn modelId="{6CD97026-52D1-4004-B7F3-B2201E5C1C44}" srcId="{069719F9-BB75-49A5-A166-10F2795AEF0B}" destId="{1DD63560-39EA-40A5-8D8C-D1F346A7411F}" srcOrd="0" destOrd="0" parTransId="{3F7BE854-47EB-45E1-B095-59561E777271}" sibTransId="{0FDFD97D-4660-4EB9-A519-9BA8162C0D45}"/>
    <dgm:cxn modelId="{13D89CF0-3F7E-4312-B1E7-DD186B39D479}" srcId="{2AE26EC6-7821-4C66-ACA0-C4C826A60C6F}" destId="{C64F6326-40AA-4438-91FC-00721E0287A0}" srcOrd="1" destOrd="0" parTransId="{29CA02DC-F699-4B0E-BD2A-F60754D403C9}" sibTransId="{7B355344-C857-4FDF-91D1-D85357A3849D}"/>
    <dgm:cxn modelId="{D5B10F76-5062-4297-9E37-F71590979F0E}" type="presOf" srcId="{C64F6326-40AA-4438-91FC-00721E0287A0}" destId="{ADD3AE7F-21AA-45B5-9626-51D4168ADC97}" srcOrd="0" destOrd="1" presId="urn:microsoft.com/office/officeart/2005/8/layout/process3"/>
    <dgm:cxn modelId="{FFCB8FB3-0F13-4B28-97C9-DF6FA35A9121}" type="presOf" srcId="{CBA8F9A7-B3A3-41C3-888D-E1DD4A1C1874}" destId="{F3862587-3509-442D-A6F0-110B0E5EC7B2}" srcOrd="1" destOrd="0" presId="urn:microsoft.com/office/officeart/2005/8/layout/process3"/>
    <dgm:cxn modelId="{B5464F6E-C175-4BC8-9EB1-DBB0DDACF68E}" type="presParOf" srcId="{03124F20-BE95-4AF4-BB13-FABF503744E6}" destId="{EC6D2FDB-F5EB-4609-8AD8-F3C93B94A9D3}" srcOrd="0" destOrd="0" presId="urn:microsoft.com/office/officeart/2005/8/layout/process3"/>
    <dgm:cxn modelId="{8C6A688D-F313-4B2A-838B-4EEC6B142727}" type="presParOf" srcId="{EC6D2FDB-F5EB-4609-8AD8-F3C93B94A9D3}" destId="{42CEEBA4-1378-4AF5-90B3-23A2D88490E9}" srcOrd="0" destOrd="0" presId="urn:microsoft.com/office/officeart/2005/8/layout/process3"/>
    <dgm:cxn modelId="{58B0B9A7-7CBD-4D83-9380-C1AEDA5CF52A}" type="presParOf" srcId="{EC6D2FDB-F5EB-4609-8AD8-F3C93B94A9D3}" destId="{2F28E15F-C463-4A97-A02E-B468DB006C48}" srcOrd="1" destOrd="0" presId="urn:microsoft.com/office/officeart/2005/8/layout/process3"/>
    <dgm:cxn modelId="{BB3876E3-CFD3-4D50-AC41-1B384B99355C}" type="presParOf" srcId="{EC6D2FDB-F5EB-4609-8AD8-F3C93B94A9D3}" destId="{ADD3AE7F-21AA-45B5-9626-51D4168ADC97}" srcOrd="2" destOrd="0" presId="urn:microsoft.com/office/officeart/2005/8/layout/process3"/>
    <dgm:cxn modelId="{2FC108C4-2B9C-4E01-AB00-674EB398C545}" type="presParOf" srcId="{03124F20-BE95-4AF4-BB13-FABF503744E6}" destId="{5DCCC56C-82FA-496D-A27C-E92CDD6B587F}" srcOrd="1" destOrd="0" presId="urn:microsoft.com/office/officeart/2005/8/layout/process3"/>
    <dgm:cxn modelId="{FE0FBC44-90CB-49D8-ABE3-5F9ADE4950E2}" type="presParOf" srcId="{5DCCC56C-82FA-496D-A27C-E92CDD6B587F}" destId="{CF028978-9137-4291-926F-A290C98A4E9A}" srcOrd="0" destOrd="0" presId="urn:microsoft.com/office/officeart/2005/8/layout/process3"/>
    <dgm:cxn modelId="{95517E44-D426-4DFF-AE5C-E6E9A34022BE}" type="presParOf" srcId="{03124F20-BE95-4AF4-BB13-FABF503744E6}" destId="{D824E52D-6C6F-428E-9EE3-BDBFB3E2FDB7}" srcOrd="2" destOrd="0" presId="urn:microsoft.com/office/officeart/2005/8/layout/process3"/>
    <dgm:cxn modelId="{94175DB4-F164-485B-BCDF-4F5167406DCF}" type="presParOf" srcId="{D824E52D-6C6F-428E-9EE3-BDBFB3E2FDB7}" destId="{D7E26F22-B107-441F-91C8-C2BAF2213382}" srcOrd="0" destOrd="0" presId="urn:microsoft.com/office/officeart/2005/8/layout/process3"/>
    <dgm:cxn modelId="{910F243D-EEA6-46F4-98AD-AB47E8024EC4}" type="presParOf" srcId="{D824E52D-6C6F-428E-9EE3-BDBFB3E2FDB7}" destId="{58A36FA2-C369-4F6B-9E66-F573CE9937C7}" srcOrd="1" destOrd="0" presId="urn:microsoft.com/office/officeart/2005/8/layout/process3"/>
    <dgm:cxn modelId="{93CF0CC5-0A8A-48AA-A4CE-5991A217B62F}" type="presParOf" srcId="{D824E52D-6C6F-428E-9EE3-BDBFB3E2FDB7}" destId="{91B2C4FF-5229-419A-8888-2858F92609F6}" srcOrd="2" destOrd="0" presId="urn:microsoft.com/office/officeart/2005/8/layout/process3"/>
    <dgm:cxn modelId="{DE58D759-8CAB-40FA-870B-7385BDA2C1CD}" type="presParOf" srcId="{03124F20-BE95-4AF4-BB13-FABF503744E6}" destId="{2375B698-2873-448F-B324-CD4F680EB8CA}" srcOrd="3" destOrd="0" presId="urn:microsoft.com/office/officeart/2005/8/layout/process3"/>
    <dgm:cxn modelId="{DE957BDA-A020-4BF3-B86E-21148D9DA1FB}" type="presParOf" srcId="{2375B698-2873-448F-B324-CD4F680EB8CA}" destId="{F3862587-3509-442D-A6F0-110B0E5EC7B2}" srcOrd="0" destOrd="0" presId="urn:microsoft.com/office/officeart/2005/8/layout/process3"/>
    <dgm:cxn modelId="{07F1709C-9024-49B4-8FE9-0891712E8B60}" type="presParOf" srcId="{03124F20-BE95-4AF4-BB13-FABF503744E6}" destId="{E0F15CA8-39A9-45AB-96B7-41954EE0801B}" srcOrd="4" destOrd="0" presId="urn:microsoft.com/office/officeart/2005/8/layout/process3"/>
    <dgm:cxn modelId="{8050325E-CF12-49F6-93EF-E6E1ACA35664}" type="presParOf" srcId="{E0F15CA8-39A9-45AB-96B7-41954EE0801B}" destId="{2FBFA388-BE05-44CE-B01B-779EB17B0BF7}" srcOrd="0" destOrd="0" presId="urn:microsoft.com/office/officeart/2005/8/layout/process3"/>
    <dgm:cxn modelId="{CB045D79-7A9E-4196-B0EA-715D5E6A1BE2}" type="presParOf" srcId="{E0F15CA8-39A9-45AB-96B7-41954EE0801B}" destId="{48D3CB30-4DA4-4350-B7A4-3E648F2EB227}" srcOrd="1" destOrd="0" presId="urn:microsoft.com/office/officeart/2005/8/layout/process3"/>
    <dgm:cxn modelId="{15E0BB28-B38D-4F17-981C-9173E4E7DEB4}" type="presParOf" srcId="{E0F15CA8-39A9-45AB-96B7-41954EE0801B}" destId="{65612ED5-8892-45FF-B158-3CE141D796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E90AC-1A9D-4974-BAF5-4A7D733043D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26EC6-7821-4C66-ACA0-C4C826A60C6F}">
      <dgm:prSet phldrT="[Text]"/>
      <dgm:spPr/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399CC24F-1863-4927-A03D-9014BC9B1320}" type="parTrans" cxnId="{CE9F6066-92E7-45A3-BEAF-12762EEF7AC3}">
      <dgm:prSet/>
      <dgm:spPr/>
      <dgm:t>
        <a:bodyPr/>
        <a:lstStyle/>
        <a:p>
          <a:endParaRPr lang="en-US"/>
        </a:p>
      </dgm:t>
    </dgm:pt>
    <dgm:pt modelId="{4CC6A34B-8859-47AA-A26A-16DE8E9CD1CE}" type="sibTrans" cxnId="{CE9F6066-92E7-45A3-BEAF-12762EEF7AC3}">
      <dgm:prSet/>
      <dgm:spPr/>
      <dgm:t>
        <a:bodyPr/>
        <a:lstStyle/>
        <a:p>
          <a:endParaRPr lang="en-US"/>
        </a:p>
      </dgm:t>
    </dgm:pt>
    <dgm:pt modelId="{E11C979E-DA7F-44FE-93FF-6B10E1A32EFE}">
      <dgm:prSet phldrT="[Text]"/>
      <dgm:spPr/>
      <dgm:t>
        <a:bodyPr/>
        <a:lstStyle/>
        <a:p>
          <a:r>
            <a:rPr lang="en-US" dirty="0" smtClean="0"/>
            <a:t>Experiment </a:t>
          </a:r>
          <a:endParaRPr lang="en-US" dirty="0"/>
        </a:p>
      </dgm:t>
    </dgm:pt>
    <dgm:pt modelId="{36C2889A-2DD7-4CC0-830A-FD90DB7DE7A3}" type="parTrans" cxnId="{9399D6E6-EC3A-40E7-8D06-30549A77E737}">
      <dgm:prSet/>
      <dgm:spPr/>
      <dgm:t>
        <a:bodyPr/>
        <a:lstStyle/>
        <a:p>
          <a:endParaRPr lang="en-US"/>
        </a:p>
      </dgm:t>
    </dgm:pt>
    <dgm:pt modelId="{CBA8F9A7-B3A3-41C3-888D-E1DD4A1C1874}" type="sibTrans" cxnId="{9399D6E6-EC3A-40E7-8D06-30549A77E737}">
      <dgm:prSet/>
      <dgm:spPr/>
      <dgm:t>
        <a:bodyPr/>
        <a:lstStyle/>
        <a:p>
          <a:endParaRPr lang="en-US"/>
        </a:p>
      </dgm:t>
    </dgm:pt>
    <dgm:pt modelId="{069719F9-BB75-49A5-A166-10F2795AEF0B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692A72E2-8E20-4674-8647-F531720BD7AB}" type="parTrans" cxnId="{CBB670C9-5286-490A-945E-B2BDEB6C2CF3}">
      <dgm:prSet/>
      <dgm:spPr/>
      <dgm:t>
        <a:bodyPr/>
        <a:lstStyle/>
        <a:p>
          <a:endParaRPr lang="en-US"/>
        </a:p>
      </dgm:t>
    </dgm:pt>
    <dgm:pt modelId="{4FE59848-15AC-4F61-9815-B768F5B4D67A}" type="sibTrans" cxnId="{CBB670C9-5286-490A-945E-B2BDEB6C2CF3}">
      <dgm:prSet/>
      <dgm:spPr/>
      <dgm:t>
        <a:bodyPr/>
        <a:lstStyle/>
        <a:p>
          <a:endParaRPr lang="en-US"/>
        </a:p>
      </dgm:t>
    </dgm:pt>
    <dgm:pt modelId="{1DD63560-39EA-40A5-8D8C-D1F346A7411F}">
      <dgm:prSet phldrT="[Text]"/>
      <dgm:spPr/>
      <dgm:t>
        <a:bodyPr/>
        <a:lstStyle/>
        <a:p>
          <a:r>
            <a:rPr lang="en-US" dirty="0" err="1" smtClean="0"/>
            <a:t>Een</a:t>
          </a:r>
          <a:r>
            <a:rPr lang="en-US" dirty="0" smtClean="0"/>
            <a:t> van de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r>
            <a:rPr lang="en-US" dirty="0" smtClean="0"/>
            <a:t> (</a:t>
          </a:r>
          <a:r>
            <a:rPr lang="en-US" b="1" dirty="0" smtClean="0"/>
            <a:t>trekking</a:t>
          </a:r>
          <a:r>
            <a:rPr lang="en-US" dirty="0" smtClean="0"/>
            <a:t>)</a:t>
          </a:r>
          <a:endParaRPr lang="en-US" dirty="0"/>
        </a:p>
      </dgm:t>
    </dgm:pt>
    <dgm:pt modelId="{3F7BE854-47EB-45E1-B095-59561E777271}" type="parTrans" cxnId="{6CD97026-52D1-4004-B7F3-B2201E5C1C44}">
      <dgm:prSet/>
      <dgm:spPr/>
      <dgm:t>
        <a:bodyPr/>
        <a:lstStyle/>
        <a:p>
          <a:endParaRPr lang="en-US"/>
        </a:p>
      </dgm:t>
    </dgm:pt>
    <dgm:pt modelId="{0FDFD97D-4660-4EB9-A519-9BA8162C0D45}" type="sibTrans" cxnId="{6CD97026-52D1-4004-B7F3-B2201E5C1C44}">
      <dgm:prSet/>
      <dgm:spPr/>
      <dgm:t>
        <a:bodyPr/>
        <a:lstStyle/>
        <a:p>
          <a:endParaRPr lang="en-US"/>
        </a:p>
      </dgm:t>
    </dgm:pt>
    <dgm:pt modelId="{1EA94DEB-9F40-4F05-AC41-46C694D6339D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nl-NL">
              <a:noFill/>
            </a:rPr>
            <a:t> </a:t>
          </a:r>
        </a:p>
      </dgm:t>
    </dgm:pt>
    <dgm:pt modelId="{5776BFE5-B53A-4F74-9EBE-26BBD91CBDBB}" type="parTrans" cxnId="{70DD71B6-9057-4717-BEB6-8D9F43FC6D98}">
      <dgm:prSet/>
      <dgm:spPr/>
      <dgm:t>
        <a:bodyPr/>
        <a:lstStyle/>
        <a:p>
          <a:endParaRPr lang="en-US"/>
        </a:p>
      </dgm:t>
    </dgm:pt>
    <dgm:pt modelId="{980D1F3B-6028-4893-9CA9-B72D00BBD16D}" type="sibTrans" cxnId="{70DD71B6-9057-4717-BEB6-8D9F43FC6D98}">
      <dgm:prSet/>
      <dgm:spPr/>
      <dgm:t>
        <a:bodyPr/>
        <a:lstStyle/>
        <a:p>
          <a:endParaRPr lang="en-US"/>
        </a:p>
      </dgm:t>
    </dgm:pt>
    <dgm:pt modelId="{C64F6326-40AA-4438-91FC-00721E0287A0}">
      <dgm:prSet/>
      <dgm:spPr/>
      <dgm:t>
        <a:bodyPr/>
        <a:lstStyle/>
        <a:p>
          <a:r>
            <a:rPr lang="nl-NL">
              <a:noFill/>
            </a:rPr>
            <a:t> </a:t>
          </a:r>
        </a:p>
      </dgm:t>
    </dgm:pt>
    <dgm:pt modelId="{29CA02DC-F699-4B0E-BD2A-F60754D403C9}" type="parTrans" cxnId="{13D89CF0-3F7E-4312-B1E7-DD186B39D479}">
      <dgm:prSet/>
      <dgm:spPr/>
      <dgm:t>
        <a:bodyPr/>
        <a:lstStyle/>
        <a:p>
          <a:endParaRPr lang="en-US"/>
        </a:p>
      </dgm:t>
    </dgm:pt>
    <dgm:pt modelId="{7B355344-C857-4FDF-91D1-D85357A3849D}" type="sibTrans" cxnId="{13D89CF0-3F7E-4312-B1E7-DD186B39D479}">
      <dgm:prSet/>
      <dgm:spPr/>
      <dgm:t>
        <a:bodyPr/>
        <a:lstStyle/>
        <a:p>
          <a:endParaRPr lang="en-US"/>
        </a:p>
      </dgm:t>
    </dgm:pt>
    <dgm:pt modelId="{03124F20-BE95-4AF4-BB13-FABF503744E6}" type="pres">
      <dgm:prSet presAssocID="{969E90AC-1A9D-4974-BAF5-4A7D733043D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D2FDB-F5EB-4609-8AD8-F3C93B94A9D3}" type="pres">
      <dgm:prSet presAssocID="{2AE26EC6-7821-4C66-ACA0-C4C826A60C6F}" presName="composite" presStyleCnt="0"/>
      <dgm:spPr/>
    </dgm:pt>
    <dgm:pt modelId="{42CEEBA4-1378-4AF5-90B3-23A2D88490E9}" type="pres">
      <dgm:prSet presAssocID="{2AE26EC6-7821-4C66-ACA0-C4C826A60C6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8E15F-C463-4A97-A02E-B468DB006C48}" type="pres">
      <dgm:prSet presAssocID="{2AE26EC6-7821-4C66-ACA0-C4C826A60C6F}" presName="parSh" presStyleLbl="node1" presStyleIdx="0" presStyleCnt="3"/>
      <dgm:spPr/>
      <dgm:t>
        <a:bodyPr/>
        <a:lstStyle/>
        <a:p>
          <a:endParaRPr lang="en-US"/>
        </a:p>
      </dgm:t>
    </dgm:pt>
    <dgm:pt modelId="{ADD3AE7F-21AA-45B5-9626-51D4168ADC97}" type="pres">
      <dgm:prSet presAssocID="{2AE26EC6-7821-4C66-ACA0-C4C826A60C6F}" presName="desTx" presStyleLbl="fgAcc1" presStyleIdx="0" presStyleCnt="3" custScaleX="105343" custScaleY="860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CC56C-82FA-496D-A27C-E92CDD6B587F}" type="pres">
      <dgm:prSet presAssocID="{4CC6A34B-8859-47AA-A26A-16DE8E9CD1C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F028978-9137-4291-926F-A290C98A4E9A}" type="pres">
      <dgm:prSet presAssocID="{4CC6A34B-8859-47AA-A26A-16DE8E9CD1CE}" presName="connTx" presStyleLbl="sibTrans2D1" presStyleIdx="0" presStyleCnt="2"/>
      <dgm:spPr/>
      <dgm:t>
        <a:bodyPr/>
        <a:lstStyle/>
        <a:p>
          <a:endParaRPr lang="en-US"/>
        </a:p>
      </dgm:t>
    </dgm:pt>
    <dgm:pt modelId="{D824E52D-6C6F-428E-9EE3-BDBFB3E2FDB7}" type="pres">
      <dgm:prSet presAssocID="{E11C979E-DA7F-44FE-93FF-6B10E1A32EFE}" presName="composite" presStyleCnt="0"/>
      <dgm:spPr/>
    </dgm:pt>
    <dgm:pt modelId="{D7E26F22-B107-441F-91C8-C2BAF2213382}" type="pres">
      <dgm:prSet presAssocID="{E11C979E-DA7F-44FE-93FF-6B10E1A32EF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A36FA2-C369-4F6B-9E66-F573CE9937C7}" type="pres">
      <dgm:prSet presAssocID="{E11C979E-DA7F-44FE-93FF-6B10E1A32EFE}" presName="parSh" presStyleLbl="node1" presStyleIdx="1" presStyleCnt="3" custLinFactNeighborX="1912" custLinFactNeighborY="13619"/>
      <dgm:spPr/>
      <dgm:t>
        <a:bodyPr/>
        <a:lstStyle/>
        <a:p>
          <a:endParaRPr lang="en-US"/>
        </a:p>
      </dgm:t>
    </dgm:pt>
    <dgm:pt modelId="{91B2C4FF-5229-419A-8888-2858F92609F6}" type="pres">
      <dgm:prSet presAssocID="{E11C979E-DA7F-44FE-93FF-6B10E1A32EFE}" presName="desTx" presStyleLbl="fgAcc1" presStyleIdx="1" presStyleCnt="3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375B698-2873-448F-B324-CD4F680EB8CA}" type="pres">
      <dgm:prSet presAssocID="{CBA8F9A7-B3A3-41C3-888D-E1DD4A1C187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3862587-3509-442D-A6F0-110B0E5EC7B2}" type="pres">
      <dgm:prSet presAssocID="{CBA8F9A7-B3A3-41C3-888D-E1DD4A1C1874}" presName="connTx" presStyleLbl="sibTrans2D1" presStyleIdx="1" presStyleCnt="2"/>
      <dgm:spPr/>
      <dgm:t>
        <a:bodyPr/>
        <a:lstStyle/>
        <a:p>
          <a:endParaRPr lang="en-US"/>
        </a:p>
      </dgm:t>
    </dgm:pt>
    <dgm:pt modelId="{E0F15CA8-39A9-45AB-96B7-41954EE0801B}" type="pres">
      <dgm:prSet presAssocID="{069719F9-BB75-49A5-A166-10F2795AEF0B}" presName="composite" presStyleCnt="0"/>
      <dgm:spPr/>
    </dgm:pt>
    <dgm:pt modelId="{2FBFA388-BE05-44CE-B01B-779EB17B0BF7}" type="pres">
      <dgm:prSet presAssocID="{069719F9-BB75-49A5-A166-10F2795AEF0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D3CB30-4DA4-4350-B7A4-3E648F2EB227}" type="pres">
      <dgm:prSet presAssocID="{069719F9-BB75-49A5-A166-10F2795AEF0B}" presName="parSh" presStyleLbl="node1" presStyleIdx="2" presStyleCnt="3" custLinFactNeighborX="311" custLinFactNeighborY="9606"/>
      <dgm:spPr/>
      <dgm:t>
        <a:bodyPr/>
        <a:lstStyle/>
        <a:p>
          <a:endParaRPr lang="en-US"/>
        </a:p>
      </dgm:t>
    </dgm:pt>
    <dgm:pt modelId="{65612ED5-8892-45FF-B158-3CE141D796A7}" type="pres">
      <dgm:prSet presAssocID="{069719F9-BB75-49A5-A166-10F2795AEF0B}" presName="desTx" presStyleLbl="fgAcc1" presStyleIdx="2" presStyleCnt="3" custScaleY="9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8BCAD4-931C-44B2-9C85-654167CE9A69}" type="presOf" srcId="{E11C979E-DA7F-44FE-93FF-6B10E1A32EFE}" destId="{D7E26F22-B107-441F-91C8-C2BAF2213382}" srcOrd="0" destOrd="0" presId="urn:microsoft.com/office/officeart/2005/8/layout/process3"/>
    <dgm:cxn modelId="{7CEECCED-4FE1-49B1-9243-BF6CAF418BB8}" type="presOf" srcId="{E11C979E-DA7F-44FE-93FF-6B10E1A32EFE}" destId="{58A36FA2-C369-4F6B-9E66-F573CE9937C7}" srcOrd="1" destOrd="0" presId="urn:microsoft.com/office/officeart/2005/8/layout/process3"/>
    <dgm:cxn modelId="{BCA3C229-E5F6-473A-B341-587A45A44BB4}" type="presOf" srcId="{1EA94DEB-9F40-4F05-AC41-46C694D6339D}" destId="{ADD3AE7F-21AA-45B5-9626-51D4168ADC97}" srcOrd="0" destOrd="0" presId="urn:microsoft.com/office/officeart/2005/8/layout/process3"/>
    <dgm:cxn modelId="{ADB9B6C5-EFFC-417D-A9F3-20EC750CE833}" type="presOf" srcId="{4CC6A34B-8859-47AA-A26A-16DE8E9CD1CE}" destId="{5DCCC56C-82FA-496D-A27C-E92CDD6B587F}" srcOrd="0" destOrd="0" presId="urn:microsoft.com/office/officeart/2005/8/layout/process3"/>
    <dgm:cxn modelId="{2BDA2315-127D-47A5-A6F7-58F5D949FAD8}" type="presOf" srcId="{069719F9-BB75-49A5-A166-10F2795AEF0B}" destId="{48D3CB30-4DA4-4350-B7A4-3E648F2EB227}" srcOrd="1" destOrd="0" presId="urn:microsoft.com/office/officeart/2005/8/layout/process3"/>
    <dgm:cxn modelId="{DBD0F1A5-087C-4BE8-A8BC-2A3B93662CB7}" type="presOf" srcId="{969E90AC-1A9D-4974-BAF5-4A7D733043D9}" destId="{03124F20-BE95-4AF4-BB13-FABF503744E6}" srcOrd="0" destOrd="0" presId="urn:microsoft.com/office/officeart/2005/8/layout/process3"/>
    <dgm:cxn modelId="{334B804A-29FA-4013-B447-8612ABE11DA6}" type="presOf" srcId="{4CC6A34B-8859-47AA-A26A-16DE8E9CD1CE}" destId="{CF028978-9137-4291-926F-A290C98A4E9A}" srcOrd="1" destOrd="0" presId="urn:microsoft.com/office/officeart/2005/8/layout/process3"/>
    <dgm:cxn modelId="{9399D6E6-EC3A-40E7-8D06-30549A77E737}" srcId="{969E90AC-1A9D-4974-BAF5-4A7D733043D9}" destId="{E11C979E-DA7F-44FE-93FF-6B10E1A32EFE}" srcOrd="1" destOrd="0" parTransId="{36C2889A-2DD7-4CC0-830A-FD90DB7DE7A3}" sibTransId="{CBA8F9A7-B3A3-41C3-888D-E1DD4A1C1874}"/>
    <dgm:cxn modelId="{80E6E1B5-08FE-4928-A819-DB9CAC909E65}" type="presOf" srcId="{2AE26EC6-7821-4C66-ACA0-C4C826A60C6F}" destId="{42CEEBA4-1378-4AF5-90B3-23A2D88490E9}" srcOrd="0" destOrd="0" presId="urn:microsoft.com/office/officeart/2005/8/layout/process3"/>
    <dgm:cxn modelId="{4A38A417-58F5-4E64-99F3-9C2551F9B067}" type="presOf" srcId="{2AE26EC6-7821-4C66-ACA0-C4C826A60C6F}" destId="{2F28E15F-C463-4A97-A02E-B468DB006C48}" srcOrd="1" destOrd="0" presId="urn:microsoft.com/office/officeart/2005/8/layout/process3"/>
    <dgm:cxn modelId="{CE9F6066-92E7-45A3-BEAF-12762EEF7AC3}" srcId="{969E90AC-1A9D-4974-BAF5-4A7D733043D9}" destId="{2AE26EC6-7821-4C66-ACA0-C4C826A60C6F}" srcOrd="0" destOrd="0" parTransId="{399CC24F-1863-4927-A03D-9014BC9B1320}" sibTransId="{4CC6A34B-8859-47AA-A26A-16DE8E9CD1CE}"/>
    <dgm:cxn modelId="{F95D89BF-4665-4583-80F2-30197FFAD205}" type="presOf" srcId="{CBA8F9A7-B3A3-41C3-888D-E1DD4A1C1874}" destId="{2375B698-2873-448F-B324-CD4F680EB8CA}" srcOrd="0" destOrd="0" presId="urn:microsoft.com/office/officeart/2005/8/layout/process3"/>
    <dgm:cxn modelId="{0F9DCE36-6678-432F-90D7-F0CDE08CA1AF}" type="presOf" srcId="{1DD63560-39EA-40A5-8D8C-D1F346A7411F}" destId="{65612ED5-8892-45FF-B158-3CE141D796A7}" srcOrd="0" destOrd="0" presId="urn:microsoft.com/office/officeart/2005/8/layout/process3"/>
    <dgm:cxn modelId="{4994D5B8-2488-463B-A1B2-2B1A8272DB1E}" type="presOf" srcId="{069719F9-BB75-49A5-A166-10F2795AEF0B}" destId="{2FBFA388-BE05-44CE-B01B-779EB17B0BF7}" srcOrd="0" destOrd="0" presId="urn:microsoft.com/office/officeart/2005/8/layout/process3"/>
    <dgm:cxn modelId="{CBB670C9-5286-490A-945E-B2BDEB6C2CF3}" srcId="{969E90AC-1A9D-4974-BAF5-4A7D733043D9}" destId="{069719F9-BB75-49A5-A166-10F2795AEF0B}" srcOrd="2" destOrd="0" parTransId="{692A72E2-8E20-4674-8647-F531720BD7AB}" sibTransId="{4FE59848-15AC-4F61-9815-B768F5B4D67A}"/>
    <dgm:cxn modelId="{70DD71B6-9057-4717-BEB6-8D9F43FC6D98}" srcId="{2AE26EC6-7821-4C66-ACA0-C4C826A60C6F}" destId="{1EA94DEB-9F40-4F05-AC41-46C694D6339D}" srcOrd="0" destOrd="0" parTransId="{5776BFE5-B53A-4F74-9EBE-26BBD91CBDBB}" sibTransId="{980D1F3B-6028-4893-9CA9-B72D00BBD16D}"/>
    <dgm:cxn modelId="{6CD97026-52D1-4004-B7F3-B2201E5C1C44}" srcId="{069719F9-BB75-49A5-A166-10F2795AEF0B}" destId="{1DD63560-39EA-40A5-8D8C-D1F346A7411F}" srcOrd="0" destOrd="0" parTransId="{3F7BE854-47EB-45E1-B095-59561E777271}" sibTransId="{0FDFD97D-4660-4EB9-A519-9BA8162C0D45}"/>
    <dgm:cxn modelId="{13D89CF0-3F7E-4312-B1E7-DD186B39D479}" srcId="{2AE26EC6-7821-4C66-ACA0-C4C826A60C6F}" destId="{C64F6326-40AA-4438-91FC-00721E0287A0}" srcOrd="1" destOrd="0" parTransId="{29CA02DC-F699-4B0E-BD2A-F60754D403C9}" sibTransId="{7B355344-C857-4FDF-91D1-D85357A3849D}"/>
    <dgm:cxn modelId="{D5B10F76-5062-4297-9E37-F71590979F0E}" type="presOf" srcId="{C64F6326-40AA-4438-91FC-00721E0287A0}" destId="{ADD3AE7F-21AA-45B5-9626-51D4168ADC97}" srcOrd="0" destOrd="1" presId="urn:microsoft.com/office/officeart/2005/8/layout/process3"/>
    <dgm:cxn modelId="{FFCB8FB3-0F13-4B28-97C9-DF6FA35A9121}" type="presOf" srcId="{CBA8F9A7-B3A3-41C3-888D-E1DD4A1C1874}" destId="{F3862587-3509-442D-A6F0-110B0E5EC7B2}" srcOrd="1" destOrd="0" presId="urn:microsoft.com/office/officeart/2005/8/layout/process3"/>
    <dgm:cxn modelId="{B5464F6E-C175-4BC8-9EB1-DBB0DDACF68E}" type="presParOf" srcId="{03124F20-BE95-4AF4-BB13-FABF503744E6}" destId="{EC6D2FDB-F5EB-4609-8AD8-F3C93B94A9D3}" srcOrd="0" destOrd="0" presId="urn:microsoft.com/office/officeart/2005/8/layout/process3"/>
    <dgm:cxn modelId="{8C6A688D-F313-4B2A-838B-4EEC6B142727}" type="presParOf" srcId="{EC6D2FDB-F5EB-4609-8AD8-F3C93B94A9D3}" destId="{42CEEBA4-1378-4AF5-90B3-23A2D88490E9}" srcOrd="0" destOrd="0" presId="urn:microsoft.com/office/officeart/2005/8/layout/process3"/>
    <dgm:cxn modelId="{58B0B9A7-7CBD-4D83-9380-C1AEDA5CF52A}" type="presParOf" srcId="{EC6D2FDB-F5EB-4609-8AD8-F3C93B94A9D3}" destId="{2F28E15F-C463-4A97-A02E-B468DB006C48}" srcOrd="1" destOrd="0" presId="urn:microsoft.com/office/officeart/2005/8/layout/process3"/>
    <dgm:cxn modelId="{BB3876E3-CFD3-4D50-AC41-1B384B99355C}" type="presParOf" srcId="{EC6D2FDB-F5EB-4609-8AD8-F3C93B94A9D3}" destId="{ADD3AE7F-21AA-45B5-9626-51D4168ADC97}" srcOrd="2" destOrd="0" presId="urn:microsoft.com/office/officeart/2005/8/layout/process3"/>
    <dgm:cxn modelId="{2FC108C4-2B9C-4E01-AB00-674EB398C545}" type="presParOf" srcId="{03124F20-BE95-4AF4-BB13-FABF503744E6}" destId="{5DCCC56C-82FA-496D-A27C-E92CDD6B587F}" srcOrd="1" destOrd="0" presId="urn:microsoft.com/office/officeart/2005/8/layout/process3"/>
    <dgm:cxn modelId="{FE0FBC44-90CB-49D8-ABE3-5F9ADE4950E2}" type="presParOf" srcId="{5DCCC56C-82FA-496D-A27C-E92CDD6B587F}" destId="{CF028978-9137-4291-926F-A290C98A4E9A}" srcOrd="0" destOrd="0" presId="urn:microsoft.com/office/officeart/2005/8/layout/process3"/>
    <dgm:cxn modelId="{95517E44-D426-4DFF-AE5C-E6E9A34022BE}" type="presParOf" srcId="{03124F20-BE95-4AF4-BB13-FABF503744E6}" destId="{D824E52D-6C6F-428E-9EE3-BDBFB3E2FDB7}" srcOrd="2" destOrd="0" presId="urn:microsoft.com/office/officeart/2005/8/layout/process3"/>
    <dgm:cxn modelId="{94175DB4-F164-485B-BCDF-4F5167406DCF}" type="presParOf" srcId="{D824E52D-6C6F-428E-9EE3-BDBFB3E2FDB7}" destId="{D7E26F22-B107-441F-91C8-C2BAF2213382}" srcOrd="0" destOrd="0" presId="urn:microsoft.com/office/officeart/2005/8/layout/process3"/>
    <dgm:cxn modelId="{910F243D-EEA6-46F4-98AD-AB47E8024EC4}" type="presParOf" srcId="{D824E52D-6C6F-428E-9EE3-BDBFB3E2FDB7}" destId="{58A36FA2-C369-4F6B-9E66-F573CE9937C7}" srcOrd="1" destOrd="0" presId="urn:microsoft.com/office/officeart/2005/8/layout/process3"/>
    <dgm:cxn modelId="{93CF0CC5-0A8A-48AA-A4CE-5991A217B62F}" type="presParOf" srcId="{D824E52D-6C6F-428E-9EE3-BDBFB3E2FDB7}" destId="{91B2C4FF-5229-419A-8888-2858F92609F6}" srcOrd="2" destOrd="0" presId="urn:microsoft.com/office/officeart/2005/8/layout/process3"/>
    <dgm:cxn modelId="{DE58D759-8CAB-40FA-870B-7385BDA2C1CD}" type="presParOf" srcId="{03124F20-BE95-4AF4-BB13-FABF503744E6}" destId="{2375B698-2873-448F-B324-CD4F680EB8CA}" srcOrd="3" destOrd="0" presId="urn:microsoft.com/office/officeart/2005/8/layout/process3"/>
    <dgm:cxn modelId="{DE957BDA-A020-4BF3-B86E-21148D9DA1FB}" type="presParOf" srcId="{2375B698-2873-448F-B324-CD4F680EB8CA}" destId="{F3862587-3509-442D-A6F0-110B0E5EC7B2}" srcOrd="0" destOrd="0" presId="urn:microsoft.com/office/officeart/2005/8/layout/process3"/>
    <dgm:cxn modelId="{07F1709C-9024-49B4-8FE9-0891712E8B60}" type="presParOf" srcId="{03124F20-BE95-4AF4-BB13-FABF503744E6}" destId="{E0F15CA8-39A9-45AB-96B7-41954EE0801B}" srcOrd="4" destOrd="0" presId="urn:microsoft.com/office/officeart/2005/8/layout/process3"/>
    <dgm:cxn modelId="{8050325E-CF12-49F6-93EF-E6E1ACA35664}" type="presParOf" srcId="{E0F15CA8-39A9-45AB-96B7-41954EE0801B}" destId="{2FBFA388-BE05-44CE-B01B-779EB17B0BF7}" srcOrd="0" destOrd="0" presId="urn:microsoft.com/office/officeart/2005/8/layout/process3"/>
    <dgm:cxn modelId="{CB045D79-7A9E-4196-B0EA-715D5E6A1BE2}" type="presParOf" srcId="{E0F15CA8-39A9-45AB-96B7-41954EE0801B}" destId="{48D3CB30-4DA4-4350-B7A4-3E648F2EB227}" srcOrd="1" destOrd="0" presId="urn:microsoft.com/office/officeart/2005/8/layout/process3"/>
    <dgm:cxn modelId="{15E0BB28-B38D-4F17-981C-9173E4E7DEB4}" type="presParOf" srcId="{E0F15CA8-39A9-45AB-96B7-41954EE0801B}" destId="{65612ED5-8892-45FF-B158-3CE141D796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8E15F-C463-4A97-A02E-B468DB006C48}">
      <dsp:nvSpPr>
        <dsp:cNvPr id="0" name=""/>
        <dsp:cNvSpPr/>
      </dsp:nvSpPr>
      <dsp:spPr>
        <a:xfrm>
          <a:off x="2010" y="1437741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Input</a:t>
          </a:r>
          <a:endParaRPr lang="en-US" sz="1900" kern="1200" dirty="0"/>
        </a:p>
      </dsp:txBody>
      <dsp:txXfrm>
        <a:off x="2010" y="1437741"/>
        <a:ext cx="2534703" cy="576000"/>
      </dsp:txXfrm>
    </dsp:sp>
    <dsp:sp modelId="{ADD3AE7F-21AA-45B5-9626-51D4168ADC97}">
      <dsp:nvSpPr>
        <dsp:cNvPr id="0" name=""/>
        <dsp:cNvSpPr/>
      </dsp:nvSpPr>
      <dsp:spPr>
        <a:xfrm>
          <a:off x="453451" y="2134597"/>
          <a:ext cx="2670132" cy="14862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Uitkomstenruimte </a:t>
          </a:r>
          <a14:m xmlns:a14="http://schemas.microsoft.com/office/drawing/2010/main">
            <m:oMath xmlns:m="http://schemas.openxmlformats.org/officeDocument/2006/math">
              <m:r>
                <a:rPr lang="en-US" sz="1900" b="0" i="1" kern="1200" smtClean="0">
                  <a:latin typeface="Cambria Math" panose="02040503050406030204" pitchFamily="18" charset="0"/>
                </a:rPr>
                <m:t>𝑆</m:t>
              </m:r>
            </m:oMath>
          </a14:m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Onderliggende </a:t>
          </a:r>
          <a:r>
            <a:rPr lang="en-US" sz="1900" kern="1200" dirty="0" err="1" smtClean="0"/>
            <a:t>kansverdeling</a:t>
          </a:r>
          <a:r>
            <a:rPr lang="en-US" sz="1900" kern="1200" dirty="0" smtClean="0"/>
            <a:t> over </a:t>
          </a:r>
          <a14:m xmlns:a14="http://schemas.microsoft.com/office/drawing/2010/main">
            <m:oMath xmlns:m="http://schemas.openxmlformats.org/officeDocument/2006/math">
              <m:r>
                <a:rPr lang="en-US" sz="1900" b="0" i="1" kern="1200" smtClean="0">
                  <a:latin typeface="Cambria Math" panose="02040503050406030204" pitchFamily="18" charset="0"/>
                </a:rPr>
                <m:t>𝑆</m:t>
              </m:r>
            </m:oMath>
          </a14:m>
          <a:endParaRPr lang="en-US" sz="1900" kern="1200" dirty="0"/>
        </a:p>
      </dsp:txBody>
      <dsp:txXfrm>
        <a:off x="496983" y="2178129"/>
        <a:ext cx="2583068" cy="1399223"/>
      </dsp:txXfrm>
    </dsp:sp>
    <dsp:sp modelId="{5DCCC56C-82FA-496D-A27C-E92CDD6B587F}">
      <dsp:nvSpPr>
        <dsp:cNvPr id="0" name=""/>
        <dsp:cNvSpPr/>
      </dsp:nvSpPr>
      <dsp:spPr>
        <a:xfrm rot="46984">
          <a:off x="2949969" y="1439166"/>
          <a:ext cx="876270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2949978" y="1564085"/>
        <a:ext cx="686950" cy="378641"/>
      </dsp:txXfrm>
    </dsp:sp>
    <dsp:sp modelId="{58A36FA2-C369-4F6B-9E66-F573CE9937C7}">
      <dsp:nvSpPr>
        <dsp:cNvPr id="0" name=""/>
        <dsp:cNvSpPr/>
      </dsp:nvSpPr>
      <dsp:spPr>
        <a:xfrm>
          <a:off x="4189899" y="1494981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Experiment </a:t>
          </a:r>
          <a:endParaRPr lang="en-US" sz="1900" kern="1200" dirty="0"/>
        </a:p>
      </dsp:txBody>
      <dsp:txXfrm>
        <a:off x="4189899" y="1494981"/>
        <a:ext cx="2534703" cy="576000"/>
      </dsp:txXfrm>
    </dsp:sp>
    <dsp:sp modelId="{91B2C4FF-5229-419A-8888-2858F92609F6}">
      <dsp:nvSpPr>
        <dsp:cNvPr id="0" name=""/>
        <dsp:cNvSpPr/>
      </dsp:nvSpPr>
      <dsp:spPr>
        <a:xfrm>
          <a:off x="4660592" y="1953313"/>
          <a:ext cx="2534703" cy="1728000"/>
        </a:xfrm>
        <a:prstGeom prst="roundRect">
          <a:avLst>
            <a:gd name="adj" fmla="val 10000"/>
          </a:avLst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B698-2873-448F-B324-CD4F680EB8CA}">
      <dsp:nvSpPr>
        <dsp:cNvPr id="0" name=""/>
        <dsp:cNvSpPr/>
      </dsp:nvSpPr>
      <dsp:spPr>
        <a:xfrm rot="3345">
          <a:off x="7098710" y="1469430"/>
          <a:ext cx="793106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7098710" y="1595551"/>
        <a:ext cx="603786" cy="378641"/>
      </dsp:txXfrm>
    </dsp:sp>
    <dsp:sp modelId="{48D3CB30-4DA4-4350-B7A4-3E648F2EB227}">
      <dsp:nvSpPr>
        <dsp:cNvPr id="0" name=""/>
        <dsp:cNvSpPr/>
      </dsp:nvSpPr>
      <dsp:spPr>
        <a:xfrm>
          <a:off x="8221030" y="1498904"/>
          <a:ext cx="2534703" cy="864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Output</a:t>
          </a:r>
          <a:endParaRPr lang="en-US" sz="1900" kern="1200" dirty="0"/>
        </a:p>
      </dsp:txBody>
      <dsp:txXfrm>
        <a:off x="8221030" y="1498904"/>
        <a:ext cx="2534703" cy="576000"/>
      </dsp:txXfrm>
    </dsp:sp>
    <dsp:sp modelId="{65612ED5-8892-45FF-B158-3CE141D796A7}">
      <dsp:nvSpPr>
        <dsp:cNvPr id="0" name=""/>
        <dsp:cNvSpPr/>
      </dsp:nvSpPr>
      <dsp:spPr>
        <a:xfrm>
          <a:off x="8732303" y="2069098"/>
          <a:ext cx="2534703" cy="15736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err="1" smtClean="0"/>
            <a:t>Een</a:t>
          </a:r>
          <a:r>
            <a:rPr lang="en-US" sz="1900" kern="1200" dirty="0" smtClean="0"/>
            <a:t> van de </a:t>
          </a:r>
          <a:r>
            <a:rPr lang="en-US" sz="1900" kern="1200" dirty="0" err="1" smtClean="0"/>
            <a:t>mogelijke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uitkomsten</a:t>
          </a:r>
          <a:r>
            <a:rPr lang="en-US" sz="1900" kern="1200" dirty="0" smtClean="0"/>
            <a:t> (</a:t>
          </a:r>
          <a:r>
            <a:rPr lang="en-US" sz="1900" b="1" kern="1200" dirty="0" smtClean="0"/>
            <a:t>trekking</a:t>
          </a:r>
          <a:r>
            <a:rPr lang="en-US" sz="1900" kern="1200" dirty="0" smtClean="0"/>
            <a:t>)</a:t>
          </a:r>
          <a:endParaRPr lang="en-US" sz="1900" kern="1200" dirty="0"/>
        </a:p>
      </dsp:txBody>
      <dsp:txXfrm>
        <a:off x="8778393" y="2115188"/>
        <a:ext cx="2442523" cy="1481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/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Klik om het opmaakprofiel van de modeltekst te bewerken</a:t>
            </a:r>
          </a:p>
          <a:p>
            <a:pPr lvl="1"/>
            <a:r>
              <a:rPr lang="en-US" noProof="0" smtClean="0"/>
              <a:t>Tweede niveau</a:t>
            </a:r>
          </a:p>
          <a:p>
            <a:pPr lvl="2"/>
            <a:r>
              <a:rPr lang="en-US" noProof="0" smtClean="0"/>
              <a:t>Derde niveau</a:t>
            </a:r>
          </a:p>
          <a:p>
            <a:pPr lvl="3"/>
            <a:r>
              <a:rPr lang="en-US" noProof="0" smtClean="0"/>
              <a:t>Vierde niveau</a:t>
            </a:r>
          </a:p>
          <a:p>
            <a:pPr lvl="4"/>
            <a:r>
              <a:rPr lang="en-US" noProof="0" smtClean="0"/>
              <a:t>Vijfde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Eventuele voettekst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Idee van deze slide</a:t>
            </a:r>
            <a:r>
              <a:rPr lang="nl-NL" baseline="0" dirty="0" smtClean="0"/>
              <a:t> is om het </a:t>
            </a:r>
            <a:r>
              <a:rPr lang="nl-NL" baseline="0" dirty="0" err="1" smtClean="0"/>
              <a:t>kansbegrip</a:t>
            </a:r>
            <a:r>
              <a:rPr lang="nl-NL" baseline="0" dirty="0" smtClean="0"/>
              <a:t> van continue </a:t>
            </a:r>
            <a:r>
              <a:rPr lang="nl-NL" baseline="0" dirty="0" err="1" smtClean="0"/>
              <a:t>kansvariabelen</a:t>
            </a:r>
            <a:r>
              <a:rPr lang="nl-NL" baseline="0" dirty="0" smtClean="0"/>
              <a:t> in te leiden. Studenten hebben vaak moeite met kansdichtheidsfunctie, omdat het verschil tussen “kans nul” en “kan nooit gebeuren” niet </a:t>
            </a:r>
            <a:r>
              <a:rPr lang="nl-NL" baseline="0" dirty="0" err="1" smtClean="0"/>
              <a:t>intuitief</a:t>
            </a:r>
            <a:r>
              <a:rPr lang="nl-NL" baseline="0" dirty="0" smtClean="0"/>
              <a:t> is.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93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Hoewel elke</a:t>
            </a:r>
            <a:r>
              <a:rPr lang="nl-NL" baseline="0" dirty="0" smtClean="0"/>
              <a:t> uitkomst kans nul heeft, moet er een uitkomst gerealiseerd worden. In andere woorden: kans nul betekent NIET onmogelijk!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98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Idee van deze slide</a:t>
            </a:r>
            <a:r>
              <a:rPr lang="nl-NL" baseline="0" dirty="0" smtClean="0"/>
              <a:t> is om het </a:t>
            </a:r>
            <a:r>
              <a:rPr lang="nl-NL" baseline="0" dirty="0" err="1" smtClean="0"/>
              <a:t>kansbegrip</a:t>
            </a:r>
            <a:r>
              <a:rPr lang="nl-NL" baseline="0" dirty="0" smtClean="0"/>
              <a:t> van continue </a:t>
            </a:r>
            <a:r>
              <a:rPr lang="nl-NL" baseline="0" dirty="0" err="1" smtClean="0"/>
              <a:t>kansvariabelen</a:t>
            </a:r>
            <a:r>
              <a:rPr lang="nl-NL" baseline="0" dirty="0" smtClean="0"/>
              <a:t> in te leiden. Studenten hebben vaak moeite met kansdichtheidsfunctie, omdat het verschil tussen “kans nul” en “kan nooit gebeuren” niet </a:t>
            </a:r>
            <a:r>
              <a:rPr lang="nl-NL" baseline="0" dirty="0" err="1" smtClean="0"/>
              <a:t>intuitief</a:t>
            </a:r>
            <a:r>
              <a:rPr lang="nl-NL" baseline="0" dirty="0" smtClean="0"/>
              <a:t> is.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Eventuele voettekst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C98DC9-4F28-4B39-8B6E-408133FC7853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334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474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Eventuele voettekst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C98DC9-4F28-4B39-8B6E-408133FC7853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334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354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Eventuele voettekst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C98DC9-4F28-4B39-8B6E-408133FC7853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334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294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Idee van</a:t>
            </a:r>
            <a:r>
              <a:rPr lang="nl-NL" baseline="0" dirty="0" smtClean="0"/>
              <a:t> deze slide is om een discussie te starten:</a:t>
            </a:r>
          </a:p>
          <a:p>
            <a:pPr marL="171450" indent="-171450">
              <a:buFontTx/>
              <a:buChar char="-"/>
            </a:pPr>
            <a:r>
              <a:rPr lang="nl-NL" baseline="0" dirty="0" smtClean="0"/>
              <a:t>Factoren </a:t>
            </a:r>
            <a:r>
              <a:rPr lang="nl-NL" baseline="0" dirty="0" smtClean="0"/>
              <a:t>die handig zouden zijn om te weten: hoe snel vliegt de </a:t>
            </a:r>
            <a:r>
              <a:rPr lang="nl-NL" baseline="0" dirty="0" err="1" smtClean="0"/>
              <a:t>loitering</a:t>
            </a:r>
            <a:r>
              <a:rPr lang="nl-NL" baseline="0" dirty="0" smtClean="0"/>
              <a:t> </a:t>
            </a:r>
            <a:r>
              <a:rPr lang="nl-NL" baseline="0" dirty="0" err="1" smtClean="0"/>
              <a:t>munition</a:t>
            </a:r>
            <a:r>
              <a:rPr lang="nl-NL" baseline="0" dirty="0" smtClean="0"/>
              <a:t>? Hoe groot is het sensorbereik? Hoeveel tijd zit er tussen detectie en engagement</a:t>
            </a:r>
            <a:r>
              <a:rPr lang="nl-NL" baseline="0" dirty="0" smtClean="0"/>
              <a:t>?</a:t>
            </a:r>
          </a:p>
          <a:p>
            <a:pPr marL="171450" indent="-171450">
              <a:buFontTx/>
              <a:buChar char="-"/>
            </a:pPr>
            <a:r>
              <a:rPr lang="nl-NL" baseline="0" dirty="0" smtClean="0"/>
              <a:t>Berekening is niet het ultieme doel, maar leren beslissen in een operationele omgeving.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6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11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82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9192344" y="6448251"/>
            <a:ext cx="26652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  <p:sp>
        <p:nvSpPr>
          <p:cNvPr id="5" name="Rechthoek 4"/>
          <p:cNvSpPr/>
          <p:nvPr userDrawn="1"/>
        </p:nvSpPr>
        <p:spPr bwMode="auto">
          <a:xfrm>
            <a:off x="5951984" y="6525344"/>
            <a:ext cx="1728192" cy="288032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Nederlandse Defensie Academie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Dr. ir. D. Blom / Dr. M. van Ee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1700213"/>
            <a:ext cx="4798484" cy="889000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 smtClean="0"/>
              <a:t>Klik om de stijl te bewerken</a:t>
            </a:r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smtClean="0"/>
              <a:t>Klik om de ondertitelstijl van het model te bewerken</a:t>
            </a:r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20897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483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RijksoverheidSansText" panose="020B0503040202060203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41548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215829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Text" panose="020B05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94442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8699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708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>
                <a:latin typeface="RijksoverheidSansText" panose="020B0503040202060203" pitchFamily="34" charset="0"/>
              </a:defRPr>
            </a:lvl1pPr>
            <a:lvl2pPr>
              <a:defRPr sz="2800">
                <a:latin typeface="RijksoverheidSansText" panose="020B0503040202060203" pitchFamily="34" charset="0"/>
              </a:defRPr>
            </a:lvl2pPr>
            <a:lvl3pPr>
              <a:defRPr sz="2400">
                <a:latin typeface="RijksoverheidSansText" panose="020B0503040202060203" pitchFamily="34" charset="0"/>
              </a:defRPr>
            </a:lvl3pPr>
            <a:lvl4pPr>
              <a:defRPr sz="2000">
                <a:latin typeface="RijksoverheidSansText" panose="020B0503040202060203" pitchFamily="34" charset="0"/>
              </a:defRPr>
            </a:lvl4pPr>
            <a:lvl5pPr>
              <a:defRPr sz="2000">
                <a:latin typeface="RijksoverheidSansText" panose="020B050304020206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7139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>
                <a:latin typeface="RijksoverheidSansText" panose="020B050304020206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 dirty="0" smtClean="0"/>
              <a:t>Klik op het pictogram als u een afbeelding wilt toevoegen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36463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8657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7152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177224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  <p:sp>
        <p:nvSpPr>
          <p:cNvPr id="5" name="Rechthoek 4"/>
          <p:cNvSpPr/>
          <p:nvPr userDrawn="1"/>
        </p:nvSpPr>
        <p:spPr bwMode="auto">
          <a:xfrm>
            <a:off x="5951984" y="6381328"/>
            <a:ext cx="1656184" cy="36004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6609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00912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85963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848976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900770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35878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08657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520367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17837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1367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College 2: 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 MBW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59734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College 2: 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2: discrete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0871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Statistiek</a:t>
            </a:r>
            <a:r>
              <a:rPr lang="en-US" dirty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: college </a:t>
            </a:r>
            <a:r>
              <a:rPr lang="en-US" dirty="0" smtClean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3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pPr eaLnBrk="1" hangingPunct="1"/>
            <a:r>
              <a:rPr lang="nl-NL" dirty="0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Continue </a:t>
            </a:r>
            <a:r>
              <a:rPr lang="nl-NL" dirty="0" err="1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kansvariabelen</a:t>
            </a:r>
            <a:endParaRPr lang="nl-NL" dirty="0" smtClean="0">
              <a:solidFill>
                <a:srgbClr val="113652"/>
              </a:solidFill>
              <a:latin typeface="RijksoverheidSansText" panose="020B0503040202060203" pitchFamily="34" charset="0"/>
            </a:endParaRP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l-NL" dirty="0" smtClean="0">
                <a:solidFill>
                  <a:srgbClr val="FFFFFF"/>
                </a:solidFill>
              </a:rPr>
              <a:t>4 mei 2026</a:t>
            </a:r>
            <a:endParaRPr kumimoji="0" lang="nl-NL" sz="11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25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Recap: </a:t>
            </a:r>
            <a:r>
              <a:rPr lang="en-US" b="1" dirty="0" err="1" smtClean="0"/>
              <a:t>vorig</a:t>
            </a:r>
            <a:r>
              <a:rPr lang="en-US" b="1" dirty="0" smtClean="0"/>
              <a:t> college</a:t>
            </a:r>
            <a:endParaRPr lang="nl-NL" b="1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 anchor="t" anchorCtr="0"/>
          <a:lstStyle/>
          <a:p>
            <a:pPr eaLnBrk="1" hangingPunct="1"/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dirty="0" err="1" smtClean="0"/>
              <a:t>Introductie</a:t>
            </a:r>
            <a:r>
              <a:rPr lang="en-US" dirty="0" smtClean="0"/>
              <a:t> in </a:t>
            </a:r>
            <a:r>
              <a:rPr lang="en-US" dirty="0" err="1" smtClean="0"/>
              <a:t>kansrekening</a:t>
            </a: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dirty="0" smtClean="0"/>
              <a:t>Discrete </a:t>
            </a:r>
            <a:r>
              <a:rPr lang="en-US" dirty="0" err="1" smtClean="0"/>
              <a:t>kansvariabelen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b="1" dirty="0" err="1" smtClean="0"/>
              <a:t>Vandaag</a:t>
            </a:r>
            <a:r>
              <a:rPr lang="en-US" b="1" dirty="0" smtClean="0"/>
              <a:t>:</a:t>
            </a:r>
          </a:p>
          <a:p>
            <a:pPr eaLnBrk="1" hangingPunct="1"/>
            <a:endParaRPr lang="en-US" b="1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dirty="0" smtClean="0"/>
              <a:t>Continue </a:t>
            </a:r>
            <a:r>
              <a:rPr lang="en-US" dirty="0" err="1" smtClean="0"/>
              <a:t>kansvariabelen</a:t>
            </a: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dirty="0" err="1" smtClean="0"/>
              <a:t>Enkele</a:t>
            </a:r>
            <a:r>
              <a:rPr lang="en-US" dirty="0" smtClean="0"/>
              <a:t> </a:t>
            </a:r>
            <a:r>
              <a:rPr lang="en-US" dirty="0" err="1" smtClean="0"/>
              <a:t>opdrachten</a:t>
            </a:r>
            <a:r>
              <a:rPr lang="en-US" dirty="0" smtClean="0"/>
              <a:t> </a:t>
            </a:r>
            <a:r>
              <a:rPr lang="en-US" dirty="0" err="1" smtClean="0"/>
              <a:t>rond</a:t>
            </a:r>
            <a:r>
              <a:rPr lang="en-US" dirty="0" smtClean="0"/>
              <a:t> discrete </a:t>
            </a:r>
            <a:r>
              <a:rPr lang="en-US" dirty="0" err="1" smtClean="0"/>
              <a:t>en</a:t>
            </a:r>
            <a:r>
              <a:rPr lang="en-US" dirty="0" smtClean="0"/>
              <a:t> continue </a:t>
            </a:r>
            <a:r>
              <a:rPr lang="en-US" dirty="0" err="1" smtClean="0"/>
              <a:t>kansvariabelen</a:t>
            </a:r>
            <a:endParaRPr lang="en-US" dirty="0"/>
          </a:p>
        </p:txBody>
      </p:sp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3: continue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sp>
        <p:nvSpPr>
          <p:cNvPr id="2" name="Rechthoek 1"/>
          <p:cNvSpPr/>
          <p:nvPr/>
        </p:nvSpPr>
        <p:spPr bwMode="auto">
          <a:xfrm>
            <a:off x="5951984" y="6525344"/>
            <a:ext cx="1728192" cy="288032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Leerdoelen</a:t>
            </a:r>
            <a:endParaRPr lang="nl-NL" b="1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 anchor="t" anchorCtr="0"/>
          <a:lstStyle/>
          <a:p>
            <a:pPr>
              <a:spcBef>
                <a:spcPts val="1200"/>
              </a:spcBef>
            </a:pPr>
            <a:r>
              <a:rPr lang="nl-NL" dirty="0" smtClean="0"/>
              <a:t>Aan </a:t>
            </a:r>
            <a:r>
              <a:rPr lang="nl-NL" dirty="0"/>
              <a:t>het einde van dit college kunnen jullie: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nl-NL" dirty="0" smtClean="0"/>
              <a:t>Het verschil </a:t>
            </a:r>
            <a:r>
              <a:rPr lang="nl-NL" i="1" dirty="0" smtClean="0"/>
              <a:t>uitleggen</a:t>
            </a:r>
            <a:r>
              <a:rPr lang="nl-NL" dirty="0" smtClean="0"/>
              <a:t> tussen discrete en continue </a:t>
            </a:r>
            <a:r>
              <a:rPr lang="nl-NL" dirty="0" err="1" smtClean="0"/>
              <a:t>kansvariabelen</a:t>
            </a:r>
            <a:r>
              <a:rPr lang="nl-NL" dirty="0" smtClean="0"/>
              <a:t> en van een gegeven variabele </a:t>
            </a:r>
            <a:r>
              <a:rPr lang="nl-NL" i="1" dirty="0" smtClean="0"/>
              <a:t>bepalen </a:t>
            </a:r>
            <a:r>
              <a:rPr lang="nl-NL" dirty="0" smtClean="0"/>
              <a:t>of deze continu is (meten versus tellen).</a:t>
            </a:r>
          </a:p>
          <a:p>
            <a:pPr>
              <a:spcBef>
                <a:spcPts val="1200"/>
              </a:spcBef>
            </a:pPr>
            <a:endParaRPr lang="nl-NL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nl-NL" dirty="0"/>
              <a:t>Gegeven een </a:t>
            </a:r>
            <a:r>
              <a:rPr lang="nl-NL" dirty="0" smtClean="0"/>
              <a:t>kansdichtheidsfunctie </a:t>
            </a:r>
            <a:r>
              <a:rPr lang="nl-NL" dirty="0"/>
              <a:t>of een cumulatieve verdelingsfunctie (CDF) kansen op </a:t>
            </a:r>
            <a:r>
              <a:rPr lang="nl-NL" dirty="0" smtClean="0"/>
              <a:t>intervallen </a:t>
            </a:r>
            <a:r>
              <a:rPr lang="nl-NL" i="1" dirty="0"/>
              <a:t>berekenen.</a:t>
            </a:r>
            <a:endParaRPr lang="nl-NL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nl-NL" dirty="0"/>
              <a:t>De verwacht</a:t>
            </a:r>
            <a:r>
              <a:rPr lang="en-US" dirty="0" err="1"/>
              <a:t>ingswaarde</a:t>
            </a:r>
            <a:r>
              <a:rPr lang="en-US" dirty="0"/>
              <a:t>, </a:t>
            </a:r>
            <a:r>
              <a:rPr lang="en-US" dirty="0" err="1"/>
              <a:t>variantie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standaarddeviatie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smtClean="0"/>
              <a:t>continue </a:t>
            </a:r>
            <a:r>
              <a:rPr lang="en-US" dirty="0" err="1"/>
              <a:t>kansvariabele</a:t>
            </a:r>
            <a:r>
              <a:rPr lang="en-US" dirty="0"/>
              <a:t> </a:t>
            </a:r>
            <a:r>
              <a:rPr lang="en-US" i="1" dirty="0" err="1"/>
              <a:t>uitrekenen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de </a:t>
            </a:r>
            <a:r>
              <a:rPr lang="en-US" dirty="0" err="1"/>
              <a:t>uitkomst</a:t>
            </a:r>
            <a:r>
              <a:rPr lang="en-US" dirty="0"/>
              <a:t> </a:t>
            </a:r>
            <a:r>
              <a:rPr lang="en-US" dirty="0" err="1"/>
              <a:t>hiervan</a:t>
            </a:r>
            <a:r>
              <a:rPr lang="en-US" dirty="0"/>
              <a:t> </a:t>
            </a:r>
            <a:r>
              <a:rPr lang="en-US" dirty="0" err="1"/>
              <a:t>inhoudelijk</a:t>
            </a:r>
            <a:r>
              <a:rPr lang="en-US" dirty="0"/>
              <a:t> </a:t>
            </a:r>
            <a:r>
              <a:rPr lang="en-US" i="1" dirty="0" err="1"/>
              <a:t>interpreteren</a:t>
            </a:r>
            <a:r>
              <a:rPr lang="en-US" i="1" dirty="0"/>
              <a:t>.</a:t>
            </a:r>
            <a:r>
              <a:rPr lang="en-US" dirty="0"/>
              <a:t> </a:t>
            </a:r>
            <a:endParaRPr lang="nl-NL" dirty="0"/>
          </a:p>
        </p:txBody>
      </p:sp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3: continue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sp>
        <p:nvSpPr>
          <p:cNvPr id="2" name="Rechthoek 1"/>
          <p:cNvSpPr/>
          <p:nvPr/>
        </p:nvSpPr>
        <p:spPr bwMode="auto">
          <a:xfrm>
            <a:off x="5951984" y="6525344"/>
            <a:ext cx="1728192" cy="288032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38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Diagram 9"/>
              <p:cNvGraphicFramePr/>
              <p:nvPr>
                <p:extLst/>
              </p:nvPr>
            </p:nvGraphicFramePr>
            <p:xfrm>
              <a:off x="539277" y="1265239"/>
              <a:ext cx="11269018" cy="505862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0" name="Diagram 9"/>
              <p:cNvGraphicFramePr/>
              <p:nvPr>
                <p:extLst>
                  <p:ext uri="{D42A27DB-BD31-4B8C-83A1-F6EECF244321}">
                    <p14:modId xmlns:p14="http://schemas.microsoft.com/office/powerpoint/2010/main" val="4020364875"/>
                  </p:ext>
                </p:extLst>
              </p:nvPr>
            </p:nvGraphicFramePr>
            <p:xfrm>
              <a:off x="539277" y="1265239"/>
              <a:ext cx="11269018" cy="505862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Recap: </a:t>
            </a:r>
            <a:r>
              <a:rPr lang="en-US" b="1" dirty="0" err="1" smtClean="0"/>
              <a:t>kansexperiment</a:t>
            </a:r>
            <a:endParaRPr lang="nl-NL" b="1" dirty="0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2135560" y="4221088"/>
            <a:ext cx="1800200" cy="792088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1824" y="3683175"/>
            <a:ext cx="367240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Lab-experiment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Meting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Afname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 van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een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enquête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 panose="020B0503040202060203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Simulatie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 panose="020B0503040202060203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…</a:t>
            </a:r>
            <a:endParaRPr kumimoji="0" lang="nl-NL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 panose="020B0503040202060203" pitchFamily="34" charset="0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5400" y="5819050"/>
            <a:ext cx="11809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Kansvariabele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: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aan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toeval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onderhevige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variabele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die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tijdens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het experiment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wordt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gemeten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ijksoverheidSansText"/>
                <a:ea typeface="+mn-ea"/>
                <a:cs typeface="+mn-cs"/>
              </a:rPr>
              <a:t>.</a:t>
            </a:r>
            <a:endParaRPr kumimoji="0" lang="nl-NL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</p:txBody>
      </p:sp>
      <p:sp>
        <p:nvSpPr>
          <p:cNvPr id="9" name="Date Placeholder 1"/>
          <p:cNvSpPr>
            <a:spLocks noGrp="1"/>
          </p:cNvSpPr>
          <p:nvPr>
            <p:ph type="dt" sz="quarter" idx="10"/>
          </p:nvPr>
        </p:nvSpPr>
        <p:spPr bwMode="auto">
          <a:xfrm>
            <a:off x="9264352" y="6448251"/>
            <a:ext cx="266522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2: discrete </a:t>
            </a:r>
            <a:r>
              <a:rPr kumimoji="0" lang="en-US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kansvariabelen</a:t>
            </a:r>
            <a:endParaRPr kumimoji="0" lang="nl-NL" sz="11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55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4627971"/>
                  </p:ext>
                </p:extLst>
              </p:nvPr>
            </p:nvGraphicFramePr>
            <p:xfrm>
              <a:off x="812800" y="1720277"/>
              <a:ext cx="11044767" cy="4591374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196320">
                      <a:extLst>
                        <a:ext uri="{9D8B030D-6E8A-4147-A177-3AD203B41FA5}">
                          <a16:colId xmlns:a16="http://schemas.microsoft.com/office/drawing/2014/main" val="53111846"/>
                        </a:ext>
                      </a:extLst>
                    </a:gridCol>
                    <a:gridCol w="4166858">
                      <a:extLst>
                        <a:ext uri="{9D8B030D-6E8A-4147-A177-3AD203B41FA5}">
                          <a16:colId xmlns:a16="http://schemas.microsoft.com/office/drawing/2014/main" val="3992352482"/>
                        </a:ext>
                      </a:extLst>
                    </a:gridCol>
                    <a:gridCol w="3681589">
                      <a:extLst>
                        <a:ext uri="{9D8B030D-6E8A-4147-A177-3AD203B41FA5}">
                          <a16:colId xmlns:a16="http://schemas.microsoft.com/office/drawing/2014/main" val="1664887837"/>
                        </a:ext>
                      </a:extLst>
                    </a:gridCol>
                  </a:tblGrid>
                  <a:tr h="371829">
                    <a:tc>
                      <a:txBody>
                        <a:bodyPr/>
                        <a:lstStyle/>
                        <a:p>
                          <a:pPr algn="ctr"/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9244383"/>
                      </a:ext>
                    </a:extLst>
                  </a:tr>
                  <a:tr h="616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Aantal</a:t>
                          </a:r>
                          <a:r>
                            <a:rPr lang="en-US" b="1" baseline="0" dirty="0" smtClean="0"/>
                            <a:t> </a:t>
                          </a:r>
                          <a:r>
                            <a:rPr lang="en-US" b="1" baseline="0" dirty="0" err="1" smtClean="0"/>
                            <a:t>mogelijke</a:t>
                          </a:r>
                          <a:r>
                            <a:rPr lang="en-US" b="1" baseline="0" dirty="0" smtClean="0"/>
                            <a:t> </a:t>
                          </a:r>
                          <a:r>
                            <a:rPr lang="en-US" b="1" baseline="0" dirty="0" err="1" smtClean="0"/>
                            <a:t>uitkomsten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Eindig</a:t>
                          </a:r>
                          <a:r>
                            <a:rPr lang="en-US" baseline="0" dirty="0" smtClean="0"/>
                            <a:t> / </a:t>
                          </a:r>
                          <a:r>
                            <a:rPr lang="en-US" baseline="0" dirty="0" err="1" smtClean="0"/>
                            <a:t>aftelbaar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aantal</a:t>
                          </a:r>
                          <a:r>
                            <a:rPr lang="en-US" baseline="0" dirty="0" smtClean="0"/>
                            <a:t>, </a:t>
                          </a:r>
                          <a:r>
                            <a:rPr lang="en-US" baseline="0" dirty="0" err="1" smtClean="0"/>
                            <a:t>bijv</a:t>
                          </a:r>
                          <a:r>
                            <a:rPr lang="en-US" baseline="0" dirty="0" smtClean="0"/>
                            <a:t>. 0, 1, 2, 3, …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6121795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Toepassingen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err="1" smtClean="0"/>
                            <a:t>Tellen</a:t>
                          </a:r>
                          <a:r>
                            <a:rPr lang="en-US" dirty="0" smtClean="0"/>
                            <a:t> of </a:t>
                          </a:r>
                          <a:r>
                            <a:rPr lang="en-US" dirty="0" err="1" smtClean="0"/>
                            <a:t>categoriseren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3277512"/>
                      </a:ext>
                    </a:extLst>
                  </a:tr>
                  <a:tr h="8813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Kansdefinitie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Kansfunctie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oMath>
                          </a14:m>
                          <a:endParaRPr lang="nl-NL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voor</a:t>
                          </a:r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alle</a:t>
                          </a:r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uitkomsten</a:t>
                          </a:r>
                          <a:r>
                            <a:rPr lang="en-US" b="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nl-NL" dirty="0" smtClean="0"/>
                            <a:t> (kansen tellen op tot</a:t>
                          </a:r>
                          <a:r>
                            <a:rPr lang="nl-NL" baseline="0" dirty="0" smtClean="0"/>
                            <a:t> 1)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021700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CDF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680656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Verwachtingswaarde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8609556"/>
                      </a:ext>
                    </a:extLst>
                  </a:tr>
                  <a:tr h="729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Variantie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4538043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Standaardafwijking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584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4627971"/>
                  </p:ext>
                </p:extLst>
              </p:nvPr>
            </p:nvGraphicFramePr>
            <p:xfrm>
              <a:off x="812800" y="1720277"/>
              <a:ext cx="11044767" cy="4591374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196320">
                      <a:extLst>
                        <a:ext uri="{9D8B030D-6E8A-4147-A177-3AD203B41FA5}">
                          <a16:colId xmlns:a16="http://schemas.microsoft.com/office/drawing/2014/main" val="53111846"/>
                        </a:ext>
                      </a:extLst>
                    </a:gridCol>
                    <a:gridCol w="4166858">
                      <a:extLst>
                        <a:ext uri="{9D8B030D-6E8A-4147-A177-3AD203B41FA5}">
                          <a16:colId xmlns:a16="http://schemas.microsoft.com/office/drawing/2014/main" val="3992352482"/>
                        </a:ext>
                      </a:extLst>
                    </a:gridCol>
                    <a:gridCol w="3681589">
                      <a:extLst>
                        <a:ext uri="{9D8B030D-6E8A-4147-A177-3AD203B41FA5}">
                          <a16:colId xmlns:a16="http://schemas.microsoft.com/office/drawing/2014/main" val="1664887837"/>
                        </a:ext>
                      </a:extLst>
                    </a:gridCol>
                  </a:tblGrid>
                  <a:tr h="371829">
                    <a:tc>
                      <a:txBody>
                        <a:bodyPr/>
                        <a:lstStyle/>
                        <a:p>
                          <a:pPr algn="ctr"/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9244383"/>
                      </a:ext>
                    </a:extLst>
                  </a:tr>
                  <a:tr h="616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Aantal</a:t>
                          </a:r>
                          <a:r>
                            <a:rPr lang="en-US" b="1" baseline="0" dirty="0" smtClean="0"/>
                            <a:t> </a:t>
                          </a:r>
                          <a:r>
                            <a:rPr lang="en-US" b="1" baseline="0" dirty="0" err="1" smtClean="0"/>
                            <a:t>mogelijke</a:t>
                          </a:r>
                          <a:r>
                            <a:rPr lang="en-US" b="1" baseline="0" dirty="0" smtClean="0"/>
                            <a:t> </a:t>
                          </a:r>
                          <a:r>
                            <a:rPr lang="en-US" b="1" baseline="0" dirty="0" err="1" smtClean="0"/>
                            <a:t>uitkomsten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Eindig</a:t>
                          </a:r>
                          <a:r>
                            <a:rPr lang="en-US" baseline="0" dirty="0" smtClean="0"/>
                            <a:t> / </a:t>
                          </a:r>
                          <a:r>
                            <a:rPr lang="en-US" baseline="0" dirty="0" err="1" smtClean="0"/>
                            <a:t>aftelbaar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aantal</a:t>
                          </a:r>
                          <a:r>
                            <a:rPr lang="en-US" baseline="0" dirty="0" smtClean="0"/>
                            <a:t>, </a:t>
                          </a:r>
                          <a:r>
                            <a:rPr lang="en-US" baseline="0" dirty="0" err="1" smtClean="0"/>
                            <a:t>bijv</a:t>
                          </a:r>
                          <a:r>
                            <a:rPr lang="en-US" baseline="0" dirty="0" smtClean="0"/>
                            <a:t>. 0, 1, 2, 3, …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6121795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Toepassingen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err="1" smtClean="0"/>
                            <a:t>Tellen</a:t>
                          </a:r>
                          <a:r>
                            <a:rPr lang="en-US" dirty="0" smtClean="0"/>
                            <a:t> of </a:t>
                          </a:r>
                          <a:r>
                            <a:rPr lang="en-US" dirty="0" err="1" smtClean="0"/>
                            <a:t>categoriseren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327751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Kansdefinitie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150993" r="-88889" b="-258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021700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CDF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611290" r="-88889" b="-530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6806567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Verwachtingswaarde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355645" r="-88889" b="-165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8609556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Variantie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455645" r="-88889" b="-65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4538043"/>
                      </a:ext>
                    </a:extLst>
                  </a:tr>
                  <a:tr h="4236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Standaardafwijking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984286" r="-88889" b="-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584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smtClean="0"/>
              <a:t>Wat </a:t>
            </a:r>
            <a:r>
              <a:rPr lang="en-US" b="1" dirty="0" err="1" smtClean="0"/>
              <a:t>weten</a:t>
            </a:r>
            <a:r>
              <a:rPr lang="en-US" b="1" dirty="0" smtClean="0"/>
              <a:t> we nog over discrete </a:t>
            </a:r>
            <a:r>
              <a:rPr lang="en-US" b="1" dirty="0" err="1" smtClean="0"/>
              <a:t>kansvariabelen</a:t>
            </a:r>
            <a:r>
              <a:rPr lang="en-US" b="1" dirty="0" smtClean="0"/>
              <a:t>?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7550" lvl="1" indent="-342900">
              <a:lnSpc>
                <a:spcPct val="150000"/>
              </a:lnSpc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6264" name="Rechthoek 6263"/>
          <p:cNvSpPr/>
          <p:nvPr/>
        </p:nvSpPr>
        <p:spPr bwMode="auto">
          <a:xfrm>
            <a:off x="4087116" y="2217404"/>
            <a:ext cx="3816424" cy="360040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3" name="Rechthoek 152"/>
          <p:cNvSpPr/>
          <p:nvPr/>
        </p:nvSpPr>
        <p:spPr bwMode="auto">
          <a:xfrm>
            <a:off x="4092450" y="2817727"/>
            <a:ext cx="3678720" cy="233604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4" name="Rechthoek 153"/>
          <p:cNvSpPr/>
          <p:nvPr/>
        </p:nvSpPr>
        <p:spPr bwMode="auto">
          <a:xfrm>
            <a:off x="4129118" y="5217168"/>
            <a:ext cx="3888432" cy="660104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5" name="Rechthoek 154"/>
          <p:cNvSpPr/>
          <p:nvPr/>
        </p:nvSpPr>
        <p:spPr bwMode="auto">
          <a:xfrm>
            <a:off x="4242117" y="4034005"/>
            <a:ext cx="3798099" cy="296275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6" name="Rechthoek 155"/>
          <p:cNvSpPr/>
          <p:nvPr/>
        </p:nvSpPr>
        <p:spPr bwMode="auto">
          <a:xfrm>
            <a:off x="4105441" y="4496687"/>
            <a:ext cx="3798099" cy="613434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7" name="Rechthoek 156"/>
          <p:cNvSpPr/>
          <p:nvPr/>
        </p:nvSpPr>
        <p:spPr bwMode="auto">
          <a:xfrm>
            <a:off x="4112965" y="3104292"/>
            <a:ext cx="3798099" cy="876753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8" name="Rechthoek 157"/>
          <p:cNvSpPr/>
          <p:nvPr/>
        </p:nvSpPr>
        <p:spPr bwMode="auto">
          <a:xfrm>
            <a:off x="4382044" y="5972073"/>
            <a:ext cx="3219171" cy="337248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9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4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0240" y="1659696"/>
                <a:ext cx="10539784" cy="4246562"/>
              </a:xfrm>
            </p:spPr>
            <p:txBody>
              <a:bodyPr anchor="ctr"/>
              <a:lstStyle/>
              <a:p>
                <a:pPr lvl="1" indent="0">
                  <a:lnSpc>
                    <a:spcPct val="150000"/>
                  </a:lnSpc>
                  <a:buNone/>
                </a:pPr>
                <a:endParaRPr lang="en-US" sz="20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000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0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000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nl-NL" dirty="0" smtClean="0"/>
              </a:p>
              <a:p>
                <a:pPr marL="190500" lvl="1" indent="0">
                  <a:lnSpc>
                    <a:spcPct val="150000"/>
                  </a:lnSpc>
                  <a:buNone/>
                </a:pPr>
                <a:r>
                  <a:rPr lang="nl-NL" sz="2000" dirty="0" smtClean="0"/>
                  <a:t>Een </a:t>
                </a:r>
                <a:r>
                  <a:rPr lang="nl-NL" sz="2000" b="1" dirty="0" smtClean="0">
                    <a:solidFill>
                      <a:schemeClr val="accent1"/>
                    </a:solidFill>
                  </a:rPr>
                  <a:t>continue </a:t>
                </a:r>
                <a:r>
                  <a:rPr lang="nl-NL" sz="2000" b="1" dirty="0" err="1" smtClean="0">
                    <a:solidFill>
                      <a:schemeClr val="accent1"/>
                    </a:solidFill>
                  </a:rPr>
                  <a:t>kansvariabele</a:t>
                </a:r>
                <a:r>
                  <a:rPr lang="nl-NL" sz="2000" b="1" dirty="0" smtClean="0">
                    <a:solidFill>
                      <a:schemeClr val="accent1"/>
                    </a:solidFill>
                  </a:rPr>
                  <a:t> </a:t>
                </a:r>
                <a:r>
                  <a:rPr lang="nl-NL" sz="2000" dirty="0" smtClean="0">
                    <a:solidFill>
                      <a:schemeClr val="tx1"/>
                    </a:solidFill>
                  </a:rPr>
                  <a:t>heeft de volgende eigenschappen:</a:t>
                </a:r>
                <a:endParaRPr lang="en-US" sz="2000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sz="2000" dirty="0" smtClean="0"/>
                  <a:t>De </a:t>
                </a:r>
                <a:r>
                  <a:rPr lang="en-US" sz="2000" b="1" dirty="0" err="1" smtClean="0">
                    <a:solidFill>
                      <a:schemeClr val="accent1"/>
                    </a:solidFill>
                  </a:rPr>
                  <a:t>uitkomstenruimte</a:t>
                </a:r>
                <a:r>
                  <a:rPr lang="en-US" sz="2000" b="1" dirty="0" smtClean="0"/>
                  <a:t> </a:t>
                </a:r>
                <a:r>
                  <a:rPr lang="en-US" sz="2000" dirty="0" err="1" smtClean="0"/>
                  <a:t>bevat</a:t>
                </a:r>
                <a:r>
                  <a:rPr lang="en-US" sz="2000" b="1" dirty="0" smtClean="0"/>
                  <a:t> </a:t>
                </a:r>
                <a:r>
                  <a:rPr lang="en-US" sz="2000" dirty="0" err="1" smtClean="0"/>
                  <a:t>overaftelbaar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oneindig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veel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uitkomsten</a:t>
                </a:r>
                <a:r>
                  <a:rPr lang="en-US" sz="2000" dirty="0" smtClean="0"/>
                  <a:t>.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nl-NL" sz="2000" dirty="0" smtClean="0"/>
                  <a:t>Opeenvolgende waardes kunnen </a:t>
                </a:r>
                <a:r>
                  <a:rPr lang="nl-NL" sz="2000" b="1" dirty="0" smtClean="0"/>
                  <a:t>niet </a:t>
                </a:r>
                <a:r>
                  <a:rPr lang="nl-NL" sz="2000" dirty="0" smtClean="0"/>
                  <a:t>worden onderscheiden.</a:t>
                </a:r>
              </a:p>
              <a:p>
                <a:pPr marL="965200" lvl="2" indent="-342900">
                  <a:lnSpc>
                    <a:spcPct val="150000"/>
                  </a:lnSpc>
                </a:pPr>
                <a:r>
                  <a:rPr lang="nl-NL" sz="2000" dirty="0" smtClean="0"/>
                  <a:t>Interval van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 smtClean="0"/>
                  <a:t> tot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 smtClean="0"/>
                  <a:t>: </a:t>
                </a:r>
                <a:r>
                  <a:rPr lang="en-US" sz="2000" dirty="0" err="1" smtClean="0"/>
                  <a:t>welk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getal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komt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na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0.2378</m:t>
                    </m:r>
                  </m:oMath>
                </a14:m>
                <a:r>
                  <a:rPr lang="en-US" sz="2000" dirty="0" smtClean="0"/>
                  <a:t>?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nl-NL" sz="2000" b="1" dirty="0" smtClean="0">
                    <a:solidFill>
                      <a:schemeClr val="accent1"/>
                    </a:solidFill>
                  </a:rPr>
                  <a:t>Kansverdeling: </a:t>
                </a:r>
                <a:r>
                  <a:rPr lang="nl-NL" sz="2000" dirty="0" smtClean="0">
                    <a:solidFill>
                      <a:schemeClr val="tx1"/>
                    </a:solidFill>
                  </a:rPr>
                  <a:t>omdat er oneindig veel uitkomsten zijn, 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sz="2000" dirty="0" smtClean="0">
                    <a:solidFill>
                      <a:schemeClr val="tx1"/>
                    </a:solidFill>
                  </a:rPr>
                  <a:t>      wordt iedere uitkomst met kans 0 gerealiseerd!</a:t>
                </a:r>
                <a:endParaRPr lang="en-US" sz="2000" b="1" dirty="0" smtClean="0">
                  <a:solidFill>
                    <a:schemeClr val="accent1"/>
                  </a:solidFill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:endParaRPr lang="en-US" sz="2000" b="1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000" b="1" dirty="0" smtClean="0"/>
                  <a:t>Voorbeelden: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sz="2000" dirty="0" smtClean="0"/>
                  <a:t>Communicatievertraging in </a:t>
                </a:r>
                <a:r>
                  <a:rPr lang="en-US" sz="2000" dirty="0" err="1" smtClean="0"/>
                  <a:t>een</a:t>
                </a:r>
                <a:r>
                  <a:rPr lang="en-US" sz="2000" dirty="0" smtClean="0"/>
                  <a:t> command-and-</a:t>
                </a:r>
                <a:r>
                  <a:rPr lang="en-US" sz="2000" dirty="0" err="1" smtClean="0"/>
                  <a:t>controlsysteem</a:t>
                </a:r>
                <a:endParaRPr lang="en-US" sz="2000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sz="2000" dirty="0" err="1" smtClean="0"/>
                  <a:t>Afstand</a:t>
                </a:r>
                <a:r>
                  <a:rPr lang="en-US" sz="2000" dirty="0" smtClean="0"/>
                  <a:t> (in km) van </a:t>
                </a:r>
                <a:r>
                  <a:rPr lang="en-US" sz="2000" dirty="0" err="1" smtClean="0"/>
                  <a:t>een</a:t>
                </a:r>
                <a:r>
                  <a:rPr lang="en-US" sz="2000" dirty="0" smtClean="0"/>
                  <a:t> drone tot </a:t>
                </a:r>
                <a:r>
                  <a:rPr lang="en-US" sz="2000" dirty="0" err="1" smtClean="0"/>
                  <a:t>een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radarsysteem</a:t>
                </a:r>
                <a:endParaRPr lang="en-US" sz="20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0240" y="1659696"/>
                <a:ext cx="10539784" cy="4246562"/>
              </a:xfrm>
              <a:blipFill>
                <a:blip r:embed="rId2"/>
                <a:stretch>
                  <a:fillRect t="-1004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20240" y="1259586"/>
            <a:ext cx="10363200" cy="400110"/>
          </a:xfrm>
        </p:spPr>
        <p:txBody>
          <a:bodyPr/>
          <a:lstStyle/>
          <a:p>
            <a:r>
              <a:rPr lang="en-US" dirty="0" smtClean="0"/>
              <a:t>Continue </a:t>
            </a:r>
            <a:r>
              <a:rPr lang="en-US" dirty="0" err="1" smtClean="0"/>
              <a:t>kansvariabelen</a:t>
            </a:r>
            <a:r>
              <a:rPr lang="en-US" dirty="0" smtClean="0"/>
              <a:t> (“</a:t>
            </a:r>
            <a:r>
              <a:rPr lang="en-US" dirty="0" err="1" smtClean="0"/>
              <a:t>meten</a:t>
            </a:r>
            <a:r>
              <a:rPr lang="en-US" dirty="0" smtClean="0"/>
              <a:t>”)</a:t>
            </a:r>
            <a:endParaRPr lang="nl-NL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033" y="1212592"/>
            <a:ext cx="2790535" cy="43113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84796" y="5560962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>
                <a:latin typeface="+mn-lt"/>
              </a:rPr>
              <a:t>https://</a:t>
            </a:r>
            <a:r>
              <a:rPr lang="nl-NL" sz="1000" dirty="0" smtClean="0">
                <a:latin typeface="+mn-lt"/>
              </a:rPr>
              <a:t>www.electronicsforu.com/wp-contents/uploads/2022/06/A-drone-detection-RF-monitoring-system-Source-httpsa8242685.en_.made-in-china.com_.jpg</a:t>
            </a:r>
            <a:endParaRPr lang="nl-NL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274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time-to-detection van counter-UAS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2" name="AutoShape 2" descr="Ballistische rakette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12800" y="1773238"/>
            <a:ext cx="10971832" cy="4246562"/>
          </a:xfrm>
        </p:spPr>
        <p:txBody>
          <a:bodyPr/>
          <a:lstStyle/>
          <a:p>
            <a:r>
              <a:rPr lang="nl-NL" b="1" dirty="0" smtClean="0"/>
              <a:t>Continue </a:t>
            </a:r>
            <a:r>
              <a:rPr lang="nl-NL" b="1" dirty="0" err="1" smtClean="0"/>
              <a:t>kansvariabele</a:t>
            </a:r>
            <a:r>
              <a:rPr lang="nl-NL" b="1" dirty="0" smtClean="0"/>
              <a:t>: </a:t>
            </a:r>
            <a:r>
              <a:rPr lang="nl-NL" dirty="0" smtClean="0"/>
              <a:t>de tijd tussen het moment dat een drone het sensorbereik van een </a:t>
            </a:r>
            <a:r>
              <a:rPr lang="nl-NL" dirty="0" err="1" smtClean="0"/>
              <a:t>Skyranger</a:t>
            </a:r>
            <a:r>
              <a:rPr lang="nl-NL" dirty="0" smtClean="0"/>
              <a:t> binnen vliegt en het moment van detectie.</a:t>
            </a:r>
            <a:endParaRPr lang="en-US" b="1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Wat is de </a:t>
            </a:r>
            <a:r>
              <a:rPr lang="en-US" dirty="0" err="1" smtClean="0"/>
              <a:t>kans</a:t>
            </a:r>
            <a:r>
              <a:rPr lang="en-US" dirty="0" smtClean="0"/>
              <a:t> </a:t>
            </a:r>
            <a:r>
              <a:rPr lang="en-US" dirty="0" err="1" smtClean="0"/>
              <a:t>dat</a:t>
            </a:r>
            <a:r>
              <a:rPr lang="en-US" dirty="0" smtClean="0"/>
              <a:t> </a:t>
            </a:r>
            <a:r>
              <a:rPr lang="en-US" dirty="0" err="1" smtClean="0"/>
              <a:t>een</a:t>
            </a:r>
            <a:r>
              <a:rPr lang="en-US" dirty="0" smtClean="0"/>
              <a:t> motor </a:t>
            </a:r>
            <a:r>
              <a:rPr lang="en-US" dirty="0" err="1" smtClean="0"/>
              <a:t>na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err="1" smtClean="0"/>
              <a:t>precies</a:t>
            </a:r>
            <a:r>
              <a:rPr lang="en-US" dirty="0" smtClean="0"/>
              <a:t> 2.1376 </a:t>
            </a:r>
            <a:r>
              <a:rPr lang="en-US" dirty="0" err="1" smtClean="0"/>
              <a:t>seconden</a:t>
            </a:r>
            <a:r>
              <a:rPr lang="en-US" dirty="0" smtClean="0"/>
              <a:t> </a:t>
            </a:r>
            <a:r>
              <a:rPr lang="en-US" dirty="0" err="1" smtClean="0"/>
              <a:t>wordt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err="1" smtClean="0"/>
              <a:t>gedetecteerd</a:t>
            </a:r>
            <a:r>
              <a:rPr lang="en-US" dirty="0" smtClean="0"/>
              <a:t>?</a:t>
            </a:r>
          </a:p>
          <a:p>
            <a:endParaRPr lang="nl-NL" dirty="0"/>
          </a:p>
          <a:p>
            <a:endParaRPr lang="nl-NL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smtClean="0"/>
              <a:t>Wat is de kans dat </a:t>
            </a:r>
            <a:r>
              <a:rPr lang="en-US" dirty="0" smtClean="0"/>
              <a:t>het </a:t>
            </a:r>
            <a:r>
              <a:rPr lang="en-US" dirty="0" err="1" smtClean="0"/>
              <a:t>langer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</a:p>
          <a:p>
            <a:r>
              <a:rPr lang="en-US" dirty="0" smtClean="0"/>
              <a:t>      3 </a:t>
            </a:r>
            <a:r>
              <a:rPr lang="en-US" dirty="0" err="1" smtClean="0"/>
              <a:t>seconden</a:t>
            </a:r>
            <a:r>
              <a:rPr lang="en-US" dirty="0" smtClean="0"/>
              <a:t> </a:t>
            </a:r>
            <a:r>
              <a:rPr lang="en-US" dirty="0" err="1" smtClean="0"/>
              <a:t>duurt</a:t>
            </a:r>
            <a:r>
              <a:rPr lang="en-US" dirty="0" smtClean="0"/>
              <a:t> </a:t>
            </a:r>
            <a:r>
              <a:rPr lang="en-US" dirty="0" err="1" smtClean="0"/>
              <a:t>voordat</a:t>
            </a:r>
            <a:r>
              <a:rPr lang="en-US" dirty="0" smtClean="0"/>
              <a:t> de drone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gedetecteerd</a:t>
            </a:r>
            <a:r>
              <a:rPr lang="en-US" dirty="0" smtClean="0"/>
              <a:t> </a:t>
            </a:r>
            <a:r>
              <a:rPr lang="en-US" dirty="0" err="1" smtClean="0"/>
              <a:t>wordt</a:t>
            </a:r>
            <a:r>
              <a:rPr lang="en-US" dirty="0" smtClean="0"/>
              <a:t>?</a:t>
            </a:r>
            <a:endParaRPr lang="en-US" b="1" dirty="0" smtClean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59" y="2531028"/>
            <a:ext cx="5031993" cy="3353320"/>
          </a:xfrm>
          <a:prstGeom prst="rect">
            <a:avLst/>
          </a:prstGeom>
        </p:spPr>
      </p:pic>
      <p:sp>
        <p:nvSpPr>
          <p:cNvPr id="7" name="Tekstvak 6"/>
          <p:cNvSpPr txBox="1"/>
          <p:nvPr/>
        </p:nvSpPr>
        <p:spPr>
          <a:xfrm>
            <a:off x="6168008" y="5897301"/>
            <a:ext cx="514555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+mn-lt"/>
              </a:rPr>
              <a:t>https://www.defensie.nl/onderwerpen/materieel/nieuws/2025/12/11/defensie-koopt-skyrangers-om-nederland-te-beschermen-tegen-drones</a:t>
            </a:r>
          </a:p>
        </p:txBody>
      </p:sp>
    </p:spTree>
    <p:extLst>
      <p:ext uri="{BB962C8B-B14F-4D97-AF65-F5344CB8AC3E}">
        <p14:creationId xmlns:p14="http://schemas.microsoft.com/office/powerpoint/2010/main" val="351841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b="1" dirty="0" err="1"/>
              <a:t>Voorbeeld</a:t>
            </a:r>
            <a:r>
              <a:rPr lang="en-US" b="1" dirty="0"/>
              <a:t>: time-to-detection van </a:t>
            </a:r>
            <a:r>
              <a:rPr lang="en-US" b="1" dirty="0" smtClean="0"/>
              <a:t>counter-UAS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2" name="AutoShape 2" descr="Ballistische rakette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/>
              <a:lstStyle/>
              <a:p>
                <a:r>
                  <a:rPr lang="en-US" b="1" dirty="0" smtClean="0"/>
                  <a:t>Continue </a:t>
                </a:r>
                <a:r>
                  <a:rPr lang="en-US" b="1" dirty="0" err="1" smtClean="0"/>
                  <a:t>kansvariabele</a:t>
                </a:r>
                <a:r>
                  <a:rPr lang="en-US" b="1" dirty="0" smtClean="0"/>
                  <a:t>: </a:t>
                </a:r>
                <a:r>
                  <a:rPr lang="en-US" dirty="0" smtClean="0"/>
                  <a:t>de </a:t>
                </a:r>
                <a:r>
                  <a:rPr lang="en-US" dirty="0" err="1" smtClean="0"/>
                  <a:t>tijd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(in </a:t>
                </a:r>
                <a:r>
                  <a:rPr lang="en-US" dirty="0" err="1" smtClean="0"/>
                  <a:t>seconden</a:t>
                </a:r>
                <a:r>
                  <a:rPr lang="en-US" dirty="0" smtClean="0"/>
                  <a:t>) tot </a:t>
                </a:r>
                <a:r>
                  <a:rPr lang="en-US" dirty="0" err="1" smtClean="0"/>
                  <a:t>detectie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drone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/>
                  <a:t>Continu</a:t>
                </a:r>
                <a:r>
                  <a:rPr lang="en-US" b="1" dirty="0" smtClean="0"/>
                  <a:t>: </a:t>
                </a:r>
                <a:r>
                  <a:rPr lang="en-US" dirty="0" smtClean="0"/>
                  <a:t>de </a:t>
                </a:r>
                <a:r>
                  <a:rPr lang="en-US" dirty="0" err="1" smtClean="0"/>
                  <a:t>uitkomstenruimte</a:t>
                </a:r>
                <a:r>
                  <a:rPr lang="en-US" dirty="0" smtClean="0"/>
                  <a:t> van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bestaat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alle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waarden</a:t>
                </a: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1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/>
                  <a:t>Kansvariabele</a:t>
                </a:r>
                <a:r>
                  <a:rPr lang="en-US" dirty="0" smtClean="0"/>
                  <a:t>: </a:t>
                </a:r>
                <a:r>
                  <a:rPr lang="en-US" dirty="0" err="1" smtClean="0"/>
                  <a:t>uitkomst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staat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niet</a:t>
                </a:r>
                <a:r>
                  <a:rPr lang="en-US" dirty="0" smtClean="0"/>
                  <a:t> vast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onderhevig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onzekere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factoren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zoals</a:t>
                </a:r>
                <a:r>
                  <a:rPr lang="en-US" dirty="0" smtClean="0"/>
                  <a:t>: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Radar cross section van drones, </a:t>
                </a:r>
                <a:r>
                  <a:rPr lang="en-US" dirty="0" err="1" smtClean="0"/>
                  <a:t>materiaal</a:t>
                </a:r>
                <a:r>
                  <a:rPr lang="en-US" dirty="0" smtClean="0"/>
                  <a:t> van drone, </a:t>
                </a:r>
                <a:r>
                  <a:rPr lang="en-US" dirty="0" err="1" smtClean="0"/>
                  <a:t>snelheid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invalshoek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t.o.v</a:t>
                </a:r>
                <a:r>
                  <a:rPr lang="en-US" dirty="0" smtClean="0"/>
                  <a:t>. radar.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endParaRPr lang="en-US" b="1" dirty="0" smtClean="0"/>
              </a:p>
              <a:p>
                <a:r>
                  <a:rPr lang="en-US" b="1" dirty="0"/>
                  <a:t>Wat is 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motor </a:t>
                </a:r>
                <a:r>
                  <a:rPr lang="en-US" b="1" dirty="0" err="1" smtClean="0"/>
                  <a:t>na</a:t>
                </a:r>
                <a:r>
                  <a:rPr lang="en-US" b="1" dirty="0" smtClean="0"/>
                  <a:t> </a:t>
                </a:r>
                <a:r>
                  <a:rPr lang="en-US" b="1" dirty="0" err="1"/>
                  <a:t>precies</a:t>
                </a:r>
                <a:r>
                  <a:rPr lang="en-US" b="1" dirty="0"/>
                  <a:t> 2.1376 </a:t>
                </a:r>
                <a:r>
                  <a:rPr lang="en-US" b="1" dirty="0" err="1"/>
                  <a:t>seconden</a:t>
                </a:r>
                <a:r>
                  <a:rPr lang="en-US" b="1" dirty="0"/>
                  <a:t> </a:t>
                </a:r>
                <a:r>
                  <a:rPr lang="en-US" b="1" dirty="0" err="1" smtClean="0"/>
                  <a:t>wordt</a:t>
                </a:r>
                <a:r>
                  <a:rPr lang="en-US" b="1" dirty="0" smtClean="0"/>
                  <a:t> </a:t>
                </a:r>
                <a:r>
                  <a:rPr lang="en-US" b="1" dirty="0" err="1"/>
                  <a:t>gedetecteerd</a:t>
                </a:r>
                <a:r>
                  <a:rPr lang="en-US" b="1" dirty="0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: </a:t>
                </a:r>
                <a:r>
                  <a:rPr lang="en-US" dirty="0" err="1" smtClean="0"/>
                  <a:t>gebeurtenis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=2.1376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beschrijft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één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oneindig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mogelijke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uitkomsten</a:t>
                </a:r>
                <a:endParaRPr lang="en-US" b="1" dirty="0"/>
              </a:p>
              <a:p>
                <a:pPr algn="ctr"/>
                <a:endParaRPr lang="nl-NL" dirty="0" smtClean="0"/>
              </a:p>
              <a:p>
                <a:pPr algn="ctr"/>
                <a:endParaRPr lang="en-US" dirty="0"/>
              </a:p>
              <a:p>
                <a:r>
                  <a:rPr lang="nl-NL" b="1" dirty="0"/>
                  <a:t>Wat is de kans dat </a:t>
                </a:r>
                <a:r>
                  <a:rPr lang="en-US" b="1" dirty="0"/>
                  <a:t>het </a:t>
                </a:r>
                <a:r>
                  <a:rPr lang="en-US" b="1" dirty="0" err="1"/>
                  <a:t>langer</a:t>
                </a:r>
                <a:r>
                  <a:rPr lang="en-US" b="1" dirty="0"/>
                  <a:t> </a:t>
                </a:r>
                <a:r>
                  <a:rPr lang="en-US" b="1" dirty="0" err="1"/>
                  <a:t>dan</a:t>
                </a:r>
                <a:r>
                  <a:rPr lang="en-US" b="1" dirty="0"/>
                  <a:t> </a:t>
                </a:r>
                <a:r>
                  <a:rPr lang="en-US" b="1" dirty="0" smtClean="0"/>
                  <a:t>3 </a:t>
                </a:r>
                <a:r>
                  <a:rPr lang="en-US" b="1" dirty="0" err="1"/>
                  <a:t>seconden</a:t>
                </a:r>
                <a:r>
                  <a:rPr lang="en-US" b="1" dirty="0"/>
                  <a:t> </a:t>
                </a:r>
                <a:r>
                  <a:rPr lang="en-US" b="1" dirty="0" err="1"/>
                  <a:t>duurt</a:t>
                </a:r>
                <a:r>
                  <a:rPr lang="en-US" b="1" dirty="0"/>
                  <a:t> </a:t>
                </a:r>
                <a:r>
                  <a:rPr lang="en-US" b="1" dirty="0" err="1"/>
                  <a:t>voordat</a:t>
                </a:r>
                <a:r>
                  <a:rPr lang="en-US" b="1" dirty="0"/>
                  <a:t> de </a:t>
                </a:r>
                <a:r>
                  <a:rPr lang="en-US" b="1" dirty="0" smtClean="0"/>
                  <a:t>drone </a:t>
                </a:r>
                <a:r>
                  <a:rPr lang="en-US" b="1" dirty="0" err="1"/>
                  <a:t>gedetecteerd</a:t>
                </a:r>
                <a:r>
                  <a:rPr lang="en-US" b="1" dirty="0"/>
                  <a:t> </a:t>
                </a:r>
                <a:r>
                  <a:rPr lang="en-US" b="1" dirty="0" err="1"/>
                  <a:t>wordt</a:t>
                </a:r>
                <a:r>
                  <a:rPr lang="en-US" b="1" dirty="0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 smtClean="0"/>
                  <a:t>: </a:t>
                </a:r>
                <a:r>
                  <a:rPr lang="en-US" dirty="0" err="1" smtClean="0"/>
                  <a:t>gebeurtenis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en-US" dirty="0" smtClean="0"/>
                  <a:t> beschrijft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b="1" dirty="0" smtClean="0"/>
                  <a:t>interval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oneindig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mogelijke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uitkomsten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b="1" dirty="0" smtClean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3"/>
                <a:stretch>
                  <a:fillRect l="-1556" t="-2296" r="-611" b="-3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74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0240" y="1844824"/>
                <a:ext cx="10539784" cy="4246562"/>
              </a:xfrm>
            </p:spPr>
            <p:txBody>
              <a:bodyPr anchor="ctr"/>
              <a:lstStyle/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continue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kansvariabele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 </a:t>
                </a:r>
                <a:endParaRPr lang="en-US" i="1" dirty="0" smtClean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is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specifieke</a:t>
                </a:r>
                <a:r>
                  <a:rPr lang="en-US" dirty="0"/>
                  <a:t> </a:t>
                </a:r>
                <a:r>
                  <a:rPr lang="en-US" dirty="0" err="1" smtClean="0"/>
                  <a:t>waarde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bijvoorbeeld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94812.123, 1.8273, −5.642</m:t>
                    </m:r>
                  </m:oMath>
                </a14:m>
                <a:endParaRPr lang="en-US" b="1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err="1" smtClean="0"/>
                  <a:t>Voor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specifieke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altijd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(!)</a:t>
                </a:r>
                <a:endParaRPr lang="en-US" dirty="0"/>
              </a:p>
              <a:p>
                <a:pPr marL="965200" lvl="2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 err="1" smtClean="0"/>
                  <a:t>dus</a:t>
                </a:r>
                <a:r>
                  <a:rPr lang="en-US" dirty="0" smtClean="0"/>
                  <a:t> </a:t>
                </a:r>
                <a:r>
                  <a:rPr lang="en-US" b="1" dirty="0" smtClean="0"/>
                  <a:t>NIET </a:t>
                </a:r>
                <a:r>
                  <a:rPr lang="en-US" dirty="0" err="1" smtClean="0"/>
                  <a:t>hetzelfde</a:t>
                </a:r>
                <a:r>
                  <a:rPr lang="en-US" b="1" dirty="0" smtClean="0"/>
                  <a:t> </a:t>
                </a:r>
                <a:r>
                  <a:rPr lang="en-US" dirty="0" err="1" smtClean="0"/>
                  <a:t>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onmogelijk</a:t>
                </a:r>
                <a:r>
                  <a:rPr lang="en-US" dirty="0" smtClean="0"/>
                  <a:t>!</a:t>
                </a:r>
                <a:endParaRPr lang="en-US" dirty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b="1" dirty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b="1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/>
                  <a:t>Bij</a:t>
                </a:r>
                <a:r>
                  <a:rPr lang="en-US" dirty="0" smtClean="0"/>
                  <a:t> continue </a:t>
                </a:r>
                <a:r>
                  <a:rPr lang="en-US" dirty="0" err="1" smtClean="0"/>
                  <a:t>kansvariabelen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nl-NL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nl-NL" b="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/>
                  <a:t>Dit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:r>
                  <a:rPr lang="en-US" b="1" u="sng" dirty="0" smtClean="0"/>
                  <a:t>NIET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discrete </a:t>
                </a:r>
                <a:r>
                  <a:rPr lang="en-US" dirty="0" err="1" smtClean="0"/>
                  <a:t>kansvariabelen</a:t>
                </a:r>
                <a:r>
                  <a:rPr lang="en-US" dirty="0" smtClean="0"/>
                  <a:t>!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0240" y="1844824"/>
                <a:ext cx="10539784" cy="4246562"/>
              </a:xfrm>
              <a:blipFill>
                <a:blip r:embed="rId2"/>
                <a:stretch>
                  <a:fillRect t="-4598" b="-7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20240" y="1259586"/>
            <a:ext cx="10363200" cy="400110"/>
          </a:xfrm>
        </p:spPr>
        <p:txBody>
          <a:bodyPr/>
          <a:lstStyle/>
          <a:p>
            <a:r>
              <a:rPr lang="en-US" dirty="0" smtClean="0"/>
              <a:t>Continue </a:t>
            </a:r>
            <a:r>
              <a:rPr lang="en-US" dirty="0" err="1" smtClean="0"/>
              <a:t>kansvariabelen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048398"/>
                  </p:ext>
                </p:extLst>
              </p:nvPr>
            </p:nvGraphicFramePr>
            <p:xfrm>
              <a:off x="2613740" y="3717032"/>
              <a:ext cx="6776200" cy="1508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04997">
                      <a:extLst>
                        <a:ext uri="{9D8B030D-6E8A-4147-A177-3AD203B41FA5}">
                          <a16:colId xmlns:a16="http://schemas.microsoft.com/office/drawing/2014/main" val="3606751969"/>
                        </a:ext>
                      </a:extLst>
                    </a:gridCol>
                    <a:gridCol w="1806688">
                      <a:extLst>
                        <a:ext uri="{9D8B030D-6E8A-4147-A177-3AD203B41FA5}">
                          <a16:colId xmlns:a16="http://schemas.microsoft.com/office/drawing/2014/main" val="3439097607"/>
                        </a:ext>
                      </a:extLst>
                    </a:gridCol>
                    <a:gridCol w="1564515">
                      <a:extLst>
                        <a:ext uri="{9D8B030D-6E8A-4147-A177-3AD203B41FA5}">
                          <a16:colId xmlns:a16="http://schemas.microsoft.com/office/drawing/2014/main" val="7834149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err="1" smtClean="0"/>
                            <a:t>Continu</a:t>
                          </a:r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542246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err="1" smtClean="0"/>
                            <a:t>Kans</a:t>
                          </a:r>
                          <a:r>
                            <a:rPr lang="en-US" baseline="0" dirty="0" smtClean="0"/>
                            <a:t> op </a:t>
                          </a:r>
                          <a:r>
                            <a:rPr lang="en-US" baseline="0" dirty="0" err="1" smtClean="0"/>
                            <a:t>losse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uitkomst</a:t>
                          </a:r>
                          <a:r>
                            <a:rPr lang="en-US" baseline="0" dirty="0" smtClean="0"/>
                            <a:t> 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6530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smtClean="0"/>
                            <a:t>Kans op </a:t>
                          </a:r>
                          <a:r>
                            <a:rPr lang="en-US" dirty="0" err="1" smtClean="0"/>
                            <a:t>uitkomst</a:t>
                          </a:r>
                          <a:r>
                            <a:rPr lang="en-US" dirty="0" smtClean="0"/>
                            <a:t> in interval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638591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048398"/>
                  </p:ext>
                </p:extLst>
              </p:nvPr>
            </p:nvGraphicFramePr>
            <p:xfrm>
              <a:off x="2613740" y="3717032"/>
              <a:ext cx="6776200" cy="1508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04997">
                      <a:extLst>
                        <a:ext uri="{9D8B030D-6E8A-4147-A177-3AD203B41FA5}">
                          <a16:colId xmlns:a16="http://schemas.microsoft.com/office/drawing/2014/main" val="3606751969"/>
                        </a:ext>
                      </a:extLst>
                    </a:gridCol>
                    <a:gridCol w="1806688">
                      <a:extLst>
                        <a:ext uri="{9D8B030D-6E8A-4147-A177-3AD203B41FA5}">
                          <a16:colId xmlns:a16="http://schemas.microsoft.com/office/drawing/2014/main" val="3439097607"/>
                        </a:ext>
                      </a:extLst>
                    </a:gridCol>
                    <a:gridCol w="1564515">
                      <a:extLst>
                        <a:ext uri="{9D8B030D-6E8A-4147-A177-3AD203B41FA5}">
                          <a16:colId xmlns:a16="http://schemas.microsoft.com/office/drawing/2014/main" val="783414943"/>
                        </a:ext>
                      </a:extLst>
                    </a:gridCol>
                  </a:tblGrid>
                  <a:tr h="5029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err="1" smtClean="0"/>
                            <a:t>Continu</a:t>
                          </a:r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54224604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err="1" smtClean="0"/>
                            <a:t>Kans</a:t>
                          </a:r>
                          <a:r>
                            <a:rPr lang="en-US" baseline="0" dirty="0" smtClean="0"/>
                            <a:t> op </a:t>
                          </a:r>
                          <a:r>
                            <a:rPr lang="en-US" baseline="0" dirty="0" err="1" smtClean="0"/>
                            <a:t>losse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uitkomst</a:t>
                          </a:r>
                          <a:r>
                            <a:rPr lang="en-US" baseline="0" dirty="0" smtClean="0"/>
                            <a:t> 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8552" t="-101205" r="-87879" b="-10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463" t="-101205" r="-1556" b="-109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530567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9" t="-201205" r="-99821" b="-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8552" t="-201205" r="-87879" b="-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463" t="-201205" r="-1556" b="-9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8591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7965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6" y="1265239"/>
                <a:ext cx="11185739" cy="400110"/>
              </a:xfrm>
            </p:spPr>
            <p:txBody>
              <a:bodyPr/>
              <a:lstStyle/>
              <a:p>
                <a:pPr eaLnBrk="1" hangingPunct="1"/>
                <a:r>
                  <a:rPr lang="en-US" b="1" dirty="0" smtClean="0"/>
                  <a:t>Discrete </a:t>
                </a:r>
                <a:r>
                  <a:rPr lang="en-US" b="1" dirty="0" err="1" smtClean="0"/>
                  <a:t>kansvariabelen</a:t>
                </a:r>
                <a:r>
                  <a:rPr lang="en-US" b="1" dirty="0" smtClean="0"/>
                  <a:t>: twee </a:t>
                </a:r>
                <a:r>
                  <a:rPr lang="en-US" b="1" dirty="0" err="1" smtClean="0"/>
                  <a:t>weergaven</a:t>
                </a:r>
                <a:r>
                  <a:rPr lang="en-US" b="1" dirty="0" smtClean="0"/>
                  <a:t> van de </a:t>
                </a:r>
                <a:r>
                  <a:rPr lang="en-US" b="1" dirty="0" err="1" smtClean="0"/>
                  <a:t>kansfunctie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b="1" dirty="0" smtClean="0"/>
              </a:p>
            </p:txBody>
          </p:sp>
        </mc:Choice>
        <mc:Fallback xmlns=""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6" y="1265239"/>
                <a:ext cx="11185739" cy="400110"/>
              </a:xfrm>
              <a:blipFill>
                <a:blip r:embed="rId2"/>
                <a:stretch>
                  <a:fillRect l="-1798" t="-26154" b="-5076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3: continue kansvariabelen</a:t>
            </a:r>
            <a:endParaRPr kumimoji="0" lang="nl-NL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4916" y="1916832"/>
            <a:ext cx="111857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WebText Bold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8166008"/>
                  </p:ext>
                </p:extLst>
              </p:nvPr>
            </p:nvGraphicFramePr>
            <p:xfrm>
              <a:off x="1352000" y="1728083"/>
              <a:ext cx="9597830" cy="11248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2530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487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3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4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9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0.13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8166008"/>
                  </p:ext>
                </p:extLst>
              </p:nvPr>
            </p:nvGraphicFramePr>
            <p:xfrm>
              <a:off x="1352000" y="1728083"/>
              <a:ext cx="9597830" cy="11248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2530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487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9" t="-1099" r="-1004895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3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4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9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9" t="-96842" r="-1004895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0.13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672" y="2915670"/>
            <a:ext cx="4392488" cy="334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3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Continue </a:t>
            </a:r>
            <a:r>
              <a:rPr lang="en-US" b="1" dirty="0" err="1" smtClean="0"/>
              <a:t>kansvariabelen</a:t>
            </a:r>
            <a:r>
              <a:rPr lang="en-US" b="1" dirty="0" smtClean="0"/>
              <a:t>: </a:t>
            </a:r>
            <a:r>
              <a:rPr lang="en-US" b="1" dirty="0" err="1" smtClean="0"/>
              <a:t>kansdichtheidsfunctie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r>
                  <a:rPr lang="en-US" sz="2400" dirty="0" smtClean="0"/>
                  <a:t>Dit </a:t>
                </a:r>
                <a:r>
                  <a:rPr lang="en-US" sz="2400" dirty="0" err="1" smtClean="0"/>
                  <a:t>werkt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niet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meer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voor</a:t>
                </a:r>
                <a:r>
                  <a:rPr lang="en-US" sz="2400" dirty="0" smtClean="0"/>
                  <a:t> </a:t>
                </a:r>
                <a:r>
                  <a:rPr lang="en-US" sz="2400" b="1" dirty="0" smtClean="0"/>
                  <a:t>continue </a:t>
                </a:r>
                <a:r>
                  <a:rPr lang="en-US" sz="2400" b="1" dirty="0" err="1" smtClean="0"/>
                  <a:t>kansvariabelen</a:t>
                </a:r>
                <a:r>
                  <a:rPr lang="en-US" sz="2400" b="1" dirty="0" smtClean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/>
                  <a:t>Tabel zou oneindig veel kolommen krijgen.</a:t>
                </a:r>
                <a:endParaRPr lang="en-US" sz="24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Kans op elke mogelijke uitkomst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 is gelijk aan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 err="1" smtClean="0"/>
                  <a:t>Wel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kunnen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bepaalde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uitkomsten</a:t>
                </a:r>
                <a:r>
                  <a:rPr lang="en-US" sz="2400" dirty="0" smtClean="0"/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waarschijnlijker</a:t>
                </a:r>
                <a:r>
                  <a:rPr lang="en-US" sz="2400" dirty="0" smtClean="0"/>
                  <a:t> </a:t>
                </a:r>
                <a:r>
                  <a:rPr lang="en-US" sz="2400" dirty="0" err="1"/>
                  <a:t>zijn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anderen</a:t>
                </a:r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Time-to-detection </a:t>
                </a:r>
                <a:r>
                  <a:rPr lang="en-US" sz="2400" dirty="0" err="1" smtClean="0"/>
                  <a:t>rond</a:t>
                </a:r>
                <a:r>
                  <a:rPr lang="en-US" sz="2400" dirty="0" smtClean="0"/>
                  <a:t> 3 </a:t>
                </a:r>
                <a:r>
                  <a:rPr lang="en-US" sz="2400" dirty="0" err="1" smtClean="0"/>
                  <a:t>seconden</a:t>
                </a:r>
                <a:r>
                  <a:rPr lang="en-US" sz="2400" dirty="0" smtClean="0"/>
                  <a:t> is </a:t>
                </a:r>
                <a:r>
                  <a:rPr lang="en-US" sz="2400" dirty="0" err="1" smtClean="0"/>
                  <a:t>waarschijnlijker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rond</a:t>
                </a:r>
                <a:r>
                  <a:rPr lang="en-US" sz="2400" dirty="0" smtClean="0"/>
                  <a:t> 10 </a:t>
                </a:r>
                <a:r>
                  <a:rPr lang="en-US" sz="2400" dirty="0" err="1" smtClean="0"/>
                  <a:t>seconden</a:t>
                </a:r>
                <a:r>
                  <a:rPr lang="en-US" sz="2400" dirty="0" smtClean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dirty="0" err="1" smtClean="0"/>
                  <a:t>Dit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principe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wordt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gevat</a:t>
                </a:r>
                <a:r>
                  <a:rPr lang="en-US" sz="2400" dirty="0" smtClean="0"/>
                  <a:t> in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b="1" dirty="0" smtClean="0">
                    <a:solidFill>
                      <a:schemeClr val="accent1"/>
                    </a:solidFill>
                  </a:rPr>
                  <a:t>kansdichtheidsfunctie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solidFill>
                    <a:schemeClr val="accent1"/>
                  </a:solidFill>
                </a:endParaRPr>
              </a:p>
              <a:p>
                <a:endParaRPr lang="en-US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US" sz="2400" b="1" dirty="0" err="1" smtClean="0">
                    <a:solidFill>
                      <a:schemeClr val="tx1"/>
                    </a:solidFill>
                  </a:rPr>
                  <a:t>Merk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op: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634" t="-2582" b="-1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162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Kansdichtheidsfunctie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860618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9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Kansdichtheidsfunctie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4917" y="1662114"/>
                <a:ext cx="10363200" cy="4246562"/>
              </a:xfrm>
            </p:spPr>
            <p:txBody>
              <a:bodyPr anchor="t"/>
              <a:lstStyle/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kansdichtheidsfunctie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b="1" dirty="0" err="1" smtClean="0"/>
                  <a:t>niet-negatief</a:t>
                </a:r>
                <a:r>
                  <a:rPr lang="en-US" dirty="0" smtClean="0"/>
                  <a:t>:</a:t>
                </a:r>
              </a:p>
              <a:p>
                <a:pPr lvl="2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smtClean="0"/>
                  <a:t>De </a:t>
                </a:r>
                <a:r>
                  <a:rPr lang="en-US" dirty="0" err="1" smtClean="0"/>
                  <a:t>totale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oppervlakte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onder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grafiek</a:t>
                </a:r>
                <a:r>
                  <a:rPr lang="en-US" dirty="0" smtClean="0"/>
                  <a:t> is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NL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nl-NL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err="1" smtClean="0"/>
                  <a:t>Kans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uitkomst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tussen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 smtClean="0"/>
                  <a:t>oppervlakte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onder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tussen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 smtClean="0"/>
                  <a:t>:</a:t>
                </a:r>
                <a:endParaRPr lang="en-US" sz="2000" b="0" i="1" dirty="0" smtClean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4917" y="1662114"/>
                <a:ext cx="10363200" cy="4246562"/>
              </a:xfrm>
              <a:blipFill>
                <a:blip r:embed="rId2"/>
                <a:stretch>
                  <a:fillRect b="-6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19" y="1100914"/>
            <a:ext cx="4896545" cy="367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4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Continue </a:t>
            </a:r>
            <a:r>
              <a:rPr lang="en-US" b="1" dirty="0" err="1" smtClean="0"/>
              <a:t>kansen</a:t>
            </a:r>
            <a:r>
              <a:rPr lang="en-US" b="1" dirty="0" smtClean="0"/>
              <a:t> met de </a:t>
            </a:r>
            <a:r>
              <a:rPr lang="en-US" b="1" dirty="0" err="1" smtClean="0"/>
              <a:t>grafische</a:t>
            </a:r>
            <a:r>
              <a:rPr lang="en-US" b="1" dirty="0" smtClean="0"/>
              <a:t> </a:t>
            </a:r>
            <a:r>
              <a:rPr lang="en-US" b="1" dirty="0" err="1" smtClean="0"/>
              <a:t>rekenmachine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/>
                  <a:t>Voor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gegeven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kansdichtheidsfunctie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smtClean="0"/>
                  <a:t> kun je </a:t>
                </a:r>
                <a:r>
                  <a:rPr lang="en-US" dirty="0" err="1" smtClean="0"/>
                  <a:t>kansen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volgt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berekenen</a:t>
                </a:r>
                <a:r>
                  <a:rPr lang="en-US" dirty="0" smtClean="0"/>
                  <a:t>:</a:t>
                </a:r>
              </a:p>
              <a:p>
                <a:pPr lvl="1" indent="0" algn="ctr">
                  <a:lnSpc>
                    <a:spcPct val="150000"/>
                  </a:lnSpc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fnInt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dirty="0" smtClean="0"/>
                  <a:t>De functie 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fnInt</m:t>
                    </m:r>
                  </m:oMath>
                </a14:m>
                <a:r>
                  <a:rPr lang="en-US" dirty="0" smtClean="0"/>
                  <a:t>” </a:t>
                </a:r>
                <a:r>
                  <a:rPr lang="en-US" dirty="0" err="1" smtClean="0"/>
                  <a:t>staat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</a:t>
                </a:r>
                <a:r>
                  <a:rPr lang="en-US" b="1" dirty="0" smtClean="0"/>
                  <a:t>“function integral”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vind</a:t>
                </a:r>
                <a:r>
                  <a:rPr lang="en-US" dirty="0" smtClean="0"/>
                  <a:t> je </a:t>
                </a:r>
                <a:r>
                  <a:rPr lang="en-US" dirty="0" err="1" smtClean="0"/>
                  <a:t>onder</a:t>
                </a:r>
                <a:r>
                  <a:rPr lang="en-US" dirty="0" smtClean="0"/>
                  <a:t> MATH</a:t>
                </a:r>
                <a14:m>
                  <m:oMath xmlns:m="http://schemas.openxmlformats.org/officeDocument/2006/math">
                    <m:r>
                      <a:rPr lang="nl-NL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→9</m:t>
                    </m:r>
                  </m:oMath>
                </a14:m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b="1" dirty="0" smtClean="0"/>
                  <a:t>Voorbeeld: </a:t>
                </a:r>
                <a:r>
                  <a:rPr lang="nl-NL" dirty="0"/>
                  <a:t>g</a:t>
                </a:r>
                <a:r>
                  <a:rPr lang="nl-NL" dirty="0" smtClean="0"/>
                  <a:t>egeven is de kansdichtheidsfunctie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als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≤1,</m:t>
                              </m:r>
                            </m:e>
                          </m:mr>
                          <m:m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 dirty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dirty="0" smtClean="0"/>
                  <a:t>Dan is de kans op een waarde tussen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nl-NL" dirty="0" smtClean="0"/>
                  <a:t> en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lang="nl-NL" dirty="0" smtClean="0"/>
                  <a:t> gelijk aan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0.2≤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≤0.4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0.4</m:t>
                          </m:r>
                        </m:sup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,0.2, 0.4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=0.056</m:t>
                      </m:r>
                      <m:r>
                        <a:rPr lang="nl-NL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l-NL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4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781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rekenen</a:t>
            </a:r>
            <a:r>
              <a:rPr lang="en-US" b="1" dirty="0" smtClean="0"/>
              <a:t> met </a:t>
            </a:r>
            <a:r>
              <a:rPr lang="en-US" b="1" dirty="0" err="1" smtClean="0"/>
              <a:t>kansdichtheidsfuncties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smtClean="0"/>
                  <a:t>Voorbeeld: </a:t>
                </a:r>
                <a:r>
                  <a:rPr lang="en-US" dirty="0" err="1" smtClean="0"/>
                  <a:t>gegeven</a:t>
                </a:r>
                <a:r>
                  <a:rPr lang="en-US" dirty="0" smtClean="0"/>
                  <a:t> is de 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>
                                  <a:latin typeface="Cambria Math" panose="02040503050406030204" pitchFamily="18" charset="0"/>
                                </a:rPr>
                                <m:t>als</m:t>
                              </m:r>
                              <m:r>
                                <a:rPr lang="nl-NL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≤8,</m:t>
                              </m:r>
                            </m:e>
                          </m:mr>
                          <m:mr>
                            <m:e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dirty="0" err="1" smtClean="0"/>
                  <a:t>Voldoet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voorwaarden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kansdichtheidsfunctie</a:t>
                </a:r>
                <a:r>
                  <a:rPr lang="en-US" dirty="0" smtClean="0"/>
                  <a:t>?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680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Voorbeeld</a:t>
            </a:r>
            <a:r>
              <a:rPr lang="en-US" b="1" dirty="0"/>
              <a:t>: </a:t>
            </a:r>
            <a:r>
              <a:rPr lang="en-US" b="1" dirty="0" err="1"/>
              <a:t>rekenen</a:t>
            </a:r>
            <a:r>
              <a:rPr lang="en-US" b="1" dirty="0"/>
              <a:t> met </a:t>
            </a:r>
            <a:r>
              <a:rPr lang="en-US" b="1" dirty="0" err="1" smtClean="0"/>
              <a:t>kansdichtheidsfuncties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 anchor="t"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smtClean="0"/>
                  <a:t>Voorbeeld: </a:t>
                </a:r>
                <a:r>
                  <a:rPr lang="en-US" dirty="0"/>
                  <a:t>gegeven is </a:t>
                </a:r>
                <a:r>
                  <a:rPr lang="en-US" dirty="0" smtClean="0"/>
                  <a:t>de </a:t>
                </a:r>
                <a:r>
                  <a:rPr lang="en-US" dirty="0" err="1"/>
                  <a:t>functie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als</m:t>
                              </m:r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≤8,</m:t>
                              </m:r>
                            </m:e>
                          </m:mr>
                          <m:m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voldoet</a:t>
                </a:r>
                <a:r>
                  <a:rPr lang="en-US" dirty="0" smtClean="0"/>
                  <a:t> </a:t>
                </a:r>
                <a:r>
                  <a:rPr lang="en-US" b="1" u="sng" dirty="0" smtClean="0"/>
                  <a:t>NIET</a:t>
                </a:r>
                <a:r>
                  <a:rPr lang="en-US" b="1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voorwaarden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kansdichtheidsfunctie</a:t>
                </a:r>
                <a:r>
                  <a:rPr lang="en-US" dirty="0" smtClean="0"/>
                  <a:t>, want:</a:t>
                </a:r>
              </a:p>
              <a:p>
                <a:pPr marL="965200" lvl="2" indent="-342900">
                  <a:lnSpc>
                    <a:spcPct val="150000"/>
                  </a:lnSpc>
                </a:pPr>
                <a:r>
                  <a:rPr lang="en-US" dirty="0" err="1" smtClean="0">
                    <a:solidFill>
                      <a:srgbClr val="00B050"/>
                    </a:solidFill>
                  </a:rPr>
                  <a:t>Voor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00B050"/>
                    </a:solidFill>
                  </a:rPr>
                  <a:t>iedere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00B050"/>
                    </a:solidFill>
                  </a:rPr>
                  <a:t>uitkomst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>
                    <a:solidFill>
                      <a:srgbClr val="00B050"/>
                    </a:solidFill>
                  </a:rPr>
                  <a:t> in de </a:t>
                </a:r>
                <a:r>
                  <a:rPr lang="en-US" dirty="0" err="1" smtClean="0">
                    <a:solidFill>
                      <a:srgbClr val="00B050"/>
                    </a:solidFill>
                  </a:rPr>
                  <a:t>uitkomstenruimte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(in </a:t>
                </a:r>
                <a:r>
                  <a:rPr lang="en-US" dirty="0" err="1" smtClean="0">
                    <a:solidFill>
                      <a:srgbClr val="00B050"/>
                    </a:solidFill>
                  </a:rPr>
                  <a:t>dit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00B050"/>
                    </a:solidFill>
                  </a:rPr>
                  <a:t>geval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nl-NL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1, 8</m:t>
                        </m:r>
                      </m:e>
                    </m:d>
                  </m:oMath>
                </a14:m>
                <a:r>
                  <a:rPr lang="en-US" dirty="0" smtClean="0">
                    <a:solidFill>
                      <a:srgbClr val="00B050"/>
                    </a:solidFill>
                  </a:rPr>
                  <a:t>) geldt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800" dirty="0" smtClean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     </a:t>
                </a:r>
                <a:r>
                  <a:rPr lang="en-US" dirty="0" smtClean="0"/>
                  <a:t> </a:t>
                </a:r>
              </a:p>
              <a:p>
                <a:pPr marL="965200" lvl="2" indent="-342900">
                  <a:lnSpc>
                    <a:spcPct val="150000"/>
                  </a:lnSpc>
                </a:pPr>
                <a:r>
                  <a:rPr lang="en-US" dirty="0" smtClean="0">
                    <a:solidFill>
                      <a:srgbClr val="FF0000"/>
                    </a:solidFill>
                  </a:rPr>
                  <a:t>De oppervlakte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onder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de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grafiek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van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is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NIET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gelijk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aan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nl-NL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			        </a:t>
                </a:r>
              </a:p>
              <a:p>
                <a:pPr lvl="2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nl-N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f>
                            <m:fPr>
                              <m:ctrlP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nary>
                      <m:r>
                        <a:rPr lang="nl-N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nl-NL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,1, 8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nl-NL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≠1</m:t>
                      </m:r>
                    </m:oMath>
                  </m:oMathPara>
                </a14:m>
                <a:endParaRPr lang="en-US" sz="2800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2"/>
                <a:stretch>
                  <a:fillRect r="-1678" b="-3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834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Kansdichtheidsfunctie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68784" y="1340768"/>
                <a:ext cx="10899824" cy="4246562"/>
              </a:xfrm>
            </p:spPr>
            <p:txBody>
              <a:bodyPr anchor="t"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smtClean="0"/>
                  <a:t>Voorbeeld: </a:t>
                </a:r>
                <a:r>
                  <a:rPr lang="en-US" dirty="0" err="1" smtClean="0"/>
                  <a:t>stel</a:t>
                </a:r>
                <a:r>
                  <a:rPr lang="en-US" dirty="0" smtClean="0"/>
                  <a:t> nu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we </a:t>
                </a:r>
                <a:r>
                  <a:rPr lang="en-US" dirty="0" err="1" smtClean="0"/>
                  <a:t>kijken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naar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  <m:r>
                                <m:rPr>
                                  <m:brk m:alnAt="7"/>
                                </m:r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als</m:t>
                              </m:r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 1≤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≤8,</m:t>
                              </m:r>
                            </m:e>
                          </m:mr>
                          <m:m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voldoet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voorwaarden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kansdichtheidsfunctie</a:t>
                </a:r>
                <a:r>
                  <a:rPr lang="en-US" dirty="0" smtClean="0"/>
                  <a:t>. 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nl-NL" dirty="0" smtClean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lphaLcParenR"/>
                </a:pPr>
                <a:endParaRPr lang="en-US" dirty="0" smtClean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dirty="0" smtClean="0"/>
                  <a:t>Met </a:t>
                </a:r>
                <a:r>
                  <a:rPr lang="en-US" dirty="0" err="1" smtClean="0"/>
                  <a:t>welke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neemt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kansvariabele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met PDF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waarde</a:t>
                </a:r>
                <a:r>
                  <a:rPr lang="en-US" dirty="0"/>
                  <a:t> </a:t>
                </a:r>
                <a:r>
                  <a:rPr lang="en-US" dirty="0" err="1"/>
                  <a:t>tussen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6.1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? </a:t>
                </a: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≤6.1</m:t>
                          </m:r>
                        </m:e>
                      </m:d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6.1</m:t>
                          </m:r>
                        </m:sup>
                        <m:e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 1, 6.1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0.7286</m:t>
                      </m:r>
                    </m:oMath>
                  </m:oMathPara>
                </a14:m>
                <a:r>
                  <a:rPr lang="en-US" i="1" dirty="0">
                    <a:latin typeface="Cambria Math" panose="02040503050406030204" pitchFamily="18" charset="0"/>
                  </a:rPr>
                  <a:t/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784" y="1340768"/>
                <a:ext cx="10899824" cy="4246562"/>
              </a:xfrm>
              <a:blipFill>
                <a:blip r:embed="rId2"/>
                <a:stretch>
                  <a:fillRect b="-1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934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Cumulatieve</a:t>
            </a:r>
            <a:r>
              <a:rPr lang="en-US" b="1" dirty="0" smtClean="0"/>
              <a:t> </a:t>
            </a:r>
            <a:r>
              <a:rPr lang="en-US" b="1" dirty="0" err="1" smtClean="0"/>
              <a:t>verdelingsfunctie</a:t>
            </a:r>
            <a:r>
              <a:rPr lang="en-US" b="1" dirty="0" smtClean="0"/>
              <a:t> (CDF)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0375" y="1792448"/>
                <a:ext cx="10945216" cy="3921893"/>
              </a:xfrm>
            </p:spPr>
            <p:txBody>
              <a:bodyPr anchor="ctr"/>
              <a:lstStyle/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>
                  <a:solidFill>
                    <a:schemeClr val="tx1"/>
                  </a:solidFill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>
                  <a:solidFill>
                    <a:schemeClr val="tx1"/>
                  </a:solidFill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>
                    <a:solidFill>
                      <a:schemeClr val="tx1"/>
                    </a:solidFill>
                  </a:rPr>
                  <a:t>Opnieuw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kunnen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we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kansen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berekenen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met de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cumulatieve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verdelingsfunctie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 (CDF)</a:t>
                </a:r>
                <a:r>
                  <a:rPr lang="en-US" dirty="0" smtClean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b="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nl-NL" sz="2000" b="1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nl-NL" sz="2000" b="1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b="1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b="1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375" y="1792448"/>
                <a:ext cx="10945216" cy="3921893"/>
              </a:xfrm>
              <a:blipFill>
                <a:blip r:embed="rId2"/>
                <a:stretch>
                  <a:fillRect t="-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492"/>
          <a:stretch/>
        </p:blipFill>
        <p:spPr>
          <a:xfrm>
            <a:off x="1066800" y="3212976"/>
            <a:ext cx="10058400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1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Voorbeeldopgave</a:t>
            </a:r>
            <a:r>
              <a:rPr lang="en-US" b="1" dirty="0" smtClean="0"/>
              <a:t>: time-to-detection van counter-UAS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3: continue kansvariabelen</a:t>
            </a:r>
            <a:endParaRPr kumimoji="0" lang="nl-NL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" name="AutoShape 2" descr="Ballistische rakette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/>
              <a:lstStyle/>
              <a:p>
                <a:r>
                  <a:rPr lang="nl-NL" dirty="0" smtClean="0"/>
                  <a:t>Laat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dirty="0" smtClean="0"/>
                  <a:t> de continue </a:t>
                </a:r>
                <a:r>
                  <a:rPr lang="nl-NL" dirty="0" err="1" smtClean="0"/>
                  <a:t>kansvariabele</a:t>
                </a:r>
                <a:r>
                  <a:rPr lang="nl-NL" dirty="0" smtClean="0"/>
                  <a:t> zijn die de tijd meet </a:t>
                </a:r>
                <a:r>
                  <a:rPr lang="nl-NL" dirty="0"/>
                  <a:t>tussen het moment dat een drone het sensorbereik van een </a:t>
                </a:r>
                <a:r>
                  <a:rPr lang="nl-NL" dirty="0" err="1"/>
                  <a:t>Skyranger</a:t>
                </a:r>
                <a:r>
                  <a:rPr lang="nl-NL" dirty="0"/>
                  <a:t> binnen vliegt en het moment </a:t>
                </a:r>
                <a:r>
                  <a:rPr lang="nl-NL" dirty="0" smtClean="0"/>
                  <a:t>dat deze gedetecteerd wordt.</a:t>
                </a:r>
              </a:p>
              <a:p>
                <a:endParaRPr lang="nl-NL" dirty="0"/>
              </a:p>
              <a:p>
                <a:r>
                  <a:rPr lang="nl-NL" dirty="0" smtClean="0"/>
                  <a:t>De kansdichtheidsfunctie die hoort bij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dirty="0" smtClean="0"/>
                  <a:t> is </a:t>
                </a:r>
              </a:p>
              <a:p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0.5⋅</m:t>
                              </m:r>
                              <m:sSup>
                                <m:sSupPr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−0.5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,      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</m:e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                  0,   </m:t>
                              </m:r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nl-NL" dirty="0" smtClean="0"/>
              </a:p>
              <a:p>
                <a:endParaRPr lang="nl-NL" b="1" dirty="0" smtClean="0"/>
              </a:p>
              <a:p>
                <a:endParaRPr lang="nl-NL" b="1" dirty="0" smtClean="0"/>
              </a:p>
              <a:p>
                <a:endParaRPr lang="nl-NL" b="1" dirty="0"/>
              </a:p>
              <a:p>
                <a:r>
                  <a:rPr lang="nl-NL" b="1" dirty="0" smtClean="0"/>
                  <a:t>Wat is de kans dat een drone meer dan drie seconden </a:t>
                </a:r>
                <a:r>
                  <a:rPr lang="nl-NL" b="1" dirty="0" err="1" smtClean="0"/>
                  <a:t>ongedetecteerd</a:t>
                </a:r>
                <a:endParaRPr lang="nl-NL" b="1" dirty="0" smtClean="0"/>
              </a:p>
              <a:p>
                <a:r>
                  <a:rPr lang="nl-NL" b="1" dirty="0" smtClean="0"/>
                  <a:t>binnen het sensorbereik van de </a:t>
                </a:r>
                <a:r>
                  <a:rPr lang="nl-NL" b="1" dirty="0" err="1" smtClean="0"/>
                  <a:t>Skyranger</a:t>
                </a:r>
                <a:r>
                  <a:rPr lang="nl-NL" b="1" dirty="0" smtClean="0"/>
                  <a:t> kan blijven vliegen?</a:t>
                </a:r>
                <a:endParaRPr lang="en-US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3"/>
                <a:stretch>
                  <a:fillRect l="-1556" t="-2009" b="-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Figure 1 from Radar cross section and detection of small unmanned ...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8" t="4025"/>
          <a:stretch/>
        </p:blipFill>
        <p:spPr bwMode="auto">
          <a:xfrm>
            <a:off x="9482002" y="3068960"/>
            <a:ext cx="2598349" cy="256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kstvak 2"/>
          <p:cNvSpPr txBox="1"/>
          <p:nvPr/>
        </p:nvSpPr>
        <p:spPr>
          <a:xfrm>
            <a:off x="9324475" y="5631104"/>
            <a:ext cx="2881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+mn-lt"/>
              </a:rPr>
              <a:t>Farlik</a:t>
            </a:r>
            <a:r>
              <a:rPr lang="en-US" sz="1000" dirty="0">
                <a:latin typeface="+mn-lt"/>
              </a:rPr>
              <a:t>, J., Kratky, M., </a:t>
            </a:r>
            <a:r>
              <a:rPr lang="en-US" sz="1000" dirty="0" err="1">
                <a:latin typeface="+mn-lt"/>
              </a:rPr>
              <a:t>Časar</a:t>
            </a:r>
            <a:r>
              <a:rPr lang="en-US" sz="1000" dirty="0">
                <a:latin typeface="+mn-lt"/>
              </a:rPr>
              <a:t>, J., &amp; </a:t>
            </a:r>
            <a:r>
              <a:rPr lang="en-US" sz="1000" dirty="0" err="1">
                <a:latin typeface="+mn-lt"/>
              </a:rPr>
              <a:t>Starý</a:t>
            </a:r>
            <a:r>
              <a:rPr lang="en-US" sz="1000" dirty="0">
                <a:latin typeface="+mn-lt"/>
              </a:rPr>
              <a:t>, V. (2016). Radar cross section and detection of small unmanned aerial vehicles. </a:t>
            </a:r>
            <a:r>
              <a:rPr lang="en-US" sz="1000" i="1" dirty="0">
                <a:latin typeface="+mn-lt"/>
              </a:rPr>
              <a:t>2016 17th International Conference on Mechatronics - </a:t>
            </a:r>
            <a:r>
              <a:rPr lang="en-US" sz="1000" i="1" dirty="0" err="1">
                <a:latin typeface="+mn-lt"/>
              </a:rPr>
              <a:t>Mechatronika</a:t>
            </a:r>
            <a:r>
              <a:rPr lang="en-US" sz="1000" i="1" dirty="0">
                <a:latin typeface="+mn-lt"/>
              </a:rPr>
              <a:t> (ME)</a:t>
            </a:r>
            <a:r>
              <a:rPr lang="en-US" sz="1000" dirty="0">
                <a:latin typeface="+mn-lt"/>
              </a:rPr>
              <a:t>, 1-7.</a:t>
            </a:r>
          </a:p>
        </p:txBody>
      </p:sp>
    </p:spTree>
    <p:extLst>
      <p:ext uri="{BB962C8B-B14F-4D97-AF65-F5344CB8AC3E}">
        <p14:creationId xmlns:p14="http://schemas.microsoft.com/office/powerpoint/2010/main" val="32197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801019"/>
            <a:ext cx="10058400" cy="4190999"/>
          </a:xfrm>
          <a:prstGeom prst="rect">
            <a:avLst/>
          </a:prstGeom>
        </p:spPr>
      </p:pic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9151"/>
          </a:xfrm>
        </p:spPr>
        <p:txBody>
          <a:bodyPr/>
          <a:lstStyle/>
          <a:p>
            <a:r>
              <a:rPr lang="en-US" b="1" dirty="0" err="1"/>
              <a:t>Voorbeeldopgave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539784" cy="4246562"/>
          </a:xfrm>
        </p:spPr>
        <p:txBody>
          <a:bodyPr/>
          <a:lstStyle/>
          <a:p>
            <a:pPr lvl="1" indent="0">
              <a:lnSpc>
                <a:spcPct val="150000"/>
              </a:lnSpc>
              <a:buNone/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b="1" dirty="0" smtClean="0"/>
          </a:p>
          <a:p>
            <a:pPr lvl="1" indent="0">
              <a:lnSpc>
                <a:spcPct val="150000"/>
              </a:lnSpc>
              <a:buNone/>
            </a:pPr>
            <a:endParaRPr lang="en-US" b="1" dirty="0" smtClean="0"/>
          </a:p>
          <a:p>
            <a:pPr lvl="1" indent="0">
              <a:lnSpc>
                <a:spcPct val="150000"/>
              </a:lnSpc>
              <a:buNone/>
            </a:pPr>
            <a:endParaRPr lang="en-US" b="1" dirty="0" smtClean="0"/>
          </a:p>
          <a:p>
            <a:pPr lvl="1" indent="0">
              <a:lnSpc>
                <a:spcPct val="150000"/>
              </a:lnSpc>
              <a:buNone/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Rechthoek 6"/>
          <p:cNvSpPr/>
          <p:nvPr/>
        </p:nvSpPr>
        <p:spPr bwMode="auto">
          <a:xfrm>
            <a:off x="6082692" y="1330459"/>
            <a:ext cx="5419691" cy="48280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4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0481" y="1772816"/>
                <a:ext cx="10917088" cy="4246562"/>
              </a:xfrm>
            </p:spPr>
            <p:txBody>
              <a:bodyPr/>
              <a:lstStyle/>
              <a:p>
                <a:r>
                  <a:rPr lang="nl-NL" b="1" dirty="0" smtClean="0"/>
                  <a:t>Wat is de kans dat een drone meer dan drie seconden </a:t>
                </a:r>
                <a:r>
                  <a:rPr lang="nl-NL" b="1" dirty="0" err="1"/>
                  <a:t>ongedetecteerd</a:t>
                </a:r>
                <a:endParaRPr lang="nl-NL" b="1" dirty="0"/>
              </a:p>
              <a:p>
                <a:r>
                  <a:rPr lang="nl-NL" b="1" dirty="0"/>
                  <a:t>binnen het sensorbereik van de </a:t>
                </a:r>
                <a:r>
                  <a:rPr lang="nl-NL" b="1" dirty="0" err="1"/>
                  <a:t>Skyranger</a:t>
                </a:r>
                <a:r>
                  <a:rPr lang="nl-NL" b="1" dirty="0"/>
                  <a:t> kan blijven vliegen?</a:t>
                </a:r>
                <a:endParaRPr lang="en-US" b="1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14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kun je </a:t>
                </a:r>
                <a:r>
                  <a:rPr lang="en-US" dirty="0" err="1" smtClean="0"/>
                  <a:t>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volgt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berekenen</a:t>
                </a:r>
                <a:r>
                  <a:rPr lang="en-US" dirty="0" smtClean="0"/>
                  <a:t>:</a:t>
                </a: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&gt;3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≥3</m:t>
                          </m:r>
                        </m:e>
                      </m:d>
                      <m:r>
                        <m:rPr>
                          <m:aln/>
                        </m:rP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0.5⋅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,3, 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99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r>
                  <a:rPr lang="nl-NL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nl-NL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m:rPr>
                        <m:aln/>
                      </m:rP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0.2231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smtClean="0"/>
                  <a:t>Met 22,31%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zal</a:t>
                </a:r>
                <a:r>
                  <a:rPr lang="en-US" b="1" dirty="0" smtClean="0"/>
                  <a:t> de drone </a:t>
                </a:r>
                <a:r>
                  <a:rPr lang="en-US" b="1" dirty="0" err="1" smtClean="0"/>
                  <a:t>langer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drie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seconden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ongedetecteerd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doorvliegen</a:t>
                </a:r>
                <a:r>
                  <a:rPr lang="en-US" b="1" dirty="0" smtClean="0"/>
                  <a:t>.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0481" y="1772816"/>
                <a:ext cx="10917088" cy="4246562"/>
              </a:xfrm>
              <a:blipFill>
                <a:blip r:embed="rId2"/>
                <a:stretch>
                  <a:fillRect l="-1563" t="-2011"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nl-NL" b="1" dirty="0" smtClean="0"/>
              <a:t>Kans dat </a:t>
            </a:r>
            <a:r>
              <a:rPr lang="nl-NL" b="1" dirty="0"/>
              <a:t>een drone meer dan drie seconden </a:t>
            </a:r>
            <a:r>
              <a:rPr lang="nl-NL" b="1" dirty="0" err="1" smtClean="0"/>
              <a:t>ongedetecteerd</a:t>
            </a:r>
            <a:r>
              <a:rPr lang="nl-NL" b="1" dirty="0" smtClean="0"/>
              <a:t> doorvliegt?</a:t>
            </a:r>
            <a:endParaRPr lang="nl-NL" b="1" dirty="0"/>
          </a:p>
        </p:txBody>
      </p:sp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027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Verwachtingswaarde</a:t>
            </a:r>
            <a:r>
              <a:rPr lang="en-US" b="1" dirty="0" smtClean="0"/>
              <a:t> van continue </a:t>
            </a:r>
            <a:r>
              <a:rPr lang="en-US" b="1" dirty="0" err="1" smtClean="0"/>
              <a:t>kansvariabelen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0374" y="1881127"/>
                <a:ext cx="11180241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>
                    <a:solidFill>
                      <a:schemeClr val="tx1"/>
                    </a:solidFill>
                  </a:rPr>
                  <a:t>De </a:t>
                </a:r>
                <a:r>
                  <a:rPr lang="en-US" b="1" dirty="0" err="1">
                    <a:solidFill>
                      <a:schemeClr val="accent1"/>
                    </a:solidFill>
                  </a:rPr>
                  <a:t>verwachtingswaarde</a:t>
                </a:r>
                <a:r>
                  <a:rPr lang="en-US" dirty="0">
                    <a:solidFill>
                      <a:schemeClr val="tx1"/>
                    </a:solidFill>
                  </a:rPr>
                  <a:t> van </a:t>
                </a:r>
                <a:r>
                  <a:rPr lang="en-US" dirty="0" err="1">
                    <a:solidFill>
                      <a:schemeClr val="tx1"/>
                    </a:solidFill>
                  </a:rPr>
                  <a:t>een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kansvariabele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de </a:t>
                </a:r>
                <a:r>
                  <a:rPr lang="en-US" dirty="0" err="1">
                    <a:solidFill>
                      <a:schemeClr val="tx1"/>
                    </a:solidFill>
                  </a:rPr>
                  <a:t>waarde</a:t>
                </a:r>
                <a:r>
                  <a:rPr lang="en-US" dirty="0">
                    <a:solidFill>
                      <a:schemeClr val="tx1"/>
                    </a:solidFill>
                  </a:rPr>
                  <a:t> die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“</a:t>
                </a:r>
                <a:r>
                  <a:rPr lang="en-US" dirty="0" err="1"/>
                  <a:t>gemiddeld</a:t>
                </a:r>
                <a:r>
                  <a:rPr lang="en-US" dirty="0"/>
                  <a:t> </a:t>
                </a:r>
                <a:r>
                  <a:rPr lang="en-US" dirty="0" err="1"/>
                  <a:t>genomen</a:t>
                </a:r>
                <a:r>
                  <a:rPr lang="en-US" dirty="0"/>
                  <a:t>” </a:t>
                </a:r>
                <a:r>
                  <a:rPr lang="en-US" dirty="0" err="1"/>
                  <a:t>zal</a:t>
                </a:r>
                <a:r>
                  <a:rPr lang="en-US" dirty="0"/>
                  <a:t> </a:t>
                </a:r>
                <a:r>
                  <a:rPr lang="en-US" dirty="0" err="1" smtClean="0"/>
                  <a:t>aannemen</a:t>
                </a:r>
                <a:r>
                  <a:rPr lang="en-US" dirty="0" smtClean="0"/>
                  <a:t>.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nl-NL" dirty="0" smtClean="0">
                    <a:solidFill>
                      <a:schemeClr val="tx1"/>
                    </a:solidFill>
                  </a:rPr>
                  <a:t>Bij discrete </a:t>
                </a:r>
                <a:r>
                  <a:rPr lang="nl-NL" dirty="0" err="1" smtClean="0">
                    <a:solidFill>
                      <a:schemeClr val="tx1"/>
                    </a:solidFill>
                  </a:rPr>
                  <a:t>kansvariabelen</a:t>
                </a:r>
                <a:r>
                  <a:rPr lang="nl-NL" dirty="0" smtClean="0">
                    <a:solidFill>
                      <a:schemeClr val="tx1"/>
                    </a:solidFill>
                  </a:rPr>
                  <a:t> was de verwachtingswaarde gelijk aan </a:t>
                </a:r>
                <a14:m>
                  <m:oMath xmlns:m="http://schemas.openxmlformats.org/officeDocument/2006/math">
                    <m:r>
                      <a:rPr lang="nl-NL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nl-NL" b="0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>
                  <a:solidFill>
                    <a:schemeClr val="tx1"/>
                  </a:solidFill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>
                    <a:solidFill>
                      <a:schemeClr val="tx1"/>
                    </a:solidFill>
                  </a:rPr>
                  <a:t>Voor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continue </a:t>
                </a:r>
                <a:r>
                  <a:rPr lang="en-US" dirty="0" err="1">
                    <a:solidFill>
                      <a:schemeClr val="tx1"/>
                    </a:solidFill>
                  </a:rPr>
                  <a:t>kansvariabele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hebben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we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integraal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in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plaats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van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som</a:t>
                </a:r>
                <a:r>
                  <a:rPr lang="en-US" dirty="0" smtClean="0"/>
                  <a:t>:</a:t>
                </a: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err="1" smtClean="0"/>
                  <a:t>Grafische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rekenmachine</a:t>
                </a:r>
                <a:r>
                  <a:rPr lang="en-US" b="1" dirty="0" smtClean="0"/>
                  <a:t>: 	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fnInt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  −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374" y="1881127"/>
                <a:ext cx="11180241" cy="4246562"/>
              </a:xfrm>
              <a:blipFill>
                <a:blip r:embed="rId2"/>
                <a:stretch>
                  <a:fillRect b="-1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698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Voorbeeldopgave</a:t>
            </a:r>
            <a:r>
              <a:rPr lang="en-US" b="1" dirty="0" smtClean="0"/>
              <a:t>: time-to-detection van counter-UAS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3: continue kansvariabelen</a:t>
            </a:r>
            <a:endParaRPr kumimoji="0" lang="nl-NL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" name="AutoShape 2" descr="Ballistische rakette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/>
              <a:lstStyle/>
              <a:p>
                <a:r>
                  <a:rPr lang="nl-NL" dirty="0" smtClean="0"/>
                  <a:t>Laat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dirty="0" smtClean="0"/>
                  <a:t> de continue </a:t>
                </a:r>
                <a:r>
                  <a:rPr lang="nl-NL" dirty="0" err="1" smtClean="0"/>
                  <a:t>kansvariabele</a:t>
                </a:r>
                <a:r>
                  <a:rPr lang="nl-NL" dirty="0" smtClean="0"/>
                  <a:t> zijn die de tijd meet </a:t>
                </a:r>
                <a:r>
                  <a:rPr lang="nl-NL" dirty="0"/>
                  <a:t>tussen het moment dat een </a:t>
                </a:r>
                <a:r>
                  <a:rPr lang="nl-NL" i="1" dirty="0" err="1" smtClean="0"/>
                  <a:t>loitering</a:t>
                </a:r>
                <a:r>
                  <a:rPr lang="nl-NL" i="1" dirty="0" smtClean="0"/>
                  <a:t> </a:t>
                </a:r>
                <a:r>
                  <a:rPr lang="nl-NL" i="1" dirty="0" err="1" smtClean="0"/>
                  <a:t>munition</a:t>
                </a:r>
                <a:r>
                  <a:rPr lang="nl-NL" i="1" dirty="0" smtClean="0"/>
                  <a:t> </a:t>
                </a:r>
                <a:r>
                  <a:rPr lang="nl-NL" dirty="0" smtClean="0"/>
                  <a:t>(LM) </a:t>
                </a:r>
                <a:r>
                  <a:rPr lang="nl-NL" dirty="0"/>
                  <a:t>het sensorbereik van een </a:t>
                </a:r>
                <a:r>
                  <a:rPr lang="nl-NL" dirty="0" err="1"/>
                  <a:t>Skyranger</a:t>
                </a:r>
                <a:r>
                  <a:rPr lang="nl-NL" dirty="0"/>
                  <a:t> binnen vliegt en het moment </a:t>
                </a:r>
                <a:r>
                  <a:rPr lang="nl-NL" dirty="0" smtClean="0"/>
                  <a:t>dat deze gedetecteerd wordt.</a:t>
                </a:r>
              </a:p>
              <a:p>
                <a:endParaRPr lang="nl-NL" dirty="0"/>
              </a:p>
              <a:p>
                <a:r>
                  <a:rPr lang="nl-NL" dirty="0" smtClean="0"/>
                  <a:t>De kansdichtheidsfunctie die hoort bij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dirty="0" smtClean="0"/>
                  <a:t> is </a:t>
                </a:r>
              </a:p>
              <a:p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0.5⋅</m:t>
                              </m:r>
                              <m:sSup>
                                <m:sSupPr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−0.5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,      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</m:e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                  0,   </m:t>
                              </m:r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nl-NL" dirty="0" smtClean="0"/>
              </a:p>
              <a:p>
                <a:endParaRPr lang="nl-NL" b="1" dirty="0" smtClean="0"/>
              </a:p>
              <a:p>
                <a:endParaRPr lang="nl-NL" b="1" dirty="0" smtClean="0"/>
              </a:p>
              <a:p>
                <a:endParaRPr lang="nl-NL" b="1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b="1" dirty="0" err="1" smtClean="0"/>
                  <a:t>Bereken</a:t>
                </a:r>
                <a:r>
                  <a:rPr lang="en-US" sz="2400" b="1" dirty="0" smtClean="0"/>
                  <a:t> </a:t>
                </a:r>
                <a:r>
                  <a:rPr lang="en-US" sz="2400" b="1" dirty="0"/>
                  <a:t>de </a:t>
                </a:r>
                <a:r>
                  <a:rPr lang="en-US" sz="2400" b="1" dirty="0" err="1" smtClean="0"/>
                  <a:t>verwachte</a:t>
                </a:r>
                <a:r>
                  <a:rPr lang="en-US" sz="2400" b="1" dirty="0" smtClean="0"/>
                  <a:t> time-to-detection </a:t>
                </a:r>
                <a14:m>
                  <m:oMath xmlns:m="http://schemas.openxmlformats.org/officeDocument/2006/math">
                    <m:r>
                      <a:rPr lang="nl-NL" sz="24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nl-NL" sz="2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nl-NL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b="1" dirty="0" smtClean="0"/>
                  <a:t>van de LM door de </a:t>
                </a:r>
                <a:r>
                  <a:rPr lang="en-US" sz="2400" b="1" dirty="0" err="1" smtClean="0"/>
                  <a:t>Skyranger</a:t>
                </a:r>
                <a:r>
                  <a:rPr lang="en-US" sz="2400" b="1" dirty="0" smtClean="0"/>
                  <a:t>.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3"/>
                <a:stretch>
                  <a:fillRect l="-1556" t="-2009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79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39"/>
                <a:ext cx="10363200" cy="800219"/>
              </a:xfrm>
            </p:spPr>
            <p:txBody>
              <a:bodyPr/>
              <a:lstStyle/>
              <a:p>
                <a:r>
                  <a:rPr lang="en-US" b="1" dirty="0" smtClean="0"/>
                  <a:t>Wat is de </a:t>
                </a:r>
                <a:r>
                  <a:rPr lang="en-US" b="1" dirty="0" err="1" smtClean="0"/>
                  <a:t>verwachtingswaarde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nl-NL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nl-NL" b="1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b="1" dirty="0"/>
                  <a:t/>
                </a:r>
                <a:br>
                  <a:rPr lang="en-US" b="1" dirty="0"/>
                </a:br>
                <a:endParaRPr lang="nl-NL" b="1" dirty="0" smtClean="0"/>
              </a:p>
            </p:txBody>
          </p:sp>
        </mc:Choice>
        <mc:Fallback xmlns=""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39"/>
                <a:ext cx="10363200" cy="800219"/>
              </a:xfrm>
              <a:blipFill>
                <a:blip r:embed="rId2"/>
                <a:stretch>
                  <a:fillRect l="-1941" t="-12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/>
              <a:lstStyle/>
              <a:p>
                <a:endParaRPr lang="en-US" dirty="0" smtClean="0"/>
              </a:p>
              <a:p>
                <a:r>
                  <a:rPr lang="en-US" sz="2400" dirty="0" smtClean="0"/>
                  <a:t>De </a:t>
                </a:r>
                <a:r>
                  <a:rPr lang="en-US" sz="2400" dirty="0" err="1"/>
                  <a:t>verwachtingswaarde</a:t>
                </a:r>
                <a:r>
                  <a:rPr lang="en-US" sz="2400" dirty="0"/>
                  <a:t> is </a:t>
                </a:r>
                <a:r>
                  <a:rPr lang="en-US" sz="2400" dirty="0" err="1"/>
                  <a:t>gelijk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aan</a:t>
                </a:r>
                <a:r>
                  <a:rPr lang="en-US" sz="2400" dirty="0" smtClean="0"/>
                  <a:t> (</a:t>
                </a:r>
                <a:r>
                  <a:rPr lang="en-US" sz="2400" b="1" dirty="0" smtClean="0"/>
                  <a:t>let op</a:t>
                </a:r>
                <a:r>
                  <a:rPr lang="en-US" sz="2400" dirty="0" smtClean="0"/>
                  <a:t>: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l-NL" sz="2400" dirty="0" smtClean="0"/>
                  <a:t> als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nl-NL" sz="2400" dirty="0" smtClean="0"/>
                  <a:t>):</a:t>
                </a:r>
                <a:endParaRPr lang="nl-NL" sz="2400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⋅0.5⋅</m:t>
                          </m:r>
                          <m:sSup>
                            <m:sSup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nl-NL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r>
                  <a:rPr lang="en-US" sz="2400" dirty="0">
                    <a:latin typeface="Cambria Math" panose="02040503050406030204" pitchFamily="18" charset="0"/>
                  </a:rPr>
                  <a:t/>
                </a:r>
                <a:br>
                  <a:rPr lang="en-US" sz="2400" dirty="0">
                    <a:latin typeface="Cambria Math" panose="02040503050406030204" pitchFamily="18" charset="0"/>
                  </a:rPr>
                </a:br>
                <a:endParaRPr lang="en-US" sz="2400" dirty="0">
                  <a:latin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</a:endParaRPr>
              </a:p>
              <a:p>
                <a:r>
                  <a:rPr lang="en-US" sz="2400" dirty="0" err="1" smtClean="0"/>
                  <a:t>Invullen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in </a:t>
                </a:r>
                <a:r>
                  <a:rPr lang="en-US" sz="2400" dirty="0" smtClean="0"/>
                  <a:t>de GR </a:t>
                </a:r>
                <a:r>
                  <a:rPr lang="en-US" sz="2400" dirty="0" err="1"/>
                  <a:t>geeft</a:t>
                </a:r>
                <a:r>
                  <a:rPr lang="en-US" sz="2400" dirty="0"/>
                  <a:t>:</a:t>
                </a:r>
              </a:p>
              <a:p>
                <a:endParaRPr lang="en-US" sz="24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nl-N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⋅0.5⋅</m:t>
                          </m:r>
                          <m:sSup>
                            <m:sSupPr>
                              <m:ctrlPr>
                                <a:rPr lang="nl-NL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sz="2400" i="1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p>
                          </m:s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,0, </m:t>
                          </m:r>
                          <m:sSup>
                            <m:sSup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99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2.</m:t>
                      </m:r>
                    </m:oMath>
                  </m:oMathPara>
                </a14:m>
                <a:endParaRPr lang="en-US" sz="2400" dirty="0" smtClean="0"/>
              </a:p>
              <a:p>
                <a:endParaRPr lang="en-US" sz="2400" dirty="0"/>
              </a:p>
              <a:p>
                <a:r>
                  <a:rPr lang="en-US" sz="2400" b="1" dirty="0"/>
                  <a:t>De </a:t>
                </a:r>
                <a:r>
                  <a:rPr lang="en-US" sz="2400" b="1" dirty="0" err="1"/>
                  <a:t>verwachte</a:t>
                </a:r>
                <a:r>
                  <a:rPr lang="en-US" sz="2400" b="1" dirty="0"/>
                  <a:t> </a:t>
                </a:r>
                <a:r>
                  <a:rPr lang="en-US" sz="2400" b="1" dirty="0" smtClean="0"/>
                  <a:t>time-to-detection van de LM door de </a:t>
                </a:r>
                <a:r>
                  <a:rPr lang="en-US" sz="2400" b="1" dirty="0" err="1" smtClean="0"/>
                  <a:t>Skyranger</a:t>
                </a:r>
                <a:r>
                  <a:rPr lang="en-US" sz="2400" b="1" dirty="0" smtClean="0"/>
                  <a:t> is 2 </a:t>
                </a:r>
                <a:r>
                  <a:rPr lang="en-US" sz="2400" b="1" dirty="0" err="1" smtClean="0"/>
                  <a:t>seconden</a:t>
                </a:r>
                <a:r>
                  <a:rPr lang="en-US" sz="2400" b="1" dirty="0" smtClean="0"/>
                  <a:t>. </a:t>
                </a:r>
                <a:r>
                  <a:rPr lang="en-US" b="1" dirty="0"/>
                  <a:t/>
                </a:r>
                <a:br>
                  <a:rPr lang="en-US" b="1" dirty="0"/>
                </a:br>
                <a:endParaRPr lang="en-US" b="1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3"/>
                <a:stretch>
                  <a:fillRect l="-1678" b="-2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065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Variantie</a:t>
            </a:r>
            <a:r>
              <a:rPr lang="en-US" b="1" dirty="0" smtClean="0"/>
              <a:t> </a:t>
            </a:r>
            <a:r>
              <a:rPr lang="en-US" b="1" dirty="0" err="1" smtClean="0"/>
              <a:t>en</a:t>
            </a:r>
            <a:r>
              <a:rPr lang="en-US" b="1" dirty="0" smtClean="0"/>
              <a:t> </a:t>
            </a:r>
            <a:r>
              <a:rPr lang="en-US" b="1" dirty="0" err="1" smtClean="0"/>
              <a:t>standaardafwijking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0375" y="1881127"/>
                <a:ext cx="10899824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De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variantie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van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een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continue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kansvariabele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de </a:t>
                </a:r>
                <a:r>
                  <a:rPr lang="en-US" sz="2400" b="1" i="1" dirty="0" err="1" smtClean="0">
                    <a:solidFill>
                      <a:schemeClr val="tx1"/>
                    </a:solidFill>
                  </a:rPr>
                  <a:t>gekwadrateerde</a:t>
                </a:r>
                <a:r>
                  <a:rPr lang="en-US" sz="2400" b="1" i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i="1" dirty="0" err="1" smtClean="0">
                    <a:solidFill>
                      <a:schemeClr val="tx1"/>
                    </a:solidFill>
                  </a:rPr>
                  <a:t>afstand</a:t>
                </a:r>
                <a:r>
                  <a:rPr lang="en-US" sz="2400" b="1" i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tot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die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“</a:t>
                </a:r>
                <a:r>
                  <a:rPr lang="en-US" sz="2400" dirty="0" err="1"/>
                  <a:t>gemiddeld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genomen</a:t>
                </a:r>
                <a:r>
                  <a:rPr lang="en-US" sz="2400" dirty="0"/>
                  <a:t>” </a:t>
                </a:r>
                <a:r>
                  <a:rPr lang="en-US" sz="2400" dirty="0" err="1"/>
                  <a:t>zal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aannemen</a:t>
                </a:r>
                <a:r>
                  <a:rPr lang="en-US" sz="2400" dirty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nl-N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NL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nl-NL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nl-NL" sz="2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4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/>
                  <a:t>De </a:t>
                </a:r>
                <a:r>
                  <a:rPr lang="en-US" sz="2400" b="1" dirty="0" err="1">
                    <a:solidFill>
                      <a:schemeClr val="accent1"/>
                    </a:solidFill>
                  </a:rPr>
                  <a:t>standaardafwijking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is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gelijk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aan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de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wortel</a:t>
                </a:r>
                <a:r>
                  <a:rPr lang="en-US" sz="2400" dirty="0">
                    <a:solidFill>
                      <a:schemeClr val="tx1"/>
                    </a:solidFill>
                  </a:rPr>
                  <a:t> uit de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variantie</a:t>
                </a:r>
                <a:r>
                  <a:rPr lang="en-US" sz="2400" dirty="0">
                    <a:solidFill>
                      <a:schemeClr val="tx1"/>
                    </a:solidFill>
                  </a:rPr>
                  <a:t>: </a:t>
                </a:r>
                <a:endParaRPr lang="en-US" sz="2400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375" y="1881127"/>
                <a:ext cx="10899824" cy="4246562"/>
              </a:xfrm>
              <a:blipFill>
                <a:blip r:embed="rId2"/>
                <a:stretch>
                  <a:fillRect r="-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253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Voorbeeldopgave</a:t>
            </a:r>
            <a:r>
              <a:rPr lang="en-US" b="1" dirty="0" smtClean="0"/>
              <a:t>: time-to-detection van counter-UAS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3: continue kansvariabelen</a:t>
            </a:r>
            <a:endParaRPr kumimoji="0" lang="nl-NL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" name="AutoShape 2" descr="Ballistische rakette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/>
              <a:lstStyle/>
              <a:p>
                <a:r>
                  <a:rPr lang="nl-NL" dirty="0" smtClean="0"/>
                  <a:t>Laat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dirty="0" smtClean="0"/>
                  <a:t> de continue </a:t>
                </a:r>
                <a:r>
                  <a:rPr lang="nl-NL" dirty="0" err="1" smtClean="0"/>
                  <a:t>kansvariabele</a:t>
                </a:r>
                <a:r>
                  <a:rPr lang="nl-NL" dirty="0" smtClean="0"/>
                  <a:t> zijn die de tijd meet </a:t>
                </a:r>
                <a:r>
                  <a:rPr lang="nl-NL" dirty="0"/>
                  <a:t>tussen het moment dat een </a:t>
                </a:r>
                <a:r>
                  <a:rPr lang="nl-NL" i="1" dirty="0" err="1" smtClean="0"/>
                  <a:t>loitering</a:t>
                </a:r>
                <a:r>
                  <a:rPr lang="nl-NL" i="1" dirty="0" smtClean="0"/>
                  <a:t> </a:t>
                </a:r>
                <a:r>
                  <a:rPr lang="nl-NL" i="1" dirty="0" err="1" smtClean="0"/>
                  <a:t>munition</a:t>
                </a:r>
                <a:r>
                  <a:rPr lang="nl-NL" i="1" dirty="0" smtClean="0"/>
                  <a:t> </a:t>
                </a:r>
                <a:r>
                  <a:rPr lang="nl-NL" dirty="0"/>
                  <a:t>het sensorbereik van een </a:t>
                </a:r>
                <a:r>
                  <a:rPr lang="nl-NL" dirty="0" err="1"/>
                  <a:t>Skyranger</a:t>
                </a:r>
                <a:r>
                  <a:rPr lang="nl-NL" dirty="0"/>
                  <a:t> binnen vliegt en het moment </a:t>
                </a:r>
                <a:r>
                  <a:rPr lang="nl-NL" dirty="0" smtClean="0"/>
                  <a:t>dat deze gedetecteerd wordt.</a:t>
                </a:r>
              </a:p>
              <a:p>
                <a:endParaRPr lang="nl-NL" dirty="0"/>
              </a:p>
              <a:p>
                <a:r>
                  <a:rPr lang="nl-NL" dirty="0" smtClean="0"/>
                  <a:t>De kansdichtheidsfunctie die hoort bij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nl-NL" dirty="0" smtClean="0"/>
                  <a:t> is </a:t>
                </a:r>
              </a:p>
              <a:p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0.5⋅</m:t>
                              </m:r>
                              <m:sSup>
                                <m:sSupPr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−0.5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,      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≥0,</m:t>
                              </m:r>
                            </m:e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                  0,   </m:t>
                              </m:r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nl-NL" dirty="0" smtClean="0"/>
              </a:p>
              <a:p>
                <a:endParaRPr lang="nl-NL" b="1" dirty="0" smtClean="0"/>
              </a:p>
              <a:p>
                <a:endParaRPr lang="nl-NL" b="1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b="1" dirty="0" err="1" smtClean="0"/>
                  <a:t>Bereken</a:t>
                </a:r>
                <a:r>
                  <a:rPr lang="en-US" sz="2400" b="1" dirty="0" smtClean="0"/>
                  <a:t> </a:t>
                </a:r>
                <a:r>
                  <a:rPr lang="en-US" sz="2400" b="1" dirty="0"/>
                  <a:t>de </a:t>
                </a:r>
                <a:r>
                  <a:rPr lang="en-US" sz="2400" b="1" dirty="0" err="1" smtClean="0"/>
                  <a:t>standaardafwijking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nl-NL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nl-NL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 smtClean="0"/>
                  <a:t> van de time-to-detection van de LM door de </a:t>
                </a:r>
                <a:r>
                  <a:rPr lang="en-US" sz="2400" b="1" dirty="0" err="1" smtClean="0"/>
                  <a:t>Skyranger</a:t>
                </a:r>
                <a:r>
                  <a:rPr lang="en-US" sz="2400" b="1" dirty="0" smtClean="0"/>
                  <a:t>.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3"/>
                <a:stretch>
                  <a:fillRect l="-1556" t="-2009" r="-1778" b="-1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19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39"/>
                <a:ext cx="10363200" cy="830997"/>
              </a:xfrm>
            </p:spPr>
            <p:txBody>
              <a:bodyPr/>
              <a:lstStyle/>
              <a:p>
                <a:r>
                  <a:rPr lang="en-US" sz="2800" b="1" dirty="0"/>
                  <a:t>Wat is de </a:t>
                </a:r>
                <a:r>
                  <a:rPr lang="en-US" sz="2800" b="1" dirty="0" err="1"/>
                  <a:t>standaardafwijking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?</a:t>
                </a:r>
                <a:br>
                  <a:rPr lang="en-US" sz="2800" b="1" dirty="0"/>
                </a:br>
                <a:endParaRPr lang="nl-NL" b="1" dirty="0" smtClean="0"/>
              </a:p>
            </p:txBody>
          </p:sp>
        </mc:Choice>
        <mc:Fallback xmlns=""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39"/>
                <a:ext cx="10363200" cy="830997"/>
              </a:xfrm>
              <a:blipFill>
                <a:blip r:embed="rId2"/>
                <a:stretch>
                  <a:fillRect l="-2118" t="-1323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/>
              <a:lstStyle/>
              <a:p>
                <a:r>
                  <a:rPr lang="en-US" sz="2400" dirty="0" smtClean="0"/>
                  <a:t>De </a:t>
                </a:r>
                <a:r>
                  <a:rPr lang="en-US" sz="2400" dirty="0" err="1"/>
                  <a:t>variantie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kunnen</a:t>
                </a:r>
                <a:r>
                  <a:rPr lang="en-US" sz="2400" dirty="0"/>
                  <a:t> we </a:t>
                </a:r>
                <a:r>
                  <a:rPr lang="en-US" sz="2400" dirty="0" err="1"/>
                  <a:t>als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volgt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berekenen</a:t>
                </a:r>
                <a:r>
                  <a:rPr lang="nl-NL" sz="2400" dirty="0"/>
                  <a:t>:</a:t>
                </a:r>
              </a:p>
              <a:p>
                <a:endParaRPr lang="en-US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nl-NL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⋅0.5⋅</m:t>
                          </m:r>
                          <m:sSup>
                            <m:sSup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nl-NL" sz="2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⋅0.5⋅</m:t>
                          </m:r>
                          <m:sSup>
                            <m:sSup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sz="2400" i="1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p>
                          </m:sSup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, 0, </m:t>
                          </m:r>
                          <m:sSup>
                            <m:sSup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99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4.</m:t>
                      </m:r>
                    </m:oMath>
                  </m:oMathPara>
                </a14:m>
                <a:r>
                  <a:rPr lang="nl-NL" sz="2400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nl-NL" sz="2400" b="0" i="1" dirty="0" smtClean="0">
                    <a:latin typeface="Cambria Math" panose="02040503050406030204" pitchFamily="18" charset="0"/>
                  </a:rPr>
                </a:br>
                <a:endParaRPr lang="en-US" sz="2400" dirty="0"/>
              </a:p>
              <a:p>
                <a:r>
                  <a:rPr lang="nl-NL" sz="2400" i="1" dirty="0" smtClean="0"/>
                  <a:t/>
                </a:r>
                <a:br>
                  <a:rPr lang="nl-NL" sz="2400" i="1" dirty="0" smtClean="0"/>
                </a:br>
                <a:r>
                  <a:rPr lang="en-US" sz="2400" dirty="0" smtClean="0"/>
                  <a:t>De </a:t>
                </a:r>
                <a:r>
                  <a:rPr lang="en-US" sz="2400" dirty="0" err="1"/>
                  <a:t>standaardafwijking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berekenen</a:t>
                </a:r>
                <a:r>
                  <a:rPr lang="en-US" sz="2400" dirty="0"/>
                  <a:t> we </a:t>
                </a:r>
                <a:r>
                  <a:rPr lang="en-US" sz="2400" dirty="0" err="1"/>
                  <a:t>dan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als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volgt</a:t>
                </a:r>
                <a:r>
                  <a:rPr lang="en-US" sz="2400" dirty="0"/>
                  <a:t>:</a:t>
                </a:r>
              </a:p>
              <a:p>
                <a:endParaRPr lang="en-US" sz="2400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nl-NL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rad>
                      <m:r>
                        <a:rPr lang="en-US" sz="2400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nl-NL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km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/>
                </a:r>
                <a:br>
                  <a:rPr lang="en-US" sz="2400" dirty="0"/>
                </a:br>
                <a:endParaRPr lang="en-US" sz="2400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000" b="1" dirty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3"/>
                <a:stretch>
                  <a:fillRect l="-1678" t="-2296" b="-5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608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30887"/>
          </a:xfrm>
        </p:spPr>
        <p:txBody>
          <a:bodyPr/>
          <a:lstStyle/>
          <a:p>
            <a:r>
              <a:rPr lang="en-US" sz="2800" b="1" dirty="0"/>
              <a:t>Wat </a:t>
            </a:r>
            <a:r>
              <a:rPr lang="en-US" sz="2800" b="1" dirty="0" err="1" smtClean="0"/>
              <a:t>betekenen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deze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uitkomsten</a:t>
            </a:r>
            <a:r>
              <a:rPr lang="en-US" sz="2800" b="1" dirty="0" smtClean="0"/>
              <a:t>?</a:t>
            </a:r>
            <a:endParaRPr lang="nl-NL" b="1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/>
              <a:lstStyle/>
              <a:p>
                <a:r>
                  <a:rPr lang="nl-NL" sz="2400" dirty="0" smtClean="0"/>
                  <a:t>We hebben nu de verwachtingswaarde en de standaardafwijking berekend:</a:t>
                </a:r>
              </a:p>
              <a:p>
                <a:endParaRPr lang="nl-NL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nl-NL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l-NL" sz="2400" b="0" i="0" smtClean="0">
                        <a:latin typeface="Cambria Math" panose="02040503050406030204" pitchFamily="18" charset="0"/>
                      </a:rPr>
                      <m:t>seconden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Var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rad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nl-NL" sz="24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l-NL" sz="2400" b="0" i="0" smtClean="0">
                        <a:latin typeface="Cambria Math" panose="02040503050406030204" pitchFamily="18" charset="0"/>
                      </a:rPr>
                      <m:t>seconden</m:t>
                    </m:r>
                  </m:oMath>
                </a14:m>
                <a:endParaRPr lang="en-US" sz="2400" dirty="0"/>
              </a:p>
              <a:p>
                <a:endParaRPr lang="nl-NL" sz="2400" dirty="0" smtClean="0"/>
              </a:p>
              <a:p>
                <a:endParaRPr lang="nl-NL" sz="2400" dirty="0" smtClean="0"/>
              </a:p>
              <a:p>
                <a:r>
                  <a:rPr lang="en-US" sz="2400" b="1" dirty="0" err="1" smtClean="0"/>
                  <a:t>Zijn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dit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grote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waarden</a:t>
                </a:r>
                <a:r>
                  <a:rPr lang="en-US" sz="2400" b="1" dirty="0" smtClean="0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000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0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000" dirty="0" smtClean="0"/>
                  <a:t> gelijk aan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err="1" smtClean="0"/>
                  <a:t>duidt</a:t>
                </a:r>
                <a:r>
                  <a:rPr lang="en-US" sz="2000" dirty="0" smtClean="0"/>
                  <a:t> op </a:t>
                </a:r>
                <a:r>
                  <a:rPr lang="en-US" sz="2000" dirty="0" err="1" smtClean="0"/>
                  <a:t>grote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onvoorspelbaarheid</a:t>
                </a:r>
                <a:r>
                  <a:rPr lang="en-US" sz="2000" dirty="0" smtClean="0"/>
                  <a:t>.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sz="2000" dirty="0" smtClean="0"/>
              </a:p>
              <a:p>
                <a:r>
                  <a:rPr lang="en-US" sz="2400" b="1" dirty="0" err="1" smtClean="0"/>
                  <a:t>Heb</a:t>
                </a:r>
                <a:r>
                  <a:rPr lang="en-US" sz="2400" b="1" dirty="0" smtClean="0"/>
                  <a:t> </a:t>
                </a:r>
                <a:r>
                  <a:rPr lang="en-US" sz="2400" b="1" dirty="0" smtClean="0"/>
                  <a:t>je </a:t>
                </a:r>
                <a:r>
                  <a:rPr lang="en-US" sz="2400" b="1" dirty="0" err="1" smtClean="0"/>
                  <a:t>meer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informatie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nodig</a:t>
                </a:r>
                <a:r>
                  <a:rPr lang="en-US" sz="2400" b="1" dirty="0" smtClean="0"/>
                  <a:t> om </a:t>
                </a:r>
                <a:r>
                  <a:rPr lang="en-US" sz="2400" b="1" dirty="0" err="1" smtClean="0"/>
                  <a:t>dat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te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bepalen</a:t>
                </a:r>
                <a:r>
                  <a:rPr lang="en-US" sz="2400" b="1" dirty="0" smtClean="0"/>
                  <a:t>?</a:t>
                </a: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000" dirty="0" smtClean="0"/>
                  <a:t>Bijv.: vliegsnelheid </a:t>
                </a:r>
                <a:r>
                  <a:rPr lang="nl-NL" sz="2000" dirty="0" err="1" smtClean="0"/>
                  <a:t>loitering</a:t>
                </a:r>
                <a:r>
                  <a:rPr lang="nl-NL" sz="2000" dirty="0" smtClean="0"/>
                  <a:t> </a:t>
                </a:r>
                <a:r>
                  <a:rPr lang="nl-NL" sz="2000" dirty="0" err="1" smtClean="0"/>
                  <a:t>munition</a:t>
                </a:r>
                <a:r>
                  <a:rPr lang="nl-NL" sz="2000" dirty="0" smtClean="0"/>
                  <a:t>, straal van sensorbereik, tijd tussen detectie en uitschakelen</a:t>
                </a:r>
                <a:endParaRPr lang="en-US" sz="2000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000" b="1" dirty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3"/>
                <a:stretch>
                  <a:fillRect l="-1678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586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Overzicht</a:t>
            </a:r>
            <a:r>
              <a:rPr lang="en-US" b="1" dirty="0" smtClean="0"/>
              <a:t>: discrete </a:t>
            </a:r>
            <a:r>
              <a:rPr lang="en-US" b="1" dirty="0" err="1" smtClean="0"/>
              <a:t>en</a:t>
            </a:r>
            <a:r>
              <a:rPr lang="en-US" b="1" dirty="0" smtClean="0"/>
              <a:t> continue </a:t>
            </a:r>
            <a:r>
              <a:rPr lang="en-US" b="1" dirty="0" err="1" smtClean="0"/>
              <a:t>kansvariabelen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7550" lvl="1" indent="-342900">
              <a:lnSpc>
                <a:spcPct val="150000"/>
              </a:lnSpc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6322559"/>
                  </p:ext>
                </p:extLst>
              </p:nvPr>
            </p:nvGraphicFramePr>
            <p:xfrm>
              <a:off x="407368" y="1725917"/>
              <a:ext cx="11521279" cy="4598858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334220">
                      <a:extLst>
                        <a:ext uri="{9D8B030D-6E8A-4147-A177-3AD203B41FA5}">
                          <a16:colId xmlns:a16="http://schemas.microsoft.com/office/drawing/2014/main" val="3287744071"/>
                        </a:ext>
                      </a:extLst>
                    </a:gridCol>
                    <a:gridCol w="4346632">
                      <a:extLst>
                        <a:ext uri="{9D8B030D-6E8A-4147-A177-3AD203B41FA5}">
                          <a16:colId xmlns:a16="http://schemas.microsoft.com/office/drawing/2014/main" val="2165204108"/>
                        </a:ext>
                      </a:extLst>
                    </a:gridCol>
                    <a:gridCol w="3840427">
                      <a:extLst>
                        <a:ext uri="{9D8B030D-6E8A-4147-A177-3AD203B41FA5}">
                          <a16:colId xmlns:a16="http://schemas.microsoft.com/office/drawing/2014/main" val="2009276062"/>
                        </a:ext>
                      </a:extLst>
                    </a:gridCol>
                  </a:tblGrid>
                  <a:tr h="334931">
                    <a:tc>
                      <a:txBody>
                        <a:bodyPr/>
                        <a:lstStyle/>
                        <a:p>
                          <a:pPr algn="ctr"/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Discreet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Continu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8041864"/>
                      </a:ext>
                    </a:extLst>
                  </a:tr>
                  <a:tr h="4732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Aantal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mogelijke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uitkomsten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Eindig</a:t>
                          </a:r>
                          <a:r>
                            <a:rPr lang="en-US" sz="1600" baseline="0" dirty="0" smtClean="0"/>
                            <a:t> / </a:t>
                          </a:r>
                          <a:r>
                            <a:rPr lang="en-US" sz="1600" baseline="0" dirty="0" err="1" smtClean="0"/>
                            <a:t>aftelbaar</a:t>
                          </a:r>
                          <a:r>
                            <a:rPr lang="en-US" sz="1600" baseline="0" dirty="0" smtClean="0"/>
                            <a:t> </a:t>
                          </a:r>
                          <a:r>
                            <a:rPr lang="en-US" sz="1600" baseline="0" dirty="0" err="1" smtClean="0"/>
                            <a:t>aantal</a:t>
                          </a:r>
                          <a:r>
                            <a:rPr lang="en-US" sz="1600" baseline="0" dirty="0" smtClean="0"/>
                            <a:t>, </a:t>
                          </a:r>
                          <a:r>
                            <a:rPr lang="en-US" sz="1600" baseline="0" dirty="0" err="1" smtClean="0"/>
                            <a:t>bijv</a:t>
                          </a:r>
                          <a:r>
                            <a:rPr lang="en-US" sz="1600" baseline="0" dirty="0" smtClean="0"/>
                            <a:t>. 0, 1, 2, 3, …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Overaftelbaar</a:t>
                          </a:r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oneindig</a:t>
                          </a:r>
                          <a:r>
                            <a:rPr lang="en-US" sz="1600" dirty="0" smtClean="0"/>
                            <a:t>, </a:t>
                          </a:r>
                        </a:p>
                        <a:p>
                          <a:pPr algn="ctr"/>
                          <a:r>
                            <a:rPr lang="en-US" sz="1600" dirty="0" err="1" smtClean="0"/>
                            <a:t>bijv</a:t>
                          </a:r>
                          <a:r>
                            <a:rPr lang="en-US" sz="1600" dirty="0" smtClean="0"/>
                            <a:t>. </a:t>
                          </a:r>
                          <a:r>
                            <a:rPr lang="en-US" sz="1600" dirty="0" err="1" smtClean="0"/>
                            <a:t>alles</a:t>
                          </a:r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tussen</a:t>
                          </a:r>
                          <a:r>
                            <a:rPr lang="en-US" sz="160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en</a:t>
                          </a:r>
                          <a:r>
                            <a:rPr lang="en-US" sz="160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9919172"/>
                      </a:ext>
                    </a:extLst>
                  </a:tr>
                  <a:tr h="343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Toepassingen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Tellen</a:t>
                          </a:r>
                          <a:r>
                            <a:rPr lang="en-US" sz="1600" dirty="0" smtClean="0"/>
                            <a:t> of </a:t>
                          </a:r>
                          <a:r>
                            <a:rPr lang="en-US" sz="1600" dirty="0" err="1" smtClean="0"/>
                            <a:t>categoriseren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Meten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3667885"/>
                      </a:ext>
                    </a:extLst>
                  </a:tr>
                  <a:tr h="9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Kansdefinitie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 smtClean="0"/>
                            <a:t>Kansfunctie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oMath>
                          </a14:m>
                          <a:endParaRPr lang="nl-NL" sz="1600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sz="1600" b="0" dirty="0" smtClean="0"/>
                            <a:t> </a:t>
                          </a:r>
                          <a:r>
                            <a:rPr lang="en-US" sz="1600" b="0" dirty="0" err="1" smtClean="0"/>
                            <a:t>voor</a:t>
                          </a:r>
                          <a:r>
                            <a:rPr lang="en-US" sz="1600" b="0" dirty="0" smtClean="0"/>
                            <a:t> </a:t>
                          </a:r>
                          <a:r>
                            <a:rPr lang="en-US" sz="1600" b="0" dirty="0" err="1" smtClean="0"/>
                            <a:t>alle</a:t>
                          </a:r>
                          <a:r>
                            <a:rPr lang="en-US" sz="1600" b="0" dirty="0" smtClean="0"/>
                            <a:t> </a:t>
                          </a:r>
                          <a:r>
                            <a:rPr lang="en-US" sz="1600" b="0" dirty="0" err="1" smtClean="0"/>
                            <a:t>uitkomsten</a:t>
                          </a:r>
                          <a:r>
                            <a:rPr lang="en-US" sz="1600" b="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sz="1600" b="0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nl-NL" sz="1600" dirty="0" smtClean="0"/>
                            <a:t> (kansen tellen op tot</a:t>
                          </a:r>
                          <a:r>
                            <a:rPr lang="nl-NL" sz="1600" baseline="0" dirty="0" smtClean="0"/>
                            <a:t> 1)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Kansdichtheidsfunctie</a:t>
                          </a:r>
                          <a:r>
                            <a:rPr lang="en-US" sz="1600" baseline="0" dirty="0" smtClean="0"/>
                            <a:t> (PDF)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baseline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endParaRPr lang="en-US" sz="1600" b="0" baseline="0" dirty="0" smtClean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≥0 </m:t>
                              </m:r>
                            </m:oMath>
                          </a14:m>
                          <a:endParaRPr lang="en-US" sz="1600" b="0" dirty="0" smtClean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trlP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−∞</m:t>
                                  </m:r>
                                </m:sub>
                                <m:sup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nl-NL" sz="1600" dirty="0" smtClean="0"/>
                            <a:t> (totale oppervlakte is 1)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771469"/>
                      </a:ext>
                    </a:extLst>
                  </a:tr>
                  <a:tr h="6145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CDF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798749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Verwachtingswaarde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nl-NL" sz="16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6854382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Variantie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nl-NL" sz="16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nl-NL" sz="16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5682294"/>
                      </a:ext>
                    </a:extLst>
                  </a:tr>
                  <a:tr h="398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Standaardafwijking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098442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6322559"/>
                  </p:ext>
                </p:extLst>
              </p:nvPr>
            </p:nvGraphicFramePr>
            <p:xfrm>
              <a:off x="407368" y="1725917"/>
              <a:ext cx="11521279" cy="4598858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334220">
                      <a:extLst>
                        <a:ext uri="{9D8B030D-6E8A-4147-A177-3AD203B41FA5}">
                          <a16:colId xmlns:a16="http://schemas.microsoft.com/office/drawing/2014/main" val="3287744071"/>
                        </a:ext>
                      </a:extLst>
                    </a:gridCol>
                    <a:gridCol w="4346632">
                      <a:extLst>
                        <a:ext uri="{9D8B030D-6E8A-4147-A177-3AD203B41FA5}">
                          <a16:colId xmlns:a16="http://schemas.microsoft.com/office/drawing/2014/main" val="2165204108"/>
                        </a:ext>
                      </a:extLst>
                    </a:gridCol>
                    <a:gridCol w="3840427">
                      <a:extLst>
                        <a:ext uri="{9D8B030D-6E8A-4147-A177-3AD203B41FA5}">
                          <a16:colId xmlns:a16="http://schemas.microsoft.com/office/drawing/2014/main" val="2009276062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Discreet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Continu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804186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Aantal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mogelijke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uitkomsten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Eindig</a:t>
                          </a:r>
                          <a:r>
                            <a:rPr lang="en-US" sz="1600" baseline="0" dirty="0" smtClean="0"/>
                            <a:t> / </a:t>
                          </a:r>
                          <a:r>
                            <a:rPr lang="en-US" sz="1600" baseline="0" dirty="0" err="1" smtClean="0"/>
                            <a:t>aftelbaar</a:t>
                          </a:r>
                          <a:r>
                            <a:rPr lang="en-US" sz="1600" baseline="0" dirty="0" smtClean="0"/>
                            <a:t> </a:t>
                          </a:r>
                          <a:r>
                            <a:rPr lang="en-US" sz="1600" baseline="0" dirty="0" err="1" smtClean="0"/>
                            <a:t>aantal</a:t>
                          </a:r>
                          <a:r>
                            <a:rPr lang="en-US" sz="1600" baseline="0" dirty="0" smtClean="0"/>
                            <a:t>, </a:t>
                          </a:r>
                          <a:r>
                            <a:rPr lang="en-US" sz="1600" baseline="0" dirty="0" err="1" smtClean="0"/>
                            <a:t>bijv</a:t>
                          </a:r>
                          <a:r>
                            <a:rPr lang="en-US" sz="1600" baseline="0" dirty="0" smtClean="0"/>
                            <a:t>. </a:t>
                          </a:r>
                          <a:r>
                            <a:rPr lang="en-US" sz="1600" baseline="0" dirty="0" smtClean="0"/>
                            <a:t>0, 1, 2, 3, …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61053" r="-635" b="-64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9919172"/>
                      </a:ext>
                    </a:extLst>
                  </a:tr>
                  <a:tr h="343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Toepassingen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Tellen</a:t>
                          </a:r>
                          <a:r>
                            <a:rPr lang="en-US" sz="1600" dirty="0" smtClean="0"/>
                            <a:t> of </a:t>
                          </a:r>
                          <a:r>
                            <a:rPr lang="en-US" sz="1600" dirty="0" err="1" smtClean="0"/>
                            <a:t>categoriseren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Meten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3667885"/>
                      </a:ext>
                    </a:extLst>
                  </a:tr>
                  <a:tr h="9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Kansdefinitie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751" t="-142857" r="-88796" b="-2775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142857" r="-635" b="-2775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771469"/>
                      </a:ext>
                    </a:extLst>
                  </a:tr>
                  <a:tr h="6183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CDF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751" t="-350000" r="-8879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350000" r="-635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798749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Verwachtingswaarde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751" t="-392308" r="-88796" b="-1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392308" r="-635" b="-16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6854382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Variantie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751" t="-492308" r="-88796" b="-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492308" r="-635" b="-6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5682294"/>
                      </a:ext>
                    </a:extLst>
                  </a:tr>
                  <a:tr h="398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Standaardafwijking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751" t="-1066154" r="-88796" b="-1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1066154" r="-635" b="-1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98442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1241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Samenvatting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Rectangle 1027"/>
              <p:cNvSpPr>
                <a:spLocks noGrp="1" noChangeAspect="1" noChangeArrowheads="1"/>
              </p:cNvSpPr>
              <p:nvPr>
                <p:ph type="body"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 anchor="t" anchorCtr="0"/>
              <a:lstStyle/>
              <a:p>
                <a:pPr>
                  <a:spcBef>
                    <a:spcPts val="1200"/>
                  </a:spcBef>
                </a:pPr>
                <a:r>
                  <a:rPr lang="nl-NL" sz="2000" b="1" dirty="0" smtClean="0"/>
                  <a:t>Classificeren van </a:t>
                </a:r>
                <a:r>
                  <a:rPr lang="nl-NL" sz="2000" b="1" dirty="0" err="1" smtClean="0"/>
                  <a:t>kansvariabelen</a:t>
                </a:r>
                <a:r>
                  <a:rPr lang="nl-NL" sz="2000" b="1" dirty="0" smtClean="0"/>
                  <a:t> als discreet of continu</a:t>
                </a:r>
                <a:endParaRPr lang="nl-NL" sz="2000" b="1" dirty="0"/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nl-NL" sz="2000" dirty="0"/>
                  <a:t>Discrete </a:t>
                </a:r>
                <a:r>
                  <a:rPr lang="nl-NL" sz="2000" dirty="0" err="1"/>
                  <a:t>kansvariabelen</a:t>
                </a:r>
                <a:r>
                  <a:rPr lang="nl-NL" sz="2000" dirty="0"/>
                  <a:t> hebben eindig / </a:t>
                </a:r>
                <a:r>
                  <a:rPr lang="nl-NL" sz="2000" i="1" dirty="0"/>
                  <a:t>aftelbaar oneindig </a:t>
                </a:r>
                <a:r>
                  <a:rPr lang="nl-NL" sz="2000" dirty="0"/>
                  <a:t>veel mogelijke </a:t>
                </a:r>
                <a:r>
                  <a:rPr lang="nl-NL" sz="2000" dirty="0" smtClean="0"/>
                  <a:t>uitkomsten (“tellen”)</a:t>
                </a:r>
                <a:endParaRPr lang="nl-NL" sz="2000" dirty="0"/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nl-NL" sz="2000" dirty="0" smtClean="0"/>
                  <a:t>Continue </a:t>
                </a:r>
                <a:r>
                  <a:rPr lang="nl-NL" sz="2000" dirty="0" err="1"/>
                  <a:t>kansvariabelen</a:t>
                </a:r>
                <a:r>
                  <a:rPr lang="nl-NL" sz="2000" dirty="0"/>
                  <a:t> hebben </a:t>
                </a:r>
                <a:r>
                  <a:rPr lang="nl-NL" sz="2000" i="1" dirty="0" smtClean="0"/>
                  <a:t>overaftelbaar </a:t>
                </a:r>
                <a:r>
                  <a:rPr lang="nl-NL" sz="2000" i="1" dirty="0"/>
                  <a:t>oneindig </a:t>
                </a:r>
                <a:r>
                  <a:rPr lang="nl-NL" sz="2000" dirty="0"/>
                  <a:t>veel mogelijke </a:t>
                </a:r>
                <a:r>
                  <a:rPr lang="nl-NL" sz="2000" dirty="0" smtClean="0"/>
                  <a:t>uitkomsten (“meten”)</a:t>
                </a:r>
                <a:endParaRPr lang="nl-NL" sz="2000" dirty="0"/>
              </a:p>
              <a:p>
                <a:pPr>
                  <a:spcBef>
                    <a:spcPts val="1200"/>
                  </a:spcBef>
                </a:pPr>
                <a:endParaRPr lang="nl-NL" sz="2000" dirty="0"/>
              </a:p>
              <a:p>
                <a:pPr>
                  <a:spcBef>
                    <a:spcPts val="1200"/>
                  </a:spcBef>
                </a:pPr>
                <a:r>
                  <a:rPr lang="nl-NL" sz="2000" b="1" dirty="0"/>
                  <a:t>Kansrekening: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nl-NL" sz="2000" dirty="0" smtClean="0"/>
                  <a:t>Merk op dat de kansdichtheidsfunctie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000" dirty="0" smtClean="0"/>
                  <a:t>. Deze kans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sz="2000" dirty="0" smtClean="0"/>
                  <a:t> is immers altijd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NL" sz="2000" dirty="0" smtClean="0"/>
                  <a:t>.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nl-NL" sz="2000" dirty="0" smtClean="0"/>
                  <a:t>Kansen voor continue </a:t>
                </a:r>
                <a:r>
                  <a:rPr lang="nl-NL" sz="2000" dirty="0" err="1" smtClean="0"/>
                  <a:t>kansvariabelen</a:t>
                </a:r>
                <a:r>
                  <a:rPr lang="nl-NL" sz="2000" dirty="0" smtClean="0"/>
                  <a:t> kun je alleen zinnig berekenen op intervallen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l-NL" sz="200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000" dirty="0"/>
              </a:p>
              <a:p>
                <a:pPr>
                  <a:spcBef>
                    <a:spcPts val="1200"/>
                  </a:spcBef>
                </a:pPr>
                <a:endParaRPr lang="nl-NL" sz="2000" b="1" dirty="0" smtClean="0"/>
              </a:p>
              <a:p>
                <a:pPr>
                  <a:spcBef>
                    <a:spcPts val="1200"/>
                  </a:spcBef>
                </a:pPr>
                <a:r>
                  <a:rPr lang="nl-NL" sz="2000" b="1" dirty="0" smtClean="0"/>
                  <a:t>Berekenen van maten </a:t>
                </a:r>
                <a:r>
                  <a:rPr lang="nl-NL" sz="2000" b="1" dirty="0"/>
                  <a:t>van ligging en spreiding: </a:t>
                </a:r>
                <a:endParaRPr lang="nl-NL" sz="2000" b="1" dirty="0" smtClean="0"/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nl-NL" sz="2000" dirty="0" smtClean="0"/>
                  <a:t>Formules voor verwachtingswaarde </a:t>
                </a:r>
                <a:r>
                  <a:rPr lang="nl-NL" sz="2000" dirty="0"/>
                  <a:t>– variantie – standaardafwijking</a:t>
                </a:r>
                <a:r>
                  <a:rPr lang="nl-NL" sz="2000" b="1" dirty="0"/>
                  <a:t> </a:t>
                </a:r>
              </a:p>
            </p:txBody>
          </p:sp>
        </mc:Choice>
        <mc:Fallback xmlns="">
          <p:sp>
            <p:nvSpPr>
              <p:cNvPr id="5123" name="Rectangle 102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3"/>
                <a:stretch>
                  <a:fillRect l="-1389" t="-1865" b="-7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</p:spTree>
    <p:extLst>
      <p:ext uri="{BB962C8B-B14F-4D97-AF65-F5344CB8AC3E}">
        <p14:creationId xmlns:p14="http://schemas.microsoft.com/office/powerpoint/2010/main" val="198984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Volgend</a:t>
            </a:r>
            <a:r>
              <a:rPr lang="en-US" b="1" dirty="0" smtClean="0"/>
              <a:t> college</a:t>
            </a:r>
            <a:endParaRPr lang="nl-NL" b="1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 anchor="t" anchorCtr="0"/>
          <a:lstStyle/>
          <a:p>
            <a:pPr eaLnBrk="1" hangingPunct="1">
              <a:spcBef>
                <a:spcPts val="1200"/>
              </a:spcBef>
            </a:pPr>
            <a:r>
              <a:rPr lang="nl-NL" sz="2400" dirty="0" smtClean="0"/>
              <a:t>Een specifieke discrete kansverdeling:</a:t>
            </a:r>
            <a:endParaRPr lang="en-US" sz="2400" dirty="0"/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De </a:t>
            </a:r>
            <a:r>
              <a:rPr lang="en-US" sz="2400" dirty="0" err="1" smtClean="0"/>
              <a:t>binomiale</a:t>
            </a:r>
            <a:r>
              <a:rPr lang="en-US" sz="2400" dirty="0" smtClean="0"/>
              <a:t> </a:t>
            </a:r>
            <a:r>
              <a:rPr lang="en-US" sz="2400" dirty="0" err="1" smtClean="0"/>
              <a:t>verdeling</a:t>
            </a:r>
            <a:endParaRPr lang="en-US" sz="2400" dirty="0" smtClean="0"/>
          </a:p>
          <a:p>
            <a:pPr eaLnBrk="1" hangingPunct="1">
              <a:spcBef>
                <a:spcPts val="1200"/>
              </a:spcBef>
            </a:pPr>
            <a:endParaRPr lang="en-US" dirty="0" smtClean="0"/>
          </a:p>
          <a:p>
            <a:pPr eaLnBrk="1" hangingPunct="1">
              <a:spcBef>
                <a:spcPts val="1200"/>
              </a:spcBef>
            </a:pPr>
            <a:endParaRPr lang="en-US" dirty="0" smtClean="0"/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r>
              <a:rPr lang="en-US" sz="2400" b="1" dirty="0" err="1" smtClean="0">
                <a:latin typeface="RijksoverheidSansText" panose="020B0503040202060203" pitchFamily="34" charset="0"/>
              </a:rPr>
              <a:t>Huiswerk</a:t>
            </a:r>
            <a:r>
              <a:rPr lang="en-US" sz="2400" b="1" dirty="0">
                <a:latin typeface="RijksoverheidSansText" panose="020B050304020206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Lezen</a:t>
            </a:r>
            <a:r>
              <a:rPr lang="en-US" sz="2400" dirty="0">
                <a:latin typeface="RijksoverheidSansText" panose="020B0503040202060203" pitchFamily="34" charset="0"/>
              </a:rPr>
              <a:t> van </a:t>
            </a:r>
            <a:r>
              <a:rPr lang="en-US" sz="2400" dirty="0" smtClean="0">
                <a:latin typeface="RijksoverheidSansText" panose="020B0503040202060203" pitchFamily="34" charset="0"/>
              </a:rPr>
              <a:t>A. </a:t>
            </a:r>
            <a:r>
              <a:rPr lang="en-US" sz="2400" dirty="0">
                <a:latin typeface="RijksoverheidSansText" panose="020B0503040202060203" pitchFamily="34" charset="0"/>
              </a:rPr>
              <a:t>Buijs: </a:t>
            </a: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4.6 </a:t>
            </a:r>
            <a:r>
              <a:rPr lang="en-US" sz="2400" dirty="0">
                <a:latin typeface="RijksoverheidSansText" panose="020B0503040202060203" pitchFamily="34" charset="0"/>
              </a:rPr>
              <a:t>(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</a:t>
            </a:r>
            <a:r>
              <a:rPr lang="en-US" sz="2400" dirty="0" smtClean="0">
                <a:latin typeface="RijksoverheidSansText" panose="020B0503040202060203" pitchFamily="34" charset="0"/>
              </a:rPr>
              <a:t> 153-158)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Opdrachten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smtClean="0">
                <a:latin typeface="RijksoverheidSansText" panose="020B0503040202060203" pitchFamily="34" charset="0"/>
              </a:rPr>
              <a:t>“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Statistiek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om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mee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te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werken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: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opgaven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uitwerkingen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”: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RijksoverheidSansText" panose="020B0503040202060203" pitchFamily="34" charset="0"/>
              </a:rPr>
              <a:t>H4: 14, 15, 16, 17, 18</a:t>
            </a:r>
            <a:endParaRPr lang="en-US" sz="2000" dirty="0">
              <a:latin typeface="RijksoverheidSansText" panose="020B0503040202060203" pitchFamily="34" charset="0"/>
            </a:endParaRPr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96183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2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Aangepast 1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3.xml><?xml version="1.0" encoding="utf-8"?>
<a:theme xmlns:a="http://schemas.openxmlformats.org/drawingml/2006/main" name="1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17000"/>
        </a:solidFill>
        <a:ln>
          <a:noFill/>
        </a:ln>
        <a:effectLst/>
        <a:extLst/>
      </a:spPr>
      <a:bodyPr vert="horz" wrap="square" lIns="0" tIns="0" rIns="0" bIns="0" numCol="1" rtlCol="0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</Template>
  <TotalTime>0</TotalTime>
  <Words>3254</Words>
  <Application>Microsoft Office PowerPoint</Application>
  <PresentationFormat>Breedbeeld</PresentationFormat>
  <Paragraphs>402</Paragraphs>
  <Slides>31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3</vt:i4>
      </vt:variant>
      <vt:variant>
        <vt:lpstr>Diatitels</vt:lpstr>
      </vt:variant>
      <vt:variant>
        <vt:i4>31</vt:i4>
      </vt:variant>
    </vt:vector>
  </HeadingPairs>
  <TitlesOfParts>
    <vt:vector size="42" baseType="lpstr">
      <vt:lpstr>Arial</vt:lpstr>
      <vt:lpstr>Cambria Math</vt:lpstr>
      <vt:lpstr>RijksoverheidSansHeadingTT</vt:lpstr>
      <vt:lpstr>RijksoverheidSansText</vt:lpstr>
      <vt:lpstr>RijksoverheidSansWebText Bold</vt:lpstr>
      <vt:lpstr>RijksoverheidSansWebText Regula</vt:lpstr>
      <vt:lpstr>Verdana</vt:lpstr>
      <vt:lpstr>Wingdings</vt:lpstr>
      <vt:lpstr>Presentatie</vt:lpstr>
      <vt:lpstr>2_Presentatie</vt:lpstr>
      <vt:lpstr>1_Presentatie</vt:lpstr>
      <vt:lpstr>Statistiek: college 3</vt:lpstr>
      <vt:lpstr>Recap: vorig college</vt:lpstr>
      <vt:lpstr>Leerdoelen</vt:lpstr>
      <vt:lpstr>Recap: kansexperiment</vt:lpstr>
      <vt:lpstr>Wat weten we nog over discrete kansvariabelen?</vt:lpstr>
      <vt:lpstr>Continue kansvariabelen (“meten”)</vt:lpstr>
      <vt:lpstr>Voorbeeld: time-to-detection van counter-UAS</vt:lpstr>
      <vt:lpstr>Voorbeeld: time-to-detection van counter-UAS</vt:lpstr>
      <vt:lpstr>Continue kansvariabelen</vt:lpstr>
      <vt:lpstr>Discrete kansvariabelen: twee weergaven van de kansfunctie p(k)=P(X=k)</vt:lpstr>
      <vt:lpstr>Continue kansvariabelen: kansdichtheidsfunctie (PDF)</vt:lpstr>
      <vt:lpstr>Kansdichtheidsfunctie (PDF)</vt:lpstr>
      <vt:lpstr>Kansdichtheidsfunctie (PDF)</vt:lpstr>
      <vt:lpstr>Continue kansen met de grafische rekenmachine</vt:lpstr>
      <vt:lpstr>Voorbeeld: rekenen met kansdichtheidsfuncties (PDF)</vt:lpstr>
      <vt:lpstr>Voorbeeld: rekenen met kansdichtheidsfuncties (PDF)</vt:lpstr>
      <vt:lpstr>Kansdichtheidsfunctie (PDF)</vt:lpstr>
      <vt:lpstr>Cumulatieve verdelingsfunctie (CDF)</vt:lpstr>
      <vt:lpstr>Voorbeeldopgave: time-to-detection van counter-UAS</vt:lpstr>
      <vt:lpstr>Voorbeeldopgave</vt:lpstr>
      <vt:lpstr>Kans dat een drone meer dan drie seconden ongedetecteerd doorvliegt?</vt:lpstr>
      <vt:lpstr>Verwachtingswaarde van continue kansvariabelen</vt:lpstr>
      <vt:lpstr>Voorbeeldopgave: time-to-detection van counter-UAS</vt:lpstr>
      <vt:lpstr>Wat is de verwachtingswaarde E(X)? </vt:lpstr>
      <vt:lpstr>Variantie en standaardafwijking</vt:lpstr>
      <vt:lpstr>Voorbeeldopgave: time-to-detection van counter-UAS</vt:lpstr>
      <vt:lpstr>Wat is de standaardafwijking σ(X)? </vt:lpstr>
      <vt:lpstr>Wat betekenen deze uitkomsten?</vt:lpstr>
      <vt:lpstr>Overzicht: discrete en continue kansvariabelen</vt:lpstr>
      <vt:lpstr>Samenvatting</vt:lpstr>
      <vt:lpstr>Volgend college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2: Statistiek</dc:title>
  <dc:creator>Blom, DAMP, Dr. ir., DOSCO/NLDA/FMW/CG MTW</dc:creator>
  <cp:lastModifiedBy>Gebruiker</cp:lastModifiedBy>
  <cp:revision>285</cp:revision>
  <cp:lastPrinted>2011-09-21T07:52:24Z</cp:lastPrinted>
  <dcterms:created xsi:type="dcterms:W3CDTF">2024-10-30T14:05:14Z</dcterms:created>
  <dcterms:modified xsi:type="dcterms:W3CDTF">2026-04-03T12:40:22Z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