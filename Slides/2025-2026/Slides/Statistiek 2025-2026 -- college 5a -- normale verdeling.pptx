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86" r:id="rId2"/>
  </p:sldMasterIdLst>
  <p:notesMasterIdLst>
    <p:notesMasterId r:id="rId33"/>
  </p:notesMasterIdLst>
  <p:handoutMasterIdLst>
    <p:handoutMasterId r:id="rId34"/>
  </p:handoutMasterIdLst>
  <p:sldIdLst>
    <p:sldId id="293" r:id="rId3"/>
    <p:sldId id="257" r:id="rId4"/>
    <p:sldId id="258" r:id="rId5"/>
    <p:sldId id="295" r:id="rId6"/>
    <p:sldId id="262" r:id="rId7"/>
    <p:sldId id="264" r:id="rId8"/>
    <p:sldId id="259" r:id="rId9"/>
    <p:sldId id="296" r:id="rId10"/>
    <p:sldId id="274" r:id="rId11"/>
    <p:sldId id="297" r:id="rId12"/>
    <p:sldId id="298" r:id="rId13"/>
    <p:sldId id="299" r:id="rId14"/>
    <p:sldId id="300" r:id="rId15"/>
    <p:sldId id="291" r:id="rId16"/>
    <p:sldId id="290" r:id="rId17"/>
    <p:sldId id="269" r:id="rId18"/>
    <p:sldId id="270" r:id="rId19"/>
    <p:sldId id="277" r:id="rId20"/>
    <p:sldId id="292" r:id="rId21"/>
    <p:sldId id="271" r:id="rId22"/>
    <p:sldId id="279" r:id="rId23"/>
    <p:sldId id="278" r:id="rId24"/>
    <p:sldId id="284" r:id="rId25"/>
    <p:sldId id="283" r:id="rId26"/>
    <p:sldId id="263" r:id="rId27"/>
    <p:sldId id="286" r:id="rId28"/>
    <p:sldId id="288" r:id="rId29"/>
    <p:sldId id="289" r:id="rId30"/>
    <p:sldId id="294" r:id="rId31"/>
    <p:sldId id="285" r:id="rId32"/>
  </p:sldIdLst>
  <p:sldSz cx="12192000" cy="6858000"/>
  <p:notesSz cx="6921500" cy="9423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68">
          <p15:clr>
            <a:srgbClr val="A4A3A4"/>
          </p15:clr>
        </p15:guide>
        <p15:guide id="2" pos="21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0047"/>
    <a:srgbClr val="000000"/>
    <a:srgbClr val="55286E"/>
    <a:srgbClr val="FFFFFF"/>
    <a:srgbClr val="0E3B6E"/>
    <a:srgbClr val="005187"/>
    <a:srgbClr val="00423C"/>
    <a:srgbClr val="0E61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00"/>
  </p:normalViewPr>
  <p:slideViewPr>
    <p:cSldViewPr>
      <p:cViewPr varScale="1">
        <p:scale>
          <a:sx n="94" d="100"/>
          <a:sy n="94" d="100"/>
        </p:scale>
        <p:origin x="96" y="4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5" d="100"/>
          <a:sy n="75" d="100"/>
        </p:scale>
        <p:origin x="-2118" y="-90"/>
      </p:cViewPr>
      <p:guideLst>
        <p:guide orient="horz" pos="2968"/>
        <p:guide pos="21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33400" y="446088"/>
            <a:ext cx="5867400" cy="414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nl-NL" dirty="0">
              <a:latin typeface="RijksoverheidSansText" panose="020B0503040202060203" pitchFamily="34" charset="0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33400" y="114300"/>
            <a:ext cx="2998788" cy="1460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800">
                <a:latin typeface="Arial" charset="0"/>
              </a:defRPr>
            </a:lvl1pPr>
          </a:lstStyle>
          <a:p>
            <a:pPr>
              <a:defRPr/>
            </a:pPr>
            <a:endParaRPr lang="nl-NL" dirty="0">
              <a:latin typeface="RijksoverheidSansText" panose="020B0503040202060203" pitchFamily="34" charset="0"/>
            </a:endParaRPr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533400" y="8951913"/>
            <a:ext cx="6019800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nl-NL" dirty="0">
                <a:latin typeface="RijksoverheidSansText" panose="020B0503040202060203" pitchFamily="34" charset="0"/>
              </a:rPr>
              <a:t>Eventuele voettekst</a:t>
            </a:r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6613525" y="8951913"/>
            <a:ext cx="228600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fld id="{E1460D1F-5074-4EB0-BB4F-B8A7850CD942}" type="slidenum">
              <a:rPr lang="nl-NL">
                <a:latin typeface="RijksoverheidSansText" panose="020B0503040202060203" pitchFamily="34" charset="0"/>
              </a:rPr>
              <a:pPr>
                <a:defRPr/>
              </a:pPr>
              <a:t>‹nr.›</a:t>
            </a:fld>
            <a:endParaRPr lang="nl-NL" dirty="0">
              <a:latin typeface="RijksoverheidSansText" panose="020B0503040202060203" pitchFamily="34" charset="0"/>
            </a:endParaRPr>
          </a:p>
        </p:txBody>
      </p:sp>
      <p:sp>
        <p:nvSpPr>
          <p:cNvPr id="32788" name="RubriceringEnMerking2"/>
          <p:cNvSpPr txBox="1">
            <a:spLocks noChangeArrowheads="1"/>
          </p:cNvSpPr>
          <p:nvPr/>
        </p:nvSpPr>
        <p:spPr bwMode="auto">
          <a:xfrm rot="-5400000">
            <a:off x="4827587" y="2786063"/>
            <a:ext cx="3808413" cy="1222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algn="r" eaLnBrk="0" hangingPunct="0">
              <a:defRPr/>
            </a:pPr>
            <a:endParaRPr lang="nl-NL" sz="800" dirty="0">
              <a:latin typeface="RijksoverheidSansText" panose="020B0503040202060203" pitchFamily="34" charset="0"/>
            </a:endParaRPr>
          </a:p>
        </p:txBody>
      </p:sp>
      <p:sp>
        <p:nvSpPr>
          <p:cNvPr id="32789" name="RubriceringEnMerking"/>
          <p:cNvSpPr txBox="1">
            <a:spLocks noChangeArrowheads="1"/>
          </p:cNvSpPr>
          <p:nvPr/>
        </p:nvSpPr>
        <p:spPr bwMode="auto">
          <a:xfrm rot="-5400000">
            <a:off x="4826001" y="6527800"/>
            <a:ext cx="3808412" cy="1222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eaLnBrk="0" hangingPunct="0">
              <a:defRPr/>
            </a:pPr>
            <a:endParaRPr lang="nl-NL" sz="800" dirty="0">
              <a:latin typeface="RijksoverheidSansText" panose="020B050304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47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33400" y="447675"/>
            <a:ext cx="5867400" cy="4127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RijksoverheidSansText" panose="020B0503040202060203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31813" y="114300"/>
            <a:ext cx="2998787" cy="1476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800">
                <a:latin typeface="RijksoverheidSansText" panose="020B0503040202060203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250825" y="933450"/>
            <a:ext cx="6280150" cy="3533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33400" y="4648200"/>
            <a:ext cx="4724400" cy="38449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 err="1" smtClean="0"/>
              <a:t>Klik</a:t>
            </a:r>
            <a:r>
              <a:rPr lang="en-US" noProof="0" dirty="0" smtClean="0"/>
              <a:t> om het </a:t>
            </a:r>
            <a:r>
              <a:rPr lang="en-US" noProof="0" dirty="0" err="1" smtClean="0"/>
              <a:t>opmaakprofiel</a:t>
            </a:r>
            <a:r>
              <a:rPr lang="en-US" noProof="0" dirty="0" smtClean="0"/>
              <a:t> van de </a:t>
            </a:r>
            <a:r>
              <a:rPr lang="en-US" noProof="0" dirty="0" err="1" smtClean="0"/>
              <a:t>modeltekst</a:t>
            </a:r>
            <a:r>
              <a:rPr lang="en-US" noProof="0" dirty="0" smtClean="0"/>
              <a:t> </a:t>
            </a:r>
            <a:r>
              <a:rPr lang="en-US" noProof="0" dirty="0" err="1" smtClean="0"/>
              <a:t>te</a:t>
            </a:r>
            <a:r>
              <a:rPr lang="en-US" noProof="0" dirty="0" smtClean="0"/>
              <a:t> </a:t>
            </a:r>
            <a:r>
              <a:rPr lang="en-US" noProof="0" dirty="0" err="1" smtClean="0"/>
              <a:t>bewerken</a:t>
            </a:r>
            <a:endParaRPr lang="en-US" noProof="0" dirty="0" smtClean="0"/>
          </a:p>
          <a:p>
            <a:pPr lvl="1"/>
            <a:r>
              <a:rPr lang="en-US" noProof="0" dirty="0" err="1" smtClean="0"/>
              <a:t>Tweede</a:t>
            </a:r>
            <a:r>
              <a:rPr lang="en-US" noProof="0" dirty="0" smtClean="0"/>
              <a:t> </a:t>
            </a:r>
            <a:r>
              <a:rPr lang="en-US" noProof="0" dirty="0" err="1" smtClean="0"/>
              <a:t>niveau</a:t>
            </a:r>
            <a:endParaRPr lang="en-US" noProof="0" dirty="0" smtClean="0"/>
          </a:p>
          <a:p>
            <a:pPr lvl="2"/>
            <a:r>
              <a:rPr lang="en-US" noProof="0" dirty="0" err="1" smtClean="0"/>
              <a:t>Derde</a:t>
            </a:r>
            <a:r>
              <a:rPr lang="en-US" noProof="0" dirty="0" smtClean="0"/>
              <a:t> </a:t>
            </a:r>
            <a:r>
              <a:rPr lang="en-US" noProof="0" dirty="0" err="1" smtClean="0"/>
              <a:t>niveau</a:t>
            </a:r>
            <a:endParaRPr lang="en-US" noProof="0" dirty="0" smtClean="0"/>
          </a:p>
          <a:p>
            <a:pPr lvl="3"/>
            <a:r>
              <a:rPr lang="en-US" noProof="0" dirty="0" err="1" smtClean="0"/>
              <a:t>Vierde</a:t>
            </a:r>
            <a:r>
              <a:rPr lang="en-US" noProof="0" dirty="0" smtClean="0"/>
              <a:t> </a:t>
            </a:r>
            <a:r>
              <a:rPr lang="en-US" noProof="0" dirty="0" err="1" smtClean="0"/>
              <a:t>niveau</a:t>
            </a:r>
            <a:endParaRPr lang="en-US" noProof="0" dirty="0" smtClean="0"/>
          </a:p>
          <a:p>
            <a:pPr lvl="4"/>
            <a:r>
              <a:rPr lang="en-US" noProof="0" dirty="0" err="1" smtClean="0"/>
              <a:t>Vijfde</a:t>
            </a:r>
            <a:r>
              <a:rPr lang="en-US" noProof="0" dirty="0" smtClean="0"/>
              <a:t> </a:t>
            </a:r>
            <a:r>
              <a:rPr lang="en-US" noProof="0" dirty="0" err="1" smtClean="0"/>
              <a:t>niveau</a:t>
            </a:r>
            <a:endParaRPr lang="en-US" noProof="0" dirty="0" smtClean="0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531813" y="8951913"/>
            <a:ext cx="6097587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RijksoverheidSansText" panose="020B0503040202060203" pitchFamily="34" charset="0"/>
              </a:defRPr>
            </a:lvl1pPr>
          </a:lstStyle>
          <a:p>
            <a:pPr>
              <a:defRPr/>
            </a:pPr>
            <a:r>
              <a:rPr lang="en-US" dirty="0" err="1" smtClean="0"/>
              <a:t>Eventuele</a:t>
            </a:r>
            <a:r>
              <a:rPr lang="en-US" dirty="0" smtClean="0"/>
              <a:t> </a:t>
            </a:r>
            <a:r>
              <a:rPr lang="en-US" dirty="0" err="1" smtClean="0"/>
              <a:t>voettekst</a:t>
            </a:r>
            <a:endParaRPr lang="en-US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615113" y="8951913"/>
            <a:ext cx="230187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 defTabSz="933450" eaLnBrk="0" hangingPunct="0">
              <a:spcBef>
                <a:spcPct val="0"/>
              </a:spcBef>
              <a:defRPr sz="1000">
                <a:latin typeface="RijksoverheidSansText" panose="020B0503040202060203" pitchFamily="34" charset="0"/>
              </a:defRPr>
            </a:lvl1pPr>
          </a:lstStyle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‹nr.›</a:t>
            </a:fld>
            <a:endParaRPr lang="en-US" dirty="0"/>
          </a:p>
        </p:txBody>
      </p:sp>
      <p:sp>
        <p:nvSpPr>
          <p:cNvPr id="5139" name="RubriceringEnMerking2"/>
          <p:cNvSpPr txBox="1">
            <a:spLocks noChangeArrowheads="1"/>
          </p:cNvSpPr>
          <p:nvPr/>
        </p:nvSpPr>
        <p:spPr bwMode="auto">
          <a:xfrm rot="-5400000">
            <a:off x="4827587" y="2786063"/>
            <a:ext cx="3808413" cy="1222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algn="r" eaLnBrk="0" hangingPunct="0">
              <a:defRPr/>
            </a:pPr>
            <a:endParaRPr lang="nl-NL" sz="800" dirty="0">
              <a:latin typeface="RijksoverheidSansText" panose="020B0503040202060203" pitchFamily="34" charset="0"/>
            </a:endParaRPr>
          </a:p>
        </p:txBody>
      </p:sp>
      <p:sp>
        <p:nvSpPr>
          <p:cNvPr id="5140" name="RubriceringEnMerking"/>
          <p:cNvSpPr txBox="1">
            <a:spLocks noChangeArrowheads="1"/>
          </p:cNvSpPr>
          <p:nvPr/>
        </p:nvSpPr>
        <p:spPr bwMode="auto">
          <a:xfrm rot="-5400000">
            <a:off x="4826001" y="6527800"/>
            <a:ext cx="3808412" cy="1222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eaLnBrk="0" hangingPunct="0">
              <a:defRPr/>
            </a:pPr>
            <a:endParaRPr lang="nl-NL" sz="800" dirty="0">
              <a:latin typeface="RijksoverheidSansText" panose="020B050304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56278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RijksoverheidSansText" panose="020B0503040202060203" pitchFamily="34" charset="0"/>
        <a:ea typeface="+mn-ea"/>
        <a:cs typeface="+mn-cs"/>
      </a:defRPr>
    </a:lvl1pPr>
    <a:lvl2pPr marL="1905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RijksoverheidSansText" panose="020B0503040202060203" pitchFamily="34" charset="0"/>
        <a:ea typeface="+mn-ea"/>
        <a:cs typeface="+mn-cs"/>
      </a:defRPr>
    </a:lvl2pPr>
    <a:lvl3pPr marL="3810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RijksoverheidSansText" panose="020B0503040202060203" pitchFamily="34" charset="0"/>
        <a:ea typeface="+mn-ea"/>
        <a:cs typeface="+mn-cs"/>
      </a:defRPr>
    </a:lvl3pPr>
    <a:lvl4pPr marL="5715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RijksoverheidSansText" panose="020B0503040202060203" pitchFamily="34" charset="0"/>
        <a:ea typeface="+mn-ea"/>
        <a:cs typeface="+mn-cs"/>
      </a:defRPr>
    </a:lvl4pPr>
    <a:lvl5pPr marL="7620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RijksoverheidSansText" panose="020B050304020206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Dit is natuurlijk</a:t>
            </a:r>
            <a:r>
              <a:rPr lang="nl-NL" baseline="0" dirty="0" smtClean="0"/>
              <a:t> e</a:t>
            </a:r>
            <a:r>
              <a:rPr lang="nl-NL" dirty="0" smtClean="0"/>
              <a:t>en</a:t>
            </a:r>
            <a:r>
              <a:rPr lang="nl-NL" baseline="0" dirty="0" smtClean="0"/>
              <a:t> grapopdracht, omdat dit niet leuk is om telkens weer in te moeten voeren.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087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Moment</a:t>
            </a:r>
            <a:r>
              <a:rPr lang="nl-NL" baseline="0" dirty="0" smtClean="0"/>
              <a:t> van interactie: de studenten moeten hier aangeven dat dit een onzinnige vraag is en dat je appels met peren vergelijkt. Dit introduceert het nut van </a:t>
            </a:r>
            <a:r>
              <a:rPr lang="nl-NL" baseline="0" dirty="0" err="1" smtClean="0"/>
              <a:t>z</a:t>
            </a:r>
            <a:r>
              <a:rPr lang="nl-NL" baseline="0" dirty="0" smtClean="0"/>
              <a:t>-scores.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600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Moment</a:t>
            </a:r>
            <a:r>
              <a:rPr lang="nl-NL" baseline="0" dirty="0" smtClean="0"/>
              <a:t> van interactie: de studenten moeten hier aangeven dat dit een onzinnige vraag is en dat je appels met peren vergelijkt. Dit introduceert het nut van </a:t>
            </a:r>
            <a:r>
              <a:rPr lang="nl-NL" baseline="0" dirty="0" err="1" smtClean="0"/>
              <a:t>z</a:t>
            </a:r>
            <a:r>
              <a:rPr lang="nl-NL" baseline="0" dirty="0" smtClean="0"/>
              <a:t>-scores.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285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Moment</a:t>
            </a:r>
            <a:r>
              <a:rPr lang="nl-NL" baseline="0" dirty="0" smtClean="0"/>
              <a:t> van interactie: de studenten moeten hier aangeven dat dit een onzinnige vraag is en dat je appels met peren vergelijkt. Dit introduceert het nut van </a:t>
            </a:r>
            <a:r>
              <a:rPr lang="nl-NL" baseline="0" dirty="0" err="1" smtClean="0"/>
              <a:t>z</a:t>
            </a:r>
            <a:r>
              <a:rPr lang="nl-NL" baseline="0" dirty="0" smtClean="0"/>
              <a:t>-scores.</a:t>
            </a:r>
          </a:p>
          <a:p>
            <a:endParaRPr lang="nl-NL" baseline="0" dirty="0" smtClean="0"/>
          </a:p>
          <a:p>
            <a:r>
              <a:rPr lang="nl-NL" baseline="0" dirty="0" smtClean="0"/>
              <a:t>Betekenis: binnen de populatie mannelijk soldaten 23 jaar scoort soldaat A </a:t>
            </a:r>
            <a:r>
              <a:rPr lang="nl-NL" baseline="0" dirty="0" err="1" smtClean="0"/>
              <a:t>ondergemiddeld</a:t>
            </a:r>
            <a:r>
              <a:rPr lang="nl-NL" baseline="0" dirty="0" smtClean="0"/>
              <a:t> (2/3 sigma onder gemiddelde), binnen de populatie vrouwelijk soldaten van 25 jaar scoort soldaat B bovengemiddeld (2/5 sigma boven gemiddelde).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Eventuele voettekst</a:t>
            </a:r>
            <a:endParaRPr lang="en-US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117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9" descr="Bar_Right"/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wrap="none" lIns="0" tIns="0" rIns="0" bIns="0" anchor="ctr"/>
          <a:lstStyle/>
          <a:p>
            <a:pPr algn="ctr" eaLnBrk="0" hangingPunct="0">
              <a:spcBef>
                <a:spcPct val="50000"/>
              </a:spcBef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sp>
        <p:nvSpPr>
          <p:cNvPr id="5" name="Rectangle 157"/>
          <p:cNvSpPr>
            <a:spLocks noChangeArrowheads="1"/>
          </p:cNvSpPr>
          <p:nvPr/>
        </p:nvSpPr>
        <p:spPr bwMode="auto">
          <a:xfrm>
            <a:off x="6578602" y="2474916"/>
            <a:ext cx="4798484" cy="9429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eaLnBrk="0" hangingPunct="0"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pic>
        <p:nvPicPr>
          <p:cNvPr id="9" name="LogoLandmacht" descr="Placeholder_Depart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2" y="0"/>
            <a:ext cx="9144019" cy="2002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veBenaming"/>
          <p:cNvSpPr txBox="1">
            <a:spLocks noChangeArrowheads="1"/>
          </p:cNvSpPr>
          <p:nvPr userDrawn="1"/>
        </p:nvSpPr>
        <p:spPr bwMode="auto">
          <a:xfrm>
            <a:off x="6576486" y="5386391"/>
            <a:ext cx="5183716" cy="287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 anchor="b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4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DOSCO</a:t>
            </a:r>
          </a:p>
        </p:txBody>
      </p:sp>
      <p:sp>
        <p:nvSpPr>
          <p:cNvPr id="11" name="Afdeling"/>
          <p:cNvSpPr txBox="1">
            <a:spLocks noChangeArrowheads="1"/>
          </p:cNvSpPr>
          <p:nvPr userDrawn="1"/>
        </p:nvSpPr>
        <p:spPr bwMode="auto">
          <a:xfrm>
            <a:off x="6576484" y="5746753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 smtClean="0">
                <a:solidFill>
                  <a:schemeClr val="bg1"/>
                </a:solidFill>
                <a:latin typeface="+mn-lt"/>
              </a:rPr>
              <a:t>Dr. ir. Danny Blom</a:t>
            </a:r>
            <a:endParaRPr lang="nl-NL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2" name="Auteur"/>
          <p:cNvSpPr txBox="1">
            <a:spLocks noChangeArrowheads="1"/>
          </p:cNvSpPr>
          <p:nvPr userDrawn="1"/>
        </p:nvSpPr>
        <p:spPr bwMode="auto">
          <a:xfrm>
            <a:off x="6576484" y="5949953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 smtClean="0">
                <a:solidFill>
                  <a:schemeClr val="bg1"/>
                </a:solidFill>
                <a:latin typeface="+mn-lt"/>
              </a:rPr>
              <a:t>Nederlandse</a:t>
            </a:r>
            <a:r>
              <a:rPr lang="nl-NL" sz="1200" baseline="0" dirty="0" smtClean="0">
                <a:solidFill>
                  <a:schemeClr val="bg1"/>
                </a:solidFill>
                <a:latin typeface="+mn-lt"/>
              </a:rPr>
              <a:t> Defensie Academie</a:t>
            </a:r>
            <a:endParaRPr lang="nl-NL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3" name="Functie"/>
          <p:cNvSpPr txBox="1">
            <a:spLocks noChangeArrowheads="1"/>
          </p:cNvSpPr>
          <p:nvPr userDrawn="1"/>
        </p:nvSpPr>
        <p:spPr bwMode="auto">
          <a:xfrm>
            <a:off x="6576484" y="6164266"/>
            <a:ext cx="5181600" cy="1428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200" b="0" dirty="0" err="1" smtClean="0">
                <a:solidFill>
                  <a:schemeClr val="bg1"/>
                </a:solidFill>
                <a:latin typeface="+mn-lt"/>
              </a:rPr>
              <a:t>Faculteit</a:t>
            </a:r>
            <a:r>
              <a:rPr lang="en-US" sz="1200" b="0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200" b="0" dirty="0" err="1" smtClean="0">
                <a:solidFill>
                  <a:schemeClr val="bg1"/>
                </a:solidFill>
                <a:latin typeface="+mn-lt"/>
              </a:rPr>
              <a:t>Militaire</a:t>
            </a:r>
            <a:r>
              <a:rPr lang="en-US" sz="1200" b="0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200" b="0" dirty="0" err="1" smtClean="0">
                <a:solidFill>
                  <a:schemeClr val="bg1"/>
                </a:solidFill>
                <a:latin typeface="+mn-lt"/>
              </a:rPr>
              <a:t>Wetenschappen</a:t>
            </a:r>
            <a:endParaRPr sz="12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364" name="Rectangle 196"/>
          <p:cNvSpPr>
            <a:spLocks noGrp="1" noChangeArrowheads="1"/>
          </p:cNvSpPr>
          <p:nvPr>
            <p:ph type="ctrTitle"/>
          </p:nvPr>
        </p:nvSpPr>
        <p:spPr>
          <a:xfrm>
            <a:off x="6578602" y="2096771"/>
            <a:ext cx="4798484" cy="492443"/>
          </a:xfrm>
        </p:spPr>
        <p:txBody>
          <a:bodyPr lIns="90000" tIns="45720" rIns="90000" bIns="4572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nl-NL" noProof="0" dirty="0" smtClean="0"/>
          </a:p>
        </p:txBody>
      </p:sp>
      <p:sp>
        <p:nvSpPr>
          <p:cNvPr id="7374" name="Rectangle 206"/>
          <p:cNvSpPr>
            <a:spLocks noGrp="1" noChangeArrowheads="1"/>
          </p:cNvSpPr>
          <p:nvPr>
            <p:ph type="subTitle" idx="1"/>
          </p:nvPr>
        </p:nvSpPr>
        <p:spPr>
          <a:xfrm>
            <a:off x="6578602" y="2781303"/>
            <a:ext cx="4798484" cy="2447925"/>
          </a:xfrm>
        </p:spPr>
        <p:txBody>
          <a:bodyPr lIns="91440" tIns="45720" rIns="91440" bIns="45720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Click to edit Master subtitle style</a:t>
            </a:r>
            <a:endParaRPr lang="nl-NL" noProof="0" smtClean="0"/>
          </a:p>
        </p:txBody>
      </p:sp>
      <p:sp>
        <p:nvSpPr>
          <p:cNvPr id="1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6580717" y="6469066"/>
            <a:ext cx="2218267" cy="365125"/>
          </a:xfrm>
        </p:spPr>
        <p:txBody>
          <a:bodyPr/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EFB72F70-86A0-4C14-B328-A142BCCD4395}" type="datetime4">
              <a:rPr lang="nl-NL" smtClean="0"/>
              <a:pPr>
                <a:defRPr/>
              </a:pPr>
              <a:t>7 april 2026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41"/>
            <a:ext cx="10363200" cy="430887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 smtClean="0"/>
              <a:t>Click to edit Master title style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5BA442-CF7C-446F-A5C6-9C80A1EA92B1}" type="datetime4">
              <a:rPr lang="nl-NL" smtClean="0"/>
              <a:t>7 april 2026</a:t>
            </a:fld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615553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ACE4E-5F74-4A37-951C-E2AD8C0ABF31}" type="datetime4">
              <a:rPr lang="nl-NL" smtClean="0"/>
              <a:t>7 april 2026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104096-2ED3-453C-8E78-E00AE5454056}" type="datetime4">
              <a:rPr lang="nl-NL" smtClean="0"/>
              <a:t>7 april 2026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2800" cy="40011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09A98-FEF1-486E-836B-0182E6ED18CF}" type="datetime4">
              <a:rPr lang="nl-NL" smtClean="0"/>
              <a:t>7 april 2026</a:t>
            </a:fld>
            <a:endParaRPr lang="nl-NL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5E3D14-5EDE-4B69-BCF9-7871170F920B}" type="datetime4">
              <a:rPr lang="nl-NL" smtClean="0"/>
              <a:t>7 april 2026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3C7BC3-7CD1-41E9-B4B5-084A2D120935}" type="datetime4">
              <a:rPr lang="nl-NL" smtClean="0"/>
              <a:t>7 april 2026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1127324"/>
            <a:ext cx="4011084" cy="3077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24747"/>
            <a:ext cx="6815667" cy="50014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AD4273-E583-4234-8A15-01E636C03DBC}" type="datetime4">
              <a:rPr lang="nl-NL" smtClean="0"/>
              <a:t>7 april 2026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059563"/>
            <a:ext cx="7315200" cy="3077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24746"/>
            <a:ext cx="7315200" cy="360283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nl-NL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F2C121-03D7-4443-9B4B-D1ED7325FD6F}" type="datetime4">
              <a:rPr lang="nl-NL" smtClean="0"/>
              <a:t>7 april 2026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90545-2047-4712-ADC2-09AB81876442}" type="datetime4">
              <a:rPr lang="nl-NL" smtClean="0"/>
              <a:t>7 april 2026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8007" y="1265238"/>
            <a:ext cx="400110" cy="4754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265238"/>
            <a:ext cx="7571317" cy="4754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9" descr="Bar_Right"/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wrap="none" lIns="0" tIns="0" rIns="0" bIns="0" anchor="ctr"/>
          <a:lstStyle/>
          <a:p>
            <a:pPr algn="ctr" eaLnBrk="0" hangingPunct="0">
              <a:spcBef>
                <a:spcPct val="50000"/>
              </a:spcBef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sp>
        <p:nvSpPr>
          <p:cNvPr id="5" name="Rectangle 157"/>
          <p:cNvSpPr>
            <a:spLocks noChangeArrowheads="1"/>
          </p:cNvSpPr>
          <p:nvPr/>
        </p:nvSpPr>
        <p:spPr bwMode="auto">
          <a:xfrm>
            <a:off x="6578601" y="2474914"/>
            <a:ext cx="4798484" cy="9429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eaLnBrk="0" hangingPunct="0"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pic>
        <p:nvPicPr>
          <p:cNvPr id="9" name="LogoLandmacht" descr="Placeholder_Depart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1" y="0"/>
            <a:ext cx="9144019" cy="2002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veBenaming"/>
          <p:cNvSpPr txBox="1">
            <a:spLocks noChangeArrowheads="1"/>
          </p:cNvSpPr>
          <p:nvPr userDrawn="1"/>
        </p:nvSpPr>
        <p:spPr bwMode="auto">
          <a:xfrm>
            <a:off x="6576485" y="5386389"/>
            <a:ext cx="5183716" cy="287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 anchor="b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DOSCO</a:t>
            </a:r>
          </a:p>
        </p:txBody>
      </p:sp>
      <p:sp>
        <p:nvSpPr>
          <p:cNvPr id="11" name="Afdeling"/>
          <p:cNvSpPr txBox="1">
            <a:spLocks noChangeArrowheads="1"/>
          </p:cNvSpPr>
          <p:nvPr userDrawn="1"/>
        </p:nvSpPr>
        <p:spPr bwMode="auto">
          <a:xfrm>
            <a:off x="6576484" y="57467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Nederlandse Defensie Academie</a:t>
            </a:r>
          </a:p>
        </p:txBody>
      </p:sp>
      <p:sp>
        <p:nvSpPr>
          <p:cNvPr id="12" name="Auteur"/>
          <p:cNvSpPr txBox="1">
            <a:spLocks noChangeArrowheads="1"/>
          </p:cNvSpPr>
          <p:nvPr userDrawn="1"/>
        </p:nvSpPr>
        <p:spPr bwMode="auto">
          <a:xfrm>
            <a:off x="6576484" y="59499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Dr. ir. D. Blom / Dr. M. van Ee</a:t>
            </a:r>
          </a:p>
        </p:txBody>
      </p:sp>
      <p:sp>
        <p:nvSpPr>
          <p:cNvPr id="13" name="Functie"/>
          <p:cNvSpPr txBox="1">
            <a:spLocks noChangeArrowheads="1"/>
          </p:cNvSpPr>
          <p:nvPr userDrawn="1"/>
        </p:nvSpPr>
        <p:spPr bwMode="auto">
          <a:xfrm>
            <a:off x="6576484" y="6164264"/>
            <a:ext cx="5181600" cy="1428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Faculteit Militaire Wetenschappen</a:t>
            </a:r>
          </a:p>
        </p:txBody>
      </p:sp>
      <p:sp>
        <p:nvSpPr>
          <p:cNvPr id="7364" name="Rectangle 196"/>
          <p:cNvSpPr>
            <a:spLocks noGrp="1" noChangeArrowheads="1"/>
          </p:cNvSpPr>
          <p:nvPr>
            <p:ph type="ctrTitle"/>
          </p:nvPr>
        </p:nvSpPr>
        <p:spPr>
          <a:xfrm>
            <a:off x="6578601" y="1700213"/>
            <a:ext cx="4798484" cy="889000"/>
          </a:xfrm>
        </p:spPr>
        <p:txBody>
          <a:bodyPr lIns="90000" tIns="45720" rIns="90000" bIns="4572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 smtClean="0"/>
              <a:t>Klik om de stijl te bewerken</a:t>
            </a:r>
          </a:p>
        </p:txBody>
      </p:sp>
      <p:sp>
        <p:nvSpPr>
          <p:cNvPr id="7374" name="Rectangle 206"/>
          <p:cNvSpPr>
            <a:spLocks noGrp="1" noChangeArrowheads="1"/>
          </p:cNvSpPr>
          <p:nvPr>
            <p:ph type="subTitle" idx="1"/>
          </p:nvPr>
        </p:nvSpPr>
        <p:spPr>
          <a:xfrm>
            <a:off x="6578601" y="2781301"/>
            <a:ext cx="4798484" cy="2447925"/>
          </a:xfrm>
        </p:spPr>
        <p:txBody>
          <a:bodyPr lIns="91440" tIns="45720" rIns="91440" bIns="45720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smtClean="0"/>
              <a:t>Klik om de ondertitelstijl van het model te bewerken</a:t>
            </a:r>
          </a:p>
        </p:txBody>
      </p:sp>
      <p:sp>
        <p:nvSpPr>
          <p:cNvPr id="1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6580717" y="6469064"/>
            <a:ext cx="2218267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217154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RijksoverheidSansText" panose="020B0503040202060203" pitchFamily="34" charset="0"/>
              </a:defRPr>
            </a:lvl1pPr>
            <a:lvl2pPr>
              <a:defRPr>
                <a:latin typeface="RijksoverheidSansText" panose="020B0503040202060203" pitchFamily="34" charset="0"/>
              </a:defRPr>
            </a:lvl2pPr>
            <a:lvl3pPr>
              <a:defRPr>
                <a:latin typeface="RijksoverheidSansText" panose="020B0503040202060203" pitchFamily="34" charset="0"/>
              </a:defRPr>
            </a:lvl3pPr>
            <a:lvl4pPr>
              <a:defRPr>
                <a:latin typeface="RijksoverheidSansText" panose="020B0503040202060203" pitchFamily="34" charset="0"/>
              </a:defRPr>
            </a:lvl4pPr>
            <a:lvl5pPr>
              <a:defRPr>
                <a:latin typeface="RijksoverheidSansText" panose="020B0503040202060203" pitchFamily="34" charset="0"/>
              </a:defRPr>
            </a:lvl5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323423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615553"/>
          </a:xfrm>
        </p:spPr>
        <p:txBody>
          <a:bodyPr/>
          <a:lstStyle>
            <a:lvl1pPr algn="l">
              <a:defRPr sz="4000" b="1" cap="all"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RijksoverheidSansText" panose="020B0503040202060203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354878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773238"/>
            <a:ext cx="5080000" cy="4246562"/>
          </a:xfrm>
        </p:spPr>
        <p:txBody>
          <a:bodyPr/>
          <a:lstStyle>
            <a:lvl1pPr>
              <a:defRPr sz="2800">
                <a:latin typeface="RijksoverheidSansText" panose="020B0503040202060203" pitchFamily="34" charset="0"/>
              </a:defRPr>
            </a:lvl1pPr>
            <a:lvl2pPr>
              <a:defRPr sz="2400">
                <a:latin typeface="RijksoverheidSansText" panose="020B0503040202060203" pitchFamily="34" charset="0"/>
              </a:defRPr>
            </a:lvl2pPr>
            <a:lvl3pPr>
              <a:defRPr sz="2000">
                <a:latin typeface="RijksoverheidSansText" panose="020B0503040202060203" pitchFamily="34" charset="0"/>
              </a:defRPr>
            </a:lvl3pPr>
            <a:lvl4pPr>
              <a:defRPr sz="1800">
                <a:latin typeface="RijksoverheidSansText" panose="020B0503040202060203" pitchFamily="34" charset="0"/>
              </a:defRPr>
            </a:lvl4pPr>
            <a:lvl5pPr>
              <a:defRPr sz="1800">
                <a:latin typeface="RijksoverheidSansText" panose="020B0503040202060203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773238"/>
            <a:ext cx="5080000" cy="4246562"/>
          </a:xfrm>
        </p:spPr>
        <p:txBody>
          <a:bodyPr/>
          <a:lstStyle>
            <a:lvl1pPr>
              <a:defRPr sz="2800">
                <a:latin typeface="RijksoverheidSansText" panose="020B0503040202060203" pitchFamily="34" charset="0"/>
              </a:defRPr>
            </a:lvl1pPr>
            <a:lvl2pPr>
              <a:defRPr sz="2400">
                <a:latin typeface="RijksoverheidSansText" panose="020B0503040202060203" pitchFamily="34" charset="0"/>
              </a:defRPr>
            </a:lvl2pPr>
            <a:lvl3pPr>
              <a:defRPr sz="2000">
                <a:latin typeface="RijksoverheidSansText" panose="020B0503040202060203" pitchFamily="34" charset="0"/>
              </a:defRPr>
            </a:lvl3pPr>
            <a:lvl4pPr>
              <a:defRPr sz="1800">
                <a:latin typeface="RijksoverheidSansText" panose="020B0503040202060203" pitchFamily="34" charset="0"/>
              </a:defRPr>
            </a:lvl4pPr>
            <a:lvl5pPr>
              <a:defRPr sz="1800">
                <a:latin typeface="RijksoverheidSansText" panose="020B0503040202060203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843028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2800" cy="400110"/>
          </a:xfrm>
        </p:spPr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RijksoverheidSansText" panose="020B050304020206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RijksoverheidSansText" panose="020B0503040202060203" pitchFamily="34" charset="0"/>
              </a:defRPr>
            </a:lvl1pPr>
            <a:lvl2pPr>
              <a:defRPr sz="2000">
                <a:latin typeface="RijksoverheidSansText" panose="020B0503040202060203" pitchFamily="34" charset="0"/>
              </a:defRPr>
            </a:lvl2pPr>
            <a:lvl3pPr>
              <a:defRPr sz="1800">
                <a:latin typeface="RijksoverheidSansText" panose="020B0503040202060203" pitchFamily="34" charset="0"/>
              </a:defRPr>
            </a:lvl3pPr>
            <a:lvl4pPr>
              <a:defRPr sz="1600">
                <a:latin typeface="RijksoverheidSansText" panose="020B0503040202060203" pitchFamily="34" charset="0"/>
              </a:defRPr>
            </a:lvl4pPr>
            <a:lvl5pPr>
              <a:defRPr sz="1600">
                <a:latin typeface="RijksoverheidSansText" panose="020B0503040202060203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latin typeface="RijksoverheidSansText" panose="020B0503040202060203" pitchFamily="34" charset="0"/>
              </a:defRPr>
            </a:lvl1pPr>
            <a:lvl2pPr>
              <a:defRPr sz="2000">
                <a:latin typeface="RijksoverheidSansText" panose="020B0503040202060203" pitchFamily="34" charset="0"/>
              </a:defRPr>
            </a:lvl2pPr>
            <a:lvl3pPr>
              <a:defRPr sz="1800">
                <a:latin typeface="RijksoverheidSansText" panose="020B0503040202060203" pitchFamily="34" charset="0"/>
              </a:defRPr>
            </a:lvl3pPr>
            <a:lvl4pPr>
              <a:defRPr sz="1600">
                <a:latin typeface="RijksoverheidSansText" panose="020B0503040202060203" pitchFamily="34" charset="0"/>
              </a:defRPr>
            </a:lvl4pPr>
            <a:lvl5pPr>
              <a:defRPr sz="1600">
                <a:latin typeface="RijksoverheidSansText" panose="020B0503040202060203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7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121421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016945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098251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124744"/>
            <a:ext cx="4011084" cy="31035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24745"/>
            <a:ext cx="6815667" cy="5001419"/>
          </a:xfrm>
        </p:spPr>
        <p:txBody>
          <a:bodyPr/>
          <a:lstStyle>
            <a:lvl1pPr>
              <a:defRPr sz="3200">
                <a:latin typeface="RijksoverheidSansText" panose="020B0503040202060203" pitchFamily="34" charset="0"/>
              </a:defRPr>
            </a:lvl1pPr>
            <a:lvl2pPr>
              <a:defRPr sz="2800">
                <a:latin typeface="RijksoverheidSansText" panose="020B0503040202060203" pitchFamily="34" charset="0"/>
              </a:defRPr>
            </a:lvl2pPr>
            <a:lvl3pPr>
              <a:defRPr sz="2400">
                <a:latin typeface="RijksoverheidSansText" panose="020B0503040202060203" pitchFamily="34" charset="0"/>
              </a:defRPr>
            </a:lvl3pPr>
            <a:lvl4pPr>
              <a:defRPr sz="2000">
                <a:latin typeface="RijksoverheidSansText" panose="020B0503040202060203" pitchFamily="34" charset="0"/>
              </a:defRPr>
            </a:lvl4pPr>
            <a:lvl5pPr>
              <a:defRPr sz="2000">
                <a:latin typeface="RijksoverheidSansText" panose="020B050304020206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RijksoverheidSansText" panose="020B0503040202060203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27110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059561"/>
            <a:ext cx="7315200" cy="307777"/>
          </a:xfrm>
        </p:spPr>
        <p:txBody>
          <a:bodyPr anchor="b"/>
          <a:lstStyle>
            <a:lvl1pPr algn="l">
              <a:defRPr sz="2000" b="1"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24744"/>
            <a:ext cx="7315200" cy="3602831"/>
          </a:xfrm>
        </p:spPr>
        <p:txBody>
          <a:bodyPr/>
          <a:lstStyle>
            <a:lvl1pPr marL="0" indent="0">
              <a:buNone/>
              <a:defRPr sz="3200">
                <a:latin typeface="RijksoverheidSansText" panose="020B050304020206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nl-NL" noProof="0" dirty="0" smtClean="0"/>
              <a:t>Klik op het pictogram als u een afbeelding wilt toevoegen</a:t>
            </a:r>
            <a:endParaRPr lang="nl-NL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RijksoverheidSansText" panose="020B0503040202060203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059842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RijksoverheidSansText" panose="020B0503040202060203" pitchFamily="34" charset="0"/>
              </a:defRPr>
            </a:lvl1pPr>
            <a:lvl2pPr>
              <a:defRPr>
                <a:latin typeface="RijksoverheidSansText" panose="020B0503040202060203" pitchFamily="34" charset="0"/>
              </a:defRPr>
            </a:lvl2pPr>
            <a:lvl3pPr>
              <a:defRPr>
                <a:latin typeface="RijksoverheidSansText" panose="020B0503040202060203" pitchFamily="34" charset="0"/>
              </a:defRPr>
            </a:lvl3pPr>
            <a:lvl4pPr>
              <a:defRPr>
                <a:latin typeface="RijksoverheidSansText" panose="020B0503040202060203" pitchFamily="34" charset="0"/>
              </a:defRPr>
            </a:lvl4pPr>
            <a:lvl5pPr>
              <a:defRPr>
                <a:latin typeface="RijksoverheidSansText" panose="020B0503040202060203" pitchFamily="34" charset="0"/>
              </a:defRPr>
            </a:lvl5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337957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8007" y="1265238"/>
            <a:ext cx="400110" cy="4754562"/>
          </a:xfrm>
        </p:spPr>
        <p:txBody>
          <a:bodyPr vert="eaVert"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265238"/>
            <a:ext cx="7571317" cy="4754562"/>
          </a:xfrm>
        </p:spPr>
        <p:txBody>
          <a:bodyPr vert="eaVert"/>
          <a:lstStyle>
            <a:lvl1pPr>
              <a:defRPr>
                <a:latin typeface="RijksoverheidSansText" panose="020B0503040202060203" pitchFamily="34" charset="0"/>
              </a:defRPr>
            </a:lvl1pPr>
            <a:lvl2pPr>
              <a:defRPr>
                <a:latin typeface="RijksoverheidSansText" panose="020B0503040202060203" pitchFamily="34" charset="0"/>
              </a:defRPr>
            </a:lvl2pPr>
            <a:lvl3pPr>
              <a:defRPr>
                <a:latin typeface="RijksoverheidSansText" panose="020B0503040202060203" pitchFamily="34" charset="0"/>
              </a:defRPr>
            </a:lvl3pPr>
            <a:lvl4pPr>
              <a:defRPr>
                <a:latin typeface="RijksoverheidSansText" panose="020B0503040202060203" pitchFamily="34" charset="0"/>
              </a:defRPr>
            </a:lvl4pPr>
            <a:lvl5pPr>
              <a:defRPr>
                <a:latin typeface="RijksoverheidSansText" panose="020B0503040202060203" pitchFamily="34" charset="0"/>
              </a:defRPr>
            </a:lvl5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542851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shpKleurvlakOnder" descr="Bar_Bottom"/>
          <p:cNvSpPr>
            <a:spLocks noChangeArrowheads="1"/>
          </p:cNvSpPr>
          <p:nvPr/>
        </p:nvSpPr>
        <p:spPr bwMode="auto">
          <a:xfrm>
            <a:off x="0" y="6318250"/>
            <a:ext cx="12192000" cy="539750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7" name="Rectangle 46"/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812800" y="1773238"/>
            <a:ext cx="103632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het opmaakprofiel van de modeltekst te bewerken</a:t>
            </a:r>
          </a:p>
          <a:p>
            <a:pPr lvl="1"/>
            <a:r>
              <a:rPr lang="nl-NL" smtClean="0"/>
              <a:t> </a:t>
            </a:r>
          </a:p>
          <a:p>
            <a:pPr lvl="2"/>
            <a:r>
              <a:rPr lang="nl-NL" smtClean="0"/>
              <a:t> </a:t>
            </a:r>
          </a:p>
          <a:p>
            <a:pPr lvl="3"/>
            <a:r>
              <a:rPr lang="nl-NL" smtClean="0"/>
              <a:t> </a:t>
            </a:r>
          </a:p>
          <a:p>
            <a:pPr lvl="4"/>
            <a:r>
              <a:rPr lang="nl-NL" smtClean="0"/>
              <a:t> </a:t>
            </a:r>
          </a:p>
        </p:txBody>
      </p:sp>
      <p:sp>
        <p:nvSpPr>
          <p:cNvPr id="1095" name="shpTekst" descr="Bar_Top"/>
          <p:cNvSpPr>
            <a:spLocks noChangeArrowheads="1"/>
          </p:cNvSpPr>
          <p:nvPr/>
        </p:nvSpPr>
        <p:spPr bwMode="auto">
          <a:xfrm>
            <a:off x="0" y="3"/>
            <a:ext cx="12192000" cy="1071563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9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814917" y="1265241"/>
            <a:ext cx="1036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nl-NL" smtClean="0"/>
          </a:p>
        </p:txBody>
      </p:sp>
      <p:sp>
        <p:nvSpPr>
          <p:cNvPr id="1099" name="shpKleurvlakBoven"/>
          <p:cNvSpPr>
            <a:spLocks noChangeArrowheads="1"/>
          </p:cNvSpPr>
          <p:nvPr/>
        </p:nvSpPr>
        <p:spPr bwMode="auto">
          <a:xfrm>
            <a:off x="6000751" y="6308725"/>
            <a:ext cx="5552016" cy="2873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r>
              <a:rPr lang="nl-NL" sz="1100" dirty="0">
                <a:solidFill>
                  <a:schemeClr val="bg1"/>
                </a:solidFill>
                <a:cs typeface="Arial" charset="0"/>
              </a:rPr>
              <a:t>DOSCO</a:t>
            </a:r>
          </a:p>
        </p:txBody>
      </p:sp>
      <p:sp>
        <p:nvSpPr>
          <p:cNvPr id="1100" name="shpBeeldmerk"/>
          <p:cNvSpPr>
            <a:spLocks noChangeArrowheads="1"/>
          </p:cNvSpPr>
          <p:nvPr/>
        </p:nvSpPr>
        <p:spPr bwMode="auto">
          <a:xfrm>
            <a:off x="516467" y="6362700"/>
            <a:ext cx="950384" cy="3635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fld id="{07382E3B-8403-45AB-A22D-980A32E9F913}" type="slidenum">
              <a:rPr lang="nl-NL" sz="1000">
                <a:solidFill>
                  <a:schemeClr val="bg1"/>
                </a:solidFill>
                <a:cs typeface="Arial" charset="0"/>
              </a:rPr>
              <a:pPr eaLnBrk="0" hangingPunct="0">
                <a:defRPr/>
              </a:pPr>
              <a:t>‹nr.›</a:t>
            </a:fld>
            <a:endParaRPr lang="nl-NL" sz="1000" dirty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09" name="TitelSlide2"/>
          <p:cNvSpPr txBox="1">
            <a:spLocks noChangeArrowheads="1"/>
          </p:cNvSpPr>
          <p:nvPr/>
        </p:nvSpPr>
        <p:spPr bwMode="auto">
          <a:xfrm>
            <a:off x="6000751" y="6524625"/>
            <a:ext cx="3647016" cy="2174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46800" rIns="90000" bIns="46800"/>
          <a:lstStyle/>
          <a:p>
            <a:pPr eaLnBrk="0" hangingPunct="0">
              <a:spcBef>
                <a:spcPct val="50000"/>
              </a:spcBef>
              <a:defRPr/>
            </a:pPr>
            <a:endParaRPr sz="2200"/>
          </a:p>
        </p:txBody>
      </p:sp>
      <p:pic>
        <p:nvPicPr>
          <p:cNvPr id="1036" name="LogoLandmacht" descr="Placeholder_Logo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875714" y="3"/>
            <a:ext cx="440575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Date Placeholder 1" descr="Date"/>
          <p:cNvSpPr>
            <a:spLocks noGrp="1"/>
          </p:cNvSpPr>
          <p:nvPr>
            <p:ph type="dt" sz="half" idx="2"/>
          </p:nvPr>
        </p:nvSpPr>
        <p:spPr>
          <a:xfrm>
            <a:off x="9637186" y="6520261"/>
            <a:ext cx="2220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spcBef>
                <a:spcPct val="50000"/>
              </a:spcBef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C578AD08-3C54-48F2-9382-C141D1496CCF}" type="datetime4">
              <a:rPr lang="nl-NL" smtClean="0"/>
              <a:t>7 april 2026</a:t>
            </a:fld>
            <a:endParaRPr lang="nl-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5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9pPr>
    </p:titleStyle>
    <p:bodyStyle>
      <a:lvl1pPr algn="l" rtl="0" eaLnBrk="1" fontAlgn="base" hangingPunct="1">
        <a:spcBef>
          <a:spcPct val="5000"/>
        </a:spcBef>
        <a:spcAft>
          <a:spcPct val="0"/>
        </a:spcAft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374650" indent="-184150" algn="l" rtl="0" eaLnBrk="1" fontAlgn="base" hangingPunct="1">
        <a:spcBef>
          <a:spcPct val="5000"/>
        </a:spcBef>
        <a:spcAft>
          <a:spcPct val="0"/>
        </a:spcAft>
        <a:buChar char="•"/>
        <a:defRPr sz="2200">
          <a:solidFill>
            <a:srgbClr val="000000"/>
          </a:solidFill>
          <a:latin typeface="+mn-lt"/>
        </a:defRPr>
      </a:lvl2pPr>
      <a:lvl3pPr marL="6223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–"/>
        <a:defRPr sz="2200">
          <a:solidFill>
            <a:srgbClr val="000000"/>
          </a:solidFill>
          <a:latin typeface="+mn-lt"/>
        </a:defRPr>
      </a:lvl3pPr>
      <a:lvl4pPr marL="1166813" indent="-17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›"/>
        <a:defRPr sz="2200">
          <a:solidFill>
            <a:srgbClr val="000000"/>
          </a:solidFill>
          <a:latin typeface="+mn-lt"/>
        </a:defRPr>
      </a:lvl4pPr>
      <a:lvl5pPr marL="13462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5pPr>
      <a:lvl6pPr marL="18034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6pPr>
      <a:lvl7pPr marL="22606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7pPr>
      <a:lvl8pPr marL="271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8pPr>
      <a:lvl9pPr marL="31750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shpKleurvlakOnder" descr="Bar_Bottom"/>
          <p:cNvSpPr>
            <a:spLocks noChangeArrowheads="1"/>
          </p:cNvSpPr>
          <p:nvPr/>
        </p:nvSpPr>
        <p:spPr bwMode="auto">
          <a:xfrm>
            <a:off x="0" y="6318250"/>
            <a:ext cx="12192000" cy="539750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7" name="Rectangle 46"/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812800" y="1773238"/>
            <a:ext cx="103632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het opmaakprofiel van de modeltekst te bewerken</a:t>
            </a:r>
          </a:p>
          <a:p>
            <a:pPr lvl="1"/>
            <a:r>
              <a:rPr lang="nl-NL" smtClean="0"/>
              <a:t> </a:t>
            </a:r>
          </a:p>
          <a:p>
            <a:pPr lvl="2"/>
            <a:r>
              <a:rPr lang="nl-NL" smtClean="0"/>
              <a:t> </a:t>
            </a:r>
          </a:p>
          <a:p>
            <a:pPr lvl="3"/>
            <a:r>
              <a:rPr lang="nl-NL" smtClean="0"/>
              <a:t> </a:t>
            </a:r>
          </a:p>
          <a:p>
            <a:pPr lvl="4"/>
            <a:r>
              <a:rPr lang="nl-NL" smtClean="0"/>
              <a:t> </a:t>
            </a:r>
          </a:p>
        </p:txBody>
      </p:sp>
      <p:sp>
        <p:nvSpPr>
          <p:cNvPr id="1095" name="shpTekst" descr="Bar_Top"/>
          <p:cNvSpPr>
            <a:spLocks noChangeArrowheads="1"/>
          </p:cNvSpPr>
          <p:nvPr/>
        </p:nvSpPr>
        <p:spPr bwMode="auto">
          <a:xfrm>
            <a:off x="0" y="1"/>
            <a:ext cx="12192000" cy="1071563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9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814917" y="1265239"/>
            <a:ext cx="1036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nl-NL" smtClean="0"/>
          </a:p>
        </p:txBody>
      </p:sp>
      <p:sp>
        <p:nvSpPr>
          <p:cNvPr id="1099" name="shpKleurvlakBoven"/>
          <p:cNvSpPr>
            <a:spLocks noChangeArrowheads="1"/>
          </p:cNvSpPr>
          <p:nvPr/>
        </p:nvSpPr>
        <p:spPr bwMode="auto">
          <a:xfrm>
            <a:off x="6000751" y="6308725"/>
            <a:ext cx="5552016" cy="2873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r>
              <a:rPr lang="nl-NL" sz="1100" dirty="0">
                <a:solidFill>
                  <a:schemeClr val="bg1"/>
                </a:solidFill>
                <a:cs typeface="Arial" charset="0"/>
              </a:rPr>
              <a:t>DOSCO</a:t>
            </a:r>
          </a:p>
        </p:txBody>
      </p:sp>
      <p:sp>
        <p:nvSpPr>
          <p:cNvPr id="1100" name="shpBeeldmerk"/>
          <p:cNvSpPr>
            <a:spLocks noChangeArrowheads="1"/>
          </p:cNvSpPr>
          <p:nvPr/>
        </p:nvSpPr>
        <p:spPr bwMode="auto">
          <a:xfrm>
            <a:off x="516467" y="6362700"/>
            <a:ext cx="950384" cy="3635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fld id="{07382E3B-8403-45AB-A22D-980A32E9F913}" type="slidenum">
              <a:rPr lang="nl-NL" sz="1000">
                <a:solidFill>
                  <a:schemeClr val="bg1"/>
                </a:solidFill>
                <a:cs typeface="Arial" charset="0"/>
              </a:rPr>
              <a:pPr eaLnBrk="0" hangingPunct="0">
                <a:defRPr/>
              </a:pPr>
              <a:t>‹nr.›</a:t>
            </a:fld>
            <a:endParaRPr lang="nl-NL" sz="100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09" name="TitelSlide2"/>
          <p:cNvSpPr txBox="1">
            <a:spLocks noChangeArrowheads="1"/>
          </p:cNvSpPr>
          <p:nvPr/>
        </p:nvSpPr>
        <p:spPr bwMode="auto">
          <a:xfrm>
            <a:off x="6000751" y="6524625"/>
            <a:ext cx="3647016" cy="2174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46800" rIns="90000" bIns="4680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Statistiek MBW</a:t>
            </a:r>
          </a:p>
        </p:txBody>
      </p:sp>
      <p:pic>
        <p:nvPicPr>
          <p:cNvPr id="1036" name="LogoLandmacht" descr="Placeholder_Logo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875713" y="1"/>
            <a:ext cx="440575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Date Placeholder 1" descr="Date"/>
          <p:cNvSpPr>
            <a:spLocks noGrp="1"/>
          </p:cNvSpPr>
          <p:nvPr>
            <p:ph type="dt" sz="half" idx="2"/>
          </p:nvPr>
        </p:nvSpPr>
        <p:spPr>
          <a:xfrm>
            <a:off x="9637185" y="6520259"/>
            <a:ext cx="2220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spcBef>
                <a:spcPct val="50000"/>
              </a:spcBef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92017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9pPr>
    </p:titleStyle>
    <p:bodyStyle>
      <a:lvl1pPr algn="l" rtl="0" eaLnBrk="1" fontAlgn="base" hangingPunct="1">
        <a:spcBef>
          <a:spcPct val="5000"/>
        </a:spcBef>
        <a:spcAft>
          <a:spcPct val="0"/>
        </a:spcAft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374650" indent="-184150" algn="l" rtl="0" eaLnBrk="1" fontAlgn="base" hangingPunct="1">
        <a:spcBef>
          <a:spcPct val="5000"/>
        </a:spcBef>
        <a:spcAft>
          <a:spcPct val="0"/>
        </a:spcAft>
        <a:buChar char="•"/>
        <a:defRPr sz="2200">
          <a:solidFill>
            <a:srgbClr val="000000"/>
          </a:solidFill>
          <a:latin typeface="+mn-lt"/>
        </a:defRPr>
      </a:lvl2pPr>
      <a:lvl3pPr marL="6223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–"/>
        <a:defRPr sz="2200">
          <a:solidFill>
            <a:srgbClr val="000000"/>
          </a:solidFill>
          <a:latin typeface="+mn-lt"/>
        </a:defRPr>
      </a:lvl3pPr>
      <a:lvl4pPr marL="1166813" indent="-17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›"/>
        <a:defRPr sz="2200">
          <a:solidFill>
            <a:srgbClr val="000000"/>
          </a:solidFill>
          <a:latin typeface="+mn-lt"/>
        </a:defRPr>
      </a:lvl4pPr>
      <a:lvl5pPr marL="13462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5pPr>
      <a:lvl6pPr marL="18034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6pPr>
      <a:lvl7pPr marL="22606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7pPr>
      <a:lvl8pPr marL="271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8pPr>
      <a:lvl9pPr marL="31750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hpTitel"/>
          <p:cNvSpPr>
            <a:spLocks noGrp="1" noChangeArrowheads="1"/>
          </p:cNvSpPr>
          <p:nvPr>
            <p:ph type="title"/>
          </p:nvPr>
        </p:nvSpPr>
        <p:spPr>
          <a:xfrm>
            <a:off x="6457951" y="2097087"/>
            <a:ext cx="5040000" cy="492443"/>
          </a:xfrm>
        </p:spPr>
        <p:txBody>
          <a:bodyPr anchor="t" anchorCtr="0"/>
          <a:lstStyle/>
          <a:p>
            <a:r>
              <a:rPr lang="en-US" dirty="0" err="1">
                <a:solidFill>
                  <a:srgbClr val="113652"/>
                </a:solidFill>
              </a:rPr>
              <a:t>Statistiek</a:t>
            </a:r>
            <a:r>
              <a:rPr lang="en-US" dirty="0">
                <a:solidFill>
                  <a:srgbClr val="113652"/>
                </a:solidFill>
              </a:rPr>
              <a:t>: college 5a</a:t>
            </a:r>
            <a:endParaRPr lang="nl-NL" dirty="0" smtClean="0">
              <a:solidFill>
                <a:srgbClr val="113652"/>
              </a:solidFill>
              <a:latin typeface="RijksoverheidSansWebText Bold" panose="020B0803040202060203" pitchFamily="34" charset="0"/>
              <a:ea typeface="RijksoverheidSansWebText Bold" panose="020B0803040202060203" pitchFamily="34" charset="0"/>
            </a:endParaRPr>
          </a:p>
        </p:txBody>
      </p:sp>
      <p:sp>
        <p:nvSpPr>
          <p:cNvPr id="4099" name="shpTekst"/>
          <p:cNvSpPr>
            <a:spLocks noGrp="1" noChangeArrowheads="1"/>
          </p:cNvSpPr>
          <p:nvPr>
            <p:ph type="body" idx="1"/>
          </p:nvPr>
        </p:nvSpPr>
        <p:spPr>
          <a:xfrm>
            <a:off x="6458400" y="3236400"/>
            <a:ext cx="5040000" cy="986400"/>
          </a:xfrm>
        </p:spPr>
        <p:txBody>
          <a:bodyPr/>
          <a:lstStyle/>
          <a:p>
            <a:r>
              <a:rPr lang="en-US" dirty="0">
                <a:solidFill>
                  <a:srgbClr val="113652"/>
                </a:solidFill>
              </a:rPr>
              <a:t>De </a:t>
            </a:r>
            <a:r>
              <a:rPr lang="en-US" dirty="0" err="1">
                <a:solidFill>
                  <a:srgbClr val="113652"/>
                </a:solidFill>
              </a:rPr>
              <a:t>normale</a:t>
            </a:r>
            <a:r>
              <a:rPr lang="en-US" dirty="0">
                <a:solidFill>
                  <a:srgbClr val="113652"/>
                </a:solidFill>
              </a:rPr>
              <a:t> </a:t>
            </a:r>
            <a:r>
              <a:rPr lang="en-US" dirty="0" err="1">
                <a:solidFill>
                  <a:srgbClr val="113652"/>
                </a:solidFill>
              </a:rPr>
              <a:t>verdeling</a:t>
            </a:r>
            <a:endParaRPr lang="nl-NL" dirty="0">
              <a:solidFill>
                <a:srgbClr val="113652"/>
              </a:solidFill>
            </a:endParaRPr>
          </a:p>
        </p:txBody>
      </p:sp>
      <p:sp>
        <p:nvSpPr>
          <p:cNvPr id="4100" name="Date Placeholder 2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18/19 </a:t>
            </a:r>
            <a:r>
              <a:rPr kumimoji="0" lang="en-US" sz="11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mei</a:t>
            </a:r>
            <a:r>
              <a: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2026</a:t>
            </a:r>
            <a:endParaRPr kumimoji="0" lang="nl-NL" sz="11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4158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14917" y="1265241"/>
            <a:ext cx="10363200" cy="430887"/>
          </a:xfrm>
        </p:spPr>
        <p:txBody>
          <a:bodyPr/>
          <a:lstStyle/>
          <a:p>
            <a:pPr eaLnBrk="1" hangingPunct="1"/>
            <a:r>
              <a:rPr lang="en-US" sz="2800" dirty="0" smtClean="0"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Recap</a:t>
            </a:r>
            <a:endParaRPr lang="nl-NL" sz="2800" dirty="0" smtClean="0">
              <a:latin typeface="RijksoverheidSansWebText Bold" panose="020B0803040202060203" pitchFamily="34" charset="0"/>
              <a:ea typeface="RijksoverheidSansWebText Bold" panose="020B0803040202060203" pitchFamily="34" charset="0"/>
            </a:endParaRPr>
          </a:p>
        </p:txBody>
      </p:sp>
      <p:sp>
        <p:nvSpPr>
          <p:cNvPr id="5123" name="Rectangle 1027"/>
          <p:cNvSpPr>
            <a:spLocks noGrp="1" noChangeAspect="1" noChangeArrowheads="1"/>
          </p:cNvSpPr>
          <p:nvPr>
            <p:ph type="body" idx="1"/>
          </p:nvPr>
        </p:nvSpPr>
        <p:spPr>
          <a:xfrm>
            <a:off x="812800" y="1773238"/>
            <a:ext cx="10899824" cy="4246562"/>
          </a:xfrm>
        </p:spPr>
        <p:txBody>
          <a:bodyPr anchor="ctr"/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dirty="0" err="1" smtClean="0"/>
              <a:t>Grondslagen</a:t>
            </a:r>
            <a:r>
              <a:rPr lang="en-US" sz="2400" dirty="0" smtClean="0"/>
              <a:t> van </a:t>
            </a:r>
            <a:r>
              <a:rPr lang="en-US" sz="2400" dirty="0" err="1" smtClean="0"/>
              <a:t>statistiek</a:t>
            </a:r>
            <a:r>
              <a:rPr lang="en-US" sz="2400" dirty="0" smtClean="0"/>
              <a:t> (</a:t>
            </a:r>
            <a:r>
              <a:rPr lang="en-US" sz="2400" dirty="0" err="1" smtClean="0"/>
              <a:t>meetniveaus</a:t>
            </a:r>
            <a:r>
              <a:rPr lang="en-US" sz="2400" dirty="0" smtClean="0"/>
              <a:t>, </a:t>
            </a:r>
            <a:r>
              <a:rPr lang="en-US" sz="2400" dirty="0" err="1" smtClean="0"/>
              <a:t>maten</a:t>
            </a:r>
            <a:r>
              <a:rPr lang="en-US" sz="2400" dirty="0" smtClean="0"/>
              <a:t> van </a:t>
            </a:r>
            <a:r>
              <a:rPr lang="en-US" sz="2400" dirty="0" err="1" smtClean="0"/>
              <a:t>ligging</a:t>
            </a:r>
            <a:r>
              <a:rPr lang="en-US" sz="2400" dirty="0" smtClean="0"/>
              <a:t> </a:t>
            </a:r>
            <a:r>
              <a:rPr lang="en-US" sz="2400" dirty="0" err="1" smtClean="0"/>
              <a:t>en</a:t>
            </a:r>
            <a:r>
              <a:rPr lang="en-US" sz="2400" dirty="0" smtClean="0"/>
              <a:t> </a:t>
            </a:r>
            <a:r>
              <a:rPr lang="en-US" sz="2400" dirty="0" err="1" smtClean="0"/>
              <a:t>spreiding</a:t>
            </a:r>
            <a:r>
              <a:rPr lang="en-US" sz="2400" dirty="0" smtClean="0"/>
              <a:t>)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sz="2400" b="0" dirty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b="0" dirty="0" err="1" smtClean="0"/>
              <a:t>Datavisualisatie</a:t>
            </a:r>
            <a:r>
              <a:rPr lang="en-US" sz="2400" b="0" dirty="0" smtClean="0"/>
              <a:t> (histogram, </a:t>
            </a:r>
            <a:r>
              <a:rPr lang="en-US" sz="2400" b="0" dirty="0" err="1" smtClean="0"/>
              <a:t>cirkeldiagram</a:t>
            </a:r>
            <a:r>
              <a:rPr lang="en-US" sz="2400" b="0" dirty="0" smtClean="0"/>
              <a:t>, </a:t>
            </a:r>
            <a:r>
              <a:rPr lang="en-US" sz="2400" b="0" dirty="0" err="1" smtClean="0"/>
              <a:t>staafdiagram</a:t>
            </a:r>
            <a:r>
              <a:rPr lang="en-US" sz="2400" b="0" dirty="0" smtClean="0"/>
              <a:t>, </a:t>
            </a:r>
            <a:r>
              <a:rPr lang="en-US" sz="2400" b="0" dirty="0" err="1" smtClean="0"/>
              <a:t>spreidingsdiagram</a:t>
            </a:r>
            <a:r>
              <a:rPr lang="en-US" sz="2400" b="0" dirty="0" smtClean="0"/>
              <a:t>, ...)	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dirty="0" err="1" smtClean="0"/>
              <a:t>Eigenschappen</a:t>
            </a:r>
            <a:r>
              <a:rPr lang="en-US" sz="2400" dirty="0" smtClean="0"/>
              <a:t> </a:t>
            </a:r>
            <a:r>
              <a:rPr lang="en-US" sz="2400" dirty="0" err="1" smtClean="0"/>
              <a:t>en</a:t>
            </a:r>
            <a:r>
              <a:rPr lang="en-US" sz="2400" dirty="0" smtClean="0"/>
              <a:t> </a:t>
            </a:r>
            <a:r>
              <a:rPr lang="en-US" sz="2400" dirty="0" err="1" smtClean="0"/>
              <a:t>verschillen</a:t>
            </a:r>
            <a:r>
              <a:rPr lang="en-US" sz="2400" dirty="0" smtClean="0"/>
              <a:t> </a:t>
            </a:r>
            <a:r>
              <a:rPr lang="en-US" sz="2400" dirty="0" err="1" smtClean="0"/>
              <a:t>tussen</a:t>
            </a:r>
            <a:r>
              <a:rPr lang="en-US" sz="2400" dirty="0" smtClean="0"/>
              <a:t> discrete </a:t>
            </a:r>
            <a:r>
              <a:rPr lang="en-US" sz="2400" dirty="0" err="1" smtClean="0"/>
              <a:t>en</a:t>
            </a:r>
            <a:r>
              <a:rPr lang="en-US" sz="2400" dirty="0" smtClean="0"/>
              <a:t> continue </a:t>
            </a:r>
            <a:r>
              <a:rPr lang="en-US" sz="2400" dirty="0" err="1" smtClean="0"/>
              <a:t>kansvariabelen</a:t>
            </a:r>
            <a:endParaRPr lang="en-US" sz="2400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b="0" dirty="0" smtClean="0"/>
              <a:t>Discrete </a:t>
            </a:r>
            <a:r>
              <a:rPr lang="en-US" sz="2400" b="0" dirty="0" err="1" smtClean="0"/>
              <a:t>kansvariabelen</a:t>
            </a:r>
            <a:r>
              <a:rPr lang="en-US" sz="2400" b="0" dirty="0" smtClean="0"/>
              <a:t>: de Bernoulli-</a:t>
            </a:r>
            <a:r>
              <a:rPr lang="en-US" sz="2400" b="0" dirty="0" err="1" smtClean="0"/>
              <a:t>verdeling</a:t>
            </a:r>
            <a:r>
              <a:rPr lang="en-US" sz="2400" b="0" dirty="0" smtClean="0"/>
              <a:t> </a:t>
            </a:r>
            <a:r>
              <a:rPr lang="en-US" sz="2400" b="0" dirty="0" err="1" smtClean="0"/>
              <a:t>en</a:t>
            </a:r>
            <a:r>
              <a:rPr lang="en-US" sz="2400" b="0" dirty="0" smtClean="0"/>
              <a:t> de </a:t>
            </a:r>
            <a:r>
              <a:rPr lang="en-US" sz="2400" b="0" dirty="0" err="1" smtClean="0"/>
              <a:t>binomiale</a:t>
            </a:r>
            <a:r>
              <a:rPr lang="en-US" sz="2400" b="0" dirty="0" smtClean="0"/>
              <a:t> </a:t>
            </a:r>
            <a:r>
              <a:rPr lang="en-US" sz="2400" b="0" dirty="0" err="1" smtClean="0"/>
              <a:t>verdeling</a:t>
            </a:r>
            <a:endParaRPr lang="en-US" sz="2400" b="0" dirty="0" smtClean="0"/>
          </a:p>
          <a:p>
            <a:pPr eaLnBrk="1" hangingPunct="1"/>
            <a:endParaRPr lang="en-US" sz="2400" dirty="0" smtClean="0"/>
          </a:p>
        </p:txBody>
      </p:sp>
      <p:sp>
        <p:nvSpPr>
          <p:cNvPr id="512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D3A7412-F543-44FD-B1CE-8BFBA1C5DC6E}" type="datetime4">
              <a:rPr lang="nl-NL" smtClean="0"/>
              <a:t>7 april 2026</a:t>
            </a:fld>
            <a:endParaRPr lang="nl-NL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41"/>
            <a:ext cx="10363200" cy="430887"/>
          </a:xfrm>
        </p:spPr>
        <p:txBody>
          <a:bodyPr/>
          <a:lstStyle/>
          <a:p>
            <a:pPr eaLnBrk="1" hangingPunct="1"/>
            <a:r>
              <a:rPr lang="en-US" sz="2800" dirty="0" err="1" smtClean="0"/>
              <a:t>Leerdoelen</a:t>
            </a:r>
            <a:endParaRPr lang="nl-NL" sz="2800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</p:spPr>
            <p:txBody>
              <a:bodyPr/>
              <a:lstStyle/>
              <a:p>
                <a:pPr eaLnBrk="1" hangingPunct="1"/>
                <a:r>
                  <a:rPr lang="en-US" dirty="0" smtClean="0"/>
                  <a:t>Aan</a:t>
                </a:r>
                <a:r>
                  <a:rPr lang="en-US" dirty="0" smtClean="0"/>
                  <a:t> het </a:t>
                </a:r>
                <a:r>
                  <a:rPr lang="en-US" dirty="0" err="1" smtClean="0"/>
                  <a:t>eind</a:t>
                </a:r>
                <a:r>
                  <a:rPr lang="en-US" dirty="0" smtClean="0"/>
                  <a:t> van </a:t>
                </a:r>
                <a:r>
                  <a:rPr lang="en-US" dirty="0" err="1" smtClean="0"/>
                  <a:t>dit</a:t>
                </a:r>
                <a:r>
                  <a:rPr lang="en-US" dirty="0" smtClean="0"/>
                  <a:t> college </a:t>
                </a:r>
                <a:r>
                  <a:rPr lang="en-US" dirty="0" err="1" smtClean="0"/>
                  <a:t>kunnen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studenten</a:t>
                </a:r>
                <a:r>
                  <a:rPr lang="en-US" dirty="0" smtClean="0"/>
                  <a:t>:</a:t>
                </a:r>
                <a:endParaRPr lang="en-US" dirty="0" smtClean="0"/>
              </a:p>
              <a:p>
                <a:pPr eaLnBrk="1" hangingPunct="1"/>
                <a:endParaRPr lang="en-US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de </a:t>
                </a:r>
                <a:r>
                  <a:rPr lang="en-US" dirty="0" err="1" smtClean="0"/>
                  <a:t>normale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verdeling</a:t>
                </a:r>
                <a:r>
                  <a:rPr lang="en-US" dirty="0" smtClean="0"/>
                  <a:t> </a:t>
                </a:r>
                <a:r>
                  <a:rPr lang="en-US" i="1" dirty="0" err="1" smtClean="0"/>
                  <a:t>herkennen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en</a:t>
                </a:r>
                <a:r>
                  <a:rPr lang="en-US" dirty="0" smtClean="0"/>
                  <a:t> de parameters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en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i="1" dirty="0" err="1" smtClean="0"/>
                  <a:t>interpreteren</a:t>
                </a:r>
                <a:r>
                  <a:rPr lang="en-US" dirty="0" smtClean="0"/>
                  <a:t> in de context van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militair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praktijkprobleem</a:t>
                </a:r>
                <a:r>
                  <a:rPr lang="en-US" dirty="0" smtClean="0"/>
                  <a:t>.</a:t>
                </a:r>
                <a:endParaRPr lang="en-US" dirty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r>
                  <a:rPr lang="en-US" dirty="0" err="1" smtClean="0"/>
                  <a:t>kansen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grenswaarden</a:t>
                </a:r>
                <a:r>
                  <a:rPr lang="en-US" dirty="0" smtClean="0"/>
                  <a:t> </a:t>
                </a:r>
                <a:r>
                  <a:rPr lang="en-US" i="1" dirty="0" err="1" smtClean="0"/>
                  <a:t>uitrekenen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voor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normale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verdelingen</a:t>
                </a:r>
                <a:r>
                  <a:rPr lang="en-US" dirty="0" smtClean="0"/>
                  <a:t> met </a:t>
                </a:r>
                <a:r>
                  <a:rPr lang="en-US" dirty="0" err="1" smtClean="0"/>
                  <a:t>behulp</a:t>
                </a:r>
                <a:r>
                  <a:rPr lang="en-US" dirty="0" smtClean="0"/>
                  <a:t> van de </a:t>
                </a:r>
                <a:r>
                  <a:rPr lang="en-US" dirty="0" smtClean="0"/>
                  <a:t>GR </a:t>
                </a:r>
                <a:r>
                  <a:rPr lang="en-US" dirty="0" err="1" smtClean="0"/>
                  <a:t>en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resultaten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betekenisvol</a:t>
                </a:r>
                <a:r>
                  <a:rPr lang="en-US" dirty="0" smtClean="0"/>
                  <a:t> </a:t>
                </a:r>
                <a:r>
                  <a:rPr lang="en-US" i="1" dirty="0" err="1" smtClean="0"/>
                  <a:t>interpreteren</a:t>
                </a:r>
                <a:r>
                  <a:rPr lang="en-US" dirty="0" smtClean="0"/>
                  <a:t>.</a:t>
                </a:r>
                <a:endParaRPr lang="en-US" dirty="0" smtClean="0"/>
              </a:p>
              <a:p>
                <a:pPr eaLnBrk="1" hangingPunct="1"/>
                <a:endParaRPr lang="en-US" dirty="0" smtClean="0"/>
              </a:p>
              <a:p>
                <a:pPr eaLnBrk="1" hangingPunct="1"/>
                <a:endParaRPr lang="en-US" dirty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praktijkprobleem</a:t>
                </a:r>
                <a:r>
                  <a:rPr lang="en-US" dirty="0" smtClean="0"/>
                  <a:t> </a:t>
                </a:r>
                <a:r>
                  <a:rPr lang="en-US" i="1" dirty="0" err="1" smtClean="0"/>
                  <a:t>analyseren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waarbij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normale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verdeling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en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binomiale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verdeling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gecombineerd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worden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en</a:t>
                </a:r>
                <a:r>
                  <a:rPr lang="en-US" dirty="0" smtClean="0"/>
                  <a:t> per </a:t>
                </a:r>
                <a:r>
                  <a:rPr lang="en-US" dirty="0" err="1" smtClean="0"/>
                  <a:t>stap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juiste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verdeling</a:t>
                </a:r>
                <a:r>
                  <a:rPr lang="en-US" dirty="0" smtClean="0"/>
                  <a:t> </a:t>
                </a:r>
                <a:r>
                  <a:rPr lang="en-US" i="1" dirty="0" err="1" smtClean="0"/>
                  <a:t>kiezen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en</a:t>
                </a:r>
                <a:r>
                  <a:rPr lang="en-US" dirty="0" smtClean="0"/>
                  <a:t> </a:t>
                </a:r>
                <a:r>
                  <a:rPr lang="en-US" i="1" dirty="0" err="1" smtClean="0"/>
                  <a:t>toepassen</a:t>
                </a:r>
                <a:r>
                  <a:rPr lang="en-US" i="1" dirty="0" smtClean="0"/>
                  <a:t>.</a:t>
                </a:r>
                <a:endParaRPr lang="en-US" dirty="0" smtClean="0"/>
              </a:p>
            </p:txBody>
          </p:sp>
        </mc:Choice>
        <mc:Fallback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  <a:blipFill>
                <a:blip r:embed="rId2"/>
                <a:stretch>
                  <a:fillRect l="-1619" t="-2009" r="-2024" b="-186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954EBD1-29D6-4680-A43E-6930799C0313}" type="datetime4">
              <a:rPr lang="nl-NL" smtClean="0"/>
              <a:t>7 april 2026</a:t>
            </a:fld>
            <a:endParaRPr lang="nl-NL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41"/>
            <a:ext cx="10363200" cy="430887"/>
          </a:xfrm>
        </p:spPr>
        <p:txBody>
          <a:bodyPr/>
          <a:lstStyle/>
          <a:p>
            <a:r>
              <a:rPr lang="en-US" sz="2800" b="1" dirty="0"/>
              <a:t>Wat </a:t>
            </a:r>
            <a:r>
              <a:rPr lang="en-US" sz="2800" b="1" dirty="0" err="1"/>
              <a:t>kunnen</a:t>
            </a:r>
            <a:r>
              <a:rPr lang="en-US" sz="2800" b="1" dirty="0"/>
              <a:t> </a:t>
            </a:r>
            <a:r>
              <a:rPr lang="en-US" sz="2800" b="1" dirty="0" err="1"/>
              <a:t>jullie</a:t>
            </a:r>
            <a:r>
              <a:rPr lang="en-US" sz="2800" b="1" dirty="0"/>
              <a:t> je nog </a:t>
            </a:r>
            <a:r>
              <a:rPr lang="en-US" sz="2800" b="1" dirty="0" err="1"/>
              <a:t>herinneren</a:t>
            </a:r>
            <a:r>
              <a:rPr lang="en-US" sz="2800" b="1" dirty="0"/>
              <a:t> van de </a:t>
            </a:r>
            <a:r>
              <a:rPr lang="en-US" sz="2800" b="1" dirty="0" err="1"/>
              <a:t>normale</a:t>
            </a:r>
            <a:r>
              <a:rPr lang="en-US" sz="2800" b="1" dirty="0"/>
              <a:t> </a:t>
            </a:r>
            <a:r>
              <a:rPr lang="en-US" sz="2800" b="1" dirty="0" err="1"/>
              <a:t>verdeling</a:t>
            </a:r>
            <a:r>
              <a:rPr lang="en-US" sz="2800" b="1" dirty="0"/>
              <a:t>?</a:t>
            </a:r>
            <a:endParaRPr lang="nl-NL" sz="2800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</p:spPr>
            <p:txBody>
              <a:bodyPr/>
              <a:lstStyle/>
              <a:p>
                <a:pPr eaLnBrk="1" hangingPunct="1"/>
                <a:endParaRPr lang="en-US" sz="2400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Continue </a:t>
                </a:r>
                <a:r>
                  <a:rPr lang="en-US" sz="2400" dirty="0" err="1" smtClean="0"/>
                  <a:t>kansverdeling</a:t>
                </a:r>
                <a:endParaRPr lang="en-US" sz="2400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r>
                  <a:rPr lang="en-US" sz="2400" dirty="0" err="1" smtClean="0"/>
                  <a:t>Symmetrisch</a:t>
                </a:r>
                <a:endParaRPr lang="en-US" sz="2400" dirty="0" smtClean="0"/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 err="1" smtClean="0"/>
                  <a:t>Gemiddelde</a:t>
                </a:r>
                <a:r>
                  <a:rPr lang="en-US" sz="2000" dirty="0" smtClean="0"/>
                  <a:t> = modus = </a:t>
                </a:r>
                <a:r>
                  <a:rPr lang="en-US" sz="2000" dirty="0" err="1" smtClean="0"/>
                  <a:t>mediaan</a:t>
                </a:r>
                <a:endParaRPr lang="en-US" sz="2000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r>
                  <a:rPr lang="en-US" sz="2400" dirty="0" err="1" smtClean="0"/>
                  <a:t>Belkromme</a:t>
                </a:r>
                <a:endParaRPr lang="en-US" sz="2400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r>
                  <a:rPr lang="en-US" sz="2400" dirty="0" smtClean="0"/>
                  <a:t>Twee parameters: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/>
                  <a:t>Gemiddelde 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US" sz="2000" dirty="0" smtClean="0"/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 err="1" smtClean="0"/>
                  <a:t>Standaardafwijking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  <a:blipFill>
                <a:blip r:embed="rId2"/>
                <a:stretch>
                  <a:fillRect l="-161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954EBD1-29D6-4680-A43E-6930799C0313}" type="datetime4">
              <a:rPr lang="nl-NL" smtClean="0"/>
              <a:t>7 april 2026</a:t>
            </a:fld>
            <a:endParaRPr lang="nl-NL" smtClean="0"/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888" y="1773238"/>
            <a:ext cx="7056784" cy="4543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923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146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14917" y="1265241"/>
                <a:ext cx="10363200" cy="430887"/>
              </a:xfrm>
            </p:spPr>
            <p:txBody>
              <a:bodyPr/>
              <a:lstStyle/>
              <a:p>
                <a:pPr eaLnBrk="1" hangingPunct="1"/>
                <a:r>
                  <a:rPr lang="en-US" sz="2800" dirty="0" smtClean="0"/>
                  <a:t>Twee parameters </a:t>
                </a:r>
                <a14:m>
                  <m:oMath xmlns:m="http://schemas.openxmlformats.org/officeDocument/2006/math">
                    <m:r>
                      <a:rPr lang="nl-NL" sz="28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nl-NL" sz="2800" dirty="0" smtClean="0"/>
                  <a:t> en </a:t>
                </a:r>
                <a14:m>
                  <m:oMath xmlns:m="http://schemas.openxmlformats.org/officeDocument/2006/math">
                    <m:r>
                      <a:rPr lang="nl-NL" sz="28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nl-NL" sz="2800" dirty="0" smtClean="0"/>
              </a:p>
            </p:txBody>
          </p:sp>
        </mc:Choice>
        <mc:Fallback>
          <p:sp>
            <p:nvSpPr>
              <p:cNvPr id="6146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14917" y="1265241"/>
                <a:ext cx="10363200" cy="430887"/>
              </a:xfrm>
              <a:blipFill>
                <a:blip r:embed="rId2"/>
                <a:stretch>
                  <a:fillRect l="-2118" t="-25714" b="-5000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</p:spPr>
            <p:txBody>
              <a:bodyPr/>
              <a:lstStyle/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Gemiddelde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 smtClean="0"/>
                  <a:t>: 		“op </a:t>
                </a:r>
                <a:r>
                  <a:rPr lang="en-US" dirty="0" err="1" smtClean="0"/>
                  <a:t>welke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 smtClean="0"/>
                  <a:t>-</a:t>
                </a:r>
                <a:r>
                  <a:rPr lang="en-US" dirty="0" err="1" smtClean="0"/>
                  <a:t>waarde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ligt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piek</a:t>
                </a:r>
                <a:r>
                  <a:rPr lang="en-US" dirty="0" smtClean="0"/>
                  <a:t> van de </a:t>
                </a:r>
                <a:r>
                  <a:rPr lang="en-US" dirty="0" err="1" smtClean="0"/>
                  <a:t>belkromme</a:t>
                </a:r>
                <a:r>
                  <a:rPr lang="en-US" dirty="0" smtClean="0"/>
                  <a:t>?”</a:t>
                </a:r>
                <a:endParaRPr lang="en-US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r>
                  <a:rPr lang="en-US" dirty="0" err="1" smtClean="0"/>
                  <a:t>Standaardafwijking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 smtClean="0"/>
                  <a:t>	“hoe </a:t>
                </a:r>
                <a:r>
                  <a:rPr lang="en-US" dirty="0" err="1" smtClean="0"/>
                  <a:t>groter</a:t>
                </a:r>
                <a:r>
                  <a:rPr lang="en-US" dirty="0" smtClean="0"/>
                  <a:t> de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 smtClean="0"/>
                  <a:t>, hoe </a:t>
                </a:r>
                <a:r>
                  <a:rPr lang="en-US" dirty="0" err="1" smtClean="0"/>
                  <a:t>breder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belkromme</a:t>
                </a:r>
                <a:r>
                  <a:rPr lang="en-US" dirty="0" smtClean="0"/>
                  <a:t>”</a:t>
                </a:r>
                <a:endParaRPr lang="en-US" dirty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342900" indent="-342900" eaLnBrk="1" hangingPunct="1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b="1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  <a:blipFill>
                <a:blip r:embed="rId3"/>
                <a:stretch>
                  <a:fillRect l="-1504" t="-200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954EBD1-29D6-4680-A43E-6930799C0313}" type="datetime4">
              <a:rPr lang="nl-NL" smtClean="0"/>
              <a:t>7 april 2026</a:t>
            </a:fld>
            <a:endParaRPr lang="nl-NL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l="2218"/>
          <a:stretch/>
        </p:blipFill>
        <p:spPr>
          <a:xfrm>
            <a:off x="983432" y="2578876"/>
            <a:ext cx="4851152" cy="36943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2024" y="2578876"/>
            <a:ext cx="4912502" cy="372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924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040" y="1600036"/>
            <a:ext cx="5165973" cy="4407188"/>
          </a:xfrm>
          <a:prstGeom prst="rect">
            <a:avLst/>
          </a:prstGeom>
        </p:spPr>
      </p:pic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41"/>
            <a:ext cx="10363200" cy="430887"/>
          </a:xfrm>
        </p:spPr>
        <p:txBody>
          <a:bodyPr/>
          <a:lstStyle/>
          <a:p>
            <a:pPr eaLnBrk="1" hangingPunct="1"/>
            <a:r>
              <a:rPr lang="en-US" sz="2800" dirty="0" err="1" smtClean="0"/>
              <a:t>Empirische</a:t>
            </a:r>
            <a:r>
              <a:rPr lang="en-US" sz="2800" dirty="0" smtClean="0"/>
              <a:t> 68-95-99.7 regel</a:t>
            </a:r>
            <a:endParaRPr lang="nl-NL" sz="2800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</p:spPr>
            <p:txBody>
              <a:bodyPr/>
              <a:lstStyle/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±68%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kans</a:t>
                </a:r>
                <a:r>
                  <a:rPr lang="en-US" dirty="0" smtClean="0"/>
                  <a:t> op </a:t>
                </a:r>
                <a:r>
                  <a:rPr lang="en-US" dirty="0" err="1" smtClean="0"/>
                  <a:t>waarde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tussen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en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US" b="0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±95%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kans</a:t>
                </a:r>
                <a:r>
                  <a:rPr lang="en-US" dirty="0" smtClean="0"/>
                  <a:t> op </a:t>
                </a:r>
                <a:r>
                  <a:rPr lang="en-US" dirty="0" err="1" smtClean="0"/>
                  <a:t>waarde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tussen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US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±9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9.7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%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 err="1"/>
                      <m:t>kans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op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 err="1"/>
                      <m:t>waarde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 err="1"/>
                      <m:t>tussen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 err="1"/>
                      <m:t>en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  <a:blipFill>
                <a:blip r:embed="rId3"/>
                <a:stretch>
                  <a:fillRect l="-150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954EBD1-29D6-4680-A43E-6930799C0313}" type="datetime4">
              <a:rPr lang="nl-NL" smtClean="0"/>
              <a:t>7 april 2026</a:t>
            </a:fld>
            <a:endParaRPr lang="nl-NL" smtClean="0"/>
          </a:p>
        </p:txBody>
      </p:sp>
    </p:spTree>
    <p:extLst>
      <p:ext uri="{BB962C8B-B14F-4D97-AF65-F5344CB8AC3E}">
        <p14:creationId xmlns:p14="http://schemas.microsoft.com/office/powerpoint/2010/main" val="1576381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Recap: </a:t>
            </a:r>
            <a:r>
              <a:rPr lang="en-US" dirty="0" err="1" smtClean="0"/>
              <a:t>kansrekening</a:t>
            </a:r>
            <a:r>
              <a:rPr lang="en-US" dirty="0" smtClean="0"/>
              <a:t> met continue </a:t>
            </a:r>
            <a:r>
              <a:rPr lang="en-US" dirty="0" err="1" smtClean="0"/>
              <a:t>kansvariabelen</a:t>
            </a:r>
            <a:endParaRPr lang="nl-NL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</p:spPr>
            <p:txBody>
              <a:bodyPr/>
              <a:lstStyle/>
              <a:p>
                <a:pPr eaLnBrk="1" hangingPunct="1"/>
                <a:r>
                  <a:rPr lang="en-US" sz="2400" dirty="0" smtClean="0"/>
                  <a:t>In week 3 </a:t>
                </a:r>
                <a:r>
                  <a:rPr lang="en-US" sz="2400" dirty="0" err="1" smtClean="0"/>
                  <a:t>hebben</a:t>
                </a:r>
                <a:r>
                  <a:rPr lang="en-US" sz="2400" dirty="0" smtClean="0"/>
                  <a:t> we </a:t>
                </a:r>
                <a:r>
                  <a:rPr lang="en-US" sz="2400" b="1" dirty="0" smtClean="0">
                    <a:solidFill>
                      <a:schemeClr val="accent1"/>
                    </a:solidFill>
                  </a:rPr>
                  <a:t>continue </a:t>
                </a:r>
                <a:r>
                  <a:rPr lang="en-US" sz="2400" b="1" dirty="0" err="1" smtClean="0">
                    <a:solidFill>
                      <a:schemeClr val="accent1"/>
                    </a:solidFill>
                  </a:rPr>
                  <a:t>kansvariabelen</a:t>
                </a:r>
                <a:r>
                  <a:rPr lang="en-US" sz="2400" b="1" dirty="0" smtClean="0">
                    <a:solidFill>
                      <a:schemeClr val="accent1"/>
                    </a:solidFill>
                  </a:rPr>
                  <a:t> </a:t>
                </a:r>
                <a:r>
                  <a:rPr lang="en-US" sz="2400" dirty="0" err="1" smtClean="0"/>
                  <a:t>geïntroduceerd</a:t>
                </a:r>
                <a:r>
                  <a:rPr lang="en-US" sz="2400" dirty="0" smtClean="0"/>
                  <a:t>:</a:t>
                </a:r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r>
                  <a:rPr lang="en-US" sz="2400" i="1" dirty="0" err="1" smtClean="0"/>
                  <a:t>Overaftelbaar</a:t>
                </a:r>
                <a:r>
                  <a:rPr lang="en-US" sz="2400" i="1" dirty="0" smtClean="0"/>
                  <a:t> </a:t>
                </a:r>
                <a:r>
                  <a:rPr lang="en-US" sz="2400" i="1" dirty="0" err="1" smtClean="0"/>
                  <a:t>oneindig</a:t>
                </a:r>
                <a:r>
                  <a:rPr lang="en-US" sz="2400" dirty="0"/>
                  <a:t> </a:t>
                </a:r>
                <a:r>
                  <a:rPr lang="en-US" sz="2400" dirty="0" err="1" smtClean="0"/>
                  <a:t>veel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mogelijke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uitkomsten</a:t>
                </a:r>
                <a:endParaRPr lang="en-US" sz="2400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r>
                  <a:rPr lang="en-US" sz="2400" dirty="0" err="1" smtClean="0"/>
                  <a:t>Kansdichtheidsfunctie</a:t>
                </a:r>
                <a:r>
                  <a:rPr lang="en-US" sz="2400" dirty="0" smtClean="0"/>
                  <a:t> (PDF), </a:t>
                </a:r>
                <a:r>
                  <a:rPr lang="en-US" sz="2400" dirty="0" err="1" smtClean="0"/>
                  <a:t>notatie</a:t>
                </a:r>
                <a:r>
                  <a:rPr lang="en-US" sz="2400" dirty="0" smtClean="0"/>
                  <a:t>: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2400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r>
                  <a:rPr lang="en-US" sz="2400" dirty="0" err="1" smtClean="0"/>
                  <a:t>Kansen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berekenen</a:t>
                </a:r>
                <a:r>
                  <a:rPr lang="en-US" sz="2400" dirty="0" smtClean="0"/>
                  <a:t> is </a:t>
                </a:r>
                <a:r>
                  <a:rPr lang="en-US" sz="2400" dirty="0" err="1" smtClean="0"/>
                  <a:t>alleen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zinnig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voor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intervallen</a:t>
                </a:r>
                <a:r>
                  <a:rPr lang="en-US" sz="2400" i="1" dirty="0"/>
                  <a:t> </a:t>
                </a:r>
                <a:r>
                  <a:rPr lang="en-US" sz="2400" dirty="0" smtClean="0"/>
                  <a:t>van </a:t>
                </a:r>
                <a:r>
                  <a:rPr lang="en-US" sz="2400" dirty="0" err="1" smtClean="0"/>
                  <a:t>uitkomsten</a:t>
                </a:r>
                <a:endParaRPr lang="en-US" sz="2400" dirty="0" smtClean="0"/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 err="1" smtClean="0"/>
                  <a:t>Bijvoorbeeld</a:t>
                </a:r>
                <a:r>
                  <a:rPr lang="en-US" sz="2000" dirty="0" smtClean="0"/>
                  <a:t>: </a:t>
                </a:r>
                <a:r>
                  <a:rPr lang="en-US" sz="2000" dirty="0" err="1" smtClean="0"/>
                  <a:t>kans</a:t>
                </a:r>
                <a:r>
                  <a:rPr lang="en-US" sz="2000" dirty="0" smtClean="0"/>
                  <a:t> op </a:t>
                </a:r>
                <a:r>
                  <a:rPr lang="en-US" sz="2000" dirty="0" err="1" smtClean="0"/>
                  <a:t>uitkomst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tussen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0" dirty="0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 err="1" smtClean="0"/>
                  <a:t>en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0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nl-NL" sz="2000" dirty="0" smtClean="0"/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b="1" dirty="0" smtClean="0"/>
                  <a:t>MERK OP: </a:t>
                </a:r>
                <a14:m>
                  <m:oMath xmlns:m="http://schemas.openxmlformats.org/officeDocument/2006/math">
                    <m:r>
                      <a:rPr lang="nl-NL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nl-NL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nl-NL" b="1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 smtClean="0"/>
                  <a:t>!!!</a:t>
                </a:r>
                <a:endParaRPr lang="en-US" b="1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eaLnBrk="1" hangingPunct="1"/>
                <a:r>
                  <a:rPr lang="en-US" sz="2400" b="1" dirty="0" err="1" smtClean="0"/>
                  <a:t>Wel</a:t>
                </a:r>
                <a:r>
                  <a:rPr lang="en-US" sz="2400" b="1" dirty="0" smtClean="0"/>
                  <a:t> correct: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gebruik</a:t>
                </a:r>
                <a:r>
                  <a:rPr lang="en-US" sz="2400" dirty="0" smtClean="0"/>
                  <a:t> PDF </a:t>
                </a:r>
                <a:r>
                  <a:rPr lang="en-US" sz="2400" dirty="0" smtClean="0"/>
                  <a:t>om </a:t>
                </a:r>
                <a:r>
                  <a:rPr lang="en-US" sz="2400" dirty="0" err="1" smtClean="0"/>
                  <a:t>kansen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 err="1" smtClean="0"/>
                  <a:t>te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berekenen</a:t>
                </a:r>
                <a:r>
                  <a:rPr lang="en-US" sz="2400" dirty="0" smtClean="0"/>
                  <a:t>:</a:t>
                </a:r>
                <a:endParaRPr lang="en-US" sz="2400" dirty="0" smtClean="0"/>
              </a:p>
              <a:p>
                <a:pPr algn="ctr"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nl-NL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nl-NL" sz="2800" b="0" i="0" smtClean="0">
                          <a:latin typeface="Cambria Math" panose="02040503050406030204" pitchFamily="18" charset="0"/>
                        </a:rPr>
                        <m:t>fnInt</m:t>
                      </m:r>
                      <m:d>
                        <m:dPr>
                          <m:ctrlPr>
                            <a:rPr lang="nl-NL" sz="2800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l-NL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nl-NL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NL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nl-NL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l-NL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nl-NL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l-NL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nl-NL" sz="2800" b="0" i="1" dirty="0" smtClean="0">
                  <a:latin typeface="Cambria Math" panose="02040503050406030204" pitchFamily="18" charset="0"/>
                </a:endParaRPr>
              </a:p>
              <a:p>
                <a:pPr algn="ctr" eaLnBrk="1" hangingPunct="1"/>
                <a:r>
                  <a:rPr lang="en-US" sz="2400" dirty="0" smtClean="0"/>
                  <a:t>(</a:t>
                </a:r>
                <a:r>
                  <a:rPr lang="en-US" sz="2400" dirty="0" err="1" smtClean="0"/>
                  <a:t>oppervlakte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onder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 err="1" smtClean="0"/>
                  <a:t>tussen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 err="1" smtClean="0"/>
                  <a:t>en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 smtClean="0"/>
                  <a:t>)</a:t>
                </a:r>
                <a:endParaRPr lang="en-US" sz="2400" dirty="0" smtClean="0"/>
              </a:p>
            </p:txBody>
          </p:sp>
        </mc:Choice>
        <mc:Fallback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  <a:blipFill>
                <a:blip r:embed="rId2"/>
                <a:stretch>
                  <a:fillRect l="-1735" t="-2582" b="-4878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954EBD1-29D6-4680-A43E-6930799C0313}" type="datetime4">
              <a:rPr lang="nl-NL" smtClean="0"/>
              <a:t>7 april 2026</a:t>
            </a:fld>
            <a:endParaRPr lang="nl-NL" smtClean="0"/>
          </a:p>
        </p:txBody>
      </p:sp>
    </p:spTree>
    <p:extLst>
      <p:ext uri="{BB962C8B-B14F-4D97-AF65-F5344CB8AC3E}">
        <p14:creationId xmlns:p14="http://schemas.microsoft.com/office/powerpoint/2010/main" val="3609559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41"/>
            <a:ext cx="10363200" cy="430887"/>
          </a:xfrm>
        </p:spPr>
        <p:txBody>
          <a:bodyPr/>
          <a:lstStyle/>
          <a:p>
            <a:pPr eaLnBrk="1" hangingPunct="1"/>
            <a:r>
              <a:rPr lang="en-US" dirty="0" err="1" smtClean="0"/>
              <a:t>Kansrekening</a:t>
            </a:r>
            <a:r>
              <a:rPr lang="en-US" dirty="0" smtClean="0"/>
              <a:t> met de </a:t>
            </a:r>
            <a:r>
              <a:rPr lang="en-US" dirty="0" err="1" smtClean="0"/>
              <a:t>normale</a:t>
            </a:r>
            <a:r>
              <a:rPr lang="en-US" dirty="0" smtClean="0"/>
              <a:t> </a:t>
            </a:r>
            <a:r>
              <a:rPr lang="en-US" dirty="0" err="1" smtClean="0"/>
              <a:t>verdeling</a:t>
            </a:r>
            <a:endParaRPr lang="nl-NL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899824" cy="4246562"/>
              </a:xfrm>
            </p:spPr>
            <p:txBody>
              <a:bodyPr/>
              <a:lstStyle/>
              <a:p>
                <a:pPr eaLnBrk="1" hangingPunct="1"/>
                <a:endParaRPr lang="en-US" sz="2400" dirty="0" smtClean="0"/>
              </a:p>
              <a:p>
                <a:pPr eaLnBrk="1" hangingPunct="1"/>
                <a:r>
                  <a:rPr lang="en-US" sz="2400" dirty="0" smtClean="0"/>
                  <a:t>De </a:t>
                </a:r>
                <a:r>
                  <a:rPr lang="en-US" sz="2400" dirty="0" err="1" smtClean="0"/>
                  <a:t>formule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voor</a:t>
                </a:r>
                <a:r>
                  <a:rPr lang="en-US" sz="2400" dirty="0" smtClean="0"/>
                  <a:t> de PDF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 smtClean="0"/>
                  <a:t> van de </a:t>
                </a:r>
                <a:r>
                  <a:rPr lang="en-US" sz="2400" dirty="0" err="1" smtClean="0"/>
                  <a:t>normale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verdeling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ziet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er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als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volgt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uit</a:t>
                </a:r>
                <a:r>
                  <a:rPr lang="en-US" sz="2400" dirty="0" smtClean="0"/>
                  <a:t>:</a:t>
                </a:r>
              </a:p>
              <a:p>
                <a:pPr eaLnBrk="1" hangingPunct="1"/>
                <a:endParaRPr lang="en-US" sz="2400" dirty="0"/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nl-NL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l-NL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nl-NL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nl-NL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nl-NL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nl-NL" sz="28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r>
                        <a:rPr lang="nl-NL" sz="28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nl-NL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NL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nl-NL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nl-NL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NL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nl-NL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nl-NL" sz="28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nl-NL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NL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nl-NL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nl-NL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nl-NL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nl-NL" sz="2800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num>
                                    <m:den>
                                      <m:r>
                                        <a:rPr lang="nl-NL" sz="2800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nl-NL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US" sz="2800" dirty="0" smtClean="0"/>
              </a:p>
              <a:p>
                <a:pPr eaLnBrk="1" hangingPunct="1"/>
                <a:endParaRPr lang="en-US" sz="2800" dirty="0"/>
              </a:p>
              <a:p>
                <a:pPr eaLnBrk="1" hangingPunct="1"/>
                <a:endParaRPr lang="en-US" sz="2800" dirty="0" smtClean="0"/>
              </a:p>
              <a:p>
                <a:pPr eaLnBrk="1" hangingPunct="1"/>
                <a:r>
                  <a:rPr lang="en-US" sz="2400" b="1" dirty="0" err="1" smtClean="0"/>
                  <a:t>Oefening</a:t>
                </a:r>
                <a:r>
                  <a:rPr lang="en-US" sz="2400" b="1" dirty="0" smtClean="0"/>
                  <a:t>:</a:t>
                </a:r>
              </a:p>
              <a:p>
                <a:pPr eaLnBrk="1" hangingPunct="1"/>
                <a:r>
                  <a:rPr lang="en-US" sz="2400" dirty="0" err="1" smtClean="0"/>
                  <a:t>Gegeven</a:t>
                </a:r>
                <a:r>
                  <a:rPr lang="en-US" sz="2400" dirty="0" smtClean="0"/>
                  <a:t> is </a:t>
                </a:r>
                <a:r>
                  <a:rPr lang="en-US" sz="2400" dirty="0" err="1" smtClean="0"/>
                  <a:t>een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normaal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verdeelde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kansvariabele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=3, 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=1.5)</m:t>
                    </m:r>
                  </m:oMath>
                </a14:m>
                <a:r>
                  <a:rPr lang="en-US" sz="2400" dirty="0" smtClean="0"/>
                  <a:t>.</a:t>
                </a:r>
              </a:p>
              <a:p>
                <a:pPr eaLnBrk="1" hangingPunct="1"/>
                <a:r>
                  <a:rPr lang="en-US" sz="2400" dirty="0" err="1" smtClean="0"/>
                  <a:t>Bereken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≤4)</m:t>
                    </m:r>
                  </m:oMath>
                </a14:m>
                <a:r>
                  <a:rPr lang="en-US" sz="2400" dirty="0" smtClean="0"/>
                  <a:t>.</a:t>
                </a:r>
              </a:p>
            </p:txBody>
          </p:sp>
        </mc:Choice>
        <mc:Fallback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899824" cy="4246562"/>
              </a:xfrm>
              <a:blipFill>
                <a:blip r:embed="rId3"/>
                <a:stretch>
                  <a:fillRect l="-1678" b="-57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954EBD1-29D6-4680-A43E-6930799C0313}" type="datetime4">
              <a:rPr lang="nl-NL" smtClean="0"/>
              <a:t>7 april 2026</a:t>
            </a:fld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102377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41"/>
            <a:ext cx="10363200" cy="430887"/>
          </a:xfrm>
        </p:spPr>
        <p:txBody>
          <a:bodyPr/>
          <a:lstStyle/>
          <a:p>
            <a:r>
              <a:rPr lang="en-US" dirty="0" err="1"/>
              <a:t>Kansrekening</a:t>
            </a:r>
            <a:r>
              <a:rPr lang="en-US" dirty="0"/>
              <a:t> met de </a:t>
            </a:r>
            <a:r>
              <a:rPr lang="en-US" dirty="0" err="1"/>
              <a:t>normale</a:t>
            </a:r>
            <a:r>
              <a:rPr lang="en-US" dirty="0"/>
              <a:t> </a:t>
            </a:r>
            <a:r>
              <a:rPr lang="en-US" dirty="0" err="1" smtClean="0"/>
              <a:t>verdeling</a:t>
            </a:r>
            <a:r>
              <a:rPr lang="en-US" dirty="0" smtClean="0"/>
              <a:t>: </a:t>
            </a:r>
            <a:r>
              <a:rPr lang="en-US" dirty="0" err="1" smtClean="0"/>
              <a:t>normalcdf</a:t>
            </a:r>
            <a:endParaRPr lang="nl-NL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</p:spPr>
            <p:txBody>
              <a:bodyPr/>
              <a:lstStyle/>
              <a:p>
                <a:r>
                  <a:rPr lang="en-US" sz="2400" dirty="0" err="1" smtClean="0"/>
                  <a:t>Gelukkig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k</a:t>
                </a:r>
                <a:r>
                  <a:rPr lang="en-US" sz="2400" dirty="0" err="1" smtClean="0"/>
                  <a:t>unnen</a:t>
                </a:r>
                <a:r>
                  <a:rPr lang="en-US" sz="2400" dirty="0" smtClean="0"/>
                  <a:t> we </a:t>
                </a:r>
                <a:r>
                  <a:rPr lang="en-US" sz="2400" dirty="0" err="1" smtClean="0"/>
                  <a:t>hiervoor</a:t>
                </a:r>
                <a:r>
                  <a:rPr lang="en-US" sz="2400" dirty="0" smtClean="0"/>
                  <a:t> op de GR de </a:t>
                </a:r>
                <a:r>
                  <a:rPr lang="en-US" sz="2400" dirty="0" err="1" smtClean="0"/>
                  <a:t>functie</a:t>
                </a:r>
                <a:r>
                  <a:rPr lang="en-US" sz="2400" dirty="0" smtClean="0"/>
                  <a:t> </a:t>
                </a:r>
                <a:r>
                  <a:rPr lang="en-US" sz="2400" b="1" dirty="0" err="1" smtClean="0"/>
                  <a:t>normalcdf</a:t>
                </a:r>
                <a:r>
                  <a:rPr lang="en-US" sz="2400" b="1" dirty="0" smtClean="0"/>
                  <a:t> </a:t>
                </a:r>
                <a:r>
                  <a:rPr lang="en-US" sz="2400" dirty="0" err="1" smtClean="0"/>
                  <a:t>gebruiken</a:t>
                </a:r>
                <a:r>
                  <a:rPr lang="en-US" sz="2400" dirty="0" smtClean="0"/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/>
                  <a:t>TI84-Plus: </a:t>
                </a:r>
                <a:r>
                  <a:rPr lang="en-US" sz="2000" dirty="0" err="1" smtClean="0"/>
                  <a:t>optie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nl-NL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2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nl-NL" sz="2000">
                            <a:latin typeface="Cambria Math" panose="02040503050406030204" pitchFamily="18" charset="0"/>
                          </a:rPr>
                          <m:t>nd</m:t>
                        </m:r>
                      </m:e>
                    </m:d>
                    <m:r>
                      <a:rPr lang="nl-NL" sz="200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nl-NL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nl-NL" sz="2000">
                            <a:latin typeface="Cambria Math" panose="02040503050406030204" pitchFamily="18" charset="0"/>
                          </a:rPr>
                          <m:t>vars</m:t>
                        </m:r>
                      </m:e>
                    </m:d>
                    <m:r>
                      <a:rPr lang="nl-NL" sz="200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2000" dirty="0" smtClean="0"/>
                  <a:t>:</a:t>
                </a:r>
              </a:p>
              <a:p>
                <a:pPr eaLnBrk="1" hangingPunct="1"/>
                <a:endParaRPr lang="en-US" sz="2400" b="0" i="1" dirty="0" smtClean="0">
                  <a:latin typeface="Cambria Math" panose="02040503050406030204" pitchFamily="18" charset="0"/>
                </a:endParaRPr>
              </a:p>
              <a:p>
                <a:pPr algn="ctr" eaLnBrk="1" hangingPunct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𝐧𝐨𝐫𝐦𝐚𝐥𝐜𝐝𝐟</m:t>
                      </m:r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nl-NL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nl-NL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nl-NL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 smtClean="0">
                  <a:solidFill>
                    <a:schemeClr val="tx1"/>
                  </a:solidFill>
                </a:endParaRPr>
              </a:p>
              <a:p>
                <a:pPr eaLnBrk="1" hangingPunct="1"/>
                <a:endParaRPr lang="en-US" sz="2400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r>
                  <a:rPr lang="en-US" sz="2400" dirty="0" err="1" smtClean="0"/>
                  <a:t>Voor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/>
                  <a:t>: </a:t>
                </a:r>
                <a:r>
                  <a:rPr lang="en-US" sz="2400" dirty="0" err="1" smtClean="0"/>
                  <a:t>gebruik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</m:oMath>
                </a14:m>
                <a:r>
                  <a:rPr lang="en-US" sz="2400" dirty="0" smtClean="0"/>
                  <a:t>				(</a:t>
                </a:r>
                <a:r>
                  <a:rPr lang="en-US" sz="2400" dirty="0" err="1" smtClean="0"/>
                  <a:t>géén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ondergrens</a:t>
                </a:r>
                <a:r>
                  <a:rPr lang="en-US" sz="2400" dirty="0" smtClean="0"/>
                  <a:t>) </a:t>
                </a:r>
                <a:endParaRPr lang="en-US" sz="2400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r>
                  <a:rPr lang="en-US" sz="2400" dirty="0" err="1" smtClean="0"/>
                  <a:t>Voor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/>
                  <a:t>: </a:t>
                </a:r>
                <a:r>
                  <a:rPr lang="en-US" sz="2400" dirty="0" err="1" smtClean="0"/>
                  <a:t>gebruik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</m:oMath>
                </a14:m>
                <a:r>
                  <a:rPr lang="en-US" sz="2400" dirty="0" smtClean="0"/>
                  <a:t>					(</a:t>
                </a:r>
                <a:r>
                  <a:rPr lang="en-US" sz="2400" dirty="0" err="1" smtClean="0"/>
                  <a:t>géén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bovengrens</a:t>
                </a:r>
                <a:r>
                  <a:rPr lang="en-US" sz="2400" dirty="0" smtClean="0"/>
                  <a:t>)</a:t>
                </a:r>
                <a:endParaRPr lang="en-US" sz="2400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sz="2400" dirty="0" smtClean="0"/>
              </a:p>
              <a:p>
                <a:pPr algn="ctr" eaLnBrk="1" hangingPunct="1"/>
                <a:endParaRPr lang="en-US" sz="2400" b="1" dirty="0" smtClean="0"/>
              </a:p>
              <a:p>
                <a:pPr eaLnBrk="1" hangingPunct="1"/>
                <a:r>
                  <a:rPr lang="en-US" sz="2400" b="1" dirty="0" err="1" smtClean="0"/>
                  <a:t>Gebruik</a:t>
                </a:r>
                <a:r>
                  <a:rPr lang="en-US" sz="2400" b="1" dirty="0" smtClean="0"/>
                  <a:t> </a:t>
                </a:r>
                <a:r>
                  <a:rPr lang="en-US" sz="2400" b="1" u="sng" dirty="0" smtClean="0"/>
                  <a:t>NIET</a:t>
                </a:r>
                <a:r>
                  <a:rPr lang="en-US" sz="2400" b="1" dirty="0" smtClean="0"/>
                  <a:t> de </a:t>
                </a:r>
                <a:r>
                  <a:rPr lang="en-US" sz="2400" b="1" dirty="0" err="1" smtClean="0"/>
                  <a:t>functie</a:t>
                </a:r>
                <a:r>
                  <a:rPr lang="en-US" sz="2400" b="1" dirty="0" smtClean="0"/>
                  <a:t> “</a:t>
                </a:r>
                <a:r>
                  <a:rPr lang="en-US" sz="2400" b="1" dirty="0" err="1" smtClean="0"/>
                  <a:t>normalpdf</a:t>
                </a:r>
                <a:r>
                  <a:rPr lang="en-US" sz="2400" b="1" dirty="0" smtClean="0"/>
                  <a:t>” om </a:t>
                </a:r>
                <a:r>
                  <a:rPr lang="en-US" sz="2400" b="1" dirty="0" err="1" smtClean="0"/>
                  <a:t>kansen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mee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te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berekenen</a:t>
                </a:r>
                <a:r>
                  <a:rPr lang="en-US" sz="2400" b="1" dirty="0" smtClean="0"/>
                  <a:t>!</a:t>
                </a:r>
              </a:p>
              <a:p>
                <a:pPr eaLnBrk="1" hangingPunct="1"/>
                <a:r>
                  <a:rPr lang="en-US" sz="2400" dirty="0" smtClean="0"/>
                  <a:t>Die </a:t>
                </a:r>
                <a:r>
                  <a:rPr lang="en-US" sz="2400" dirty="0" err="1" smtClean="0"/>
                  <a:t>berekent</a:t>
                </a:r>
                <a:r>
                  <a:rPr lang="en-US" sz="2400" dirty="0" smtClean="0"/>
                  <a:t> </a:t>
                </a:r>
                <a:r>
                  <a:rPr lang="en-US" sz="2400" dirty="0" smtClean="0"/>
                  <a:t>de PDF-</a:t>
                </a:r>
                <a:r>
                  <a:rPr lang="en-US" sz="2400" dirty="0" err="1" smtClean="0"/>
                  <a:t>waarde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 smtClean="0"/>
                  <a:t>voor </a:t>
                </a:r>
                <a:r>
                  <a:rPr lang="en-US" sz="2400" dirty="0" err="1" smtClean="0"/>
                  <a:t>een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bepaalde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 smtClean="0"/>
              </a:p>
            </p:txBody>
          </p:sp>
        </mc:Choice>
        <mc:Fallback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  <a:blipFill>
                <a:blip r:embed="rId2"/>
                <a:stretch>
                  <a:fillRect l="-1735" t="-2582" r="-2024" b="-129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954EBD1-29D6-4680-A43E-6930799C0313}" type="datetime4">
              <a:rPr lang="nl-NL" smtClean="0"/>
              <a:t>7 april 2026</a:t>
            </a:fld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2054718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146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14917" y="1265241"/>
                <a:ext cx="10363200" cy="430887"/>
              </a:xfrm>
            </p:spPr>
            <p:txBody>
              <a:bodyPr/>
              <a:lstStyle/>
              <a:p>
                <a:pPr eaLnBrk="1" hangingPunct="1"/>
                <a:r>
                  <a:rPr lang="en-US" dirty="0" err="1" smtClean="0"/>
                  <a:t>Voorbeeld</a:t>
                </a:r>
                <a:r>
                  <a:rPr lang="en-US" dirty="0" smtClean="0"/>
                  <a:t>: </a:t>
                </a:r>
                <a:r>
                  <a:rPr lang="en-US" dirty="0" err="1" smtClean="0"/>
                  <a:t>kans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−2≤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≤1</m:t>
                        </m:r>
                      </m:e>
                    </m:d>
                  </m:oMath>
                </a14:m>
                <a:r>
                  <a:rPr lang="nl-NL" dirty="0" smtClean="0"/>
                  <a:t> voor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(0, 1)</m:t>
                    </m:r>
                  </m:oMath>
                </a14:m>
                <a:endParaRPr lang="nl-NL" dirty="0" smtClean="0"/>
              </a:p>
            </p:txBody>
          </p:sp>
        </mc:Choice>
        <mc:Fallback>
          <p:sp>
            <p:nvSpPr>
              <p:cNvPr id="6146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14917" y="1265241"/>
                <a:ext cx="10363200" cy="430887"/>
              </a:xfrm>
              <a:blipFill>
                <a:blip r:embed="rId2"/>
                <a:stretch>
                  <a:fillRect l="-2118" t="-25714" b="-5000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954EBD1-29D6-4680-A43E-6930799C0313}" type="datetime4">
              <a:rPr lang="nl-NL" smtClean="0"/>
              <a:t>7 april 2026</a:t>
            </a:fld>
            <a:endParaRPr lang="nl-NL" dirty="0" smtClean="0"/>
          </a:p>
        </p:txBody>
      </p:sp>
      <p:pic>
        <p:nvPicPr>
          <p:cNvPr id="6" name="Tijdelijke aanduiding voor inhoud 5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0168" t="19859" r="5204" b="11875"/>
          <a:stretch/>
        </p:blipFill>
        <p:spPr>
          <a:xfrm>
            <a:off x="814917" y="1844824"/>
            <a:ext cx="8570432" cy="4246562"/>
          </a:xfrm>
          <a:prstGeom prst="rect">
            <a:avLst/>
          </a:prstGeom>
        </p:spPr>
      </p:pic>
      <p:pic>
        <p:nvPicPr>
          <p:cNvPr id="3" name="Afbeelding 2"/>
          <p:cNvPicPr>
            <a:picLocks noChangeAspect="1"/>
          </p:cNvPicPr>
          <p:nvPr/>
        </p:nvPicPr>
        <p:blipFill rotWithShape="1">
          <a:blip r:embed="rId4"/>
          <a:srcRect l="43318" t="15422" r="43295" b="27151"/>
          <a:stretch/>
        </p:blipFill>
        <p:spPr>
          <a:xfrm>
            <a:off x="9743728" y="1196752"/>
            <a:ext cx="2169355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217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41"/>
            <a:ext cx="10363200" cy="430887"/>
          </a:xfrm>
        </p:spPr>
        <p:txBody>
          <a:bodyPr/>
          <a:lstStyle/>
          <a:p>
            <a:pPr eaLnBrk="1" hangingPunct="1"/>
            <a:r>
              <a:rPr lang="nl-NL" dirty="0" smtClean="0"/>
              <a:t>Vergelijken van verschillende schalen</a:t>
            </a:r>
            <a:endParaRPr lang="nl-NL" dirty="0" smtClean="0"/>
          </a:p>
        </p:txBody>
      </p:sp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954EBD1-29D6-4680-A43E-6930799C0313}" type="datetime4">
              <a:rPr lang="nl-NL" smtClean="0"/>
              <a:t>7 april 2026</a:t>
            </a:fld>
            <a:endParaRPr lang="nl-NL" dirty="0" smtClean="0"/>
          </a:p>
        </p:txBody>
      </p:sp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sz="2400" dirty="0" smtClean="0"/>
              <a:t>Bij de Defensie Conditie Proef (DCP) worden soldaten van de infanterie onderworpen aan een fitnesstest.</a:t>
            </a:r>
          </a:p>
          <a:p>
            <a:endParaRPr lang="nl-NL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400" b="1" dirty="0" smtClean="0"/>
              <a:t>Soldaat </a:t>
            </a:r>
            <a:r>
              <a:rPr lang="nl-NL" sz="2400" b="1" i="1" dirty="0" smtClean="0"/>
              <a:t>A</a:t>
            </a:r>
            <a:r>
              <a:rPr lang="nl-NL" sz="2400" b="1" dirty="0" smtClean="0"/>
              <a:t> </a:t>
            </a:r>
            <a:r>
              <a:rPr lang="nl-NL" sz="2400" dirty="0" smtClean="0"/>
              <a:t>(man, 23) legt 2600 meter af tijdens de 12-minutenloop.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24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400" b="1" dirty="0" smtClean="0"/>
              <a:t>Soldaat </a:t>
            </a:r>
            <a:r>
              <a:rPr lang="nl-NL" sz="2400" b="1" i="1" dirty="0" smtClean="0"/>
              <a:t>B </a:t>
            </a:r>
            <a:r>
              <a:rPr lang="nl-NL" sz="2400" dirty="0" smtClean="0"/>
              <a:t>(vrouw, 25)</a:t>
            </a:r>
            <a:r>
              <a:rPr lang="nl-NL" sz="2400" b="1" i="1" dirty="0" smtClean="0"/>
              <a:t> </a:t>
            </a:r>
            <a:r>
              <a:rPr lang="nl-NL" sz="2400" dirty="0" smtClean="0"/>
              <a:t>legt 2200 meter af tijdens de 12-minutenloop.</a:t>
            </a:r>
          </a:p>
          <a:p>
            <a:endParaRPr lang="nl-NL" sz="2400" b="1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2400" b="1" i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2400" b="1" i="1" dirty="0"/>
          </a:p>
          <a:p>
            <a:r>
              <a:rPr lang="nl-NL" sz="2400" b="1" dirty="0" smtClean="0"/>
              <a:t>Wie van deze soldaten heeft een beter fitnesslevel?</a:t>
            </a:r>
          </a:p>
        </p:txBody>
      </p:sp>
    </p:spTree>
    <p:extLst>
      <p:ext uri="{BB962C8B-B14F-4D97-AF65-F5344CB8AC3E}">
        <p14:creationId xmlns:p14="http://schemas.microsoft.com/office/powerpoint/2010/main" val="3266459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41"/>
            <a:ext cx="10363200" cy="430887"/>
          </a:xfrm>
        </p:spPr>
        <p:txBody>
          <a:bodyPr/>
          <a:lstStyle/>
          <a:p>
            <a:r>
              <a:rPr lang="nl-NL" b="1" dirty="0"/>
              <a:t>Wie van deze soldaten heeft een beter fitnesslevel?</a:t>
            </a:r>
          </a:p>
        </p:txBody>
      </p:sp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954EBD1-29D6-4680-A43E-6930799C0313}" type="datetime4">
              <a:rPr lang="nl-NL" smtClean="0"/>
              <a:t>7 april 2026</a:t>
            </a:fld>
            <a:endParaRPr lang="nl-NL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jdelijke aanduiding voor inhoud 1"/>
              <p:cNvSpPr>
                <a:spLocks noGrp="1"/>
              </p:cNvSpPr>
              <p:nvPr>
                <p:ph idx="1"/>
              </p:nvPr>
            </p:nvSpPr>
            <p:spPr>
              <a:xfrm>
                <a:off x="812799" y="1773238"/>
                <a:ext cx="11044769" cy="4246562"/>
              </a:xfrm>
            </p:spPr>
            <p:txBody>
              <a:bodyPr/>
              <a:lstStyle/>
              <a:p>
                <a:r>
                  <a:rPr lang="nl-NL" sz="2400" dirty="0" smtClean="0"/>
                  <a:t>Deze twee soldaten zijn niet te vergelijken: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nl-NL" sz="2000" dirty="0" smtClean="0"/>
                  <a:t>Komen uit twee verschillende populaties, met verschillende gemiddeldes, standaardafwijkingen, …</a:t>
                </a:r>
              </a:p>
              <a:p>
                <a:endParaRPr lang="nl-NL" sz="2000" dirty="0"/>
              </a:p>
              <a:p>
                <a:r>
                  <a:rPr lang="nl-NL" sz="2400" b="1" dirty="0" smtClean="0"/>
                  <a:t>Hoe zou je deze scores wel te vergelijken kunnen maken?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sz="2000" dirty="0" smtClean="0"/>
                  <a:t>Dat doen we door een score </a:t>
                </a:r>
                <a14:m>
                  <m:oMath xmlns:m="http://schemas.openxmlformats.org/officeDocument/2006/math">
                    <m:r>
                      <a:rPr lang="nl-NL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nl-NL" sz="2000" dirty="0" smtClean="0"/>
                  <a:t> </a:t>
                </a:r>
                <a:r>
                  <a:rPr lang="nl-NL" sz="2000" b="1" dirty="0" smtClean="0"/>
                  <a:t>relatief aan de eigen kansverdeling </a:t>
                </a:r>
                <a:r>
                  <a:rPr lang="nl-NL" sz="2000" dirty="0" smtClean="0"/>
                  <a:t>te bekijken:</a:t>
                </a:r>
              </a:p>
              <a:p>
                <a:endParaRPr lang="nl-NL" sz="2400" b="1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NL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NL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nl-NL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nl-NL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nl-NL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nl-NL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nl-NL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nl-NL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nl-NL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NL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nl-NL" sz="2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nl-NL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nl-NL" sz="2400" dirty="0" smtClean="0"/>
              </a:p>
              <a:p>
                <a:endParaRPr lang="nl-NL" sz="2400" dirty="0"/>
              </a:p>
              <a:p>
                <a:r>
                  <a:rPr lang="nl-NL" sz="2400" dirty="0" smtClean="0"/>
                  <a:t>Stel nu dat we het volgende weten over afstanden in de 12-minutenloop: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sz="2400" dirty="0" smtClean="0"/>
                  <a:t>Voor mannelijke soldaten van 23 jaar: volgt de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=2640, 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=60</m:t>
                        </m:r>
                      </m:e>
                    </m:d>
                  </m:oMath>
                </a14:m>
                <a:r>
                  <a:rPr lang="nl-NL" sz="2400" dirty="0" smtClean="0"/>
                  <a:t>-verdeling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sz="2400" dirty="0" smtClean="0"/>
                  <a:t>Voor vrouwelijke soldaten van 25 jaar: volgt de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=2180, 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=50)</m:t>
                    </m:r>
                  </m:oMath>
                </a14:m>
                <a:r>
                  <a:rPr lang="nl-NL" sz="2400" dirty="0" smtClean="0"/>
                  <a:t>-verdeling </a:t>
                </a:r>
                <a:endParaRPr lang="nl-NL" sz="2400" dirty="0"/>
              </a:p>
            </p:txBody>
          </p:sp>
        </mc:Choice>
        <mc:Fallback>
          <p:sp>
            <p:nvSpPr>
              <p:cNvPr id="2" name="Tijdelijke aanduiding voor inhoud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799" y="1773238"/>
                <a:ext cx="11044769" cy="4246562"/>
              </a:xfrm>
              <a:blipFill>
                <a:blip r:embed="rId3"/>
                <a:stretch>
                  <a:fillRect l="-1656" t="-2296" r="-331" b="-1061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973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41"/>
            <a:ext cx="10363200" cy="430887"/>
          </a:xfrm>
        </p:spPr>
        <p:txBody>
          <a:bodyPr/>
          <a:lstStyle/>
          <a:p>
            <a:r>
              <a:rPr lang="nl-NL" b="1" dirty="0"/>
              <a:t>Wie van deze soldaten heeft een beter fitnesslevel?</a:t>
            </a:r>
          </a:p>
        </p:txBody>
      </p:sp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954EBD1-29D6-4680-A43E-6930799C0313}" type="datetime4">
              <a:rPr lang="nl-NL" smtClean="0"/>
              <a:t>7 april 2026</a:t>
            </a:fld>
            <a:endParaRPr lang="nl-NL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jdelijke aanduiding voor inhoud 1"/>
              <p:cNvSpPr>
                <a:spLocks noGrp="1"/>
              </p:cNvSpPr>
              <p:nvPr>
                <p:ph idx="1"/>
              </p:nvPr>
            </p:nvSpPr>
            <p:spPr>
              <a:xfrm>
                <a:off x="812799" y="1773238"/>
                <a:ext cx="11044769" cy="4246562"/>
              </a:xfrm>
            </p:spPr>
            <p:txBody>
              <a:bodyPr/>
              <a:lstStyle/>
              <a:p>
                <a:r>
                  <a:rPr lang="nl-NL" sz="2400" b="1" dirty="0" smtClean="0"/>
                  <a:t>Soldaat </a:t>
                </a:r>
                <a14:m>
                  <m:oMath xmlns:m="http://schemas.openxmlformats.org/officeDocument/2006/math">
                    <m:r>
                      <a:rPr lang="nl-NL" sz="2400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nl-NL" sz="2400" b="1" dirty="0" smtClean="0"/>
                  <a:t>:</a:t>
                </a:r>
              </a:p>
              <a:p>
                <a:r>
                  <a:rPr lang="nl-NL" sz="2400" dirty="0" smtClean="0"/>
                  <a:t>De relatieve score van een afstand van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2600</m:t>
                    </m:r>
                  </m:oMath>
                </a14:m>
                <a:r>
                  <a:rPr lang="nl-NL" sz="2400" dirty="0" smtClean="0"/>
                  <a:t> meter bij een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2640, 60</m:t>
                        </m:r>
                      </m:e>
                    </m:d>
                  </m:oMath>
                </a14:m>
                <a:r>
                  <a:rPr lang="nl-NL" sz="2400" dirty="0" smtClean="0"/>
                  <a:t>-verdeling is</a:t>
                </a:r>
              </a:p>
              <a:p>
                <a:endParaRPr lang="nl-NL" sz="2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NL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2600−2640</m:t>
                          </m:r>
                        </m:num>
                        <m:den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60</m:t>
                          </m:r>
                        </m:den>
                      </m:f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≈−0.6667.</m:t>
                      </m:r>
                    </m:oMath>
                  </m:oMathPara>
                </a14:m>
                <a:endParaRPr lang="nl-NL" sz="2400" dirty="0" smtClean="0"/>
              </a:p>
              <a:p>
                <a:endParaRPr lang="nl-NL" sz="2400" dirty="0" smtClean="0"/>
              </a:p>
              <a:p>
                <a:r>
                  <a:rPr lang="nl-NL" sz="2400" b="1" dirty="0" smtClean="0"/>
                  <a:t>Soldaat </a:t>
                </a:r>
                <a14:m>
                  <m:oMath xmlns:m="http://schemas.openxmlformats.org/officeDocument/2006/math">
                    <m:r>
                      <a:rPr lang="nl-NL" sz="2400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nl-NL" sz="2400" b="1" dirty="0"/>
                  <a:t>:</a:t>
                </a:r>
              </a:p>
              <a:p>
                <a:r>
                  <a:rPr lang="nl-NL" sz="2400" dirty="0"/>
                  <a:t>De relatieve score van een afstand van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2200</m:t>
                    </m:r>
                  </m:oMath>
                </a14:m>
                <a:r>
                  <a:rPr lang="nl-NL" sz="2400" dirty="0"/>
                  <a:t> meter bij een </a:t>
                </a:r>
                <a14:m>
                  <m:oMath xmlns:m="http://schemas.openxmlformats.org/officeDocument/2006/math">
                    <m:r>
                      <a:rPr lang="nl-NL" sz="24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, 50</m:t>
                        </m:r>
                      </m:e>
                    </m:d>
                  </m:oMath>
                </a14:m>
                <a:r>
                  <a:rPr lang="nl-NL" sz="2400" dirty="0"/>
                  <a:t>-verdeling is</a:t>
                </a:r>
              </a:p>
              <a:p>
                <a:endParaRPr lang="nl-NL" sz="240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NL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nl-NL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nl-NL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lang="nl-NL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2200</m:t>
                          </m:r>
                          <m:r>
                            <a:rPr lang="nl-NL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2180</m:t>
                          </m:r>
                        </m:num>
                        <m:den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nl-NL" sz="2400" i="1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0.4</m:t>
                      </m:r>
                      <m:r>
                        <a:rPr lang="nl-NL" sz="24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nl-NL" sz="2400" dirty="0" smtClean="0"/>
              </a:p>
              <a:p>
                <a:r>
                  <a:rPr lang="nl-NL" sz="2400" b="1" dirty="0" smtClean="0"/>
                  <a:t>Wat betekent dit?</a:t>
                </a:r>
                <a:endParaRPr lang="nl-NL" sz="2400" b="1" dirty="0"/>
              </a:p>
              <a:p>
                <a:endParaRPr lang="nl-NL" sz="2400" dirty="0"/>
              </a:p>
            </p:txBody>
          </p:sp>
        </mc:Choice>
        <mc:Fallback>
          <p:sp>
            <p:nvSpPr>
              <p:cNvPr id="2" name="Tijdelijke aanduiding voor inhoud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799" y="1773238"/>
                <a:ext cx="11044769" cy="4246562"/>
              </a:xfrm>
              <a:blipFill>
                <a:blip r:embed="rId3"/>
                <a:stretch>
                  <a:fillRect l="-1656" t="-2296" b="-846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920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US" dirty="0" smtClean="0"/>
                  <a:t>De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 smtClean="0"/>
                  <a:t>-score</a:t>
                </a:r>
                <a:endParaRPr lang="nl-NL" dirty="0" smtClean="0"/>
              </a:p>
            </p:txBody>
          </p:sp>
        </mc:Choice>
        <mc:Fallback xmlns="">
          <p:sp>
            <p:nvSpPr>
              <p:cNvPr id="6146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41" t="-26154" b="-5076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1044769" cy="4246562"/>
              </a:xfrm>
            </p:spPr>
            <p:txBody>
              <a:bodyPr/>
              <a:lstStyle/>
              <a:p>
                <a:pPr eaLnBrk="1" hangingPunct="1">
                  <a:spcBef>
                    <a:spcPts val="0"/>
                  </a:spcBef>
                </a:pPr>
                <a:r>
                  <a:rPr lang="en-US" sz="2400" dirty="0" smtClean="0"/>
                  <a:t>De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 sz="2400" b="1" dirty="0" smtClean="0"/>
                  <a:t>-score</a:t>
                </a:r>
                <a:r>
                  <a:rPr lang="en-US" sz="2400" dirty="0" smtClean="0"/>
                  <a:t> van de </a:t>
                </a:r>
                <a:r>
                  <a:rPr lang="en-US" sz="2400" dirty="0" err="1" smtClean="0"/>
                  <a:t>uitkomst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 smtClean="0"/>
                  <a:t> van </a:t>
                </a:r>
                <a:r>
                  <a:rPr lang="en-US" sz="2400" dirty="0" err="1" smtClean="0"/>
                  <a:t>een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normaal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verdeelde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kansvariabele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n-US" sz="2400" dirty="0" smtClean="0"/>
                  <a:t> is </a:t>
                </a:r>
              </a:p>
              <a:p>
                <a:pPr eaLnBrk="1" hangingPunct="1">
                  <a:spcBef>
                    <a:spcPts val="0"/>
                  </a:spcBef>
                </a:pPr>
                <a:endParaRPr lang="en-US" sz="1600" b="0" i="1" dirty="0" smtClean="0">
                  <a:latin typeface="Cambria Math" panose="02040503050406030204" pitchFamily="18" charset="0"/>
                </a:endParaRPr>
              </a:p>
              <a:p>
                <a:pPr eaLnBrk="1" hangingPunct="1"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US" sz="2400" dirty="0" smtClean="0"/>
              </a:p>
              <a:p>
                <a:pPr eaLnBrk="1" hangingPunct="1">
                  <a:spcBef>
                    <a:spcPts val="0"/>
                  </a:spcBef>
                </a:pPr>
                <a:endParaRPr lang="en-US" sz="1600" b="1" dirty="0" smtClean="0"/>
              </a:p>
              <a:p>
                <a:pPr eaLnBrk="1" hangingPunct="1">
                  <a:spcBef>
                    <a:spcPts val="0"/>
                  </a:spcBef>
                </a:pPr>
                <a:r>
                  <a:rPr lang="en-US" sz="2400" dirty="0" smtClean="0"/>
                  <a:t>De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 smtClean="0"/>
                  <a:t>-score </a:t>
                </a:r>
                <a:r>
                  <a:rPr lang="en-US" sz="2400" dirty="0" err="1" smtClean="0"/>
                  <a:t>geeft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aan</a:t>
                </a:r>
                <a:r>
                  <a:rPr lang="en-US" sz="2400" dirty="0" smtClean="0"/>
                  <a:t> </a:t>
                </a:r>
                <a:r>
                  <a:rPr lang="en-US" sz="2400" dirty="0" smtClean="0"/>
                  <a:t>met </a:t>
                </a:r>
                <a:r>
                  <a:rPr lang="en-US" sz="2400" dirty="0" err="1" smtClean="0"/>
                  <a:t>hoeveel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standaardafwijkingen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 err="1" smtClean="0"/>
                  <a:t>afwijkt</a:t>
                </a:r>
                <a:r>
                  <a:rPr lang="en-US" sz="2400" dirty="0" smtClean="0"/>
                  <a:t> van </a:t>
                </a:r>
                <a:r>
                  <a:rPr lang="en-US" sz="2400" dirty="0" err="1" smtClean="0"/>
                  <a:t>gemiddelde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 smtClean="0"/>
                  <a:t> </a:t>
                </a:r>
              </a:p>
              <a:p>
                <a:pPr eaLnBrk="1" hangingPunct="1">
                  <a:spcBef>
                    <a:spcPts val="0"/>
                  </a:spcBef>
                </a:pPr>
                <a:endParaRPr lang="en-US" b="1" dirty="0" smtClean="0"/>
              </a:p>
              <a:p>
                <a:pPr eaLnBrk="1" hangingPunct="1">
                  <a:spcBef>
                    <a:spcPts val="0"/>
                  </a:spcBef>
                </a:pPr>
                <a:endParaRPr lang="en-US" b="1" dirty="0"/>
              </a:p>
              <a:p>
                <a:pPr eaLnBrk="1" hangingPunct="1">
                  <a:spcBef>
                    <a:spcPts val="0"/>
                  </a:spcBef>
                </a:pPr>
                <a:endParaRPr lang="en-US" b="1" dirty="0" smtClean="0"/>
              </a:p>
              <a:p>
                <a:pPr eaLnBrk="1" hangingPunct="1">
                  <a:spcBef>
                    <a:spcPts val="0"/>
                  </a:spcBef>
                </a:pPr>
                <a:endParaRPr lang="en-US" b="1" dirty="0"/>
              </a:p>
              <a:p>
                <a:pPr eaLnBrk="1" hangingPunct="1">
                  <a:spcBef>
                    <a:spcPts val="0"/>
                  </a:spcBef>
                </a:pPr>
                <a:endParaRPr lang="en-US" b="1" dirty="0" smtClean="0"/>
              </a:p>
              <a:p>
                <a:pPr eaLnBrk="1" hangingPunct="1"/>
                <a:endParaRPr lang="en-US" b="1" dirty="0"/>
              </a:p>
              <a:p>
                <a:pPr eaLnBrk="1" hangingPunct="1"/>
                <a:endParaRPr lang="en-US" b="1" dirty="0" smtClean="0"/>
              </a:p>
              <a:p>
                <a:pPr eaLnBrk="1" hangingPunct="1"/>
                <a:endParaRPr lang="en-US" b="1" dirty="0"/>
              </a:p>
              <a:p>
                <a:pPr eaLnBrk="1" hangingPunct="1"/>
                <a:endParaRPr lang="en-US" b="1" dirty="0" smtClean="0"/>
              </a:p>
              <a:p>
                <a:pPr eaLnBrk="1" hangingPunct="1"/>
                <a:endParaRPr lang="en-US" dirty="0"/>
              </a:p>
            </p:txBody>
          </p:sp>
        </mc:Choice>
        <mc:Fallback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1044769" cy="4246562"/>
              </a:xfrm>
              <a:blipFill>
                <a:blip r:embed="rId3"/>
                <a:stretch>
                  <a:fillRect l="-1656" t="-258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54EBD1-29D6-4680-A43E-6930799C0313}" type="datetime4">
              <a:rPr kumimoji="0" lang="nl-NL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 april 2026</a:t>
            </a:fld>
            <a:endParaRPr kumimoji="0" lang="nl-NL" sz="11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8463" y="3763759"/>
            <a:ext cx="7995075" cy="257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244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146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US" dirty="0" smtClean="0"/>
                  <a:t>De </a:t>
                </a:r>
                <a:r>
                  <a:rPr lang="en-US" dirty="0" err="1" smtClean="0"/>
                  <a:t>standaardnormale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verdeling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(0, 1)</m:t>
                    </m:r>
                  </m:oMath>
                </a14:m>
                <a:endParaRPr lang="nl-NL" dirty="0" smtClean="0"/>
              </a:p>
            </p:txBody>
          </p:sp>
        </mc:Choice>
        <mc:Fallback>
          <p:sp>
            <p:nvSpPr>
              <p:cNvPr id="6146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118" t="-25714" b="-5000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</p:spPr>
            <p:txBody>
              <a:bodyPr/>
              <a:lstStyle/>
              <a:p>
                <a:pPr eaLnBrk="1" hangingPunct="1"/>
                <a:endParaRPr lang="en-US" b="1" dirty="0" smtClean="0"/>
              </a:p>
              <a:p>
                <a:pPr eaLnBrk="1" hangingPunct="1"/>
                <a:endParaRPr lang="en-US" b="1" dirty="0"/>
              </a:p>
              <a:p>
                <a:pPr eaLnBrk="1" hangingPunct="1"/>
                <a:endParaRPr lang="en-US" b="1" dirty="0" smtClean="0"/>
              </a:p>
              <a:p>
                <a:pPr eaLnBrk="1" hangingPunct="1"/>
                <a:endParaRPr lang="en-US" b="1" dirty="0"/>
              </a:p>
              <a:p>
                <a:pPr eaLnBrk="1" hangingPunct="1"/>
                <a:endParaRPr lang="en-US" b="1" dirty="0" smtClean="0"/>
              </a:p>
              <a:p>
                <a:pPr eaLnBrk="1" hangingPunct="1"/>
                <a:endParaRPr lang="en-US" b="1" dirty="0"/>
              </a:p>
              <a:p>
                <a:pPr eaLnBrk="1" hangingPunct="1"/>
                <a:endParaRPr lang="en-US" b="1" dirty="0" smtClean="0"/>
              </a:p>
              <a:p>
                <a:endParaRPr lang="en-US" b="0" dirty="0" smtClean="0"/>
              </a:p>
              <a:p>
                <a:r>
                  <a:rPr lang="en-US" b="0" dirty="0" err="1" smtClean="0"/>
                  <a:t>Als</a:t>
                </a:r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 smtClean="0"/>
                  <a:t> </a:t>
                </a:r>
                <a:r>
                  <a:rPr lang="en-US" b="0" dirty="0" err="1" smtClean="0"/>
                  <a:t>uit</a:t>
                </a:r>
                <a:r>
                  <a:rPr lang="en-US" b="0" dirty="0" smtClean="0"/>
                  <a:t> </a:t>
                </a:r>
                <a:r>
                  <a:rPr lang="en-US" b="0" dirty="0" err="1" smtClean="0"/>
                  <a:t>een</a:t>
                </a:r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-</a:t>
                </a:r>
                <a:r>
                  <a:rPr lang="en-US" dirty="0" err="1" smtClean="0"/>
                  <a:t>verdeling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komt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dan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komt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r>
                  <a:rPr lang="en-US" i="1" dirty="0" smtClean="0">
                    <a:latin typeface="Cambria Math" panose="02040503050406030204" pitchFamily="18" charset="0"/>
                  </a:rPr>
                  <a:t> </a:t>
                </a:r>
                <a:r>
                  <a:rPr lang="en-US" dirty="0" err="1" smtClean="0"/>
                  <a:t>uit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dirty="0" smtClean="0"/>
                  <a:t>-</a:t>
                </a:r>
                <a:r>
                  <a:rPr lang="en-US" dirty="0" err="1" smtClean="0"/>
                  <a:t>verdelin</a:t>
                </a:r>
                <a:r>
                  <a:rPr lang="en-US" dirty="0" err="1" smtClean="0"/>
                  <a:t>g</a:t>
                </a:r>
                <a:r>
                  <a:rPr lang="en-US" dirty="0" smtClean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1800" dirty="0" smtClean="0"/>
              </a:p>
              <a:p>
                <a:r>
                  <a:rPr lang="en-US" b="1" dirty="0" err="1"/>
                  <a:t>Gevolg</a:t>
                </a:r>
                <a:r>
                  <a:rPr lang="en-US" b="1" dirty="0"/>
                  <a:t>: </a:t>
                </a:r>
                <a:r>
                  <a:rPr lang="en-US" dirty="0" smtClean="0"/>
                  <a:t>je </a:t>
                </a:r>
                <a:r>
                  <a:rPr lang="en-US" dirty="0" err="1" smtClean="0"/>
                  <a:t>kunt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alle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berekeningen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uitvoeren</a:t>
                </a:r>
                <a:r>
                  <a:rPr lang="en-US" dirty="0" smtClean="0"/>
                  <a:t> </a:t>
                </a:r>
                <a:r>
                  <a:rPr lang="en-US" dirty="0" smtClean="0"/>
                  <a:t>m</a:t>
                </a:r>
                <a:r>
                  <a:rPr lang="en-US" dirty="0" smtClean="0"/>
                  <a:t>et </a:t>
                </a:r>
                <a:r>
                  <a:rPr lang="en-US" dirty="0" err="1"/>
                  <a:t>behulp</a:t>
                </a:r>
                <a:r>
                  <a:rPr lang="en-US" dirty="0"/>
                  <a:t> van </a:t>
                </a:r>
                <a:r>
                  <a:rPr lang="en-US" dirty="0" smtClean="0"/>
                  <a:t>de </a:t>
                </a:r>
                <a:r>
                  <a:rPr lang="en-US" dirty="0" err="1" smtClean="0"/>
                  <a:t>standaardnormale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verdeling</a:t>
                </a:r>
                <a:r>
                  <a:rPr lang="en-US" dirty="0" smtClean="0"/>
                  <a:t>!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  <a:blipFill>
                <a:blip r:embed="rId3"/>
                <a:stretch>
                  <a:fillRect l="-1608" r="-574" b="-573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54EBD1-29D6-4680-A43E-6930799C0313}" type="datetime4">
              <a:rPr kumimoji="0" lang="nl-NL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 april 2026</a:t>
            </a:fld>
            <a:endParaRPr kumimoji="0" lang="nl-NL" sz="11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0660" y="1696129"/>
            <a:ext cx="8170680" cy="258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198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Voorbeeld</a:t>
            </a:r>
            <a:endParaRPr lang="nl-NL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0611792" cy="4246562"/>
          </a:xfrm>
        </p:spPr>
        <p:txBody>
          <a:bodyPr/>
          <a:lstStyle/>
          <a:p>
            <a:pPr eaLnBrk="1" hangingPunct="1"/>
            <a:r>
              <a:rPr lang="en-US" dirty="0" smtClean="0"/>
              <a:t>Na </a:t>
            </a:r>
            <a:r>
              <a:rPr lang="en-US" dirty="0" err="1" smtClean="0"/>
              <a:t>een</a:t>
            </a:r>
            <a:r>
              <a:rPr lang="en-US" dirty="0" smtClean="0"/>
              <a:t> </a:t>
            </a:r>
            <a:r>
              <a:rPr lang="en-US" dirty="0" err="1" smtClean="0"/>
              <a:t>aardbeving</a:t>
            </a:r>
            <a:r>
              <a:rPr lang="en-US" dirty="0" smtClean="0"/>
              <a:t> </a:t>
            </a:r>
            <a:r>
              <a:rPr lang="en-US" dirty="0" err="1" smtClean="0"/>
              <a:t>vervoert</a:t>
            </a:r>
            <a:r>
              <a:rPr lang="en-US" dirty="0" smtClean="0"/>
              <a:t> </a:t>
            </a:r>
            <a:r>
              <a:rPr lang="en-US" dirty="0" err="1" smtClean="0"/>
              <a:t>een</a:t>
            </a:r>
            <a:r>
              <a:rPr lang="en-US" dirty="0" smtClean="0"/>
              <a:t> </a:t>
            </a:r>
            <a:r>
              <a:rPr lang="en-US" dirty="0" err="1" smtClean="0"/>
              <a:t>militaire</a:t>
            </a:r>
            <a:r>
              <a:rPr lang="en-US" dirty="0" smtClean="0"/>
              <a:t> </a:t>
            </a:r>
            <a:r>
              <a:rPr lang="en-US" dirty="0" err="1" smtClean="0"/>
              <a:t>luchtbrug</a:t>
            </a:r>
            <a:r>
              <a:rPr lang="en-US" dirty="0" smtClean="0"/>
              <a:t> zo </a:t>
            </a:r>
            <a:r>
              <a:rPr lang="en-US" dirty="0" err="1" smtClean="0"/>
              <a:t>snel</a:t>
            </a:r>
            <a:r>
              <a:rPr lang="en-US" dirty="0" smtClean="0"/>
              <a:t> </a:t>
            </a:r>
            <a:r>
              <a:rPr lang="en-US" dirty="0" err="1" smtClean="0"/>
              <a:t>mogelijk</a:t>
            </a:r>
            <a:r>
              <a:rPr lang="en-US" dirty="0" smtClean="0"/>
              <a:t> </a:t>
            </a:r>
            <a:r>
              <a:rPr lang="en-US" dirty="0" err="1" smtClean="0"/>
              <a:t>noodhulpgoederen</a:t>
            </a:r>
            <a:r>
              <a:rPr lang="en-US" dirty="0" smtClean="0"/>
              <a:t> </a:t>
            </a:r>
            <a:r>
              <a:rPr lang="en-US" dirty="0" err="1" smtClean="0"/>
              <a:t>zoals</a:t>
            </a:r>
            <a:r>
              <a:rPr lang="en-US" dirty="0" smtClean="0"/>
              <a:t> water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voedsel</a:t>
            </a:r>
            <a:r>
              <a:rPr lang="en-US" dirty="0" smtClean="0"/>
              <a:t> </a:t>
            </a:r>
            <a:r>
              <a:rPr lang="en-US" dirty="0" err="1" smtClean="0"/>
              <a:t>naar</a:t>
            </a:r>
            <a:r>
              <a:rPr lang="en-US" dirty="0" smtClean="0"/>
              <a:t> het </a:t>
            </a:r>
            <a:r>
              <a:rPr lang="en-US" dirty="0" err="1" smtClean="0"/>
              <a:t>getroffen</a:t>
            </a:r>
            <a:r>
              <a:rPr lang="en-US" dirty="0" smtClean="0"/>
              <a:t> </a:t>
            </a:r>
            <a:r>
              <a:rPr lang="en-US" dirty="0" err="1" smtClean="0"/>
              <a:t>rampgebied</a:t>
            </a:r>
            <a:r>
              <a:rPr lang="en-US" dirty="0" smtClean="0"/>
              <a:t>. De </a:t>
            </a:r>
            <a:r>
              <a:rPr lang="en-US" dirty="0" err="1" smtClean="0"/>
              <a:t>levertijd</a:t>
            </a:r>
            <a:r>
              <a:rPr lang="en-US" dirty="0" smtClean="0"/>
              <a:t> (in </a:t>
            </a:r>
            <a:r>
              <a:rPr lang="en-US" dirty="0" err="1" smtClean="0"/>
              <a:t>uren</a:t>
            </a:r>
            <a:r>
              <a:rPr lang="en-US" dirty="0" smtClean="0"/>
              <a:t>) van </a:t>
            </a:r>
            <a:r>
              <a:rPr lang="en-US" dirty="0" err="1" smtClean="0"/>
              <a:t>een</a:t>
            </a:r>
            <a:r>
              <a:rPr lang="en-US" dirty="0" smtClean="0"/>
              <a:t> </a:t>
            </a:r>
            <a:r>
              <a:rPr lang="en-US" dirty="0" err="1" smtClean="0"/>
              <a:t>vrachtvliegtuig</a:t>
            </a:r>
            <a:r>
              <a:rPr lang="en-US" dirty="0" smtClean="0"/>
              <a:t> </a:t>
            </a:r>
            <a:r>
              <a:rPr lang="en-US" dirty="0" err="1" smtClean="0"/>
              <a:t>wordt</a:t>
            </a:r>
            <a:r>
              <a:rPr lang="en-US" dirty="0" smtClean="0"/>
              <a:t> </a:t>
            </a:r>
            <a:r>
              <a:rPr lang="en-US" dirty="0" err="1" smtClean="0"/>
              <a:t>gemeten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deze</a:t>
            </a:r>
            <a:r>
              <a:rPr lang="en-US" dirty="0" smtClean="0"/>
              <a:t> </a:t>
            </a:r>
            <a:r>
              <a:rPr lang="en-US" dirty="0" err="1" smtClean="0"/>
              <a:t>blijkt</a:t>
            </a:r>
            <a:r>
              <a:rPr lang="en-US" dirty="0" smtClean="0"/>
              <a:t> </a:t>
            </a:r>
            <a:r>
              <a:rPr lang="en-US" dirty="0" err="1" smtClean="0"/>
              <a:t>normaal</a:t>
            </a:r>
            <a:r>
              <a:rPr lang="en-US" dirty="0" smtClean="0"/>
              <a:t> </a:t>
            </a:r>
            <a:r>
              <a:rPr lang="en-US" dirty="0" err="1" smtClean="0"/>
              <a:t>verdeeld</a:t>
            </a:r>
            <a:r>
              <a:rPr lang="en-US" dirty="0" smtClean="0"/>
              <a:t> </a:t>
            </a:r>
            <a:r>
              <a:rPr lang="en-US" dirty="0" err="1" smtClean="0"/>
              <a:t>te</a:t>
            </a:r>
            <a:r>
              <a:rPr lang="en-US" dirty="0" smtClean="0"/>
              <a:t> </a:t>
            </a:r>
            <a:r>
              <a:rPr lang="en-US" dirty="0" err="1" smtClean="0"/>
              <a:t>zijn</a:t>
            </a:r>
            <a:r>
              <a:rPr lang="en-US" dirty="0" smtClean="0"/>
              <a:t> met </a:t>
            </a:r>
            <a:r>
              <a:rPr lang="en-US" dirty="0" err="1" smtClean="0"/>
              <a:t>een</a:t>
            </a:r>
            <a:r>
              <a:rPr lang="en-US" dirty="0" smtClean="0"/>
              <a:t> </a:t>
            </a:r>
            <a:r>
              <a:rPr lang="en-US" dirty="0" err="1" smtClean="0"/>
              <a:t>gemiddelde</a:t>
            </a:r>
            <a:r>
              <a:rPr lang="en-US" dirty="0" smtClean="0"/>
              <a:t> van 32 </a:t>
            </a:r>
            <a:r>
              <a:rPr lang="en-US" dirty="0" err="1" smtClean="0"/>
              <a:t>uur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een</a:t>
            </a:r>
            <a:r>
              <a:rPr lang="en-US" dirty="0" smtClean="0"/>
              <a:t> </a:t>
            </a:r>
            <a:r>
              <a:rPr lang="en-US" dirty="0" err="1" smtClean="0"/>
              <a:t>standaardafwijking</a:t>
            </a:r>
            <a:r>
              <a:rPr lang="en-US" dirty="0" smtClean="0"/>
              <a:t> van 6 </a:t>
            </a:r>
            <a:r>
              <a:rPr lang="en-US" dirty="0" err="1" smtClean="0"/>
              <a:t>uur</a:t>
            </a:r>
            <a:r>
              <a:rPr lang="en-US" dirty="0" smtClean="0"/>
              <a:t>.</a:t>
            </a:r>
            <a:endParaRPr lang="en-US" dirty="0" smtClean="0"/>
          </a:p>
          <a:p>
            <a:pPr eaLnBrk="1" hangingPunct="1"/>
            <a:endParaRPr lang="en-US" dirty="0" smtClean="0"/>
          </a:p>
          <a:p>
            <a:pPr marL="457200" indent="-457200" eaLnBrk="1" hangingPunct="1">
              <a:buFont typeface="+mj-lt"/>
              <a:buAutoNum type="alphaLcParenR"/>
            </a:pPr>
            <a:r>
              <a:rPr lang="en-US" dirty="0" smtClean="0"/>
              <a:t>Wat is de </a:t>
            </a:r>
            <a:r>
              <a:rPr lang="en-US" dirty="0" err="1" smtClean="0"/>
              <a:t>kans</a:t>
            </a:r>
            <a:r>
              <a:rPr lang="en-US" dirty="0" smtClean="0"/>
              <a:t> </a:t>
            </a:r>
            <a:r>
              <a:rPr lang="en-US" dirty="0" err="1" smtClean="0"/>
              <a:t>dat</a:t>
            </a:r>
            <a:r>
              <a:rPr lang="en-US" dirty="0" smtClean="0"/>
              <a:t> </a:t>
            </a:r>
            <a:r>
              <a:rPr lang="en-US" dirty="0" err="1" smtClean="0"/>
              <a:t>een</a:t>
            </a:r>
            <a:r>
              <a:rPr lang="en-US" dirty="0" smtClean="0"/>
              <a:t> </a:t>
            </a:r>
            <a:r>
              <a:rPr lang="en-US" dirty="0" err="1" smtClean="0"/>
              <a:t>hulpvlucht</a:t>
            </a:r>
            <a:r>
              <a:rPr lang="en-US" dirty="0" smtClean="0"/>
              <a:t> </a:t>
            </a:r>
            <a:r>
              <a:rPr lang="en-US" b="1" dirty="0" err="1" smtClean="0"/>
              <a:t>binnen</a:t>
            </a:r>
            <a:r>
              <a:rPr lang="en-US" b="1" dirty="0" smtClean="0"/>
              <a:t> 30 </a:t>
            </a:r>
            <a:r>
              <a:rPr lang="en-US" b="1" dirty="0" err="1" smtClean="0"/>
              <a:t>uur</a:t>
            </a:r>
            <a:r>
              <a:rPr lang="en-US" b="1" dirty="0" smtClean="0"/>
              <a:t> </a:t>
            </a:r>
            <a:r>
              <a:rPr lang="en-US" dirty="0" err="1" smtClean="0"/>
              <a:t>aankomt</a:t>
            </a:r>
            <a:r>
              <a:rPr lang="en-US" dirty="0" smtClean="0"/>
              <a:t>?</a:t>
            </a:r>
            <a:endParaRPr lang="en-US" dirty="0"/>
          </a:p>
          <a:p>
            <a:pPr eaLnBrk="1" hangingPunct="1"/>
            <a:endParaRPr lang="en-US" dirty="0"/>
          </a:p>
        </p:txBody>
      </p:sp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954EBD1-29D6-4680-A43E-6930799C0313}" type="datetime4">
              <a:rPr lang="nl-NL" smtClean="0"/>
              <a:t>7 april 2026</a:t>
            </a:fld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2392806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6" y="1265241"/>
            <a:ext cx="11042653" cy="400110"/>
          </a:xfrm>
        </p:spPr>
        <p:txBody>
          <a:bodyPr/>
          <a:lstStyle/>
          <a:p>
            <a:r>
              <a:rPr lang="en-US" dirty="0"/>
              <a:t>Wat is de </a:t>
            </a:r>
            <a:r>
              <a:rPr lang="en-US" dirty="0" err="1"/>
              <a:t>kans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hulpvlucht</a:t>
            </a:r>
            <a:r>
              <a:rPr lang="en-US" dirty="0"/>
              <a:t> </a:t>
            </a:r>
            <a:r>
              <a:rPr lang="en-US" dirty="0" err="1"/>
              <a:t>binnen</a:t>
            </a:r>
            <a:r>
              <a:rPr lang="en-US" dirty="0"/>
              <a:t> 30 </a:t>
            </a:r>
            <a:r>
              <a:rPr lang="en-US" dirty="0" err="1"/>
              <a:t>uur</a:t>
            </a:r>
            <a:r>
              <a:rPr lang="en-US" dirty="0"/>
              <a:t> </a:t>
            </a:r>
            <a:r>
              <a:rPr lang="en-US" dirty="0" err="1"/>
              <a:t>aankomt</a:t>
            </a:r>
            <a:r>
              <a:rPr lang="en-US" dirty="0"/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</p:spPr>
            <p:txBody>
              <a:bodyPr/>
              <a:lstStyle/>
              <a:p>
                <a:pPr marL="457200" indent="-457200" eaLnBrk="1" hangingPunct="1">
                  <a:buFont typeface="+mj-lt"/>
                  <a:buAutoNum type="arabicPeriod"/>
                </a:pPr>
                <a:r>
                  <a:rPr lang="en-US" b="1" dirty="0" smtClean="0"/>
                  <a:t>Noteer de </a:t>
                </a:r>
                <a:r>
                  <a:rPr lang="en-US" b="1" dirty="0" err="1" smtClean="0"/>
                  <a:t>gegevens</a:t>
                </a:r>
                <a:r>
                  <a:rPr lang="en-US" b="1" dirty="0" smtClean="0"/>
                  <a:t> uit de </a:t>
                </a:r>
                <a:r>
                  <a:rPr lang="en-US" b="1" dirty="0" err="1" smtClean="0"/>
                  <a:t>opdracht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en</a:t>
                </a:r>
                <a:r>
                  <a:rPr lang="en-US" b="1" dirty="0" smtClean="0"/>
                  <a:t> de </a:t>
                </a:r>
                <a:r>
                  <a:rPr lang="en-US" b="1" dirty="0" err="1" smtClean="0"/>
                  <a:t>vraag</a:t>
                </a:r>
                <a:r>
                  <a:rPr lang="en-US" b="1" dirty="0" smtClean="0"/>
                  <a:t> die we </a:t>
                </a:r>
                <a:r>
                  <a:rPr lang="en-US" b="1" dirty="0" err="1" smtClean="0"/>
                  <a:t>willen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beantwoorden</a:t>
                </a:r>
                <a:endParaRPr lang="en-US" b="1" dirty="0" smtClean="0"/>
              </a:p>
              <a:p>
                <a:pPr eaLnBrk="1" hangingPunct="1"/>
                <a:r>
                  <a:rPr lang="en-US" b="0" dirty="0" smtClean="0"/>
                  <a:t>De (continue) </a:t>
                </a:r>
                <a:r>
                  <a:rPr lang="en-US" b="0" dirty="0" err="1" smtClean="0"/>
                  <a:t>kansvariabele</a:t>
                </a:r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 smtClean="0"/>
                  <a:t> meet </a:t>
                </a:r>
                <a:r>
                  <a:rPr lang="en-US" dirty="0" smtClean="0"/>
                  <a:t>de </a:t>
                </a:r>
                <a:r>
                  <a:rPr lang="en-US" dirty="0" err="1" smtClean="0"/>
                  <a:t>levertijd</a:t>
                </a:r>
                <a:r>
                  <a:rPr lang="en-US" dirty="0"/>
                  <a:t> </a:t>
                </a:r>
                <a:r>
                  <a:rPr lang="en-US" dirty="0" smtClean="0"/>
                  <a:t>(in </a:t>
                </a:r>
                <a:r>
                  <a:rPr lang="en-US" dirty="0" err="1" smtClean="0"/>
                  <a:t>uren</a:t>
                </a:r>
                <a:r>
                  <a:rPr lang="en-US" dirty="0" smtClean="0"/>
                  <a:t>) </a:t>
                </a:r>
                <a:r>
                  <a:rPr lang="en-US" dirty="0" smtClean="0"/>
                  <a:t>van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vrachtvliegtuig</a:t>
                </a:r>
                <a:r>
                  <a:rPr lang="en-US" dirty="0" smtClean="0"/>
                  <a:t> met </a:t>
                </a:r>
                <a:r>
                  <a:rPr lang="en-US" dirty="0" err="1" smtClean="0"/>
                  <a:t>noodhulpmiddelen</a:t>
                </a:r>
                <a:r>
                  <a:rPr lang="en-US" dirty="0" smtClean="0"/>
                  <a:t>. </a:t>
                </a:r>
              </a:p>
              <a:p>
                <a:pPr eaLnBrk="1" hangingPunct="1"/>
                <a:endParaRPr lang="en-US" dirty="0"/>
              </a:p>
              <a:p>
                <a:pPr eaLnBrk="1" hangingPunct="1"/>
                <a:r>
                  <a:rPr lang="en-US" dirty="0" err="1" smtClean="0"/>
                  <a:t>Er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geldt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dat</a:t>
                </a:r>
                <a:r>
                  <a:rPr lang="en-US" dirty="0" smtClean="0"/>
                  <a:t>:</a:t>
                </a: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=32,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=6</m:t>
                        </m:r>
                      </m:e>
                    </m:d>
                  </m:oMath>
                </a14:m>
                <a:endParaRPr lang="en-US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We </a:t>
                </a:r>
                <a:r>
                  <a:rPr lang="en-US" dirty="0" err="1" smtClean="0"/>
                  <a:t>willen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kans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≤30)</m:t>
                    </m:r>
                  </m:oMath>
                </a14:m>
                <a:r>
                  <a:rPr lang="en-US" dirty="0" smtClean="0"/>
                  <a:t> bepalen</a:t>
                </a:r>
                <a:endParaRPr lang="en-US" b="1" dirty="0" smtClean="0"/>
              </a:p>
              <a:p>
                <a:pPr marL="457200" indent="-457200" eaLnBrk="1" hangingPunct="1">
                  <a:buFont typeface="+mj-lt"/>
                  <a:buAutoNum type="arabicPeriod" startAt="2"/>
                </a:pPr>
                <a:endParaRPr lang="en-US" b="1" dirty="0"/>
              </a:p>
              <a:p>
                <a:pPr marL="457200" indent="-457200" eaLnBrk="1" hangingPunct="1">
                  <a:buFont typeface="+mj-lt"/>
                  <a:buAutoNum type="arabicPeriod" startAt="2"/>
                </a:pPr>
                <a:endParaRPr lang="en-US" b="1" dirty="0" smtClean="0"/>
              </a:p>
            </p:txBody>
          </p:sp>
        </mc:Choice>
        <mc:Fallback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  <a:blipFill>
                <a:blip r:embed="rId2"/>
                <a:stretch>
                  <a:fillRect l="-1608" t="-200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954EBD1-29D6-4680-A43E-6930799C0313}" type="datetime4">
              <a:rPr lang="nl-NL" smtClean="0"/>
              <a:t>7 april 2026</a:t>
            </a:fld>
            <a:endParaRPr lang="nl-NL" dirty="0" smtClean="0"/>
          </a:p>
        </p:txBody>
      </p:sp>
      <p:pic>
        <p:nvPicPr>
          <p:cNvPr id="2" name="Afbeelding 1"/>
          <p:cNvPicPr>
            <a:picLocks noChangeAspect="1"/>
          </p:cNvPicPr>
          <p:nvPr/>
        </p:nvPicPr>
        <p:blipFill rotWithShape="1">
          <a:blip r:embed="rId3"/>
          <a:srcRect l="18704" t="19990" r="6485" b="9136"/>
          <a:stretch/>
        </p:blipFill>
        <p:spPr>
          <a:xfrm>
            <a:off x="5591944" y="2791953"/>
            <a:ext cx="6500405" cy="3335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665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6" y="1265241"/>
            <a:ext cx="11042653" cy="400110"/>
          </a:xfrm>
        </p:spPr>
        <p:txBody>
          <a:bodyPr/>
          <a:lstStyle/>
          <a:p>
            <a:r>
              <a:rPr lang="en-US" dirty="0"/>
              <a:t>Wat is de </a:t>
            </a:r>
            <a:r>
              <a:rPr lang="en-US" dirty="0" err="1"/>
              <a:t>kans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hulpvlucht</a:t>
            </a:r>
            <a:r>
              <a:rPr lang="en-US" dirty="0"/>
              <a:t> </a:t>
            </a:r>
            <a:r>
              <a:rPr lang="en-US" dirty="0" err="1"/>
              <a:t>binnen</a:t>
            </a:r>
            <a:r>
              <a:rPr lang="en-US" dirty="0"/>
              <a:t> 30 </a:t>
            </a:r>
            <a:r>
              <a:rPr lang="en-US" dirty="0" err="1"/>
              <a:t>uur</a:t>
            </a:r>
            <a:r>
              <a:rPr lang="en-US" dirty="0"/>
              <a:t> </a:t>
            </a:r>
            <a:r>
              <a:rPr lang="en-US" dirty="0" err="1"/>
              <a:t>aankomt</a:t>
            </a:r>
            <a:r>
              <a:rPr lang="en-US" dirty="0"/>
              <a:t>?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</p:spPr>
            <p:txBody>
              <a:bodyPr/>
              <a:lstStyle/>
              <a:p>
                <a:pPr marL="457200" indent="-457200" eaLnBrk="1" hangingPunct="1">
                  <a:buFont typeface="+mj-lt"/>
                  <a:buAutoNum type="arabicPeriod" startAt="2"/>
                </a:pPr>
                <a:r>
                  <a:rPr lang="en-US" b="1" dirty="0" smtClean="0"/>
                  <a:t>Bereken de </a:t>
                </a:r>
                <a:r>
                  <a:rPr lang="en-US" b="1" dirty="0" err="1" smtClean="0"/>
                  <a:t>gevraagde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kans</a:t>
                </a:r>
                <a:r>
                  <a:rPr lang="en-US" b="1" dirty="0" smtClean="0"/>
                  <a:t> met </a:t>
                </a:r>
                <a:r>
                  <a:rPr lang="en-US" b="1" dirty="0" err="1" smtClean="0"/>
                  <a:t>behulp</a:t>
                </a:r>
                <a:r>
                  <a:rPr lang="en-US" b="1" dirty="0" smtClean="0"/>
                  <a:t> van de z-score </a:t>
                </a:r>
              </a:p>
              <a:p>
                <a:pPr eaLnBrk="1" hangingPunct="1"/>
                <a:r>
                  <a:rPr lang="en-US" dirty="0" err="1" smtClean="0"/>
                  <a:t>Gegeven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=32,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=6</m:t>
                        </m:r>
                      </m:e>
                    </m:d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bijbehorende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uitkomst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=30,</m:t>
                    </m:r>
                  </m:oMath>
                </a14:m>
                <a:r>
                  <a:rPr lang="en-US" dirty="0" smtClean="0"/>
                  <a:t> is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 smtClean="0"/>
                  <a:t>-score </a:t>
                </a:r>
                <a:r>
                  <a:rPr lang="en-US" dirty="0" err="1" smtClean="0"/>
                  <a:t>gelijk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aan</a:t>
                </a:r>
                <a:r>
                  <a:rPr lang="en-US" dirty="0" smtClean="0"/>
                  <a:t> </a:t>
                </a:r>
              </a:p>
              <a:p>
                <a:pPr eaLnBrk="1" hangingPunct="1"/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30−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pPr eaLnBrk="1" hangingPunct="1"/>
                <a:endParaRPr lang="en-US" dirty="0" smtClean="0"/>
              </a:p>
              <a:p>
                <a:pPr eaLnBrk="1" hangingPunct="1"/>
                <a:r>
                  <a:rPr lang="en-US" dirty="0" smtClean="0"/>
                  <a:t>De </a:t>
                </a:r>
                <a:r>
                  <a:rPr lang="en-US" dirty="0" err="1" smtClean="0"/>
                  <a:t>gevraagde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kans</a:t>
                </a:r>
                <a:r>
                  <a:rPr lang="en-US" dirty="0" smtClean="0"/>
                  <a:t> is </a:t>
                </a:r>
                <a:r>
                  <a:rPr lang="en-US" dirty="0" err="1" smtClean="0"/>
                  <a:t>dus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gelijk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aan</a:t>
                </a:r>
                <a:r>
                  <a:rPr lang="en-US" dirty="0" smtClean="0"/>
                  <a:t>:</a:t>
                </a:r>
              </a:p>
              <a:p>
                <a:pPr eaLnBrk="1" hangingPunct="1"/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≤30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normalcdf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99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≈0.3694</m:t>
                      </m:r>
                    </m:oMath>
                  </m:oMathPara>
                </a14:m>
                <a:endParaRPr lang="en-US" b="0" dirty="0" smtClean="0"/>
              </a:p>
              <a:p>
                <a:pPr eaLnBrk="1" hangingPunct="1"/>
                <a:endParaRPr lang="en-US" b="1" dirty="0" smtClean="0"/>
              </a:p>
              <a:p>
                <a:pPr algn="ctr" eaLnBrk="1" hangingPunct="1"/>
                <a:r>
                  <a:rPr lang="en-US" b="1" dirty="0" err="1" smtClean="0"/>
                  <a:t>Een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vlucht</a:t>
                </a:r>
                <a:r>
                  <a:rPr lang="en-US" b="1" dirty="0" smtClean="0"/>
                  <a:t> met </a:t>
                </a:r>
                <a:r>
                  <a:rPr lang="en-US" b="1" dirty="0" err="1" smtClean="0"/>
                  <a:t>noodhulpgoederen</a:t>
                </a:r>
                <a:r>
                  <a:rPr lang="en-US" b="1" dirty="0" smtClean="0"/>
                  <a:t> is met 36.94% </a:t>
                </a:r>
                <a:r>
                  <a:rPr lang="en-US" b="1" dirty="0" err="1" smtClean="0"/>
                  <a:t>kans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binnen</a:t>
                </a:r>
                <a:r>
                  <a:rPr lang="en-US" b="1" dirty="0" smtClean="0"/>
                  <a:t> 30 </a:t>
                </a:r>
                <a:r>
                  <a:rPr lang="en-US" b="1" dirty="0" err="1" smtClean="0"/>
                  <a:t>uur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ter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plaatse</a:t>
                </a:r>
                <a:r>
                  <a:rPr lang="en-US" b="1" dirty="0" smtClean="0"/>
                  <a:t>.</a:t>
                </a:r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  <a:blipFill>
                <a:blip r:embed="rId2"/>
                <a:stretch>
                  <a:fillRect l="-1608" t="-2009" b="-243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954EBD1-29D6-4680-A43E-6930799C0313}" type="datetime4">
              <a:rPr lang="nl-NL" smtClean="0"/>
              <a:t>7 april 2026</a:t>
            </a:fld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2952048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146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US" b="0" dirty="0" smtClean="0"/>
                  <a:t>Samenvatting: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 smtClean="0"/>
                  <a:t>-score</a:t>
                </a:r>
                <a:endParaRPr lang="nl-NL" dirty="0" smtClean="0"/>
              </a:p>
            </p:txBody>
          </p:sp>
        </mc:Choice>
        <mc:Fallback>
          <p:sp>
            <p:nvSpPr>
              <p:cNvPr id="6146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118" t="-25714" b="-5000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</p:spPr>
            <p:txBody>
              <a:bodyPr/>
              <a:lstStyle/>
              <a:p>
                <a:pPr eaLnBrk="1" hangingPunct="1"/>
                <a:r>
                  <a:rPr lang="en-US" sz="2400" dirty="0" smtClean="0"/>
                  <a:t>Met de </a:t>
                </a:r>
                <a:r>
                  <a:rPr lang="en-US" sz="2400" dirty="0" err="1" smtClean="0"/>
                  <a:t>grafische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rekenmachine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kunnen</a:t>
                </a:r>
                <a:r>
                  <a:rPr lang="en-US" sz="2400" dirty="0" smtClean="0"/>
                  <a:t> we </a:t>
                </a:r>
                <a:r>
                  <a:rPr lang="en-US" sz="2400" dirty="0" err="1" smtClean="0"/>
                  <a:t>veel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berekenen</a:t>
                </a:r>
                <a:r>
                  <a:rPr lang="en-US" sz="2400" dirty="0" smtClean="0"/>
                  <a:t> met </a:t>
                </a:r>
                <a:r>
                  <a:rPr lang="en-US" sz="2400" b="1" dirty="0" err="1" smtClean="0"/>
                  <a:t>normalcdf</a:t>
                </a:r>
                <a:r>
                  <a:rPr lang="en-US" sz="2400" b="1" dirty="0" smtClean="0"/>
                  <a:t>.</a:t>
                </a:r>
              </a:p>
              <a:p>
                <a:pPr eaLnBrk="1" hangingPunct="1"/>
                <a:r>
                  <a:rPr lang="en-US" sz="2400" dirty="0" err="1" smtClean="0"/>
                  <a:t>Echter</a:t>
                </a:r>
                <a:r>
                  <a:rPr lang="en-US" sz="2400" dirty="0" smtClean="0"/>
                  <a:t>, de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 smtClean="0"/>
                  <a:t>-score </a:t>
                </a:r>
                <a:r>
                  <a:rPr lang="en-US" sz="2400" dirty="0" err="1" smtClean="0"/>
                  <a:t>geeft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een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dieper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inzicht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en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stelt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ons</a:t>
                </a:r>
                <a:r>
                  <a:rPr lang="en-US" sz="2400" dirty="0" smtClean="0"/>
                  <a:t> in </a:t>
                </a:r>
                <a:r>
                  <a:rPr lang="en-US" sz="2400" dirty="0" err="1" smtClean="0"/>
                  <a:t>staat</a:t>
                </a:r>
                <a:r>
                  <a:rPr lang="en-US" sz="2400" dirty="0"/>
                  <a:t> </a:t>
                </a:r>
                <a:r>
                  <a:rPr lang="en-US" sz="2400" dirty="0" smtClean="0"/>
                  <a:t>om:</a:t>
                </a:r>
                <a:endParaRPr lang="en-US" sz="2400" dirty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r>
                  <a:rPr lang="en-US" dirty="0" err="1" smtClean="0"/>
                  <a:t>Uitkomsten</a:t>
                </a:r>
                <a:r>
                  <a:rPr lang="en-US" dirty="0" smtClean="0"/>
                  <a:t> uit </a:t>
                </a:r>
                <a:r>
                  <a:rPr lang="en-US" dirty="0" err="1" smtClean="0"/>
                  <a:t>verschillende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populaties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te</a:t>
                </a:r>
                <a:r>
                  <a:rPr lang="en-US" dirty="0" smtClean="0"/>
                  <a:t> </a:t>
                </a:r>
                <a:r>
                  <a:rPr lang="en-US" i="1" dirty="0" err="1" smtClean="0"/>
                  <a:t>vergelijken</a:t>
                </a:r>
                <a:r>
                  <a:rPr lang="en-US" dirty="0" smtClean="0"/>
                  <a:t> (</a:t>
                </a:r>
                <a:r>
                  <a:rPr lang="en-US" dirty="0" err="1" smtClean="0"/>
                  <a:t>d.m.v</a:t>
                </a:r>
                <a:r>
                  <a:rPr lang="en-US" dirty="0" smtClean="0"/>
                  <a:t>. </a:t>
                </a:r>
                <a:r>
                  <a:rPr lang="en-US" dirty="0" err="1" smtClean="0"/>
                  <a:t>gestandaardiseerde</a:t>
                </a:r>
                <a:r>
                  <a:rPr lang="en-US" dirty="0" smtClean="0"/>
                  <a:t> score)</a:t>
                </a:r>
                <a:endParaRPr lang="en-US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Outliers </a:t>
                </a:r>
                <a:r>
                  <a:rPr lang="en-US" dirty="0" err="1" smtClean="0"/>
                  <a:t>te</a:t>
                </a:r>
                <a:r>
                  <a:rPr lang="en-US" dirty="0" smtClean="0"/>
                  <a:t> </a:t>
                </a:r>
                <a:r>
                  <a:rPr lang="en-US" i="1" dirty="0" err="1" smtClean="0"/>
                  <a:t>detecteren</a:t>
                </a:r>
                <a:r>
                  <a:rPr lang="en-US" dirty="0" smtClean="0"/>
                  <a:t> (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zeer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hoge</a:t>
                </a:r>
                <a:r>
                  <a:rPr lang="en-US" dirty="0" smtClean="0"/>
                  <a:t> of </a:t>
                </a:r>
                <a:r>
                  <a:rPr lang="en-US" dirty="0" err="1" smtClean="0"/>
                  <a:t>zeer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lage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 smtClean="0"/>
                  <a:t>-</a:t>
                </a:r>
                <a:r>
                  <a:rPr lang="en-US" dirty="0" smtClean="0"/>
                  <a:t>score </a:t>
                </a:r>
                <a:r>
                  <a:rPr lang="en-US" dirty="0" err="1" smtClean="0"/>
                  <a:t>duidt</a:t>
                </a:r>
                <a:r>
                  <a:rPr lang="en-US" dirty="0" smtClean="0"/>
                  <a:t> op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smtClean="0"/>
                  <a:t>extreme </a:t>
                </a:r>
                <a:r>
                  <a:rPr lang="en-US" dirty="0" err="1" smtClean="0"/>
                  <a:t>uitkomst</a:t>
                </a:r>
                <a:r>
                  <a:rPr lang="en-US" dirty="0" smtClean="0"/>
                  <a:t>)</a:t>
                </a:r>
                <a:endParaRPr lang="en-US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r>
                  <a:rPr lang="en-US" dirty="0" err="1" smtClean="0"/>
                  <a:t>Betrouwbaarheidsintervallen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te</a:t>
                </a:r>
                <a:r>
                  <a:rPr lang="en-US" dirty="0" smtClean="0"/>
                  <a:t> </a:t>
                </a:r>
                <a:r>
                  <a:rPr lang="en-US" i="1" dirty="0" err="1" smtClean="0"/>
                  <a:t>berekenen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hypothesetoetsen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uit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te</a:t>
                </a:r>
                <a:r>
                  <a:rPr lang="en-US" dirty="0" smtClean="0"/>
                  <a:t> </a:t>
                </a:r>
                <a:r>
                  <a:rPr lang="en-US" i="1" dirty="0" err="1" smtClean="0"/>
                  <a:t>voeren</a:t>
                </a:r>
                <a:endParaRPr lang="en-US" i="1" dirty="0" smtClean="0"/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/>
                  <a:t>Meer </a:t>
                </a:r>
                <a:r>
                  <a:rPr lang="en-US" sz="2000" dirty="0" err="1" smtClean="0"/>
                  <a:t>hierover</a:t>
                </a:r>
                <a:r>
                  <a:rPr lang="en-US" sz="2000" dirty="0" smtClean="0"/>
                  <a:t> in </a:t>
                </a:r>
                <a:r>
                  <a:rPr lang="en-US" sz="2000" dirty="0" err="1" smtClean="0"/>
                  <a:t>Statistiek</a:t>
                </a:r>
                <a:r>
                  <a:rPr lang="en-US" sz="2000" dirty="0" smtClean="0"/>
                  <a:t> </a:t>
                </a:r>
                <a:r>
                  <a:rPr lang="en-US" sz="2000" dirty="0" err="1" smtClean="0"/>
                  <a:t>deel</a:t>
                </a:r>
                <a:r>
                  <a:rPr lang="en-US" sz="2000" dirty="0" smtClean="0"/>
                  <a:t> 2</a:t>
                </a:r>
              </a:p>
              <a:p>
                <a:pPr eaLnBrk="1" hangingPunct="1"/>
                <a:endParaRPr lang="en-US" b="1" dirty="0"/>
              </a:p>
              <a:p>
                <a:pPr eaLnBrk="1" hangingPunct="1"/>
                <a:endParaRPr lang="en-US" b="1" dirty="0" smtClean="0"/>
              </a:p>
              <a:p>
                <a:pPr eaLnBrk="1" hangingPunct="1"/>
                <a:endParaRPr lang="en-US" b="1" dirty="0"/>
              </a:p>
              <a:p>
                <a:pPr eaLnBrk="1" hangingPunct="1"/>
                <a:endParaRPr lang="en-US" b="1" dirty="0" smtClean="0"/>
              </a:p>
              <a:p>
                <a:pPr eaLnBrk="1" hangingPunct="1"/>
                <a:endParaRPr lang="en-US" b="1" dirty="0"/>
              </a:p>
              <a:p>
                <a:pPr eaLnBrk="1" hangingPunct="1"/>
                <a:endParaRPr lang="en-US" b="1" dirty="0" smtClean="0"/>
              </a:p>
              <a:p>
                <a:pPr eaLnBrk="1" hangingPunct="1"/>
                <a:endParaRPr lang="en-US" b="1" dirty="0"/>
              </a:p>
              <a:p>
                <a:pPr eaLnBrk="1" hangingPunct="1"/>
                <a:endParaRPr lang="en-US" b="1" dirty="0" smtClean="0"/>
              </a:p>
              <a:p>
                <a:pPr eaLnBrk="1" hangingPunct="1"/>
                <a:endParaRPr lang="en-US" dirty="0"/>
              </a:p>
            </p:txBody>
          </p:sp>
        </mc:Choice>
        <mc:Fallback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  <a:blipFill>
                <a:blip r:embed="rId3"/>
                <a:stretch>
                  <a:fillRect l="-1723" t="-258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54EBD1-29D6-4680-A43E-6930799C0313}" type="datetime4">
              <a:rPr kumimoji="0" lang="nl-NL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 april 2026</a:t>
            </a:fld>
            <a:endParaRPr kumimoji="0" lang="nl-NL" sz="11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371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6" y="1265241"/>
            <a:ext cx="10897707" cy="430887"/>
          </a:xfrm>
        </p:spPr>
        <p:txBody>
          <a:bodyPr/>
          <a:lstStyle/>
          <a:p>
            <a:r>
              <a:rPr lang="en-US" b="1" dirty="0" smtClean="0"/>
              <a:t>Van </a:t>
            </a:r>
            <a:r>
              <a:rPr lang="en-US" b="1" dirty="0" err="1" smtClean="0"/>
              <a:t>kansen</a:t>
            </a:r>
            <a:r>
              <a:rPr lang="en-US" b="1" dirty="0" smtClean="0"/>
              <a:t> </a:t>
            </a:r>
            <a:r>
              <a:rPr lang="en-US" b="1" dirty="0" err="1" smtClean="0"/>
              <a:t>naar</a:t>
            </a:r>
            <a:r>
              <a:rPr lang="en-US" b="1" dirty="0" smtClean="0"/>
              <a:t> </a:t>
            </a:r>
            <a:r>
              <a:rPr lang="en-US" b="1" dirty="0" err="1" smtClean="0"/>
              <a:t>grenswaarden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</p:spPr>
            <p:txBody>
              <a:bodyPr/>
              <a:lstStyle/>
              <a:p>
                <a:pPr eaLnBrk="1" hangingPunct="1"/>
                <a:r>
                  <a:rPr lang="en-US" dirty="0" smtClean="0"/>
                  <a:t>We </a:t>
                </a:r>
                <a:r>
                  <a:rPr lang="en-US" dirty="0" err="1" smtClean="0"/>
                  <a:t>kunnen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ook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voor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gegeven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kans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bepalen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welke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grenswaarde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hierbij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hoort</a:t>
                </a:r>
                <a:r>
                  <a:rPr lang="en-US" dirty="0" smtClean="0"/>
                  <a:t>:</a:t>
                </a:r>
              </a:p>
              <a:p>
                <a:pPr algn="ctr" eaLnBrk="1" hangingPunct="1"/>
                <a:endParaRPr lang="en-US" dirty="0" smtClean="0"/>
              </a:p>
              <a:p>
                <a:pPr eaLnBrk="1" hangingPunct="1"/>
                <a:r>
                  <a:rPr lang="en-US" b="1" dirty="0" smtClean="0"/>
                  <a:t>“</a:t>
                </a:r>
                <a:r>
                  <a:rPr lang="en-US" b="1" dirty="0" err="1" smtClean="0"/>
                  <a:t>Gegeven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een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kans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b="1" dirty="0" smtClean="0"/>
                  <a:t>, </a:t>
                </a:r>
                <a:r>
                  <a:rPr lang="en-US" b="1" dirty="0" err="1" smtClean="0"/>
                  <a:t>voor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welke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grenswaarde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US" b="1" dirty="0" smtClean="0"/>
                  <a:t> </a:t>
                </a:r>
                <a:r>
                  <a:rPr lang="en-US" b="1" dirty="0" err="1" smtClean="0"/>
                  <a:t>geldt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b="1" dirty="0" smtClean="0"/>
                  <a:t>?”</a:t>
                </a:r>
              </a:p>
              <a:p>
                <a:pPr algn="ctr" eaLnBrk="1" hangingPunct="1"/>
                <a:endParaRPr lang="en-US" b="1" dirty="0"/>
              </a:p>
              <a:p>
                <a:pPr algn="ctr" eaLnBrk="1" hangingPunct="1"/>
                <a:endParaRPr lang="en-US" b="1" dirty="0" smtClean="0"/>
              </a:p>
              <a:p>
                <a:pPr algn="ctr" eaLnBrk="1" hangingPunct="1"/>
                <a:endParaRPr lang="en-US" b="1" dirty="0"/>
              </a:p>
              <a:p>
                <a:pPr eaLnBrk="1" hangingPunct="1"/>
                <a:endParaRPr lang="en-US" b="1" dirty="0" smtClean="0"/>
              </a:p>
              <a:p>
                <a:pPr eaLnBrk="1" hangingPunct="1"/>
                <a:endParaRPr lang="en-US" b="1" dirty="0"/>
              </a:p>
              <a:p>
                <a:pPr eaLnBrk="1" hangingPunct="1"/>
                <a:endParaRPr lang="en-US" b="1" dirty="0" smtClean="0"/>
              </a:p>
              <a:p>
                <a:pPr eaLnBrk="1" hangingPunct="1"/>
                <a:endParaRPr lang="en-US" b="1" dirty="0" smtClean="0"/>
              </a:p>
              <a:p>
                <a:pPr eaLnBrk="1" hangingPunct="1"/>
                <a:endParaRPr lang="en-US" b="1" dirty="0" smtClean="0"/>
              </a:p>
              <a:p>
                <a:pPr eaLnBrk="1" hangingPunct="1"/>
                <a:endParaRPr lang="en-US" b="1" dirty="0"/>
              </a:p>
              <a:p>
                <a:pPr eaLnBrk="1" hangingPunct="1"/>
                <a:r>
                  <a:rPr lang="en-US" dirty="0" smtClean="0"/>
                  <a:t> </a:t>
                </a:r>
              </a:p>
            </p:txBody>
          </p:sp>
        </mc:Choice>
        <mc:Fallback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  <a:blipFill>
                <a:blip r:embed="rId2"/>
                <a:stretch>
                  <a:fillRect l="-1608" t="-200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954EBD1-29D6-4680-A43E-6930799C0313}" type="datetime4">
              <a:rPr lang="nl-NL" smtClean="0"/>
              <a:t>7 april 2026</a:t>
            </a:fld>
            <a:endParaRPr lang="nl-NL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448" y="3077953"/>
            <a:ext cx="4464496" cy="319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13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Voorbeeld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aardbeving</a:t>
            </a:r>
            <a:r>
              <a:rPr lang="en-US" dirty="0"/>
              <a:t> </a:t>
            </a:r>
            <a:r>
              <a:rPr lang="en-US" dirty="0" err="1"/>
              <a:t>vervoert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militaire</a:t>
            </a:r>
            <a:r>
              <a:rPr lang="en-US" dirty="0"/>
              <a:t> </a:t>
            </a:r>
            <a:r>
              <a:rPr lang="en-US" dirty="0" err="1"/>
              <a:t>luchtbrug</a:t>
            </a:r>
            <a:r>
              <a:rPr lang="en-US" dirty="0"/>
              <a:t> zo </a:t>
            </a:r>
            <a:r>
              <a:rPr lang="en-US" dirty="0" err="1"/>
              <a:t>snel</a:t>
            </a:r>
            <a:r>
              <a:rPr lang="en-US" dirty="0"/>
              <a:t> </a:t>
            </a:r>
            <a:r>
              <a:rPr lang="en-US" dirty="0" err="1"/>
              <a:t>mogelijk</a:t>
            </a:r>
            <a:r>
              <a:rPr lang="en-US" dirty="0"/>
              <a:t> </a:t>
            </a:r>
            <a:r>
              <a:rPr lang="en-US" dirty="0" err="1"/>
              <a:t>noodhulpgoederen</a:t>
            </a:r>
            <a:r>
              <a:rPr lang="en-US" dirty="0"/>
              <a:t> </a:t>
            </a:r>
            <a:r>
              <a:rPr lang="en-US" dirty="0" err="1"/>
              <a:t>zoals</a:t>
            </a:r>
            <a:r>
              <a:rPr lang="en-US" dirty="0"/>
              <a:t> water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voedsel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het </a:t>
            </a:r>
            <a:r>
              <a:rPr lang="en-US" dirty="0" err="1"/>
              <a:t>getroffen</a:t>
            </a:r>
            <a:r>
              <a:rPr lang="en-US" dirty="0"/>
              <a:t> </a:t>
            </a:r>
            <a:r>
              <a:rPr lang="en-US" dirty="0" err="1"/>
              <a:t>rampgebied</a:t>
            </a:r>
            <a:r>
              <a:rPr lang="en-US" dirty="0"/>
              <a:t>. De </a:t>
            </a:r>
            <a:r>
              <a:rPr lang="en-US" dirty="0" err="1"/>
              <a:t>levertijd</a:t>
            </a:r>
            <a:r>
              <a:rPr lang="en-US" dirty="0"/>
              <a:t> (in </a:t>
            </a:r>
            <a:r>
              <a:rPr lang="en-US" dirty="0" err="1"/>
              <a:t>uren</a:t>
            </a:r>
            <a:r>
              <a:rPr lang="en-US" dirty="0"/>
              <a:t>) van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vrachtvliegtuig</a:t>
            </a:r>
            <a:r>
              <a:rPr lang="en-US" dirty="0"/>
              <a:t> </a:t>
            </a:r>
            <a:r>
              <a:rPr lang="en-US" dirty="0" err="1"/>
              <a:t>wordt</a:t>
            </a:r>
            <a:r>
              <a:rPr lang="en-US" dirty="0"/>
              <a:t> </a:t>
            </a:r>
            <a:r>
              <a:rPr lang="en-US" dirty="0" err="1"/>
              <a:t>gemeten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deze</a:t>
            </a:r>
            <a:r>
              <a:rPr lang="en-US" dirty="0"/>
              <a:t> </a:t>
            </a:r>
            <a:r>
              <a:rPr lang="en-US" dirty="0" err="1"/>
              <a:t>blijkt</a:t>
            </a:r>
            <a:r>
              <a:rPr lang="en-US" dirty="0"/>
              <a:t> </a:t>
            </a:r>
            <a:r>
              <a:rPr lang="en-US" dirty="0" err="1"/>
              <a:t>normaal</a:t>
            </a:r>
            <a:r>
              <a:rPr lang="en-US" dirty="0"/>
              <a:t> </a:t>
            </a:r>
            <a:r>
              <a:rPr lang="en-US" dirty="0" err="1"/>
              <a:t>verdeeld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met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gemiddelde</a:t>
            </a:r>
            <a:r>
              <a:rPr lang="en-US" dirty="0"/>
              <a:t> van 32 </a:t>
            </a:r>
            <a:r>
              <a:rPr lang="en-US" dirty="0" err="1"/>
              <a:t>uur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standaardafwijking</a:t>
            </a:r>
            <a:r>
              <a:rPr lang="en-US" dirty="0"/>
              <a:t> van 6 </a:t>
            </a:r>
            <a:r>
              <a:rPr lang="en-US" dirty="0" err="1" smtClean="0"/>
              <a:t>uur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  <a:p>
            <a:pPr marL="457200" indent="-457200">
              <a:buFont typeface="+mj-lt"/>
              <a:buAutoNum type="alphaLcParenR"/>
            </a:pPr>
            <a:r>
              <a:rPr lang="en-US" dirty="0"/>
              <a:t>Wat is de </a:t>
            </a:r>
            <a:r>
              <a:rPr lang="en-US" dirty="0" err="1"/>
              <a:t>kans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hulpvlucht</a:t>
            </a:r>
            <a:r>
              <a:rPr lang="en-US" dirty="0"/>
              <a:t> </a:t>
            </a:r>
            <a:r>
              <a:rPr lang="en-US" b="1" dirty="0" err="1"/>
              <a:t>binnen</a:t>
            </a:r>
            <a:r>
              <a:rPr lang="en-US" b="1" dirty="0"/>
              <a:t> 30 </a:t>
            </a:r>
            <a:r>
              <a:rPr lang="en-US" b="1" dirty="0" err="1"/>
              <a:t>uur</a:t>
            </a:r>
            <a:r>
              <a:rPr lang="en-US" b="1" dirty="0"/>
              <a:t> </a:t>
            </a:r>
            <a:r>
              <a:rPr lang="en-US" dirty="0" err="1"/>
              <a:t>aankomt</a:t>
            </a:r>
            <a:r>
              <a:rPr lang="en-US" dirty="0"/>
              <a:t>?</a:t>
            </a:r>
          </a:p>
          <a:p>
            <a:endParaRPr lang="en-US" dirty="0" smtClean="0"/>
          </a:p>
          <a:p>
            <a:endParaRPr lang="en-US" dirty="0" smtClean="0"/>
          </a:p>
          <a:p>
            <a:pPr marL="457200" indent="-457200">
              <a:buFont typeface="+mj-lt"/>
              <a:buAutoNum type="alphaLcParenR" startAt="2"/>
            </a:pPr>
            <a:r>
              <a:rPr lang="en-US" dirty="0" err="1" smtClean="0"/>
              <a:t>Binnen</a:t>
            </a:r>
            <a:r>
              <a:rPr lang="en-US" dirty="0" smtClean="0"/>
              <a:t> </a:t>
            </a:r>
            <a:r>
              <a:rPr lang="en-US" dirty="0" err="1" smtClean="0"/>
              <a:t>hoeveel</a:t>
            </a:r>
            <a:r>
              <a:rPr lang="en-US" dirty="0" smtClean="0"/>
              <a:t> </a:t>
            </a:r>
            <a:r>
              <a:rPr lang="en-US" dirty="0" err="1" smtClean="0"/>
              <a:t>uur</a:t>
            </a:r>
            <a:r>
              <a:rPr lang="en-US" dirty="0" smtClean="0"/>
              <a:t> is 90% van de </a:t>
            </a:r>
            <a:r>
              <a:rPr lang="en-US" dirty="0" err="1" smtClean="0"/>
              <a:t>hulpvluchten</a:t>
            </a:r>
            <a:r>
              <a:rPr lang="en-US" dirty="0" smtClean="0"/>
              <a:t> </a:t>
            </a:r>
            <a:r>
              <a:rPr lang="en-US" dirty="0" err="1" smtClean="0"/>
              <a:t>gearriveerd</a:t>
            </a:r>
            <a:r>
              <a:rPr lang="en-US" dirty="0" smtClean="0"/>
              <a:t> in het </a:t>
            </a:r>
            <a:r>
              <a:rPr lang="en-US" dirty="0" err="1" smtClean="0"/>
              <a:t>rampgebied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5BA442-CF7C-446F-A5C6-9C80A1EA92B1}" type="datetime4">
              <a:rPr lang="nl-NL" smtClean="0"/>
              <a:t>7 april 2026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22769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6" y="1265241"/>
            <a:ext cx="10897707" cy="369332"/>
          </a:xfrm>
        </p:spPr>
        <p:txBody>
          <a:bodyPr/>
          <a:lstStyle/>
          <a:p>
            <a:r>
              <a:rPr lang="en-US" sz="2400" dirty="0" err="1"/>
              <a:t>Binnen</a:t>
            </a:r>
            <a:r>
              <a:rPr lang="en-US" sz="2400" dirty="0"/>
              <a:t> </a:t>
            </a:r>
            <a:r>
              <a:rPr lang="en-US" sz="2400" dirty="0" err="1"/>
              <a:t>hoeveel</a:t>
            </a:r>
            <a:r>
              <a:rPr lang="en-US" sz="2400" dirty="0"/>
              <a:t> </a:t>
            </a:r>
            <a:r>
              <a:rPr lang="en-US" sz="2400" dirty="0" err="1"/>
              <a:t>uur</a:t>
            </a:r>
            <a:r>
              <a:rPr lang="en-US" sz="2400" dirty="0"/>
              <a:t> is 90% van de </a:t>
            </a:r>
            <a:r>
              <a:rPr lang="en-US" sz="2400" dirty="0" err="1"/>
              <a:t>hulpvluchten</a:t>
            </a:r>
            <a:r>
              <a:rPr lang="en-US" sz="2400" dirty="0"/>
              <a:t> </a:t>
            </a:r>
            <a:r>
              <a:rPr lang="en-US" sz="2400" dirty="0" err="1"/>
              <a:t>gearriveerd</a:t>
            </a:r>
            <a:r>
              <a:rPr lang="en-US" sz="2400" dirty="0"/>
              <a:t> in het </a:t>
            </a:r>
            <a:r>
              <a:rPr lang="en-US" sz="2400" dirty="0" err="1"/>
              <a:t>rampgebied</a:t>
            </a:r>
            <a:r>
              <a:rPr lang="en-US" sz="2400" dirty="0"/>
              <a:t>?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1115848" cy="4246562"/>
              </a:xfrm>
            </p:spPr>
            <p:txBody>
              <a:bodyPr/>
              <a:lstStyle/>
              <a:p>
                <a:r>
                  <a:rPr lang="en-US" b="1" dirty="0" smtClean="0"/>
                  <a:t>“</a:t>
                </a:r>
                <a:r>
                  <a:rPr lang="en-US" b="1" dirty="0" err="1"/>
                  <a:t>Gegeven</a:t>
                </a:r>
                <a:r>
                  <a:rPr lang="en-US" b="1" dirty="0"/>
                  <a:t> </a:t>
                </a:r>
                <a:r>
                  <a:rPr lang="en-US" b="1" dirty="0" err="1"/>
                  <a:t>een</a:t>
                </a:r>
                <a:r>
                  <a:rPr lang="en-US" b="1" dirty="0"/>
                  <a:t> </a:t>
                </a:r>
                <a:r>
                  <a:rPr lang="en-US" b="1" dirty="0" err="1"/>
                  <a:t>kans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𝒑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nl-NL" b="1" i="1" smtClean="0">
                        <a:latin typeface="Cambria Math" panose="02040503050406030204" pitchFamily="18" charset="0"/>
                      </a:rPr>
                      <m:t>𝟗𝟎</m:t>
                    </m:r>
                  </m:oMath>
                </a14:m>
                <a:r>
                  <a:rPr lang="en-US" b="1" dirty="0"/>
                  <a:t>, </a:t>
                </a:r>
                <a:r>
                  <a:rPr lang="en-US" b="1" dirty="0" err="1"/>
                  <a:t>voor</a:t>
                </a:r>
                <a:r>
                  <a:rPr lang="en-US" b="1" dirty="0"/>
                  <a:t> </a:t>
                </a:r>
                <a:r>
                  <a:rPr lang="en-US" b="1" dirty="0" err="1"/>
                  <a:t>welke</a:t>
                </a:r>
                <a:r>
                  <a:rPr lang="en-US" b="1" dirty="0"/>
                  <a:t> </a:t>
                </a:r>
                <a:r>
                  <a:rPr lang="en-US" b="1" dirty="0" err="1"/>
                  <a:t>grenswaarde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b="1" dirty="0" err="1"/>
                  <a:t>geldt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𝒈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b="1" dirty="0"/>
                  <a:t>?”</a:t>
                </a:r>
              </a:p>
              <a:p>
                <a:endParaRPr lang="en-US" b="1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sz="2400" dirty="0" smtClean="0"/>
                  <a:t>Gebruik </a:t>
                </a:r>
                <a:r>
                  <a:rPr lang="nl-NL" sz="2400" dirty="0" smtClean="0"/>
                  <a:t>hiervoor de </a:t>
                </a:r>
                <a:r>
                  <a:rPr lang="nl-NL" sz="2400" dirty="0" smtClean="0"/>
                  <a:t>GR-functie </a:t>
                </a:r>
                <a:r>
                  <a:rPr lang="nl-NL" sz="2400" dirty="0" smtClean="0"/>
                  <a:t>“</a:t>
                </a:r>
                <a:r>
                  <a:rPr lang="nl-NL" sz="2400" b="1" dirty="0" err="1" smtClean="0"/>
                  <a:t>InvNorm</a:t>
                </a:r>
                <a:r>
                  <a:rPr lang="nl-NL" sz="2400" dirty="0" smtClean="0"/>
                  <a:t>” (</a:t>
                </a:r>
                <a:r>
                  <a:rPr lang="nl-NL" sz="2400" b="1" dirty="0" smtClean="0">
                    <a:solidFill>
                      <a:schemeClr val="accent1"/>
                    </a:solidFill>
                  </a:rPr>
                  <a:t>inverse </a:t>
                </a:r>
                <a:r>
                  <a:rPr lang="nl-NL" sz="2400" b="1" dirty="0" err="1" smtClean="0">
                    <a:solidFill>
                      <a:schemeClr val="accent1"/>
                    </a:solidFill>
                  </a:rPr>
                  <a:t>normalcdf</a:t>
                </a:r>
                <a:r>
                  <a:rPr lang="nl-NL" sz="2400" dirty="0" smtClean="0"/>
                  <a:t>)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nl-NL" sz="2400" b="0" i="0" dirty="0" smtClean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nl-NL" sz="2000" b="0" i="0" smtClean="0">
                        <a:latin typeface="Cambria Math" panose="02040503050406030204" pitchFamily="18" charset="0"/>
                      </a:rPr>
                      <m:t>(2</m:t>
                    </m:r>
                    <m:r>
                      <m:rPr>
                        <m:sty m:val="p"/>
                      </m:rPr>
                      <a:rPr lang="nl-NL" sz="2000" b="0" i="0" smtClean="0">
                        <a:latin typeface="Cambria Math" panose="02040503050406030204" pitchFamily="18" charset="0"/>
                      </a:rPr>
                      <m:t>nd</m:t>
                    </m:r>
                    <m:r>
                      <a:rPr lang="nl-NL" sz="2000" b="0" i="0" smtClean="0">
                        <a:latin typeface="Cambria Math" panose="02040503050406030204" pitchFamily="18" charset="0"/>
                      </a:rPr>
                      <m:t>)−</m:t>
                    </m:r>
                    <m:d>
                      <m:dPr>
                        <m:ctrlPr>
                          <a:rPr lang="nl-NL" sz="20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nl-NL" sz="2000" b="0" i="0" smtClean="0">
                            <a:latin typeface="Cambria Math" panose="02040503050406030204" pitchFamily="18" charset="0"/>
                          </a:rPr>
                          <m:t>vars</m:t>
                        </m:r>
                      </m:e>
                    </m:d>
                    <m:r>
                      <a:rPr lang="nl-NL" sz="2000" b="0" i="0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nl-NL" sz="2000" dirty="0" smtClean="0"/>
                  <a:t>:</a:t>
                </a:r>
                <a:endParaRPr lang="nl-NL" sz="2400" dirty="0" smtClean="0"/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nl-NL" dirty="0" smtClean="0"/>
                  <a:t>Eerst berekenen we de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nl-NL" dirty="0" smtClean="0"/>
                  <a:t>-score die hoort bij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90%</m:t>
                    </m:r>
                  </m:oMath>
                </a14:m>
                <a:r>
                  <a:rPr lang="nl-NL" dirty="0" smtClean="0"/>
                  <a:t>:</a:t>
                </a:r>
              </a:p>
              <a:p>
                <a:pPr lvl="1" indent="0">
                  <a:buNone/>
                </a:pPr>
                <a:r>
                  <a:rPr lang="nl-NL" dirty="0" smtClean="0"/>
                  <a:t> </a:t>
                </a:r>
                <a:endParaRPr lang="nl-NL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InvNorm</m:t>
                      </m:r>
                      <m:d>
                        <m:d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nl-NL" b="0" i="0" smtClean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=0.90,</m:t>
                          </m:r>
                          <m:r>
                            <a:rPr lang="nl-NL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≈1.2816</m:t>
                      </m:r>
                    </m:oMath>
                  </m:oMathPara>
                </a14:m>
                <a:endParaRPr lang="en-US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dirty="0" err="1" smtClean="0"/>
                  <a:t>Vertaal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deze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 smtClean="0"/>
                  <a:t>-score </a:t>
                </a:r>
                <a:r>
                  <a:rPr lang="en-US" dirty="0" err="1" smtClean="0"/>
                  <a:t>vervolgens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naar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grens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 smtClean="0"/>
                  <a:t> in de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=32,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=6)</m:t>
                    </m:r>
                  </m:oMath>
                </a14:m>
                <a:r>
                  <a:rPr lang="en-US" dirty="0" smtClean="0"/>
                  <a:t>-</a:t>
                </a:r>
                <a:r>
                  <a:rPr lang="en-US" dirty="0" err="1" smtClean="0"/>
                  <a:t>verdeling</a:t>
                </a:r>
                <a:r>
                  <a:rPr lang="en-US" dirty="0" smtClean="0"/>
                  <a:t>:</a:t>
                </a:r>
                <a:endParaRPr lang="en-US" b="0" dirty="0" smtClean="0"/>
              </a:p>
              <a:p>
                <a:pPr/>
                <a:endParaRPr lang="nl-NL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nl-NL" b="0" i="1" dirty="0" smtClean="0">
                  <a:latin typeface="Cambria Math" panose="02040503050406030204" pitchFamily="18" charset="0"/>
                </a:endParaRPr>
              </a:p>
              <a:p>
                <a:pPr/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=32+1.2816⋅6≈39.6893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uur</a:t>
                </a:r>
                <a:endParaRPr lang="en-US" dirty="0" smtClean="0"/>
              </a:p>
              <a:p>
                <a:endParaRPr lang="en-US" b="1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1115848" cy="4246562"/>
              </a:xfrm>
              <a:blipFill>
                <a:blip r:embed="rId2"/>
                <a:stretch>
                  <a:fillRect l="-1535" t="-2009" b="-8608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954EBD1-29D6-4680-A43E-6930799C0313}" type="datetime4">
              <a:rPr lang="nl-NL" smtClean="0"/>
              <a:t>7 april 2026</a:t>
            </a:fld>
            <a:endParaRPr lang="nl-NL" dirty="0" smtClean="0"/>
          </a:p>
        </p:txBody>
      </p:sp>
    </p:spTree>
    <p:extLst>
      <p:ext uri="{BB962C8B-B14F-4D97-AF65-F5344CB8AC3E}">
        <p14:creationId xmlns:p14="http://schemas.microsoft.com/office/powerpoint/2010/main" val="2493126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6" y="1265241"/>
            <a:ext cx="10897707" cy="430887"/>
          </a:xfrm>
        </p:spPr>
        <p:txBody>
          <a:bodyPr/>
          <a:lstStyle/>
          <a:p>
            <a:r>
              <a:rPr lang="en-US" b="1" dirty="0" err="1" smtClean="0"/>
              <a:t>InvNorm</a:t>
            </a:r>
            <a:r>
              <a:rPr lang="en-US" b="1" dirty="0" smtClean="0"/>
              <a:t> op de GR: </a:t>
            </a:r>
            <a:r>
              <a:rPr lang="en-US" b="1" dirty="0" err="1" smtClean="0"/>
              <a:t>betekenis</a:t>
            </a:r>
            <a:r>
              <a:rPr lang="en-US" b="1" dirty="0" smtClean="0"/>
              <a:t> van “Tail”</a:t>
            </a:r>
            <a:endParaRPr lang="en-US" b="1" dirty="0"/>
          </a:p>
        </p:txBody>
      </p:sp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954EBD1-29D6-4680-A43E-6930799C0313}" type="datetime4">
              <a:rPr lang="nl-NL" smtClean="0"/>
              <a:t>7 april 2026</a:t>
            </a:fld>
            <a:endParaRPr lang="nl-NL" dirty="0" smtClean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 rotWithShape="1">
          <a:blip r:embed="rId2"/>
          <a:srcRect l="34453" t="25442" r="4517" b="21856"/>
          <a:stretch/>
        </p:blipFill>
        <p:spPr>
          <a:xfrm>
            <a:off x="263352" y="1696128"/>
            <a:ext cx="4464496" cy="2088232"/>
          </a:xfrm>
          <a:prstGeom prst="rect">
            <a:avLst/>
          </a:prstGeom>
        </p:spPr>
      </p:pic>
      <p:pic>
        <p:nvPicPr>
          <p:cNvPr id="8" name="Afbeelding 7"/>
          <p:cNvPicPr>
            <a:picLocks noChangeAspect="1"/>
          </p:cNvPicPr>
          <p:nvPr/>
        </p:nvPicPr>
        <p:blipFill rotWithShape="1">
          <a:blip r:embed="rId3"/>
          <a:srcRect l="35017" t="25407" r="5249" b="21355"/>
          <a:stretch/>
        </p:blipFill>
        <p:spPr>
          <a:xfrm>
            <a:off x="3719736" y="3822915"/>
            <a:ext cx="4896544" cy="2363849"/>
          </a:xfrm>
          <a:prstGeom prst="rect">
            <a:avLst/>
          </a:prstGeom>
        </p:spPr>
      </p:pic>
      <p:pic>
        <p:nvPicPr>
          <p:cNvPr id="11" name="Afbeelding 10"/>
          <p:cNvPicPr>
            <a:picLocks noChangeAspect="1"/>
          </p:cNvPicPr>
          <p:nvPr/>
        </p:nvPicPr>
        <p:blipFill rotWithShape="1">
          <a:blip r:embed="rId4"/>
          <a:srcRect l="35971" t="25997" r="5746" b="21997"/>
          <a:stretch/>
        </p:blipFill>
        <p:spPr>
          <a:xfrm>
            <a:off x="7680176" y="1696128"/>
            <a:ext cx="4320481" cy="2088232"/>
          </a:xfrm>
          <a:prstGeom prst="rect">
            <a:avLst/>
          </a:prstGeom>
        </p:spPr>
      </p:pic>
      <p:cxnSp>
        <p:nvCxnSpPr>
          <p:cNvPr id="14" name="Rechte verbindingslijn met pijl 13"/>
          <p:cNvCxnSpPr/>
          <p:nvPr/>
        </p:nvCxnSpPr>
        <p:spPr bwMode="auto">
          <a:xfrm>
            <a:off x="2063552" y="3896519"/>
            <a:ext cx="554360" cy="1233128"/>
          </a:xfrm>
          <a:prstGeom prst="straightConnector1">
            <a:avLst/>
          </a:prstGeom>
          <a:noFill/>
          <a:ln>
            <a:noFill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9" name="Groep 18"/>
          <p:cNvGrpSpPr/>
          <p:nvPr/>
        </p:nvGrpSpPr>
        <p:grpSpPr>
          <a:xfrm>
            <a:off x="335360" y="3822915"/>
            <a:ext cx="2736304" cy="1839145"/>
            <a:chOff x="335360" y="3822915"/>
            <a:chExt cx="2736304" cy="18391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kstvak 11"/>
                <p:cNvSpPr txBox="1"/>
                <p:nvPr/>
              </p:nvSpPr>
              <p:spPr>
                <a:xfrm>
                  <a:off x="335360" y="4277065"/>
                  <a:ext cx="2736304" cy="1384995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nl-NL" dirty="0" smtClean="0">
                      <a:latin typeface="+mn-lt"/>
                    </a:rPr>
                    <a:t>Tail = “LEFT”</a:t>
                  </a:r>
                </a:p>
                <a:p>
                  <a:pPr algn="ctr"/>
                  <a:endParaRPr lang="nl-NL" dirty="0"/>
                </a:p>
                <a:p>
                  <a:pPr algn="ctr"/>
                  <a:r>
                    <a:rPr lang="nl-NL" sz="2000" dirty="0" smtClean="0"/>
                    <a:t>Grenswaarde </a:t>
                  </a:r>
                  <a14:m>
                    <m:oMath xmlns:m="http://schemas.openxmlformats.org/officeDocument/2006/math">
                      <m:r>
                        <a:rPr lang="nl-NL" sz="2000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nl-NL" sz="2000" dirty="0" smtClean="0"/>
                    <a:t> zodat:</a:t>
                  </a:r>
                </a:p>
                <a:p>
                  <a:pPr algn="ctr"/>
                  <a14:m>
                    <m:oMath xmlns:m="http://schemas.openxmlformats.org/officeDocument/2006/math">
                      <m:r>
                        <a:rPr lang="nl-NL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nl-NL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nl-NL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NL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a14:m>
                  <a:r>
                    <a:rPr lang="nl-NL" sz="2000" dirty="0" smtClean="0"/>
                    <a:t>?</a:t>
                  </a:r>
                  <a:endParaRPr lang="nl-NL" sz="2000" dirty="0"/>
                </a:p>
              </p:txBody>
            </p:sp>
          </mc:Choice>
          <mc:Fallback>
            <p:sp>
              <p:nvSpPr>
                <p:cNvPr id="12" name="Tekstvak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360" y="4277065"/>
                  <a:ext cx="2736304" cy="1384995"/>
                </a:xfrm>
                <a:prstGeom prst="rect">
                  <a:avLst/>
                </a:prstGeom>
                <a:blipFill>
                  <a:blip r:embed="rId5"/>
                  <a:stretch>
                    <a:fillRect t="-2165" b="-6494"/>
                  </a:stretch>
                </a:blipFill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Rechte verbindingslijn met pijl 16"/>
            <p:cNvCxnSpPr>
              <a:stCxn id="12" idx="0"/>
            </p:cNvCxnSpPr>
            <p:nvPr/>
          </p:nvCxnSpPr>
          <p:spPr bwMode="auto">
            <a:xfrm flipV="1">
              <a:off x="1703512" y="3822915"/>
              <a:ext cx="360040" cy="454150"/>
            </a:xfrm>
            <a:prstGeom prst="straightConnector1">
              <a:avLst/>
            </a:prstGeom>
            <a:ln>
              <a:tailEnd type="triangle"/>
            </a:ln>
            <a:ex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ep 23"/>
          <p:cNvGrpSpPr/>
          <p:nvPr/>
        </p:nvGrpSpPr>
        <p:grpSpPr>
          <a:xfrm>
            <a:off x="4790827" y="1696128"/>
            <a:ext cx="2736304" cy="2126787"/>
            <a:chOff x="344195" y="3314179"/>
            <a:chExt cx="2736304" cy="212678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kstvak 24"/>
                <p:cNvSpPr txBox="1"/>
                <p:nvPr/>
              </p:nvSpPr>
              <p:spPr>
                <a:xfrm>
                  <a:off x="344195" y="3314179"/>
                  <a:ext cx="2736304" cy="1600438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nl-NL" dirty="0" smtClean="0">
                      <a:latin typeface="+mn-lt"/>
                    </a:rPr>
                    <a:t>Tail = “CENTER”</a:t>
                  </a:r>
                </a:p>
                <a:p>
                  <a:pPr algn="ctr"/>
                  <a:endParaRPr lang="nl-NL" sz="1800" dirty="0" smtClean="0"/>
                </a:p>
                <a:p>
                  <a:pPr algn="ctr"/>
                  <a:r>
                    <a:rPr lang="nl-NL" sz="1600" dirty="0" smtClean="0"/>
                    <a:t>Grenswaarden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nl-NL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6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nl-NL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nl-NL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nl-NL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nl-NL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nl-NL" sz="1600" dirty="0" smtClean="0"/>
                    <a:t> zodat:</a:t>
                  </a:r>
                  <a:endParaRPr lang="nl-NL" sz="1600" dirty="0"/>
                </a:p>
                <a:p>
                  <a:pPr algn="ctr"/>
                  <a14:m>
                    <m:oMath xmlns:m="http://schemas.openxmlformats.org/officeDocument/2006/math">
                      <m:r>
                        <a:rPr lang="nl-NL" sz="1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nl-NL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nl-NL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18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nl-NL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nl-NL" sz="18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nl-NL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sz="1800" i="1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nl-NL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18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nl-NL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nl-NL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NL" sz="1800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a14:m>
                  <a:r>
                    <a:rPr lang="nl-NL" sz="1800" dirty="0"/>
                    <a:t>?</a:t>
                  </a:r>
                  <a:endParaRPr lang="nl-NL" sz="1800" dirty="0"/>
                </a:p>
                <a:p>
                  <a:pPr algn="ctr"/>
                  <a:endParaRPr lang="nl-NL" dirty="0">
                    <a:latin typeface="+mn-lt"/>
                  </a:endParaRPr>
                </a:p>
              </p:txBody>
            </p:sp>
          </mc:Choice>
          <mc:Fallback>
            <p:sp>
              <p:nvSpPr>
                <p:cNvPr id="25" name="Tekstvak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195" y="3314179"/>
                  <a:ext cx="2736304" cy="1600438"/>
                </a:xfrm>
                <a:prstGeom prst="rect">
                  <a:avLst/>
                </a:prstGeom>
                <a:blipFill>
                  <a:blip r:embed="rId6"/>
                  <a:stretch>
                    <a:fillRect t="-1873"/>
                  </a:stretch>
                </a:blipFill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Rechte verbindingslijn met pijl 25"/>
            <p:cNvCxnSpPr>
              <a:stCxn id="25" idx="2"/>
              <a:endCxn id="8" idx="0"/>
            </p:cNvCxnSpPr>
            <p:nvPr/>
          </p:nvCxnSpPr>
          <p:spPr bwMode="auto">
            <a:xfrm>
              <a:off x="1712347" y="4914617"/>
              <a:ext cx="9029" cy="526349"/>
            </a:xfrm>
            <a:prstGeom prst="straightConnector1">
              <a:avLst/>
            </a:prstGeom>
            <a:ln>
              <a:tailEnd type="triangle"/>
            </a:ln>
            <a:ex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ep 28"/>
          <p:cNvGrpSpPr/>
          <p:nvPr/>
        </p:nvGrpSpPr>
        <p:grpSpPr>
          <a:xfrm>
            <a:off x="9379225" y="3822915"/>
            <a:ext cx="2736304" cy="1949619"/>
            <a:chOff x="335360" y="3712441"/>
            <a:chExt cx="2736304" cy="194961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kstvak 29"/>
                <p:cNvSpPr txBox="1"/>
                <p:nvPr/>
              </p:nvSpPr>
              <p:spPr>
                <a:xfrm>
                  <a:off x="335360" y="4277065"/>
                  <a:ext cx="2736304" cy="1384995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nl-NL" dirty="0" smtClean="0">
                      <a:latin typeface="+mn-lt"/>
                    </a:rPr>
                    <a:t>Tail = “RIGHT”</a:t>
                  </a:r>
                </a:p>
                <a:p>
                  <a:pPr algn="ctr"/>
                  <a:endParaRPr lang="nl-NL" dirty="0"/>
                </a:p>
                <a:p>
                  <a:pPr algn="ctr"/>
                  <a:r>
                    <a:rPr lang="nl-NL" sz="2000" dirty="0"/>
                    <a:t>Grenswaarde </a:t>
                  </a:r>
                  <a14:m>
                    <m:oMath xmlns:m="http://schemas.openxmlformats.org/officeDocument/2006/math">
                      <m:r>
                        <a:rPr lang="nl-NL" sz="2000" i="1"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nl-NL" sz="2000" dirty="0"/>
                    <a:t> zodat:</a:t>
                  </a:r>
                </a:p>
                <a:p>
                  <a:pPr algn="ctr"/>
                  <a14:m>
                    <m:oMath xmlns:m="http://schemas.openxmlformats.org/officeDocument/2006/math">
                      <m:r>
                        <a:rPr lang="nl-NL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nl-NL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nl-NL" sz="2000" b="0" i="1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nl-NL" sz="20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nl-NL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NL" sz="2000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a14:m>
                  <a:r>
                    <a:rPr lang="nl-NL" sz="2000" dirty="0" smtClean="0"/>
                    <a:t>?</a:t>
                  </a:r>
                  <a:endParaRPr lang="nl-NL" sz="2000" dirty="0"/>
                </a:p>
              </p:txBody>
            </p:sp>
          </mc:Choice>
          <mc:Fallback>
            <p:sp>
              <p:nvSpPr>
                <p:cNvPr id="30" name="Tekstvak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360" y="4277065"/>
                  <a:ext cx="2736304" cy="1384995"/>
                </a:xfrm>
                <a:prstGeom prst="rect">
                  <a:avLst/>
                </a:prstGeom>
                <a:blipFill>
                  <a:blip r:embed="rId7"/>
                  <a:stretch>
                    <a:fillRect t="-2165" b="-6494"/>
                  </a:stretch>
                </a:blipFill>
              </p:spPr>
              <p:txBody>
                <a:bodyPr/>
                <a:lstStyle/>
                <a:p>
                  <a:r>
                    <a:rPr lang="nl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Rechte verbindingslijn met pijl 30"/>
            <p:cNvCxnSpPr>
              <a:stCxn id="30" idx="0"/>
            </p:cNvCxnSpPr>
            <p:nvPr/>
          </p:nvCxnSpPr>
          <p:spPr bwMode="auto">
            <a:xfrm flipH="1" flipV="1">
              <a:off x="868560" y="3712441"/>
              <a:ext cx="834952" cy="564624"/>
            </a:xfrm>
            <a:prstGeom prst="straightConnector1">
              <a:avLst/>
            </a:prstGeom>
            <a:ln>
              <a:tailEnd type="triangle"/>
            </a:ln>
            <a:ex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64830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41"/>
            <a:ext cx="10363200" cy="400110"/>
          </a:xfrm>
        </p:spPr>
        <p:txBody>
          <a:bodyPr/>
          <a:lstStyle/>
          <a:p>
            <a:r>
              <a:rPr lang="en-US" dirty="0" err="1" smtClean="0"/>
              <a:t>Overzicht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Meestal </a:t>
                </a:r>
                <a:r>
                  <a:rPr lang="en-US" dirty="0" err="1" smtClean="0"/>
                  <a:t>heb</a:t>
                </a:r>
                <a:r>
                  <a:rPr lang="en-US" dirty="0" smtClean="0"/>
                  <a:t> je </a:t>
                </a:r>
                <a:r>
                  <a:rPr lang="en-US" dirty="0" err="1" smtClean="0"/>
                  <a:t>te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maken</a:t>
                </a:r>
                <a:r>
                  <a:rPr lang="en-US" dirty="0" smtClean="0"/>
                  <a:t> met </a:t>
                </a:r>
                <a:r>
                  <a:rPr lang="en-US" dirty="0" err="1" smtClean="0"/>
                  <a:t>opgaves</a:t>
                </a:r>
                <a:r>
                  <a:rPr lang="en-US" dirty="0" smtClean="0"/>
                  <a:t> met </a:t>
                </a:r>
                <a:r>
                  <a:rPr lang="en-US" dirty="0" err="1" smtClean="0"/>
                  <a:t>vijf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onbekenden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waarvan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vier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gegeven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zijn</a:t>
                </a:r>
                <a:r>
                  <a:rPr lang="en-US" dirty="0" smtClean="0"/>
                  <a:t>: </a:t>
                </a: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0" dirty="0" err="1" smtClean="0"/>
                  <a:t>Gemiddelde</a:t>
                </a:r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b="0" dirty="0" smtClean="0"/>
                  <a:t> </a:t>
                </a:r>
                <a:r>
                  <a:rPr lang="en-US" b="0" dirty="0" err="1" smtClean="0"/>
                  <a:t>en</a:t>
                </a:r>
                <a:r>
                  <a:rPr lang="en-US" b="0" dirty="0" smtClean="0"/>
                  <a:t> </a:t>
                </a:r>
                <a:r>
                  <a:rPr lang="en-US" b="0" dirty="0" err="1" smtClean="0"/>
                  <a:t>standaardafwijking</a:t>
                </a:r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b="0" dirty="0" smtClean="0"/>
                  <a:t> </a:t>
                </a:r>
                <a:endParaRPr lang="en-US" b="0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0" dirty="0" err="1" smtClean="0"/>
                  <a:t>Linkergrens</a:t>
                </a:r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en </a:t>
                </a:r>
                <a:r>
                  <a:rPr lang="en-US" dirty="0" smtClean="0"/>
                  <a:t>rechtergrens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b="0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err="1" smtClean="0"/>
                  <a:t>Kans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r>
                  <a:rPr lang="en-US" b="1" dirty="0" err="1" smtClean="0"/>
                  <a:t>Algemeen</a:t>
                </a:r>
                <a:r>
                  <a:rPr lang="en-US" b="1" dirty="0" smtClean="0"/>
                  <a:t>: </a:t>
                </a:r>
                <a:r>
                  <a:rPr lang="en-US" dirty="0" smtClean="0"/>
                  <a:t>solver-</a:t>
                </a:r>
                <a:r>
                  <a:rPr lang="en-US" dirty="0" err="1" smtClean="0"/>
                  <a:t>functie</a:t>
                </a:r>
                <a:r>
                  <a:rPr lang="en-US" dirty="0" smtClean="0"/>
                  <a:t> </a:t>
                </a:r>
                <a:r>
                  <a:rPr lang="en-US" dirty="0" smtClean="0"/>
                  <a:t>met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normalcdf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en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47" t="-2009" b="-301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5BA442-CF7C-446F-A5C6-9C80A1EA92B1}" type="datetime4">
              <a:rPr lang="nl-NL" smtClean="0"/>
              <a:t>7 april 2026</a:t>
            </a:fld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9532059"/>
                  </p:ext>
                </p:extLst>
              </p:nvPr>
            </p:nvGraphicFramePr>
            <p:xfrm>
              <a:off x="812800" y="3356992"/>
              <a:ext cx="11017224" cy="20116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672408">
                      <a:extLst>
                        <a:ext uri="{9D8B030D-6E8A-4147-A177-3AD203B41FA5}">
                          <a16:colId xmlns:a16="http://schemas.microsoft.com/office/drawing/2014/main" val="3621821465"/>
                        </a:ext>
                      </a:extLst>
                    </a:gridCol>
                    <a:gridCol w="3672408">
                      <a:extLst>
                        <a:ext uri="{9D8B030D-6E8A-4147-A177-3AD203B41FA5}">
                          <a16:colId xmlns:a16="http://schemas.microsoft.com/office/drawing/2014/main" val="2732559012"/>
                        </a:ext>
                      </a:extLst>
                    </a:gridCol>
                    <a:gridCol w="3672408">
                      <a:extLst>
                        <a:ext uri="{9D8B030D-6E8A-4147-A177-3AD203B41FA5}">
                          <a16:colId xmlns:a16="http://schemas.microsoft.com/office/drawing/2014/main" val="167916755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nl-NL" b="1" dirty="0"/>
                            <a:t>Gegeven (4 waarden bekend)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nl-NL" b="1" dirty="0"/>
                            <a:t>Gevraagde onbekende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nl-NL" b="1" dirty="0"/>
                            <a:t>Oplossing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395807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normalcdf</m:t>
                                </m:r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18568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=−∞,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en-US" dirty="0" smtClean="0"/>
                            <a:t>Rechtergrens</a:t>
                          </a:r>
                          <a:r>
                            <a:rPr lang="en-US" baseline="0" dirty="0" smtClean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nl-NL" dirty="0" smtClean="0"/>
                            <a:t> zodat </a:t>
                          </a:r>
                          <a14:m>
                            <m:oMath xmlns:m="http://schemas.openxmlformats.org/officeDocument/2006/math"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InvNorm</m:t>
                                </m:r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nl-NL" b="0" i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b="0" i="0" smtClean="0">
                                    <a:latin typeface="Cambria Math" panose="02040503050406030204" pitchFamily="18" charset="0"/>
                                  </a:rPr>
                                  <m:t>Tail</m:t>
                                </m:r>
                                <m:r>
                                  <a:rPr lang="nl-NL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nl-NL" b="0" i="0" smtClean="0">
                                    <a:latin typeface="Cambria Math" panose="02040503050406030204" pitchFamily="18" charset="0"/>
                                  </a:rPr>
                                  <m:t>left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5516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=∞,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Linkergrens</a:t>
                          </a:r>
                          <a:r>
                            <a:rPr lang="en-US" dirty="0" smtClean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r>
                            <a:rPr lang="nl-NL" dirty="0" smtClean="0"/>
                            <a:t> zodat </a:t>
                          </a:r>
                          <a14:m>
                            <m:oMath xmlns:m="http://schemas.openxmlformats.org/officeDocument/2006/math"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  <m:t>≥</m:t>
                                  </m:r>
                                  <m:r>
                                    <a:rPr lang="nl-NL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InvNorm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b="0" i="0" smtClean="0">
                                    <a:latin typeface="Cambria Math" panose="02040503050406030204" pitchFamily="18" charset="0"/>
                                  </a:rPr>
                                  <m:t>Tail</m:t>
                                </m:r>
                                <m:r>
                                  <a:rPr lang="nl-NL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nl-NL" b="0" i="0" smtClean="0">
                                    <a:latin typeface="Cambria Math" panose="02040503050406030204" pitchFamily="18" charset="0"/>
                                  </a:rPr>
                                  <m:t>right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i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9478775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9532059"/>
                  </p:ext>
                </p:extLst>
              </p:nvPr>
            </p:nvGraphicFramePr>
            <p:xfrm>
              <a:off x="812800" y="3356992"/>
              <a:ext cx="11017224" cy="20116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672408">
                      <a:extLst>
                        <a:ext uri="{9D8B030D-6E8A-4147-A177-3AD203B41FA5}">
                          <a16:colId xmlns:a16="http://schemas.microsoft.com/office/drawing/2014/main" val="3621821465"/>
                        </a:ext>
                      </a:extLst>
                    </a:gridCol>
                    <a:gridCol w="3672408">
                      <a:extLst>
                        <a:ext uri="{9D8B030D-6E8A-4147-A177-3AD203B41FA5}">
                          <a16:colId xmlns:a16="http://schemas.microsoft.com/office/drawing/2014/main" val="2732559012"/>
                        </a:ext>
                      </a:extLst>
                    </a:gridCol>
                    <a:gridCol w="3672408">
                      <a:extLst>
                        <a:ext uri="{9D8B030D-6E8A-4147-A177-3AD203B41FA5}">
                          <a16:colId xmlns:a16="http://schemas.microsoft.com/office/drawing/2014/main" val="1679167556"/>
                        </a:ext>
                      </a:extLst>
                    </a:gridCol>
                  </a:tblGrid>
                  <a:tr h="5029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nl-NL" b="1" dirty="0"/>
                            <a:t>Gegeven (4 waarden bekend)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nl-NL" b="1" dirty="0"/>
                            <a:t>Gevraagde onbekende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nl-NL" b="1" dirty="0"/>
                            <a:t>Oplossing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39580754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101205" r="-200166" b="-2084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32" t="-101205" r="-100498" b="-2084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1205" r="-332" b="-2084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1856831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203659" r="-200166" b="-1109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32" t="-203659" r="-100498" b="-1109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03659" r="-332" b="-1109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551626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6" t="-300000" r="-200166" b="-9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32" t="-300000" r="-100498" b="-9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00000" r="-332" b="-96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478775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71413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Buijs: </a:t>
            </a:r>
            <a:r>
              <a:rPr lang="en-US" dirty="0" err="1" smtClean="0"/>
              <a:t>opdracht</a:t>
            </a:r>
            <a:r>
              <a:rPr lang="en-US" dirty="0" smtClean="0"/>
              <a:t> 5.7</a:t>
            </a:r>
            <a:endParaRPr lang="nl-NL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</p:spPr>
            <p:txBody>
              <a:bodyPr/>
              <a:lstStyle/>
              <a:p>
                <a:pPr eaLnBrk="1" hangingPunct="1"/>
                <a:r>
                  <a:rPr lang="en-US" sz="2400" b="1" dirty="0" smtClean="0"/>
                  <a:t>In </a:t>
                </a:r>
                <a:r>
                  <a:rPr lang="en-US" sz="2400" b="1" dirty="0" err="1" smtClean="0"/>
                  <a:t>een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fabriek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staat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een</a:t>
                </a:r>
                <a:r>
                  <a:rPr lang="en-US" sz="2400" b="1" dirty="0" smtClean="0"/>
                  <a:t> machine met </a:t>
                </a:r>
                <a:r>
                  <a:rPr lang="en-US" sz="2400" b="1" dirty="0" err="1" smtClean="0"/>
                  <a:t>vier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identieke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onderdelen</a:t>
                </a:r>
                <a:r>
                  <a:rPr lang="en-US" sz="2400" b="1" dirty="0" smtClean="0"/>
                  <a:t>. </a:t>
                </a:r>
                <a:r>
                  <a:rPr lang="en-US" sz="2400" b="1" dirty="0" err="1" smtClean="0"/>
                  <a:t>Voor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alle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onderdelen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geldt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dat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deze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een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levensduur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hebben</a:t>
                </a:r>
                <a:r>
                  <a:rPr lang="en-US" sz="2400" b="1" dirty="0" smtClean="0"/>
                  <a:t> die </a:t>
                </a:r>
                <a:r>
                  <a:rPr lang="en-US" sz="2400" b="1" dirty="0" err="1" smtClean="0"/>
                  <a:t>normaal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verdeeld</a:t>
                </a:r>
                <a:r>
                  <a:rPr lang="en-US" sz="2400" b="1" dirty="0" smtClean="0"/>
                  <a:t> is met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𝟖𝟎𝟎𝟎</m:t>
                    </m:r>
                  </m:oMath>
                </a14:m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uur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en</a:t>
                </a:r>
                <a:r>
                  <a:rPr lang="en-US" sz="2400" b="1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𝟐𝟎𝟎𝟎</m:t>
                    </m:r>
                  </m:oMath>
                </a14:m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uur</a:t>
                </a:r>
                <a:r>
                  <a:rPr lang="en-US" sz="2400" b="1" dirty="0" smtClean="0"/>
                  <a:t>.</a:t>
                </a:r>
              </a:p>
              <a:p>
                <a:pPr marL="457200" indent="-457200" eaLnBrk="1" hangingPunct="1">
                  <a:buFont typeface="+mj-lt"/>
                  <a:buAutoNum type="alphaLcParenR"/>
                </a:pPr>
                <a:r>
                  <a:rPr lang="en-US" sz="2400" b="1" dirty="0" smtClean="0"/>
                  <a:t>We </a:t>
                </a:r>
                <a:r>
                  <a:rPr lang="en-US" sz="2400" b="1" dirty="0" err="1" smtClean="0"/>
                  <a:t>bestuderen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eerst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één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onderdeel</a:t>
                </a:r>
                <a:r>
                  <a:rPr lang="en-US" sz="2400" b="1" dirty="0" smtClean="0"/>
                  <a:t>. Wat is de </a:t>
                </a:r>
                <a:r>
                  <a:rPr lang="en-US" sz="2400" b="1" dirty="0" err="1" smtClean="0"/>
                  <a:t>tijdsduur</a:t>
                </a:r>
                <a:r>
                  <a:rPr lang="en-US" sz="2400" b="1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waarvoor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geldt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dat</a:t>
                </a:r>
                <a:r>
                  <a:rPr lang="en-US" sz="2400" b="1" dirty="0" smtClean="0"/>
                  <a:t> de </a:t>
                </a:r>
                <a:r>
                  <a:rPr lang="en-US" sz="2400" b="1" dirty="0" err="1" smtClean="0"/>
                  <a:t>kans</a:t>
                </a:r>
                <a:r>
                  <a:rPr lang="en-US" sz="2400" b="1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𝟗𝟓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400" b="1" dirty="0" smtClean="0"/>
                  <a:t> is </a:t>
                </a:r>
                <a:r>
                  <a:rPr lang="en-US" sz="2400" b="1" dirty="0" err="1" smtClean="0"/>
                  <a:t>dat</a:t>
                </a:r>
                <a:r>
                  <a:rPr lang="en-US" sz="2400" b="1" dirty="0" smtClean="0"/>
                  <a:t> het </a:t>
                </a:r>
                <a:r>
                  <a:rPr lang="en-US" sz="2400" b="1" dirty="0" err="1" smtClean="0"/>
                  <a:t>onderdeel</a:t>
                </a:r>
                <a:r>
                  <a:rPr lang="en-US" sz="2400" b="1" dirty="0" smtClean="0"/>
                  <a:t> nog </a:t>
                </a:r>
                <a:r>
                  <a:rPr lang="en-US" sz="2400" b="1" dirty="0" err="1" smtClean="0"/>
                  <a:t>functioneert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na</a:t>
                </a:r>
                <a:r>
                  <a:rPr lang="en-US" sz="2400" b="1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400" b="1" dirty="0" smtClean="0"/>
                  <a:t>?</a:t>
                </a:r>
              </a:p>
              <a:p>
                <a:pPr marL="457200" indent="-457200" eaLnBrk="1" hangingPunct="1">
                  <a:buFont typeface="+mj-lt"/>
                  <a:buAutoNum type="alphaLcParenR"/>
                </a:pPr>
                <a:endParaRPr lang="en-US" sz="2400" dirty="0" smtClean="0"/>
              </a:p>
            </p:txBody>
          </p:sp>
        </mc:Choice>
        <mc:Fallback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  <a:blipFill>
                <a:blip r:embed="rId2"/>
                <a:stretch>
                  <a:fillRect l="-1735" t="-243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954EBD1-29D6-4680-A43E-6930799C0313}" type="datetime4">
              <a:rPr lang="nl-NL" smtClean="0"/>
              <a:t>7 april 2026</a:t>
            </a:fld>
            <a:endParaRPr lang="nl-NL" smtClean="0"/>
          </a:p>
        </p:txBody>
      </p:sp>
    </p:spTree>
    <p:extLst>
      <p:ext uri="{BB962C8B-B14F-4D97-AF65-F5344CB8AC3E}">
        <p14:creationId xmlns:p14="http://schemas.microsoft.com/office/powerpoint/2010/main" val="1519492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146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14917" y="1265241"/>
                <a:ext cx="10363200" cy="400110"/>
              </a:xfrm>
            </p:spPr>
            <p:txBody>
              <a:bodyPr/>
              <a:lstStyle/>
              <a:p>
                <a:r>
                  <a:rPr lang="en-US" sz="2600" b="1" dirty="0" err="1" smtClean="0"/>
                  <a:t>Voor</a:t>
                </a:r>
                <a:r>
                  <a:rPr lang="en-US" sz="2600" b="1" dirty="0" smtClean="0"/>
                  <a:t> </a:t>
                </a:r>
                <a:r>
                  <a:rPr lang="en-US" sz="2600" b="1" dirty="0" err="1" smtClean="0"/>
                  <a:t>welke</a:t>
                </a:r>
                <a:r>
                  <a:rPr lang="en-US" sz="2600" b="1" dirty="0" smtClean="0"/>
                  <a:t> </a:t>
                </a:r>
                <a:r>
                  <a:rPr lang="en-US" sz="2600" b="1" dirty="0" err="1"/>
                  <a:t>tijdsduur</a:t>
                </a:r>
                <a:r>
                  <a:rPr lang="en-US" sz="26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6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600" b="1" dirty="0"/>
                  <a:t> </a:t>
                </a:r>
                <a:r>
                  <a:rPr lang="en-US" sz="2600" b="1" dirty="0" err="1" smtClean="0"/>
                  <a:t>functioneert</a:t>
                </a:r>
                <a:r>
                  <a:rPr lang="en-US" sz="2600" b="1" dirty="0" smtClean="0"/>
                  <a:t> het </a:t>
                </a:r>
                <a:r>
                  <a:rPr lang="en-US" sz="2600" b="1" dirty="0" err="1" smtClean="0"/>
                  <a:t>onderdeel</a:t>
                </a:r>
                <a:r>
                  <a:rPr lang="en-US" sz="2600" b="1" dirty="0" smtClean="0"/>
                  <a:t> nog met </a:t>
                </a:r>
                <a14:m>
                  <m:oMath xmlns:m="http://schemas.openxmlformats.org/officeDocument/2006/math">
                    <m:r>
                      <a:rPr lang="en-US" sz="2600" b="1" i="1" dirty="0">
                        <a:latin typeface="Cambria Math" panose="02040503050406030204" pitchFamily="18" charset="0"/>
                      </a:rPr>
                      <m:t>𝟗𝟓</m:t>
                    </m:r>
                    <m:r>
                      <a:rPr lang="en-US" sz="2600" b="1" i="1" dirty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600" b="1" dirty="0"/>
                  <a:t> </a:t>
                </a:r>
                <a:r>
                  <a:rPr lang="en-US" sz="2600" b="1" dirty="0" smtClean="0"/>
                  <a:t>kans?</a:t>
                </a:r>
                <a:endParaRPr lang="nl-NL" sz="2600" dirty="0" smtClean="0"/>
              </a:p>
            </p:txBody>
          </p:sp>
        </mc:Choice>
        <mc:Fallback>
          <p:sp>
            <p:nvSpPr>
              <p:cNvPr id="6146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14917" y="1265241"/>
                <a:ext cx="10363200" cy="400110"/>
              </a:xfrm>
              <a:blipFill>
                <a:blip r:embed="rId2"/>
                <a:stretch>
                  <a:fillRect l="-1941" t="-26154" b="-5076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799" y="1773238"/>
                <a:ext cx="11044769" cy="4246562"/>
              </a:xfrm>
            </p:spPr>
            <p:txBody>
              <a:bodyPr/>
              <a:lstStyle/>
              <a:p>
                <a:r>
                  <a:rPr lang="en-US" sz="2400" dirty="0" smtClean="0"/>
                  <a:t>De </a:t>
                </a:r>
                <a:r>
                  <a:rPr lang="en-US" sz="2400" dirty="0" err="1" smtClean="0"/>
                  <a:t>levensduur</a:t>
                </a:r>
                <a:r>
                  <a:rPr lang="en-US" sz="2400" dirty="0" smtClean="0"/>
                  <a:t> van </a:t>
                </a:r>
                <a:r>
                  <a:rPr lang="en-US" sz="2400" dirty="0" err="1" smtClean="0"/>
                  <a:t>een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onderdeel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 err="1" smtClean="0"/>
                  <a:t>volgt</a:t>
                </a:r>
                <a:r>
                  <a:rPr lang="en-US" sz="2400" dirty="0" smtClean="0"/>
                  <a:t> de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=8000, 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=2000</m:t>
                        </m:r>
                      </m:e>
                    </m:d>
                  </m:oMath>
                </a14:m>
                <a:r>
                  <a:rPr lang="en-US" sz="2400" dirty="0" smtClean="0"/>
                  <a:t>-</a:t>
                </a:r>
                <a:r>
                  <a:rPr lang="en-US" sz="2400" dirty="0" err="1" smtClean="0"/>
                  <a:t>verdeling</a:t>
                </a:r>
                <a:r>
                  <a:rPr lang="en-US" sz="2400" dirty="0" smtClean="0"/>
                  <a:t>. </a:t>
                </a:r>
                <a:r>
                  <a:rPr lang="en-US" sz="2400" dirty="0" err="1" smtClean="0"/>
                  <a:t>Een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onderdeel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functioneert</a:t>
                </a:r>
                <a:r>
                  <a:rPr lang="en-US" sz="2400" dirty="0" smtClean="0"/>
                  <a:t> nog op </a:t>
                </a:r>
                <a:r>
                  <a:rPr lang="en-US" sz="2400" dirty="0" err="1" smtClean="0"/>
                  <a:t>tijdstip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 err="1" smtClean="0"/>
                  <a:t>als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geldt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dat</a:t>
                </a:r>
                <a:r>
                  <a:rPr lang="en-US" sz="2400" dirty="0" smtClean="0"/>
                  <a:t> de </a:t>
                </a:r>
                <a:r>
                  <a:rPr lang="en-US" sz="2400" dirty="0" err="1" smtClean="0"/>
                  <a:t>levensduur</a:t>
                </a:r>
                <a:r>
                  <a:rPr lang="en-US" sz="2400" dirty="0" smtClean="0"/>
                  <a:t> </a:t>
                </a:r>
                <a:r>
                  <a:rPr lang="en-US" sz="2400" b="1" dirty="0"/>
                  <a:t>groter </a:t>
                </a:r>
                <a:r>
                  <a:rPr lang="en-US" sz="2400" b="1" dirty="0" err="1"/>
                  <a:t>dan</a:t>
                </a:r>
                <a:r>
                  <a:rPr lang="en-US" sz="2400" b="1" dirty="0"/>
                  <a:t> of </a:t>
                </a:r>
                <a:r>
                  <a:rPr lang="en-US" sz="2400" b="1" dirty="0" err="1"/>
                  <a:t>gelijk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aan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 smtClean="0"/>
                  <a:t> is, </a:t>
                </a:r>
                <a:r>
                  <a:rPr lang="en-US" sz="2400" dirty="0" err="1" smtClean="0"/>
                  <a:t>oftewel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 smtClean="0"/>
                  <a:t>. We </a:t>
                </a:r>
                <a:r>
                  <a:rPr lang="en-US" sz="2400" dirty="0" err="1" smtClean="0"/>
                  <a:t>berekenen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voor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welke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 err="1" smtClean="0"/>
                  <a:t>geldt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dat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nl-NL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nl-NL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=0.95</m:t>
                    </m:r>
                  </m:oMath>
                </a14:m>
                <a:r>
                  <a:rPr lang="en-US" sz="2400" dirty="0" smtClean="0"/>
                  <a:t>.</a:t>
                </a:r>
              </a:p>
              <a:p>
                <a:endParaRPr lang="en-US" sz="2400" dirty="0"/>
              </a:p>
              <a:p>
                <a:r>
                  <a:rPr lang="nl-NL" sz="2400" dirty="0" smtClean="0"/>
                  <a:t>De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 smtClean="0"/>
                  <a:t>-score </a:t>
                </a:r>
                <a:r>
                  <a:rPr lang="en-US" sz="2400" dirty="0" err="1" smtClean="0"/>
                  <a:t>waarbij</a:t>
                </a:r>
                <a:r>
                  <a:rPr lang="en-US" sz="2400" dirty="0" smtClean="0"/>
                  <a:t> 95% van de </a:t>
                </a:r>
                <a:r>
                  <a:rPr lang="en-US" sz="2400" dirty="0" err="1" smtClean="0"/>
                  <a:t>normale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verdeling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erboven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valt</a:t>
                </a:r>
                <a:r>
                  <a:rPr lang="en-US" sz="2400" dirty="0"/>
                  <a:t> </a:t>
                </a:r>
                <a:r>
                  <a:rPr lang="en-US" sz="2400" dirty="0" err="1" smtClean="0"/>
                  <a:t>berekenen</a:t>
                </a:r>
                <a:r>
                  <a:rPr lang="en-US" sz="2400" dirty="0" smtClean="0"/>
                  <a:t> we </a:t>
                </a:r>
                <a:r>
                  <a:rPr lang="en-US" sz="2400" dirty="0" err="1" smtClean="0"/>
                  <a:t>als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volgt</a:t>
                </a:r>
                <a:r>
                  <a:rPr lang="en-US" sz="2400" dirty="0" smtClean="0"/>
                  <a:t>: </a:t>
                </a:r>
              </a:p>
              <a:p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=0.9</m:t>
                      </m:r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InvNorm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nl-NL" sz="2400" b="0" i="0" smtClean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=0.</m:t>
                          </m:r>
                          <m:r>
                            <a:rPr lang="nl-NL" sz="2400" b="0" i="1" smtClean="0">
                              <a:latin typeface="Cambria Math" panose="02040503050406030204" pitchFamily="18" charset="0"/>
                            </a:rPr>
                            <m:t>05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=1, </m:t>
                          </m:r>
                          <m:r>
                            <m:rPr>
                              <m:sty m:val="p"/>
                            </m:rPr>
                            <a:rPr lang="nl-NL" sz="2400" b="0" i="0" smtClean="0">
                              <a:latin typeface="Cambria Math" panose="02040503050406030204" pitchFamily="18" charset="0"/>
                            </a:rPr>
                            <m:t>Tail</m:t>
                          </m:r>
                          <m:r>
                            <a:rPr lang="nl-NL" sz="2400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nl-NL" sz="2400" b="0" i="0" smtClean="0">
                              <a:latin typeface="Cambria Math" panose="02040503050406030204" pitchFamily="18" charset="0"/>
                            </a:rPr>
                            <m:t>right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≈−1.64</m:t>
                      </m:r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b="0" i="1" dirty="0" smtClean="0">
                  <a:latin typeface="Cambria Math" panose="02040503050406030204" pitchFamily="18" charset="0"/>
                </a:endParaRPr>
              </a:p>
              <a:p>
                <a:pPr eaLnBrk="1" hangingPunct="1"/>
                <a:endParaRPr lang="en-US" sz="2400" b="0" dirty="0" smtClean="0"/>
              </a:p>
              <a:p>
                <a:pPr eaLnBrk="1" hangingPunct="1"/>
                <a:r>
                  <a:rPr lang="en-US" sz="2400" b="0" dirty="0" smtClean="0"/>
                  <a:t>Teruggerekend</a:t>
                </a:r>
                <a:r>
                  <a:rPr lang="en-US" sz="2400" b="0" dirty="0" smtClean="0"/>
                  <a:t> </a:t>
                </a:r>
                <a:r>
                  <a:rPr lang="en-US" sz="2400" b="0" dirty="0" err="1" smtClean="0"/>
                  <a:t>naar</a:t>
                </a:r>
                <a:r>
                  <a:rPr lang="en-US" sz="2400" b="0" dirty="0" smtClean="0"/>
                  <a:t> de </a:t>
                </a:r>
                <a:r>
                  <a:rPr lang="en-US" sz="2400" b="0" dirty="0" err="1" smtClean="0"/>
                  <a:t>oorspronkelijke</a:t>
                </a:r>
                <a:r>
                  <a:rPr lang="en-US" sz="2400" b="0" dirty="0" smtClean="0"/>
                  <a:t> </a:t>
                </a:r>
                <a:r>
                  <a:rPr lang="en-US" sz="2400" b="0" dirty="0" err="1" smtClean="0"/>
                  <a:t>verdeling</a:t>
                </a:r>
                <a:r>
                  <a:rPr lang="en-US" sz="2400" b="0" dirty="0" smtClean="0"/>
                  <a:t> </a:t>
                </a:r>
                <a:r>
                  <a:rPr lang="en-US" sz="2400" b="0" dirty="0" err="1" smtClean="0"/>
                  <a:t>krijgen</a:t>
                </a:r>
                <a:r>
                  <a:rPr lang="en-US" sz="2400" b="0" dirty="0" smtClean="0"/>
                  <a:t> </a:t>
                </a:r>
                <a:r>
                  <a:rPr lang="en-US" sz="2400" b="0" dirty="0" smtClean="0"/>
                  <a:t>we</a:t>
                </a: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=8000−1.64⋅2000≈4710.2927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uur</m:t>
                      </m:r>
                      <m:r>
                        <a:rPr lang="nl-NL" sz="24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r>
                  <a:rPr lang="en-US" sz="2400" b="0" dirty="0" smtClean="0"/>
                  <a:t/>
                </a:r>
                <a:br>
                  <a:rPr lang="en-US" sz="2400" b="0" dirty="0" smtClean="0"/>
                </a:br>
                <a:endParaRPr lang="en-US" sz="2400" b="0" dirty="0" smtClean="0"/>
              </a:p>
              <a:p>
                <a:pPr algn="ctr"/>
                <a:endParaRPr lang="en-US" sz="2400" b="1" dirty="0" smtClean="0"/>
              </a:p>
              <a:p>
                <a:pPr algn="ctr"/>
                <a:r>
                  <a:rPr lang="en-US" sz="2400" b="1" dirty="0" smtClean="0"/>
                  <a:t>Met </a:t>
                </a:r>
                <a:r>
                  <a:rPr lang="en-US" sz="2400" b="1" dirty="0" err="1" smtClean="0"/>
                  <a:t>kans</a:t>
                </a:r>
                <a:r>
                  <a:rPr lang="en-US" sz="2400" b="1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𝟗𝟓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functioneert</a:t>
                </a:r>
                <a:r>
                  <a:rPr lang="en-US" sz="2400" b="1" dirty="0" smtClean="0"/>
                  <a:t> het </a:t>
                </a:r>
                <a:r>
                  <a:rPr lang="en-US" sz="2400" b="1" dirty="0" err="1" smtClean="0"/>
                  <a:t>onderdeel</a:t>
                </a:r>
                <a:r>
                  <a:rPr lang="en-US" sz="2400" b="1" dirty="0" smtClean="0"/>
                  <a:t> </a:t>
                </a:r>
                <a:r>
                  <a:rPr lang="en-US" sz="2400" b="1" dirty="0" err="1"/>
                  <a:t>na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ongeveer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nl-NL" sz="24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nl-NL" sz="24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𝟒𝟕𝟏𝟎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b="1" dirty="0" err="1" smtClean="0"/>
                  <a:t>uur</a:t>
                </a:r>
                <a:r>
                  <a:rPr lang="en-US" sz="2400" b="1" dirty="0" smtClean="0"/>
                  <a:t> nog steeds.</a:t>
                </a:r>
                <a:endParaRPr lang="en-US" sz="2400" dirty="0" smtClean="0"/>
              </a:p>
            </p:txBody>
          </p:sp>
        </mc:Choice>
        <mc:Fallback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799" y="1773238"/>
                <a:ext cx="11044769" cy="4246562"/>
              </a:xfrm>
              <a:blipFill>
                <a:blip r:embed="rId3"/>
                <a:stretch>
                  <a:fillRect l="-1656" t="-2296" r="-1325" b="-1061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954EBD1-29D6-4680-A43E-6930799C0313}" type="datetime4">
              <a:rPr lang="nl-NL" smtClean="0"/>
              <a:t>7 april 2026</a:t>
            </a:fld>
            <a:endParaRPr lang="nl-NL" smtClean="0"/>
          </a:p>
        </p:txBody>
      </p:sp>
    </p:spTree>
    <p:extLst>
      <p:ext uri="{BB962C8B-B14F-4D97-AF65-F5344CB8AC3E}">
        <p14:creationId xmlns:p14="http://schemas.microsoft.com/office/powerpoint/2010/main" val="3968672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Buijs: </a:t>
            </a:r>
            <a:r>
              <a:rPr lang="en-US" dirty="0" err="1" smtClean="0"/>
              <a:t>opdracht</a:t>
            </a:r>
            <a:r>
              <a:rPr lang="en-US" dirty="0" smtClean="0"/>
              <a:t> 5.7</a:t>
            </a:r>
            <a:endParaRPr lang="nl-NL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</p:spPr>
            <p:txBody>
              <a:bodyPr/>
              <a:lstStyle/>
              <a:p>
                <a:pPr eaLnBrk="1" hangingPunct="1"/>
                <a:r>
                  <a:rPr lang="en-US" sz="2400" b="1" dirty="0" smtClean="0"/>
                  <a:t>In </a:t>
                </a:r>
                <a:r>
                  <a:rPr lang="en-US" sz="2400" b="1" dirty="0" err="1" smtClean="0"/>
                  <a:t>een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fabriek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staat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een</a:t>
                </a:r>
                <a:r>
                  <a:rPr lang="en-US" sz="2400" b="1" dirty="0" smtClean="0"/>
                  <a:t> machine met </a:t>
                </a:r>
                <a:r>
                  <a:rPr lang="en-US" sz="2400" b="1" dirty="0" err="1" smtClean="0"/>
                  <a:t>vier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identieke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onderdelen</a:t>
                </a:r>
                <a:r>
                  <a:rPr lang="en-US" sz="2400" b="1" dirty="0" smtClean="0"/>
                  <a:t>. </a:t>
                </a:r>
                <a:r>
                  <a:rPr lang="en-US" sz="2400" b="1" dirty="0" err="1" smtClean="0"/>
                  <a:t>Voor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alle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onderdelen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geldt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dat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deze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een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levensduur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hebben</a:t>
                </a:r>
                <a:r>
                  <a:rPr lang="en-US" sz="2400" b="1" dirty="0" smtClean="0"/>
                  <a:t> die </a:t>
                </a:r>
                <a:r>
                  <a:rPr lang="en-US" sz="2400" b="1" dirty="0" err="1" smtClean="0"/>
                  <a:t>normaal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verdeeld</a:t>
                </a:r>
                <a:r>
                  <a:rPr lang="en-US" sz="2400" b="1" dirty="0" smtClean="0"/>
                  <a:t> is met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𝟖𝟎𝟎𝟎</m:t>
                    </m:r>
                  </m:oMath>
                </a14:m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uur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en</a:t>
                </a:r>
                <a:r>
                  <a:rPr lang="en-US" sz="2400" b="1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𝟐𝟎𝟎𝟎</m:t>
                    </m:r>
                  </m:oMath>
                </a14:m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uur</a:t>
                </a:r>
                <a:r>
                  <a:rPr lang="en-US" sz="2400" b="1" dirty="0" smtClean="0"/>
                  <a:t>.</a:t>
                </a:r>
              </a:p>
              <a:p>
                <a:pPr marL="457200" indent="-457200" eaLnBrk="1" hangingPunct="1">
                  <a:buFont typeface="+mj-lt"/>
                  <a:buAutoNum type="alphaLcParenR" startAt="2"/>
                </a:pPr>
                <a:r>
                  <a:rPr lang="en-US" sz="2400" b="1" dirty="0" err="1" smtClean="0"/>
                  <a:t>Gegeven</a:t>
                </a:r>
                <a:r>
                  <a:rPr lang="en-US" sz="2400" b="1" dirty="0" smtClean="0"/>
                  <a:t> de </a:t>
                </a:r>
                <a:r>
                  <a:rPr lang="en-US" sz="2400" b="1" dirty="0" err="1" smtClean="0"/>
                  <a:t>waarde</a:t>
                </a:r>
                <a:r>
                  <a:rPr lang="en-US" sz="2400" b="1" dirty="0" smtClean="0"/>
                  <a:t> van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bij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vraag</a:t>
                </a:r>
                <a:r>
                  <a:rPr lang="en-US" sz="2400" b="1" dirty="0" smtClean="0"/>
                  <a:t> a. Hoe </a:t>
                </a:r>
                <a:r>
                  <a:rPr lang="en-US" sz="2400" b="1" dirty="0" err="1" smtClean="0"/>
                  <a:t>groot</a:t>
                </a:r>
                <a:r>
                  <a:rPr lang="en-US" sz="2400" b="1" dirty="0" smtClean="0"/>
                  <a:t> is de </a:t>
                </a:r>
                <a:r>
                  <a:rPr lang="en-US" sz="2400" b="1" dirty="0" err="1" smtClean="0"/>
                  <a:t>kans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dat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alle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vier</a:t>
                </a:r>
                <a:r>
                  <a:rPr lang="en-US" sz="2400" b="1" dirty="0" smtClean="0"/>
                  <a:t> de </a:t>
                </a:r>
                <a:r>
                  <a:rPr lang="en-US" sz="2400" b="1" dirty="0" err="1" smtClean="0"/>
                  <a:t>onderdelen</a:t>
                </a:r>
                <a:r>
                  <a:rPr lang="en-US" sz="2400" b="1" dirty="0" smtClean="0"/>
                  <a:t> nog </a:t>
                </a:r>
                <a:r>
                  <a:rPr lang="en-US" sz="2400" b="1" dirty="0" err="1" smtClean="0"/>
                  <a:t>functioneren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na</a:t>
                </a:r>
                <a:r>
                  <a:rPr lang="en-US" sz="2400" b="1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400" b="1" dirty="0" smtClean="0"/>
                  <a:t>?</a:t>
                </a:r>
              </a:p>
            </p:txBody>
          </p:sp>
        </mc:Choice>
        <mc:Fallback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  <a:blipFill>
                <a:blip r:embed="rId2"/>
                <a:stretch>
                  <a:fillRect l="-1735" t="-243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954EBD1-29D6-4680-A43E-6930799C0313}" type="datetime4">
              <a:rPr lang="nl-NL" smtClean="0"/>
              <a:t>7 april 2026</a:t>
            </a:fld>
            <a:endParaRPr lang="nl-NL" smtClean="0"/>
          </a:p>
        </p:txBody>
      </p:sp>
    </p:spTree>
    <p:extLst>
      <p:ext uri="{BB962C8B-B14F-4D97-AF65-F5344CB8AC3E}">
        <p14:creationId xmlns:p14="http://schemas.microsoft.com/office/powerpoint/2010/main" val="1192744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146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14917" y="1265241"/>
                <a:ext cx="10363200" cy="369332"/>
              </a:xfrm>
            </p:spPr>
            <p:txBody>
              <a:bodyPr/>
              <a:lstStyle/>
              <a:p>
                <a:r>
                  <a:rPr lang="en-US" sz="2400" b="1" dirty="0"/>
                  <a:t>Hoe </a:t>
                </a:r>
                <a:r>
                  <a:rPr lang="en-US" sz="2400" b="1" dirty="0" err="1"/>
                  <a:t>groot</a:t>
                </a:r>
                <a:r>
                  <a:rPr lang="en-US" sz="2400" b="1" dirty="0"/>
                  <a:t> is de </a:t>
                </a:r>
                <a:r>
                  <a:rPr lang="en-US" sz="2400" b="1" dirty="0" err="1"/>
                  <a:t>kans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dat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alle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vier</a:t>
                </a:r>
                <a:r>
                  <a:rPr lang="en-US" sz="2400" b="1" dirty="0"/>
                  <a:t> de </a:t>
                </a:r>
                <a:r>
                  <a:rPr lang="en-US" sz="2400" b="1" dirty="0" err="1"/>
                  <a:t>onderdelen</a:t>
                </a:r>
                <a:r>
                  <a:rPr lang="en-US" sz="2400" b="1" dirty="0"/>
                  <a:t> nog </a:t>
                </a:r>
                <a:r>
                  <a:rPr lang="en-US" sz="2400" b="1" dirty="0" err="1"/>
                  <a:t>functioneren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na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400" b="1" dirty="0"/>
                  <a:t>?</a:t>
                </a:r>
                <a:endParaRPr lang="nl-NL" sz="2400" dirty="0" smtClean="0"/>
              </a:p>
            </p:txBody>
          </p:sp>
        </mc:Choice>
        <mc:Fallback>
          <p:sp>
            <p:nvSpPr>
              <p:cNvPr id="6146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14917" y="1265241"/>
                <a:ext cx="10363200" cy="369332"/>
              </a:xfrm>
              <a:blipFill>
                <a:blip r:embed="rId2"/>
                <a:stretch>
                  <a:fillRect l="-1824" t="-26667" b="-5000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</p:spPr>
            <p:txBody>
              <a:bodyPr/>
              <a:lstStyle/>
              <a:p>
                <a:r>
                  <a:rPr lang="en-US" sz="2400" dirty="0" smtClean="0"/>
                  <a:t>De (discrete!) </a:t>
                </a:r>
                <a:r>
                  <a:rPr lang="en-US" sz="2400" dirty="0" err="1" smtClean="0"/>
                  <a:t>kansvariabele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 err="1" smtClean="0"/>
                  <a:t>telt</a:t>
                </a:r>
                <a:r>
                  <a:rPr lang="en-US" sz="2400" dirty="0" smtClean="0"/>
                  <a:t> het </a:t>
                </a:r>
                <a:r>
                  <a:rPr lang="en-US" sz="2400" dirty="0" err="1" smtClean="0"/>
                  <a:t>aantal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onderdelen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dat</a:t>
                </a:r>
                <a:r>
                  <a:rPr lang="en-US" sz="2400" dirty="0" smtClean="0"/>
                  <a:t> nog </a:t>
                </a:r>
                <a:r>
                  <a:rPr lang="en-US" sz="2400" dirty="0" err="1" smtClean="0"/>
                  <a:t>functioneert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na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4710.2927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uur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 smtClean="0"/>
                  <a:t> </a:t>
                </a:r>
                <a:endParaRPr lang="en-US" sz="2400" dirty="0" smtClean="0"/>
              </a:p>
              <a:p>
                <a:endParaRPr lang="en-US" sz="2400" dirty="0"/>
              </a:p>
              <a:p>
                <a:r>
                  <a:rPr lang="en-US" sz="2400" dirty="0" err="1" smtClean="0"/>
                  <a:t>Deze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kansvariabele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volgt</a:t>
                </a:r>
                <a:r>
                  <a:rPr lang="en-US" sz="2400" dirty="0" smtClean="0"/>
                  <a:t> de </a:t>
                </a:r>
                <a:r>
                  <a:rPr lang="en-US" sz="2400" dirty="0" err="1" smtClean="0"/>
                  <a:t>binomiale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verdeling</a:t>
                </a:r>
                <a:r>
                  <a:rPr lang="en-US" sz="2400" dirty="0" smtClean="0"/>
                  <a:t> met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sz="2400" dirty="0" smtClean="0"/>
                  <a:t> (</a:t>
                </a:r>
                <a:r>
                  <a:rPr lang="en-US" sz="2400" dirty="0" err="1" smtClean="0"/>
                  <a:t>aantal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onderdelen</a:t>
                </a:r>
                <a:r>
                  <a:rPr lang="en-US" sz="2400" dirty="0" smtClean="0"/>
                  <a:t>, </a:t>
                </a:r>
                <a:r>
                  <a:rPr lang="en-US" sz="2400" dirty="0" err="1" smtClean="0"/>
                  <a:t>oftewel</a:t>
                </a:r>
                <a:r>
                  <a:rPr lang="en-US" sz="2400" dirty="0" smtClean="0"/>
                  <a:t> </a:t>
                </a:r>
                <a:r>
                  <a:rPr lang="en-US" sz="2400" i="1" dirty="0" err="1" smtClean="0"/>
                  <a:t>aantal</a:t>
                </a:r>
                <a:r>
                  <a:rPr lang="en-US" sz="2400" i="1" dirty="0" smtClean="0"/>
                  <a:t> </a:t>
                </a:r>
                <a:r>
                  <a:rPr lang="en-US" sz="2400" i="1" dirty="0" err="1" smtClean="0"/>
                  <a:t>onafhankelijke</a:t>
                </a:r>
                <a:r>
                  <a:rPr lang="en-US" sz="2400" i="1" dirty="0" smtClean="0"/>
                  <a:t> Bernoulli-</a:t>
                </a:r>
                <a:r>
                  <a:rPr lang="en-US" sz="2400" i="1" dirty="0" err="1" smtClean="0"/>
                  <a:t>experimenten</a:t>
                </a:r>
                <a:r>
                  <a:rPr lang="en-US" sz="2400" dirty="0" smtClean="0"/>
                  <a:t>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=0.95</m:t>
                    </m:r>
                  </m:oMath>
                </a14:m>
                <a:r>
                  <a:rPr lang="en-US" sz="2400" dirty="0" smtClean="0"/>
                  <a:t> (</a:t>
                </a:r>
                <a:r>
                  <a:rPr lang="en-US" sz="2400" dirty="0" err="1" smtClean="0"/>
                  <a:t>kans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dat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een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onderdeel</a:t>
                </a:r>
                <a:r>
                  <a:rPr lang="en-US" sz="2400" dirty="0" smtClean="0"/>
                  <a:t> nog </a:t>
                </a:r>
                <a:r>
                  <a:rPr lang="en-US" sz="2400" dirty="0" err="1" smtClean="0"/>
                  <a:t>functioneert</a:t>
                </a:r>
                <a:r>
                  <a:rPr lang="en-US" sz="2400" dirty="0" smtClean="0"/>
                  <a:t>, </a:t>
                </a:r>
                <a:r>
                  <a:rPr lang="en-US" sz="2400" dirty="0" err="1" smtClean="0"/>
                  <a:t>oftewel</a:t>
                </a:r>
                <a:r>
                  <a:rPr lang="en-US" sz="2400" dirty="0" smtClean="0"/>
                  <a:t> </a:t>
                </a:r>
                <a:r>
                  <a:rPr lang="en-US" sz="2400" i="1" dirty="0" err="1" smtClean="0"/>
                  <a:t>succeskans</a:t>
                </a:r>
                <a:r>
                  <a:rPr lang="en-US" sz="2400" i="1" dirty="0" smtClean="0"/>
                  <a:t>)</a:t>
                </a:r>
                <a:endParaRPr lang="en-US" sz="2400" dirty="0"/>
              </a:p>
              <a:p>
                <a:pPr eaLnBrk="1" hangingPunct="1"/>
                <a:endParaRPr lang="en-US" sz="2400" i="1" dirty="0"/>
              </a:p>
              <a:p>
                <a:r>
                  <a:rPr lang="en-US" sz="2400" dirty="0" smtClean="0"/>
                  <a:t>De </a:t>
                </a:r>
                <a:r>
                  <a:rPr lang="en-US" sz="2400" dirty="0" err="1" smtClean="0"/>
                  <a:t>kans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dat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alle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onderdelen</a:t>
                </a:r>
                <a:r>
                  <a:rPr lang="en-US" sz="2400" dirty="0" smtClean="0"/>
                  <a:t> nog </a:t>
                </a:r>
                <a:r>
                  <a:rPr lang="en-US" sz="2400" dirty="0" err="1" smtClean="0"/>
                  <a:t>functioneren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na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NL" sz="2400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4710.2927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uur</m:t>
                    </m:r>
                  </m:oMath>
                </a14:m>
                <a:r>
                  <a:rPr lang="en-US" sz="2400" dirty="0" smtClean="0"/>
                  <a:t> is </a:t>
                </a:r>
                <a:r>
                  <a:rPr lang="en-US" sz="2400" dirty="0" err="1" smtClean="0"/>
                  <a:t>gelijk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aan</a:t>
                </a:r>
                <a:endParaRPr lang="en-US" sz="2400" dirty="0"/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binompdf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=4,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=0.95,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8145</m:t>
                      </m:r>
                      <m:r>
                        <a:rPr lang="nl-NL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 smtClean="0"/>
              </a:p>
              <a:p>
                <a:pPr marL="457200" indent="-457200" eaLnBrk="1" hangingPunct="1">
                  <a:buFont typeface="+mj-lt"/>
                  <a:buAutoNum type="alphaLcParenR" startAt="2"/>
                </a:pPr>
                <a:endParaRPr lang="en-US" sz="2400" b="1" dirty="0" smtClean="0"/>
              </a:p>
              <a:p>
                <a:pPr algn="ctr" eaLnBrk="1" hangingPunct="1"/>
                <a:r>
                  <a:rPr lang="en-US" sz="2400" b="1" dirty="0" smtClean="0"/>
                  <a:t>Met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𝟖𝟏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𝟒𝟓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% </m:t>
                    </m:r>
                  </m:oMath>
                </a14:m>
                <a:r>
                  <a:rPr lang="en-US" sz="2400" b="1" dirty="0" err="1" smtClean="0"/>
                  <a:t>kans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functioneren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alle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vier</a:t>
                </a:r>
                <a:r>
                  <a:rPr lang="en-US" sz="2400" b="1" dirty="0" smtClean="0"/>
                  <a:t> de </a:t>
                </a:r>
                <a:r>
                  <a:rPr lang="en-US" sz="2400" b="1" dirty="0" err="1" smtClean="0"/>
                  <a:t>onderdelen</a:t>
                </a:r>
                <a:r>
                  <a:rPr lang="en-US" sz="2400" b="1" dirty="0" smtClean="0"/>
                  <a:t> nog </a:t>
                </a:r>
                <a:r>
                  <a:rPr lang="en-US" sz="2400" b="1" dirty="0" err="1" smtClean="0"/>
                  <a:t>na</a:t>
                </a:r>
                <a:r>
                  <a:rPr lang="en-US" sz="2400" b="1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400" b="1" dirty="0" smtClean="0"/>
                  <a:t> uur.</a:t>
                </a:r>
                <a:endParaRPr lang="en-US" sz="2400" b="1" dirty="0"/>
              </a:p>
              <a:p>
                <a:pPr eaLnBrk="1" hangingPunct="1"/>
                <a:endParaRPr lang="en-US" sz="2000" dirty="0" smtClean="0"/>
              </a:p>
            </p:txBody>
          </p:sp>
        </mc:Choice>
        <mc:Fallback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  <a:blipFill>
                <a:blip r:embed="rId3"/>
                <a:stretch>
                  <a:fillRect l="-1735" t="-2296" b="-243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954EBD1-29D6-4680-A43E-6930799C0313}" type="datetime4">
              <a:rPr lang="nl-NL" smtClean="0"/>
              <a:t>7 april 2026</a:t>
            </a:fld>
            <a:endParaRPr lang="nl-NL" smtClean="0"/>
          </a:p>
        </p:txBody>
      </p:sp>
    </p:spTree>
    <p:extLst>
      <p:ext uri="{BB962C8B-B14F-4D97-AF65-F5344CB8AC3E}">
        <p14:creationId xmlns:p14="http://schemas.microsoft.com/office/powerpoint/2010/main" val="14207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Samenvatting</a:t>
            </a:r>
            <a:endParaRPr lang="nl-NL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799" y="1773238"/>
                <a:ext cx="10827817" cy="4246562"/>
              </a:xfrm>
            </p:spPr>
            <p:txBody>
              <a:bodyPr/>
              <a:lstStyle/>
              <a:p>
                <a:pPr eaLnBrk="1" hangingPunct="1"/>
                <a:r>
                  <a:rPr lang="en-US" sz="2400" b="1" dirty="0" smtClean="0"/>
                  <a:t>Eigenschappen van de </a:t>
                </a:r>
                <a:r>
                  <a:rPr lang="en-US" sz="2400" b="1" dirty="0" err="1" smtClean="0"/>
                  <a:t>normale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verdeling</a:t>
                </a:r>
                <a:r>
                  <a:rPr lang="en-US" sz="2400" b="1" dirty="0" smtClean="0"/>
                  <a:t>:</a:t>
                </a:r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r>
                  <a:rPr lang="en-US" dirty="0" err="1" smtClean="0"/>
                  <a:t>Symmetrische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belkromme</a:t>
                </a:r>
                <a:r>
                  <a:rPr lang="en-US" dirty="0" smtClean="0"/>
                  <a:t>, parameters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en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 smtClean="0"/>
                  <a:t>, 68-95-99.7-regel</a:t>
                </a:r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eaLnBrk="1" hangingPunct="1"/>
                <a:r>
                  <a:rPr lang="en-US" sz="2400" b="1" dirty="0" err="1" smtClean="0"/>
                  <a:t>Berekenen</a:t>
                </a:r>
                <a:r>
                  <a:rPr lang="en-US" sz="2400" b="1" dirty="0" smtClean="0"/>
                  <a:t> van </a:t>
                </a:r>
                <a:r>
                  <a:rPr lang="en-US" sz="2400" b="1" dirty="0" err="1" smtClean="0"/>
                  <a:t>kansen</a:t>
                </a:r>
                <a:r>
                  <a:rPr lang="en-US" sz="2400" b="1" dirty="0" smtClean="0"/>
                  <a:t> met </a:t>
                </a:r>
                <a:r>
                  <a:rPr lang="en-US" sz="2400" b="1" dirty="0" err="1" smtClean="0"/>
                  <a:t>normale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verdelingen</a:t>
                </a:r>
                <a:r>
                  <a:rPr lang="en-US" sz="2400" b="1" dirty="0" smtClean="0"/>
                  <a:t>:</a:t>
                </a:r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NL" b="0" i="0" smtClean="0">
                        <a:latin typeface="Cambria Math" panose="02040503050406030204" pitchFamily="18" charset="0"/>
                      </a:rPr>
                      <m:t>normalcdf</m:t>
                    </m:r>
                    <m:r>
                      <a:rPr lang="nl-NL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berekent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kans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dirty="0" smtClean="0"/>
                  <a:t> 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/>
                  <a:t>TI84-Plus: </a:t>
                </a:r>
                <a:r>
                  <a:rPr lang="en-US" sz="2000" dirty="0" err="1" smtClean="0"/>
                  <a:t>optie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nl-NL" sz="2000" b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20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nl-NL" sz="2000" b="0" i="0" dirty="0" smtClean="0">
                            <a:latin typeface="Cambria Math" panose="02040503050406030204" pitchFamily="18" charset="0"/>
                          </a:rPr>
                          <m:t>nd</m:t>
                        </m:r>
                      </m:e>
                    </m:d>
                    <m:r>
                      <a:rPr lang="nl-NL" sz="2000" b="0" i="0" dirty="0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nl-NL" sz="2000" b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nl-NL" sz="2000" b="0" i="0" dirty="0" smtClean="0">
                            <a:latin typeface="Cambria Math" panose="02040503050406030204" pitchFamily="18" charset="0"/>
                          </a:rPr>
                          <m:t>vars</m:t>
                        </m:r>
                      </m:e>
                    </m:d>
                    <m:r>
                      <a:rPr lang="nl-NL" sz="2000" b="0" i="0" dirty="0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endParaRPr lang="nl-NL" sz="2000" b="0" dirty="0" smtClean="0"/>
              </a:p>
              <a:p>
                <a:endParaRPr lang="en-US" sz="2400" dirty="0" smtClean="0"/>
              </a:p>
              <a:p>
                <a:r>
                  <a:rPr lang="en-US" sz="2400" b="1" dirty="0" err="1" smtClean="0"/>
                  <a:t>Berekenen</a:t>
                </a:r>
                <a:r>
                  <a:rPr lang="en-US" sz="2400" b="1" dirty="0" smtClean="0"/>
                  <a:t> van </a:t>
                </a:r>
                <a:r>
                  <a:rPr lang="en-US" sz="2400" b="1" dirty="0" err="1" smtClean="0"/>
                  <a:t>grenswaarden</a:t>
                </a:r>
                <a:r>
                  <a:rPr lang="en-US" sz="2400" b="1" dirty="0" smtClean="0"/>
                  <a:t> met </a:t>
                </a:r>
                <a:r>
                  <a:rPr lang="en-US" sz="2400" b="1" dirty="0" err="1" smtClean="0"/>
                  <a:t>normale</a:t>
                </a:r>
                <a:r>
                  <a:rPr lang="en-US" sz="2400" b="1" dirty="0" smtClean="0"/>
                  <a:t> </a:t>
                </a:r>
                <a:r>
                  <a:rPr lang="en-US" sz="2400" b="1" dirty="0" err="1" smtClean="0"/>
                  <a:t>verdelingen</a:t>
                </a:r>
                <a:r>
                  <a:rPr lang="en-US" sz="2400" b="1" dirty="0" smtClean="0"/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NL" b="0" i="0" smtClean="0">
                        <a:latin typeface="Cambria Math" panose="02040503050406030204" pitchFamily="18" charset="0"/>
                      </a:rPr>
                      <m:t>invNorm</m:t>
                    </m:r>
                    <m:r>
                      <a:rPr lang="nl-NL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nl-NL" b="0" i="0" smtClean="0">
                        <a:latin typeface="Cambria Math" panose="02040503050406030204" pitchFamily="18" charset="0"/>
                      </a:rPr>
                      <m:t>area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nl-NL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berekent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grenswaarde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waarvoor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geldt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nl-NL" b="0" i="0" smtClean="0">
                        <a:latin typeface="Cambria Math" panose="02040503050406030204" pitchFamily="18" charset="0"/>
                      </a:rPr>
                      <m:t>area</m:t>
                    </m:r>
                    <m:r>
                      <a:rPr lang="nl-NL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nl-NL" b="0" dirty="0" smtClean="0"/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/>
                  <a:t>TI84-Plus: </a:t>
                </a:r>
                <a:r>
                  <a:rPr lang="en-US" sz="2000" dirty="0" err="1" smtClean="0"/>
                  <a:t>optie</a:t>
                </a:r>
                <a:r>
                  <a:rPr lang="en-US" sz="2000" dirty="0" smtClean="0"/>
                  <a:t>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nl-NL" sz="2000" b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nl-NL" sz="2000" b="0" i="0" smtClean="0">
                            <a:latin typeface="Cambria Math" panose="02040503050406030204" pitchFamily="18" charset="0"/>
                          </a:rPr>
                          <m:t>nd</m:t>
                        </m:r>
                      </m:e>
                    </m:d>
                    <m:r>
                      <a:rPr lang="nl-NL" sz="2000" b="0" i="0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nl-NL" sz="2000" b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nl-NL" sz="2000" b="0" i="0" smtClean="0">
                            <a:latin typeface="Cambria Math" panose="02040503050406030204" pitchFamily="18" charset="0"/>
                          </a:rPr>
                          <m:t>vars</m:t>
                        </m:r>
                      </m:e>
                    </m:d>
                    <m:r>
                      <a:rPr lang="nl-NL" sz="2000" b="0" i="0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endParaRPr lang="en-US" sz="2000" dirty="0" smtClean="0"/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 smtClean="0"/>
                  <a:t>Tail = LEFT/CENTER/RIGHT (</a:t>
                </a:r>
                <a:r>
                  <a:rPr lang="en-US" sz="2000" dirty="0" err="1" smtClean="0"/>
                  <a:t>opp</a:t>
                </a:r>
                <a:r>
                  <a:rPr lang="en-US" sz="2000" dirty="0" smtClean="0"/>
                  <a:t> is links van / </a:t>
                </a:r>
                <a:r>
                  <a:rPr lang="en-US" sz="2000" dirty="0" err="1" smtClean="0"/>
                  <a:t>tussen</a:t>
                </a:r>
                <a:r>
                  <a:rPr lang="en-US" sz="2000" dirty="0" smtClean="0"/>
                  <a:t> / </a:t>
                </a:r>
                <a:r>
                  <a:rPr lang="en-US" sz="2000" dirty="0" err="1" smtClean="0"/>
                  <a:t>rechts</a:t>
                </a:r>
                <a:r>
                  <a:rPr lang="en-US" sz="2000" dirty="0" smtClean="0"/>
                  <a:t> van </a:t>
                </a:r>
                <a:r>
                  <a:rPr lang="en-US" sz="2000" dirty="0" err="1" smtClean="0"/>
                  <a:t>grenswaarde</a:t>
                </a:r>
                <a:r>
                  <a:rPr lang="en-US" sz="2000" dirty="0" smtClean="0"/>
                  <a:t>(n)).</a:t>
                </a:r>
              </a:p>
            </p:txBody>
          </p:sp>
        </mc:Choice>
        <mc:Fallback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799" y="1773238"/>
                <a:ext cx="10827817" cy="4246562"/>
              </a:xfrm>
              <a:blipFill>
                <a:blip r:embed="rId2"/>
                <a:stretch>
                  <a:fillRect l="-1688" t="-243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954EBD1-29D6-4680-A43E-6930799C0313}" type="datetime4">
              <a:rPr lang="nl-NL" smtClean="0"/>
              <a:t>7 april 2026</a:t>
            </a:fld>
            <a:endParaRPr lang="nl-NL" smtClean="0"/>
          </a:p>
        </p:txBody>
      </p:sp>
    </p:spTree>
    <p:extLst>
      <p:ext uri="{BB962C8B-B14F-4D97-AF65-F5344CB8AC3E}">
        <p14:creationId xmlns:p14="http://schemas.microsoft.com/office/powerpoint/2010/main" val="1115180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Volgend</a:t>
            </a:r>
            <a:r>
              <a:rPr lang="en-US" dirty="0" smtClean="0"/>
              <a:t> college</a:t>
            </a:r>
            <a:endParaRPr lang="nl-NL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0539784" cy="4246562"/>
          </a:xfrm>
        </p:spPr>
        <p:txBody>
          <a:bodyPr/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dirty="0" smtClean="0"/>
              <a:t>De </a:t>
            </a:r>
            <a:r>
              <a:rPr lang="en-US" sz="2400" dirty="0" err="1" smtClean="0"/>
              <a:t>centrale</a:t>
            </a:r>
            <a:r>
              <a:rPr lang="en-US" sz="2400" dirty="0" smtClean="0"/>
              <a:t> </a:t>
            </a:r>
            <a:r>
              <a:rPr lang="en-US" sz="2400" dirty="0" err="1" smtClean="0"/>
              <a:t>limietstelling</a:t>
            </a:r>
            <a:endParaRPr lang="en-US" sz="2400" dirty="0"/>
          </a:p>
          <a:p>
            <a:pPr eaLnBrk="1" hangingPunct="1"/>
            <a:endParaRPr lang="en-US" sz="2400" dirty="0" smtClean="0"/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  <a:p>
            <a:endParaRPr lang="en-US" sz="2400" b="1" dirty="0" smtClean="0">
              <a:latin typeface="RijksoverheidSansText" panose="020B0503040202060203" pitchFamily="34" charset="0"/>
            </a:endParaRPr>
          </a:p>
          <a:p>
            <a:endParaRPr lang="en-US" sz="2400" b="1" dirty="0">
              <a:latin typeface="RijksoverheidSansText" panose="020B0503040202060203" pitchFamily="34" charset="0"/>
            </a:endParaRPr>
          </a:p>
          <a:p>
            <a:endParaRPr lang="en-US" sz="2400" b="1" dirty="0" smtClean="0">
              <a:latin typeface="RijksoverheidSansText" panose="020B0503040202060203" pitchFamily="34" charset="0"/>
            </a:endParaRPr>
          </a:p>
          <a:p>
            <a:r>
              <a:rPr lang="en-US" sz="2400" b="1" dirty="0" err="1" smtClean="0">
                <a:latin typeface="RijksoverheidSansText" panose="020B0503040202060203" pitchFamily="34" charset="0"/>
              </a:rPr>
              <a:t>Huiswerk</a:t>
            </a:r>
            <a:r>
              <a:rPr lang="en-US" sz="2400" b="1" dirty="0">
                <a:latin typeface="RijksoverheidSansText" panose="020B0503040202060203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RijksoverheidSansText" panose="020B0503040202060203" pitchFamily="34" charset="0"/>
              </a:rPr>
              <a:t>Lezen</a:t>
            </a:r>
            <a:r>
              <a:rPr lang="en-US" sz="2400" dirty="0">
                <a:latin typeface="RijksoverheidSansText" panose="020B0503040202060203" pitchFamily="34" charset="0"/>
              </a:rPr>
              <a:t> van A. Buijs: </a:t>
            </a:r>
            <a:r>
              <a:rPr lang="en-US" sz="2400" dirty="0" err="1">
                <a:latin typeface="RijksoverheidSansText" panose="020B0503040202060203" pitchFamily="34" charset="0"/>
              </a:rPr>
              <a:t>hoofdstuk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smtClean="0">
                <a:latin typeface="RijksoverheidSansText" panose="020B0503040202060203" pitchFamily="34" charset="0"/>
              </a:rPr>
              <a:t>5.2 </a:t>
            </a:r>
            <a:r>
              <a:rPr lang="en-US" sz="2400" dirty="0">
                <a:latin typeface="RijksoverheidSansText" panose="020B0503040202060203" pitchFamily="34" charset="0"/>
              </a:rPr>
              <a:t>(</a:t>
            </a:r>
            <a:r>
              <a:rPr lang="en-US" sz="2400" dirty="0" err="1">
                <a:latin typeface="RijksoverheidSansText" panose="020B0503040202060203" pitchFamily="34" charset="0"/>
              </a:rPr>
              <a:t>blz</a:t>
            </a:r>
            <a:r>
              <a:rPr lang="en-US" sz="2400" dirty="0">
                <a:latin typeface="RijksoverheidSansText" panose="020B0503040202060203" pitchFamily="34" charset="0"/>
              </a:rPr>
              <a:t>. </a:t>
            </a:r>
            <a:r>
              <a:rPr lang="en-US" sz="2400" dirty="0" smtClean="0">
                <a:latin typeface="RijksoverheidSansText" panose="020B0503040202060203" pitchFamily="34" charset="0"/>
              </a:rPr>
              <a:t>174-180)</a:t>
            </a:r>
            <a:endParaRPr lang="en-US" sz="2400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RijksoverheidSansText" panose="020B0503040202060203" pitchFamily="34" charset="0"/>
              </a:rPr>
              <a:t>Opdrachten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uit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i="1" dirty="0" smtClean="0">
                <a:latin typeface="RijksoverheidSansText" panose="020B0503040202060203" pitchFamily="34" charset="0"/>
              </a:rPr>
              <a:t>“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Statistiek</a:t>
            </a:r>
            <a:r>
              <a:rPr lang="en-US" sz="2400" i="1" dirty="0" smtClean="0">
                <a:latin typeface="RijksoverheidSansText" panose="020B0503040202060203" pitchFamily="34" charset="0"/>
              </a:rPr>
              <a:t> om 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mee</a:t>
            </a:r>
            <a:r>
              <a:rPr lang="en-US" sz="2400" i="1" dirty="0" smtClean="0">
                <a:latin typeface="RijksoverheidSansText" panose="020B0503040202060203" pitchFamily="34" charset="0"/>
              </a:rPr>
              <a:t> 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te</a:t>
            </a:r>
            <a:r>
              <a:rPr lang="en-US" sz="2400" i="1" dirty="0" smtClean="0">
                <a:latin typeface="RijksoverheidSansText" panose="020B0503040202060203" pitchFamily="34" charset="0"/>
              </a:rPr>
              <a:t> 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werken</a:t>
            </a:r>
            <a:r>
              <a:rPr lang="en-US" sz="2400" i="1" dirty="0" smtClean="0">
                <a:latin typeface="RijksoverheidSansText" panose="020B0503040202060203" pitchFamily="34" charset="0"/>
              </a:rPr>
              <a:t>: 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opgaven</a:t>
            </a:r>
            <a:r>
              <a:rPr lang="en-US" sz="2400" i="1" dirty="0" smtClean="0">
                <a:latin typeface="RijksoverheidSansText" panose="020B0503040202060203" pitchFamily="34" charset="0"/>
              </a:rPr>
              <a:t> 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en</a:t>
            </a:r>
            <a:r>
              <a:rPr lang="en-US" sz="2400" i="1" dirty="0" smtClean="0">
                <a:latin typeface="RijksoverheidSansText" panose="020B0503040202060203" pitchFamily="34" charset="0"/>
              </a:rPr>
              <a:t> 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uitwerkingen</a:t>
            </a:r>
            <a:r>
              <a:rPr lang="en-US" sz="2400" i="1" dirty="0" smtClean="0">
                <a:latin typeface="RijksoverheidSansText" panose="020B0503040202060203" pitchFamily="34" charset="0"/>
              </a:rPr>
              <a:t>”</a:t>
            </a:r>
            <a:r>
              <a:rPr lang="en-US" sz="2400" dirty="0" smtClean="0">
                <a:latin typeface="RijksoverheidSansText" panose="020B0503040202060203" pitchFamily="34" charset="0"/>
              </a:rPr>
              <a:t>: </a:t>
            </a:r>
            <a:endParaRPr lang="en-US" sz="2400" dirty="0">
              <a:latin typeface="RijksoverheidSansText" panose="020B0503040202060203" pitchFamily="34" charset="0"/>
            </a:endParaRP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RijksoverheidSansText" panose="020B0503040202060203" pitchFamily="34" charset="0"/>
              </a:rPr>
              <a:t>H5: </a:t>
            </a:r>
            <a:r>
              <a:rPr lang="nl-NL" dirty="0"/>
              <a:t>m1, m3, m4, m5, m6, 5.2, 5.4, 5.5, </a:t>
            </a:r>
            <a:r>
              <a:rPr lang="nl-NL" dirty="0" smtClean="0"/>
              <a:t>5.6</a:t>
            </a:r>
            <a:endParaRPr lang="en-US" sz="2400" dirty="0"/>
          </a:p>
          <a:p>
            <a:pPr eaLnBrk="1" hangingPunct="1"/>
            <a:endParaRPr lang="en-US" sz="2400" b="1" dirty="0" smtClean="0"/>
          </a:p>
        </p:txBody>
      </p:sp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954EBD1-29D6-4680-A43E-6930799C0313}" type="datetime4">
              <a:rPr lang="nl-NL" smtClean="0"/>
              <a:t>7 april 2026</a:t>
            </a:fld>
            <a:endParaRPr lang="nl-NL" smtClean="0"/>
          </a:p>
        </p:txBody>
      </p:sp>
    </p:spTree>
    <p:extLst>
      <p:ext uri="{BB962C8B-B14F-4D97-AF65-F5344CB8AC3E}">
        <p14:creationId xmlns:p14="http://schemas.microsoft.com/office/powerpoint/2010/main" val="632345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e">
  <a:themeElements>
    <a:clrScheme name="landmachtNL1 1">
      <a:dk1>
        <a:srgbClr val="000000"/>
      </a:dk1>
      <a:lt1>
        <a:srgbClr val="FFFFFF"/>
      </a:lt1>
      <a:dk2>
        <a:srgbClr val="E17000"/>
      </a:dk2>
      <a:lt2>
        <a:srgbClr val="9ACCD4"/>
      </a:lt2>
      <a:accent1>
        <a:srgbClr val="2494C5"/>
      </a:accent1>
      <a:accent2>
        <a:srgbClr val="9ACCD4"/>
      </a:accent2>
      <a:accent3>
        <a:srgbClr val="FFFFFF"/>
      </a:accent3>
      <a:accent4>
        <a:srgbClr val="000000"/>
      </a:accent4>
      <a:accent5>
        <a:srgbClr val="ACC8DF"/>
      </a:accent5>
      <a:accent6>
        <a:srgbClr val="8BB9C0"/>
      </a:accent6>
      <a:hlink>
        <a:srgbClr val="004228"/>
      </a:hlink>
      <a:folHlink>
        <a:srgbClr val="E17000"/>
      </a:folHlink>
    </a:clrScheme>
    <a:fontScheme name="Custom 1">
      <a:majorFont>
        <a:latin typeface="RijksoverheidSansWebText Bold"/>
        <a:ea typeface=""/>
        <a:cs typeface=""/>
      </a:majorFont>
      <a:minorFont>
        <a:latin typeface="RijksoverheidSans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andmachtNL1 1">
        <a:dk1>
          <a:srgbClr val="000000"/>
        </a:dk1>
        <a:lt1>
          <a:srgbClr val="FFFFFF"/>
        </a:lt1>
        <a:dk2>
          <a:srgbClr val="E17000"/>
        </a:dk2>
        <a:lt2>
          <a:srgbClr val="9ACCD4"/>
        </a:lt2>
        <a:accent1>
          <a:srgbClr val="2494C5"/>
        </a:accent1>
        <a:accent2>
          <a:srgbClr val="9ACCD4"/>
        </a:accent2>
        <a:accent3>
          <a:srgbClr val="FFFFFF"/>
        </a:accent3>
        <a:accent4>
          <a:srgbClr val="000000"/>
        </a:accent4>
        <a:accent5>
          <a:srgbClr val="ACC8DF"/>
        </a:accent5>
        <a:accent6>
          <a:srgbClr val="8BB9C0"/>
        </a:accent6>
        <a:hlink>
          <a:srgbClr val="004228"/>
        </a:hlink>
        <a:folHlink>
          <a:srgbClr val="E17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e_COMMIT_16-9.potx" id="{1445475F-C680-4984-B289-2F11A48A3D2F}" vid="{C2C83AC2-C8C5-4794-9F5F-E1F5002BF5A0}"/>
    </a:ext>
  </a:extLst>
</a:theme>
</file>

<file path=ppt/theme/theme2.xml><?xml version="1.0" encoding="utf-8"?>
<a:theme xmlns:a="http://schemas.openxmlformats.org/drawingml/2006/main" name="2_Presentatie">
  <a:themeElements>
    <a:clrScheme name="landmachtNL1 1">
      <a:dk1>
        <a:srgbClr val="000000"/>
      </a:dk1>
      <a:lt1>
        <a:srgbClr val="FFFFFF"/>
      </a:lt1>
      <a:dk2>
        <a:srgbClr val="E17000"/>
      </a:dk2>
      <a:lt2>
        <a:srgbClr val="9ACCD4"/>
      </a:lt2>
      <a:accent1>
        <a:srgbClr val="2494C5"/>
      </a:accent1>
      <a:accent2>
        <a:srgbClr val="9ACCD4"/>
      </a:accent2>
      <a:accent3>
        <a:srgbClr val="FFFFFF"/>
      </a:accent3>
      <a:accent4>
        <a:srgbClr val="000000"/>
      </a:accent4>
      <a:accent5>
        <a:srgbClr val="ACC8DF"/>
      </a:accent5>
      <a:accent6>
        <a:srgbClr val="8BB9C0"/>
      </a:accent6>
      <a:hlink>
        <a:srgbClr val="004228"/>
      </a:hlink>
      <a:folHlink>
        <a:srgbClr val="E17000"/>
      </a:folHlink>
    </a:clrScheme>
    <a:fontScheme name="Aangepast 1">
      <a:majorFont>
        <a:latin typeface="RijksoverheidSansWebText Bold"/>
        <a:ea typeface=""/>
        <a:cs typeface=""/>
      </a:majorFont>
      <a:minorFont>
        <a:latin typeface="RijksoverheidSansWebText Regul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andmachtNL1 1">
        <a:dk1>
          <a:srgbClr val="000000"/>
        </a:dk1>
        <a:lt1>
          <a:srgbClr val="FFFFFF"/>
        </a:lt1>
        <a:dk2>
          <a:srgbClr val="E17000"/>
        </a:dk2>
        <a:lt2>
          <a:srgbClr val="9ACCD4"/>
        </a:lt2>
        <a:accent1>
          <a:srgbClr val="2494C5"/>
        </a:accent1>
        <a:accent2>
          <a:srgbClr val="9ACCD4"/>
        </a:accent2>
        <a:accent3>
          <a:srgbClr val="FFFFFF"/>
        </a:accent3>
        <a:accent4>
          <a:srgbClr val="000000"/>
        </a:accent4>
        <a:accent5>
          <a:srgbClr val="ACC8DF"/>
        </a:accent5>
        <a:accent6>
          <a:srgbClr val="8BB9C0"/>
        </a:accent6>
        <a:hlink>
          <a:srgbClr val="004228"/>
        </a:hlink>
        <a:folHlink>
          <a:srgbClr val="E17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e_COMMIT_16-9.potx" id="{1445475F-C680-4984-B289-2F11A48A3D2F}" vid="{C2C83AC2-C8C5-4794-9F5F-E1F5002BF5A0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Tijdelijk_bestand_Presentatie_DOSCO_16-9</Template>
  <TotalTime>0</TotalTime>
  <Words>2735</Words>
  <Application>Microsoft Office PowerPoint</Application>
  <PresentationFormat>Breedbeeld</PresentationFormat>
  <Paragraphs>359</Paragraphs>
  <Slides>30</Slides>
  <Notes>4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2</vt:i4>
      </vt:variant>
      <vt:variant>
        <vt:lpstr>Diatitels</vt:lpstr>
      </vt:variant>
      <vt:variant>
        <vt:i4>30</vt:i4>
      </vt:variant>
    </vt:vector>
  </HeadingPairs>
  <TitlesOfParts>
    <vt:vector size="39" baseType="lpstr">
      <vt:lpstr>Arial</vt:lpstr>
      <vt:lpstr>Cambria Math</vt:lpstr>
      <vt:lpstr>RijksoverheidSansHeadingTT</vt:lpstr>
      <vt:lpstr>RijksoverheidSansText</vt:lpstr>
      <vt:lpstr>RijksoverheidSansWebText Bold</vt:lpstr>
      <vt:lpstr>RijksoverheidSansWebText Regula</vt:lpstr>
      <vt:lpstr>Verdana</vt:lpstr>
      <vt:lpstr>Presentatie</vt:lpstr>
      <vt:lpstr>2_Presentatie</vt:lpstr>
      <vt:lpstr>Statistiek: college 5a</vt:lpstr>
      <vt:lpstr>Recap</vt:lpstr>
      <vt:lpstr>Leerdoelen</vt:lpstr>
      <vt:lpstr>Wat kunnen jullie je nog herinneren van de normale verdeling?</vt:lpstr>
      <vt:lpstr>Twee parameters μ en σ</vt:lpstr>
      <vt:lpstr>Empirische 68-95-99.7 regel</vt:lpstr>
      <vt:lpstr>Recap: kansrekening met continue kansvariabelen</vt:lpstr>
      <vt:lpstr>Kansrekening met de normale verdeling</vt:lpstr>
      <vt:lpstr>Kansrekening met de normale verdeling: normalcdf</vt:lpstr>
      <vt:lpstr>Voorbeeld: kans P(-2≤X≤1) voor X∼N(0, 1)</vt:lpstr>
      <vt:lpstr>Vergelijken van verschillende schalen</vt:lpstr>
      <vt:lpstr>Wie van deze soldaten heeft een beter fitnesslevel?</vt:lpstr>
      <vt:lpstr>Wie van deze soldaten heeft een beter fitnesslevel?</vt:lpstr>
      <vt:lpstr>De z-score</vt:lpstr>
      <vt:lpstr>De standaardnormale verdeling N(0, 1)</vt:lpstr>
      <vt:lpstr>Voorbeeld</vt:lpstr>
      <vt:lpstr>Wat is de kans dat een hulpvlucht binnen 30 uur aankomt?</vt:lpstr>
      <vt:lpstr>Wat is de kans dat een hulpvlucht binnen 30 uur aankomt?</vt:lpstr>
      <vt:lpstr>Samenvatting: z-score</vt:lpstr>
      <vt:lpstr>Van kansen naar grenswaarden</vt:lpstr>
      <vt:lpstr>Voorbeeld</vt:lpstr>
      <vt:lpstr>Binnen hoeveel uur is 90% van de hulpvluchten gearriveerd in het rampgebied?</vt:lpstr>
      <vt:lpstr>InvNorm op de GR: betekenis van “Tail”</vt:lpstr>
      <vt:lpstr>Overzicht</vt:lpstr>
      <vt:lpstr>Buijs: opdracht 5.7</vt:lpstr>
      <vt:lpstr>Voor welke tijdsduur T_1 functioneert het onderdeel nog met 95% kans?</vt:lpstr>
      <vt:lpstr>Buijs: opdracht 5.7</vt:lpstr>
      <vt:lpstr>Hoe groot is de kans dat alle vier de onderdelen nog functioneren na T_1?</vt:lpstr>
      <vt:lpstr>Samenvatting</vt:lpstr>
      <vt:lpstr>Volgend college</vt:lpstr>
    </vt:vector>
  </TitlesOfParts>
  <Company>Ministerie van Defensie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Blom, DAMP, Dr. ir., DOSCO/NLDA/FMW/CG MTW</dc:creator>
  <cp:lastModifiedBy>Gebruiker</cp:lastModifiedBy>
  <cp:revision>153</cp:revision>
  <cp:lastPrinted>2011-09-21T07:52:24Z</cp:lastPrinted>
  <dcterms:created xsi:type="dcterms:W3CDTF">2025-01-22T12:46:18Z</dcterms:created>
  <dcterms:modified xsi:type="dcterms:W3CDTF">2026-04-07T14:15:13Z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eur">
    <vt:lpwstr>Auteur</vt:lpwstr>
  </property>
  <property fmtid="{D5CDD505-2E9C-101B-9397-08002B2CF9AE}" pid="3" name="Functie">
    <vt:lpwstr>Functie</vt:lpwstr>
  </property>
  <property fmtid="{D5CDD505-2E9C-101B-9397-08002B2CF9AE}" pid="4" name="Titel">
    <vt:lpwstr>Titel</vt:lpwstr>
  </property>
  <property fmtid="{D5CDD505-2E9C-101B-9397-08002B2CF9AE}" pid="5" name="Subtitel">
    <vt:lpwstr>Subtitel</vt:lpwstr>
  </property>
  <property fmtid="{D5CDD505-2E9C-101B-9397-08002B2CF9AE}" pid="6" name="Afdeling">
    <vt:lpwstr>Afdeling</vt:lpwstr>
  </property>
  <property fmtid="{D5CDD505-2E9C-101B-9397-08002B2CF9AE}" pid="7" name="Merking">
    <vt:lpwstr>Merking</vt:lpwstr>
  </property>
  <property fmtid="{D5CDD505-2E9C-101B-9397-08002B2CF9AE}" pid="8" name="Rubricering">
    <vt:lpwstr>Rubricering</vt:lpwstr>
  </property>
  <property fmtid="{D5CDD505-2E9C-101B-9397-08002B2CF9AE}" pid="9" name="Datum">
    <vt:filetime>1999-12-31T22:00:00Z</vt:filetime>
  </property>
</Properties>
</file>