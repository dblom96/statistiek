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diagrams/data2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98" r:id="rId2"/>
    <p:sldMasterId id="2147483710" r:id="rId3"/>
  </p:sldMasterIdLst>
  <p:notesMasterIdLst>
    <p:notesMasterId r:id="rId33"/>
  </p:notesMasterIdLst>
  <p:handoutMasterIdLst>
    <p:handoutMasterId r:id="rId34"/>
  </p:handoutMasterIdLst>
  <p:sldIdLst>
    <p:sldId id="317" r:id="rId4"/>
    <p:sldId id="257" r:id="rId5"/>
    <p:sldId id="258" r:id="rId6"/>
    <p:sldId id="287" r:id="rId7"/>
    <p:sldId id="265" r:id="rId8"/>
    <p:sldId id="322" r:id="rId9"/>
    <p:sldId id="260" r:id="rId10"/>
    <p:sldId id="295" r:id="rId11"/>
    <p:sldId id="321" r:id="rId12"/>
    <p:sldId id="318" r:id="rId13"/>
    <p:sldId id="319" r:id="rId14"/>
    <p:sldId id="323" r:id="rId15"/>
    <p:sldId id="272" r:id="rId16"/>
    <p:sldId id="324" r:id="rId17"/>
    <p:sldId id="293" r:id="rId18"/>
    <p:sldId id="320" r:id="rId19"/>
    <p:sldId id="297" r:id="rId20"/>
    <p:sldId id="277" r:id="rId21"/>
    <p:sldId id="278" r:id="rId22"/>
    <p:sldId id="303" r:id="rId23"/>
    <p:sldId id="304" r:id="rId24"/>
    <p:sldId id="306" r:id="rId25"/>
    <p:sldId id="305" r:id="rId26"/>
    <p:sldId id="307" r:id="rId27"/>
    <p:sldId id="315" r:id="rId28"/>
    <p:sldId id="301" r:id="rId29"/>
    <p:sldId id="302" r:id="rId30"/>
    <p:sldId id="309" r:id="rId31"/>
    <p:sldId id="285" r:id="rId32"/>
  </p:sldIdLst>
  <p:sldSz cx="12192000" cy="6858000"/>
  <p:notesSz cx="6921500" cy="9423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0" hangingPunct="1"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6pPr>
    <a:lvl7pPr marL="2743200" algn="l" defTabSz="914400" rtl="0" eaLnBrk="1" latinLnBrk="0" hangingPunct="1"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7pPr>
    <a:lvl8pPr marL="3200400" algn="l" defTabSz="914400" rtl="0" eaLnBrk="1" latinLnBrk="0" hangingPunct="1"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8pPr>
    <a:lvl9pPr marL="3657600" algn="l" defTabSz="914400" rtl="0" eaLnBrk="1" latinLnBrk="0" hangingPunct="1"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68">
          <p15:clr>
            <a:srgbClr val="A4A3A4"/>
          </p15:clr>
        </p15:guide>
        <p15:guide id="2" pos="218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80047"/>
    <a:srgbClr val="000000"/>
    <a:srgbClr val="55286E"/>
    <a:srgbClr val="FFFFFF"/>
    <a:srgbClr val="0E3B6E"/>
    <a:srgbClr val="005187"/>
    <a:srgbClr val="00423C"/>
    <a:srgbClr val="0E61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00"/>
  </p:normalViewPr>
  <p:slideViewPr>
    <p:cSldViewPr>
      <p:cViewPr varScale="1">
        <p:scale>
          <a:sx n="109" d="100"/>
          <a:sy n="109" d="100"/>
        </p:scale>
        <p:origin x="612" y="10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5" d="100"/>
          <a:sy n="75" d="100"/>
        </p:scale>
        <p:origin x="-2118" y="-90"/>
      </p:cViewPr>
      <p:guideLst>
        <p:guide orient="horz" pos="2968"/>
        <p:guide pos="218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image" Target="../media/image8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69E90AC-1A9D-4974-BAF5-4A7D733043D9}" type="doc">
      <dgm:prSet loTypeId="urn:microsoft.com/office/officeart/2005/8/layout/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AE26EC6-7821-4C66-ACA0-C4C826A60C6F}">
      <dgm:prSet phldrT="[Text]"/>
      <dgm:spPr/>
      <dgm:t>
        <a:bodyPr/>
        <a:lstStyle/>
        <a:p>
          <a:r>
            <a:rPr lang="en-US" dirty="0" smtClean="0"/>
            <a:t>Input</a:t>
          </a:r>
          <a:endParaRPr lang="en-US" dirty="0"/>
        </a:p>
      </dgm:t>
    </dgm:pt>
    <dgm:pt modelId="{399CC24F-1863-4927-A03D-9014BC9B1320}" type="parTrans" cxnId="{CE9F6066-92E7-45A3-BEAF-12762EEF7AC3}">
      <dgm:prSet/>
      <dgm:spPr/>
      <dgm:t>
        <a:bodyPr/>
        <a:lstStyle/>
        <a:p>
          <a:endParaRPr lang="en-US"/>
        </a:p>
      </dgm:t>
    </dgm:pt>
    <dgm:pt modelId="{4CC6A34B-8859-47AA-A26A-16DE8E9CD1CE}" type="sibTrans" cxnId="{CE9F6066-92E7-45A3-BEAF-12762EEF7AC3}">
      <dgm:prSet/>
      <dgm:spPr/>
      <dgm:t>
        <a:bodyPr/>
        <a:lstStyle/>
        <a:p>
          <a:endParaRPr lang="en-US"/>
        </a:p>
      </dgm:t>
    </dgm:pt>
    <dgm:pt modelId="{E11C979E-DA7F-44FE-93FF-6B10E1A32EFE}">
      <dgm:prSet phldrT="[Text]"/>
      <dgm:spPr/>
      <dgm:t>
        <a:bodyPr/>
        <a:lstStyle/>
        <a:p>
          <a:r>
            <a:rPr lang="en-US" dirty="0" smtClean="0"/>
            <a:t>Experiment </a:t>
          </a:r>
          <a:endParaRPr lang="en-US" dirty="0"/>
        </a:p>
      </dgm:t>
    </dgm:pt>
    <dgm:pt modelId="{36C2889A-2DD7-4CC0-830A-FD90DB7DE7A3}" type="parTrans" cxnId="{9399D6E6-EC3A-40E7-8D06-30549A77E737}">
      <dgm:prSet/>
      <dgm:spPr/>
      <dgm:t>
        <a:bodyPr/>
        <a:lstStyle/>
        <a:p>
          <a:endParaRPr lang="en-US"/>
        </a:p>
      </dgm:t>
    </dgm:pt>
    <dgm:pt modelId="{CBA8F9A7-B3A3-41C3-888D-E1DD4A1C1874}" type="sibTrans" cxnId="{9399D6E6-EC3A-40E7-8D06-30549A77E737}">
      <dgm:prSet/>
      <dgm:spPr/>
      <dgm:t>
        <a:bodyPr/>
        <a:lstStyle/>
        <a:p>
          <a:endParaRPr lang="en-US"/>
        </a:p>
      </dgm:t>
    </dgm:pt>
    <dgm:pt modelId="{069719F9-BB75-49A5-A166-10F2795AEF0B}">
      <dgm:prSet phldrT="[Text]"/>
      <dgm:spPr/>
      <dgm:t>
        <a:bodyPr/>
        <a:lstStyle/>
        <a:p>
          <a:r>
            <a:rPr lang="en-US" dirty="0" smtClean="0"/>
            <a:t>Output</a:t>
          </a:r>
          <a:endParaRPr lang="en-US" dirty="0"/>
        </a:p>
      </dgm:t>
    </dgm:pt>
    <dgm:pt modelId="{692A72E2-8E20-4674-8647-F531720BD7AB}" type="parTrans" cxnId="{CBB670C9-5286-490A-945E-B2BDEB6C2CF3}">
      <dgm:prSet/>
      <dgm:spPr/>
      <dgm:t>
        <a:bodyPr/>
        <a:lstStyle/>
        <a:p>
          <a:endParaRPr lang="en-US"/>
        </a:p>
      </dgm:t>
    </dgm:pt>
    <dgm:pt modelId="{4FE59848-15AC-4F61-9815-B768F5B4D67A}" type="sibTrans" cxnId="{CBB670C9-5286-490A-945E-B2BDEB6C2CF3}">
      <dgm:prSet/>
      <dgm:spPr/>
      <dgm:t>
        <a:bodyPr/>
        <a:lstStyle/>
        <a:p>
          <a:endParaRPr lang="en-US"/>
        </a:p>
      </dgm:t>
    </dgm:pt>
    <dgm:pt modelId="{1DD63560-39EA-40A5-8D8C-D1F346A7411F}">
      <dgm:prSet phldrT="[Text]"/>
      <dgm:spPr/>
      <dgm:t>
        <a:bodyPr/>
        <a:lstStyle/>
        <a:p>
          <a:r>
            <a:rPr lang="en-US" dirty="0" err="1" smtClean="0"/>
            <a:t>Een</a:t>
          </a:r>
          <a:r>
            <a:rPr lang="en-US" dirty="0" smtClean="0"/>
            <a:t> van de </a:t>
          </a:r>
          <a:r>
            <a:rPr lang="en-US" dirty="0" err="1" smtClean="0"/>
            <a:t>mogelijke</a:t>
          </a:r>
          <a:r>
            <a:rPr lang="en-US" dirty="0" smtClean="0"/>
            <a:t> </a:t>
          </a:r>
          <a:r>
            <a:rPr lang="en-US" dirty="0" err="1" smtClean="0"/>
            <a:t>uitkomsten</a:t>
          </a:r>
          <a:r>
            <a:rPr lang="en-US" dirty="0" smtClean="0"/>
            <a:t> (</a:t>
          </a:r>
          <a:r>
            <a:rPr lang="en-US" b="1" dirty="0" smtClean="0"/>
            <a:t>trekking</a:t>
          </a:r>
          <a:r>
            <a:rPr lang="en-US" dirty="0" smtClean="0"/>
            <a:t>)</a:t>
          </a:r>
          <a:endParaRPr lang="en-US" dirty="0"/>
        </a:p>
      </dgm:t>
    </dgm:pt>
    <dgm:pt modelId="{3F7BE854-47EB-45E1-B095-59561E777271}" type="parTrans" cxnId="{6CD97026-52D1-4004-B7F3-B2201E5C1C44}">
      <dgm:prSet/>
      <dgm:spPr/>
      <dgm:t>
        <a:bodyPr/>
        <a:lstStyle/>
        <a:p>
          <a:endParaRPr lang="en-US"/>
        </a:p>
      </dgm:t>
    </dgm:pt>
    <dgm:pt modelId="{0FDFD97D-4660-4EB9-A519-9BA8162C0D45}" type="sibTrans" cxnId="{6CD97026-52D1-4004-B7F3-B2201E5C1C44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1EA94DEB-9F40-4F05-AC41-46C694D6339D}">
          <dgm:prSet/>
          <dgm:spPr/>
          <dgm:t>
            <a:bodyPr/>
            <a:lstStyle/>
            <a:p>
              <a:r>
                <a:rPr lang="en-US" dirty="0" smtClean="0"/>
                <a:t>Uitkomstenruimte </a:t>
              </a:r>
              <a14:m>
                <m:oMath xmlns:m="http://schemas.openxmlformats.org/officeDocument/2006/math">
                  <m:r>
                    <a:rPr lang="en-US" b="0" i="1" smtClean="0">
                      <a:latin typeface="Cambria Math" panose="02040503050406030204" pitchFamily="18" charset="0"/>
                    </a:rPr>
                    <m:t>𝑆</m:t>
                  </m:r>
                </m:oMath>
              </a14:m>
              <a:endParaRPr lang="en-US" dirty="0"/>
            </a:p>
          </dgm:t>
        </dgm:pt>
      </mc:Choice>
      <mc:Fallback xmlns="">
        <dgm:pt modelId="{1EA94DEB-9F40-4F05-AC41-46C694D6339D}">
          <dgm:prSet/>
          <dgm:spPr/>
          <dgm:t>
            <a:bodyPr/>
            <a:lstStyle/>
            <a:p>
              <a:r>
                <a:rPr lang="en-US" dirty="0" smtClean="0"/>
                <a:t>Uitkomstenruimte </a:t>
              </a:r>
              <a:r>
                <a:rPr lang="en-US" b="0" i="0" smtClean="0">
                  <a:latin typeface="Cambria Math" panose="02040503050406030204" pitchFamily="18" charset="0"/>
                </a:rPr>
                <a:t>𝑆</a:t>
              </a:r>
              <a:endParaRPr lang="en-US" dirty="0"/>
            </a:p>
          </dgm:t>
        </dgm:pt>
      </mc:Fallback>
    </mc:AlternateContent>
    <dgm:pt modelId="{5776BFE5-B53A-4F74-9EBE-26BBD91CBDBB}" type="parTrans" cxnId="{70DD71B6-9057-4717-BEB6-8D9F43FC6D98}">
      <dgm:prSet/>
      <dgm:spPr/>
      <dgm:t>
        <a:bodyPr/>
        <a:lstStyle/>
        <a:p>
          <a:endParaRPr lang="en-US"/>
        </a:p>
      </dgm:t>
    </dgm:pt>
    <dgm:pt modelId="{980D1F3B-6028-4893-9CA9-B72D00BBD16D}" type="sibTrans" cxnId="{70DD71B6-9057-4717-BEB6-8D9F43FC6D98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C64F6326-40AA-4438-91FC-00721E0287A0}">
          <dgm:prSet/>
          <dgm:spPr/>
          <dgm:t>
            <a:bodyPr/>
            <a:lstStyle/>
            <a:p>
              <a:r>
                <a:rPr lang="en-US" dirty="0" smtClean="0"/>
                <a:t>Onderliggende </a:t>
              </a:r>
              <a:r>
                <a:rPr lang="en-US" dirty="0" err="1" smtClean="0"/>
                <a:t>kansverdeling</a:t>
              </a:r>
              <a:r>
                <a:rPr lang="en-US" dirty="0" smtClean="0"/>
                <a:t> over </a:t>
              </a:r>
              <a14:m>
                <m:oMath xmlns:m="http://schemas.openxmlformats.org/officeDocument/2006/math">
                  <m:r>
                    <a:rPr lang="en-US" b="0" i="1" smtClean="0">
                      <a:latin typeface="Cambria Math" panose="02040503050406030204" pitchFamily="18" charset="0"/>
                    </a:rPr>
                    <m:t>𝑆</m:t>
                  </m:r>
                </m:oMath>
              </a14:m>
              <a:endParaRPr lang="en-US" dirty="0"/>
            </a:p>
          </dgm:t>
        </dgm:pt>
      </mc:Choice>
      <mc:Fallback xmlns="">
        <dgm:pt modelId="{C64F6326-40AA-4438-91FC-00721E0287A0}">
          <dgm:prSet/>
          <dgm:spPr/>
          <dgm:t>
            <a:bodyPr/>
            <a:lstStyle/>
            <a:p>
              <a:r>
                <a:rPr lang="en-US" dirty="0" smtClean="0"/>
                <a:t>Onderliggende </a:t>
              </a:r>
              <a:r>
                <a:rPr lang="en-US" dirty="0" err="1" smtClean="0"/>
                <a:t>kansverdeling</a:t>
              </a:r>
              <a:r>
                <a:rPr lang="en-US" dirty="0" smtClean="0"/>
                <a:t> over </a:t>
              </a:r>
              <a:r>
                <a:rPr lang="en-US" b="0" i="0" smtClean="0">
                  <a:latin typeface="Cambria Math" panose="02040503050406030204" pitchFamily="18" charset="0"/>
                </a:rPr>
                <a:t>𝑆</a:t>
              </a:r>
              <a:endParaRPr lang="en-US" dirty="0"/>
            </a:p>
          </dgm:t>
        </dgm:pt>
      </mc:Fallback>
    </mc:AlternateContent>
    <dgm:pt modelId="{29CA02DC-F699-4B0E-BD2A-F60754D403C9}" type="parTrans" cxnId="{13D89CF0-3F7E-4312-B1E7-DD186B39D479}">
      <dgm:prSet/>
      <dgm:spPr/>
      <dgm:t>
        <a:bodyPr/>
        <a:lstStyle/>
        <a:p>
          <a:endParaRPr lang="en-US"/>
        </a:p>
      </dgm:t>
    </dgm:pt>
    <dgm:pt modelId="{7B355344-C857-4FDF-91D1-D85357A3849D}" type="sibTrans" cxnId="{13D89CF0-3F7E-4312-B1E7-DD186B39D479}">
      <dgm:prSet/>
      <dgm:spPr/>
      <dgm:t>
        <a:bodyPr/>
        <a:lstStyle/>
        <a:p>
          <a:endParaRPr lang="en-US"/>
        </a:p>
      </dgm:t>
    </dgm:pt>
    <dgm:pt modelId="{03124F20-BE95-4AF4-BB13-FABF503744E6}" type="pres">
      <dgm:prSet presAssocID="{969E90AC-1A9D-4974-BAF5-4A7D733043D9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C6D2FDB-F5EB-4609-8AD8-F3C93B94A9D3}" type="pres">
      <dgm:prSet presAssocID="{2AE26EC6-7821-4C66-ACA0-C4C826A60C6F}" presName="composite" presStyleCnt="0"/>
      <dgm:spPr/>
    </dgm:pt>
    <dgm:pt modelId="{42CEEBA4-1378-4AF5-90B3-23A2D88490E9}" type="pres">
      <dgm:prSet presAssocID="{2AE26EC6-7821-4C66-ACA0-C4C826A60C6F}" presName="parTx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F28E15F-C463-4A97-A02E-B468DB006C48}" type="pres">
      <dgm:prSet presAssocID="{2AE26EC6-7821-4C66-ACA0-C4C826A60C6F}" presName="parSh" presStyleLbl="node1" presStyleIdx="0" presStyleCnt="3"/>
      <dgm:spPr/>
      <dgm:t>
        <a:bodyPr/>
        <a:lstStyle/>
        <a:p>
          <a:endParaRPr lang="en-US"/>
        </a:p>
      </dgm:t>
    </dgm:pt>
    <dgm:pt modelId="{ADD3AE7F-21AA-45B5-9626-51D4168ADC97}" type="pres">
      <dgm:prSet presAssocID="{2AE26EC6-7821-4C66-ACA0-C4C826A60C6F}" presName="desTx" presStyleLbl="fgAcc1" presStyleIdx="0" presStyleCnt="3" custScaleX="105343" custScaleY="8601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DCCC56C-82FA-496D-A27C-E92CDD6B587F}" type="pres">
      <dgm:prSet presAssocID="{4CC6A34B-8859-47AA-A26A-16DE8E9CD1CE}" presName="sibTrans" presStyleLbl="sibTrans2D1" presStyleIdx="0" presStyleCnt="2"/>
      <dgm:spPr/>
      <dgm:t>
        <a:bodyPr/>
        <a:lstStyle/>
        <a:p>
          <a:endParaRPr lang="en-US"/>
        </a:p>
      </dgm:t>
    </dgm:pt>
    <dgm:pt modelId="{CF028978-9137-4291-926F-A290C98A4E9A}" type="pres">
      <dgm:prSet presAssocID="{4CC6A34B-8859-47AA-A26A-16DE8E9CD1CE}" presName="connTx" presStyleLbl="sibTrans2D1" presStyleIdx="0" presStyleCnt="2"/>
      <dgm:spPr/>
      <dgm:t>
        <a:bodyPr/>
        <a:lstStyle/>
        <a:p>
          <a:endParaRPr lang="en-US"/>
        </a:p>
      </dgm:t>
    </dgm:pt>
    <dgm:pt modelId="{D824E52D-6C6F-428E-9EE3-BDBFB3E2FDB7}" type="pres">
      <dgm:prSet presAssocID="{E11C979E-DA7F-44FE-93FF-6B10E1A32EFE}" presName="composite" presStyleCnt="0"/>
      <dgm:spPr/>
    </dgm:pt>
    <dgm:pt modelId="{D7E26F22-B107-441F-91C8-C2BAF2213382}" type="pres">
      <dgm:prSet presAssocID="{E11C979E-DA7F-44FE-93FF-6B10E1A32EFE}" presName="parTx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8A36FA2-C369-4F6B-9E66-F573CE9937C7}" type="pres">
      <dgm:prSet presAssocID="{E11C979E-DA7F-44FE-93FF-6B10E1A32EFE}" presName="parSh" presStyleLbl="node1" presStyleIdx="1" presStyleCnt="3" custLinFactNeighborX="1912" custLinFactNeighborY="13619"/>
      <dgm:spPr/>
      <dgm:t>
        <a:bodyPr/>
        <a:lstStyle/>
        <a:p>
          <a:endParaRPr lang="en-US"/>
        </a:p>
      </dgm:t>
    </dgm:pt>
    <dgm:pt modelId="{91B2C4FF-5229-419A-8888-2858F92609F6}" type="pres">
      <dgm:prSet presAssocID="{E11C979E-DA7F-44FE-93FF-6B10E1A32EFE}" presName="desTx" presStyleLbl="fgAcc1" presStyleIdx="1" presStyleCnt="3">
        <dgm:presLayoutVars>
          <dgm:bulletEnabled val="1"/>
        </dgm:presLayoutVars>
      </dgm:prSet>
      <dgm:spPr>
        <a:noFill/>
        <a:ln>
          <a:noFill/>
        </a:ln>
      </dgm:spPr>
      <dgm:t>
        <a:bodyPr/>
        <a:lstStyle/>
        <a:p>
          <a:endParaRPr lang="en-US"/>
        </a:p>
      </dgm:t>
    </dgm:pt>
    <dgm:pt modelId="{2375B698-2873-448F-B324-CD4F680EB8CA}" type="pres">
      <dgm:prSet presAssocID="{CBA8F9A7-B3A3-41C3-888D-E1DD4A1C1874}" presName="sibTrans" presStyleLbl="sibTrans2D1" presStyleIdx="1" presStyleCnt="2"/>
      <dgm:spPr/>
      <dgm:t>
        <a:bodyPr/>
        <a:lstStyle/>
        <a:p>
          <a:endParaRPr lang="en-US"/>
        </a:p>
      </dgm:t>
    </dgm:pt>
    <dgm:pt modelId="{F3862587-3509-442D-A6F0-110B0E5EC7B2}" type="pres">
      <dgm:prSet presAssocID="{CBA8F9A7-B3A3-41C3-888D-E1DD4A1C1874}" presName="connTx" presStyleLbl="sibTrans2D1" presStyleIdx="1" presStyleCnt="2"/>
      <dgm:spPr/>
      <dgm:t>
        <a:bodyPr/>
        <a:lstStyle/>
        <a:p>
          <a:endParaRPr lang="en-US"/>
        </a:p>
      </dgm:t>
    </dgm:pt>
    <dgm:pt modelId="{E0F15CA8-39A9-45AB-96B7-41954EE0801B}" type="pres">
      <dgm:prSet presAssocID="{069719F9-BB75-49A5-A166-10F2795AEF0B}" presName="composite" presStyleCnt="0"/>
      <dgm:spPr/>
    </dgm:pt>
    <dgm:pt modelId="{2FBFA388-BE05-44CE-B01B-779EB17B0BF7}" type="pres">
      <dgm:prSet presAssocID="{069719F9-BB75-49A5-A166-10F2795AEF0B}" presName="parTx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8D3CB30-4DA4-4350-B7A4-3E648F2EB227}" type="pres">
      <dgm:prSet presAssocID="{069719F9-BB75-49A5-A166-10F2795AEF0B}" presName="parSh" presStyleLbl="node1" presStyleIdx="2" presStyleCnt="3" custLinFactNeighborX="311" custLinFactNeighborY="9606"/>
      <dgm:spPr/>
      <dgm:t>
        <a:bodyPr/>
        <a:lstStyle/>
        <a:p>
          <a:endParaRPr lang="en-US"/>
        </a:p>
      </dgm:t>
    </dgm:pt>
    <dgm:pt modelId="{65612ED5-8892-45FF-B158-3CE141D796A7}" type="pres">
      <dgm:prSet presAssocID="{069719F9-BB75-49A5-A166-10F2795AEF0B}" presName="desTx" presStyleLbl="fgAcc1" presStyleIdx="2" presStyleCnt="3" custScaleY="9106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38BCAD4-931C-44B2-9C85-654167CE9A69}" type="presOf" srcId="{E11C979E-DA7F-44FE-93FF-6B10E1A32EFE}" destId="{D7E26F22-B107-441F-91C8-C2BAF2213382}" srcOrd="0" destOrd="0" presId="urn:microsoft.com/office/officeart/2005/8/layout/process3"/>
    <dgm:cxn modelId="{7CEECCED-4FE1-49B1-9243-BF6CAF418BB8}" type="presOf" srcId="{E11C979E-DA7F-44FE-93FF-6B10E1A32EFE}" destId="{58A36FA2-C369-4F6B-9E66-F573CE9937C7}" srcOrd="1" destOrd="0" presId="urn:microsoft.com/office/officeart/2005/8/layout/process3"/>
    <dgm:cxn modelId="{BCA3C229-E5F6-473A-B341-587A45A44BB4}" type="presOf" srcId="{1EA94DEB-9F40-4F05-AC41-46C694D6339D}" destId="{ADD3AE7F-21AA-45B5-9626-51D4168ADC97}" srcOrd="0" destOrd="0" presId="urn:microsoft.com/office/officeart/2005/8/layout/process3"/>
    <dgm:cxn modelId="{ADB9B6C5-EFFC-417D-A9F3-20EC750CE833}" type="presOf" srcId="{4CC6A34B-8859-47AA-A26A-16DE8E9CD1CE}" destId="{5DCCC56C-82FA-496D-A27C-E92CDD6B587F}" srcOrd="0" destOrd="0" presId="urn:microsoft.com/office/officeart/2005/8/layout/process3"/>
    <dgm:cxn modelId="{2BDA2315-127D-47A5-A6F7-58F5D949FAD8}" type="presOf" srcId="{069719F9-BB75-49A5-A166-10F2795AEF0B}" destId="{48D3CB30-4DA4-4350-B7A4-3E648F2EB227}" srcOrd="1" destOrd="0" presId="urn:microsoft.com/office/officeart/2005/8/layout/process3"/>
    <dgm:cxn modelId="{DBD0F1A5-087C-4BE8-A8BC-2A3B93662CB7}" type="presOf" srcId="{969E90AC-1A9D-4974-BAF5-4A7D733043D9}" destId="{03124F20-BE95-4AF4-BB13-FABF503744E6}" srcOrd="0" destOrd="0" presId="urn:microsoft.com/office/officeart/2005/8/layout/process3"/>
    <dgm:cxn modelId="{334B804A-29FA-4013-B447-8612ABE11DA6}" type="presOf" srcId="{4CC6A34B-8859-47AA-A26A-16DE8E9CD1CE}" destId="{CF028978-9137-4291-926F-A290C98A4E9A}" srcOrd="1" destOrd="0" presId="urn:microsoft.com/office/officeart/2005/8/layout/process3"/>
    <dgm:cxn modelId="{9399D6E6-EC3A-40E7-8D06-30549A77E737}" srcId="{969E90AC-1A9D-4974-BAF5-4A7D733043D9}" destId="{E11C979E-DA7F-44FE-93FF-6B10E1A32EFE}" srcOrd="1" destOrd="0" parTransId="{36C2889A-2DD7-4CC0-830A-FD90DB7DE7A3}" sibTransId="{CBA8F9A7-B3A3-41C3-888D-E1DD4A1C1874}"/>
    <dgm:cxn modelId="{80E6E1B5-08FE-4928-A819-DB9CAC909E65}" type="presOf" srcId="{2AE26EC6-7821-4C66-ACA0-C4C826A60C6F}" destId="{42CEEBA4-1378-4AF5-90B3-23A2D88490E9}" srcOrd="0" destOrd="0" presId="urn:microsoft.com/office/officeart/2005/8/layout/process3"/>
    <dgm:cxn modelId="{4A38A417-58F5-4E64-99F3-9C2551F9B067}" type="presOf" srcId="{2AE26EC6-7821-4C66-ACA0-C4C826A60C6F}" destId="{2F28E15F-C463-4A97-A02E-B468DB006C48}" srcOrd="1" destOrd="0" presId="urn:microsoft.com/office/officeart/2005/8/layout/process3"/>
    <dgm:cxn modelId="{CE9F6066-92E7-45A3-BEAF-12762EEF7AC3}" srcId="{969E90AC-1A9D-4974-BAF5-4A7D733043D9}" destId="{2AE26EC6-7821-4C66-ACA0-C4C826A60C6F}" srcOrd="0" destOrd="0" parTransId="{399CC24F-1863-4927-A03D-9014BC9B1320}" sibTransId="{4CC6A34B-8859-47AA-A26A-16DE8E9CD1CE}"/>
    <dgm:cxn modelId="{F95D89BF-4665-4583-80F2-30197FFAD205}" type="presOf" srcId="{CBA8F9A7-B3A3-41C3-888D-E1DD4A1C1874}" destId="{2375B698-2873-448F-B324-CD4F680EB8CA}" srcOrd="0" destOrd="0" presId="urn:microsoft.com/office/officeart/2005/8/layout/process3"/>
    <dgm:cxn modelId="{0F9DCE36-6678-432F-90D7-F0CDE08CA1AF}" type="presOf" srcId="{1DD63560-39EA-40A5-8D8C-D1F346A7411F}" destId="{65612ED5-8892-45FF-B158-3CE141D796A7}" srcOrd="0" destOrd="0" presId="urn:microsoft.com/office/officeart/2005/8/layout/process3"/>
    <dgm:cxn modelId="{4994D5B8-2488-463B-A1B2-2B1A8272DB1E}" type="presOf" srcId="{069719F9-BB75-49A5-A166-10F2795AEF0B}" destId="{2FBFA388-BE05-44CE-B01B-779EB17B0BF7}" srcOrd="0" destOrd="0" presId="urn:microsoft.com/office/officeart/2005/8/layout/process3"/>
    <dgm:cxn modelId="{CBB670C9-5286-490A-945E-B2BDEB6C2CF3}" srcId="{969E90AC-1A9D-4974-BAF5-4A7D733043D9}" destId="{069719F9-BB75-49A5-A166-10F2795AEF0B}" srcOrd="2" destOrd="0" parTransId="{692A72E2-8E20-4674-8647-F531720BD7AB}" sibTransId="{4FE59848-15AC-4F61-9815-B768F5B4D67A}"/>
    <dgm:cxn modelId="{70DD71B6-9057-4717-BEB6-8D9F43FC6D98}" srcId="{2AE26EC6-7821-4C66-ACA0-C4C826A60C6F}" destId="{1EA94DEB-9F40-4F05-AC41-46C694D6339D}" srcOrd="0" destOrd="0" parTransId="{5776BFE5-B53A-4F74-9EBE-26BBD91CBDBB}" sibTransId="{980D1F3B-6028-4893-9CA9-B72D00BBD16D}"/>
    <dgm:cxn modelId="{6CD97026-52D1-4004-B7F3-B2201E5C1C44}" srcId="{069719F9-BB75-49A5-A166-10F2795AEF0B}" destId="{1DD63560-39EA-40A5-8D8C-D1F346A7411F}" srcOrd="0" destOrd="0" parTransId="{3F7BE854-47EB-45E1-B095-59561E777271}" sibTransId="{0FDFD97D-4660-4EB9-A519-9BA8162C0D45}"/>
    <dgm:cxn modelId="{13D89CF0-3F7E-4312-B1E7-DD186B39D479}" srcId="{2AE26EC6-7821-4C66-ACA0-C4C826A60C6F}" destId="{C64F6326-40AA-4438-91FC-00721E0287A0}" srcOrd="1" destOrd="0" parTransId="{29CA02DC-F699-4B0E-BD2A-F60754D403C9}" sibTransId="{7B355344-C857-4FDF-91D1-D85357A3849D}"/>
    <dgm:cxn modelId="{D5B10F76-5062-4297-9E37-F71590979F0E}" type="presOf" srcId="{C64F6326-40AA-4438-91FC-00721E0287A0}" destId="{ADD3AE7F-21AA-45B5-9626-51D4168ADC97}" srcOrd="0" destOrd="1" presId="urn:microsoft.com/office/officeart/2005/8/layout/process3"/>
    <dgm:cxn modelId="{FFCB8FB3-0F13-4B28-97C9-DF6FA35A9121}" type="presOf" srcId="{CBA8F9A7-B3A3-41C3-888D-E1DD4A1C1874}" destId="{F3862587-3509-442D-A6F0-110B0E5EC7B2}" srcOrd="1" destOrd="0" presId="urn:microsoft.com/office/officeart/2005/8/layout/process3"/>
    <dgm:cxn modelId="{B5464F6E-C175-4BC8-9EB1-DBB0DDACF68E}" type="presParOf" srcId="{03124F20-BE95-4AF4-BB13-FABF503744E6}" destId="{EC6D2FDB-F5EB-4609-8AD8-F3C93B94A9D3}" srcOrd="0" destOrd="0" presId="urn:microsoft.com/office/officeart/2005/8/layout/process3"/>
    <dgm:cxn modelId="{8C6A688D-F313-4B2A-838B-4EEC6B142727}" type="presParOf" srcId="{EC6D2FDB-F5EB-4609-8AD8-F3C93B94A9D3}" destId="{42CEEBA4-1378-4AF5-90B3-23A2D88490E9}" srcOrd="0" destOrd="0" presId="urn:microsoft.com/office/officeart/2005/8/layout/process3"/>
    <dgm:cxn modelId="{58B0B9A7-7CBD-4D83-9380-C1AEDA5CF52A}" type="presParOf" srcId="{EC6D2FDB-F5EB-4609-8AD8-F3C93B94A9D3}" destId="{2F28E15F-C463-4A97-A02E-B468DB006C48}" srcOrd="1" destOrd="0" presId="urn:microsoft.com/office/officeart/2005/8/layout/process3"/>
    <dgm:cxn modelId="{BB3876E3-CFD3-4D50-AC41-1B384B99355C}" type="presParOf" srcId="{EC6D2FDB-F5EB-4609-8AD8-F3C93B94A9D3}" destId="{ADD3AE7F-21AA-45B5-9626-51D4168ADC97}" srcOrd="2" destOrd="0" presId="urn:microsoft.com/office/officeart/2005/8/layout/process3"/>
    <dgm:cxn modelId="{2FC108C4-2B9C-4E01-AB00-674EB398C545}" type="presParOf" srcId="{03124F20-BE95-4AF4-BB13-FABF503744E6}" destId="{5DCCC56C-82FA-496D-A27C-E92CDD6B587F}" srcOrd="1" destOrd="0" presId="urn:microsoft.com/office/officeart/2005/8/layout/process3"/>
    <dgm:cxn modelId="{FE0FBC44-90CB-49D8-ABE3-5F9ADE4950E2}" type="presParOf" srcId="{5DCCC56C-82FA-496D-A27C-E92CDD6B587F}" destId="{CF028978-9137-4291-926F-A290C98A4E9A}" srcOrd="0" destOrd="0" presId="urn:microsoft.com/office/officeart/2005/8/layout/process3"/>
    <dgm:cxn modelId="{95517E44-D426-4DFF-AE5C-E6E9A34022BE}" type="presParOf" srcId="{03124F20-BE95-4AF4-BB13-FABF503744E6}" destId="{D824E52D-6C6F-428E-9EE3-BDBFB3E2FDB7}" srcOrd="2" destOrd="0" presId="urn:microsoft.com/office/officeart/2005/8/layout/process3"/>
    <dgm:cxn modelId="{94175DB4-F164-485B-BCDF-4F5167406DCF}" type="presParOf" srcId="{D824E52D-6C6F-428E-9EE3-BDBFB3E2FDB7}" destId="{D7E26F22-B107-441F-91C8-C2BAF2213382}" srcOrd="0" destOrd="0" presId="urn:microsoft.com/office/officeart/2005/8/layout/process3"/>
    <dgm:cxn modelId="{910F243D-EEA6-46F4-98AD-AB47E8024EC4}" type="presParOf" srcId="{D824E52D-6C6F-428E-9EE3-BDBFB3E2FDB7}" destId="{58A36FA2-C369-4F6B-9E66-F573CE9937C7}" srcOrd="1" destOrd="0" presId="urn:microsoft.com/office/officeart/2005/8/layout/process3"/>
    <dgm:cxn modelId="{93CF0CC5-0A8A-48AA-A4CE-5991A217B62F}" type="presParOf" srcId="{D824E52D-6C6F-428E-9EE3-BDBFB3E2FDB7}" destId="{91B2C4FF-5229-419A-8888-2858F92609F6}" srcOrd="2" destOrd="0" presId="urn:microsoft.com/office/officeart/2005/8/layout/process3"/>
    <dgm:cxn modelId="{DE58D759-8CAB-40FA-870B-7385BDA2C1CD}" type="presParOf" srcId="{03124F20-BE95-4AF4-BB13-FABF503744E6}" destId="{2375B698-2873-448F-B324-CD4F680EB8CA}" srcOrd="3" destOrd="0" presId="urn:microsoft.com/office/officeart/2005/8/layout/process3"/>
    <dgm:cxn modelId="{DE957BDA-A020-4BF3-B86E-21148D9DA1FB}" type="presParOf" srcId="{2375B698-2873-448F-B324-CD4F680EB8CA}" destId="{F3862587-3509-442D-A6F0-110B0E5EC7B2}" srcOrd="0" destOrd="0" presId="urn:microsoft.com/office/officeart/2005/8/layout/process3"/>
    <dgm:cxn modelId="{07F1709C-9024-49B4-8FE9-0891712E8B60}" type="presParOf" srcId="{03124F20-BE95-4AF4-BB13-FABF503744E6}" destId="{E0F15CA8-39A9-45AB-96B7-41954EE0801B}" srcOrd="4" destOrd="0" presId="urn:microsoft.com/office/officeart/2005/8/layout/process3"/>
    <dgm:cxn modelId="{8050325E-CF12-49F6-93EF-E6E1ACA35664}" type="presParOf" srcId="{E0F15CA8-39A9-45AB-96B7-41954EE0801B}" destId="{2FBFA388-BE05-44CE-B01B-779EB17B0BF7}" srcOrd="0" destOrd="0" presId="urn:microsoft.com/office/officeart/2005/8/layout/process3"/>
    <dgm:cxn modelId="{CB045D79-7A9E-4196-B0EA-715D5E6A1BE2}" type="presParOf" srcId="{E0F15CA8-39A9-45AB-96B7-41954EE0801B}" destId="{48D3CB30-4DA4-4350-B7A4-3E648F2EB227}" srcOrd="1" destOrd="0" presId="urn:microsoft.com/office/officeart/2005/8/layout/process3"/>
    <dgm:cxn modelId="{15E0BB28-B38D-4F17-981C-9173E4E7DEB4}" type="presParOf" srcId="{E0F15CA8-39A9-45AB-96B7-41954EE0801B}" destId="{65612ED5-8892-45FF-B158-3CE141D796A7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69E90AC-1A9D-4974-BAF5-4A7D733043D9}" type="doc">
      <dgm:prSet loTypeId="urn:microsoft.com/office/officeart/2005/8/layout/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AE26EC6-7821-4C66-ACA0-C4C826A60C6F}">
      <dgm:prSet phldrT="[Text]"/>
      <dgm:spPr/>
      <dgm:t>
        <a:bodyPr/>
        <a:lstStyle/>
        <a:p>
          <a:r>
            <a:rPr lang="en-US" dirty="0" smtClean="0"/>
            <a:t>Input</a:t>
          </a:r>
          <a:endParaRPr lang="en-US" dirty="0"/>
        </a:p>
      </dgm:t>
    </dgm:pt>
    <dgm:pt modelId="{399CC24F-1863-4927-A03D-9014BC9B1320}" type="parTrans" cxnId="{CE9F6066-92E7-45A3-BEAF-12762EEF7AC3}">
      <dgm:prSet/>
      <dgm:spPr/>
      <dgm:t>
        <a:bodyPr/>
        <a:lstStyle/>
        <a:p>
          <a:endParaRPr lang="en-US"/>
        </a:p>
      </dgm:t>
    </dgm:pt>
    <dgm:pt modelId="{4CC6A34B-8859-47AA-A26A-16DE8E9CD1CE}" type="sibTrans" cxnId="{CE9F6066-92E7-45A3-BEAF-12762EEF7AC3}">
      <dgm:prSet/>
      <dgm:spPr/>
      <dgm:t>
        <a:bodyPr/>
        <a:lstStyle/>
        <a:p>
          <a:endParaRPr lang="en-US"/>
        </a:p>
      </dgm:t>
    </dgm:pt>
    <dgm:pt modelId="{E11C979E-DA7F-44FE-93FF-6B10E1A32EFE}">
      <dgm:prSet phldrT="[Text]"/>
      <dgm:spPr/>
      <dgm:t>
        <a:bodyPr/>
        <a:lstStyle/>
        <a:p>
          <a:r>
            <a:rPr lang="en-US" dirty="0" smtClean="0"/>
            <a:t>Experiment </a:t>
          </a:r>
          <a:endParaRPr lang="en-US" dirty="0"/>
        </a:p>
      </dgm:t>
    </dgm:pt>
    <dgm:pt modelId="{36C2889A-2DD7-4CC0-830A-FD90DB7DE7A3}" type="parTrans" cxnId="{9399D6E6-EC3A-40E7-8D06-30549A77E737}">
      <dgm:prSet/>
      <dgm:spPr/>
      <dgm:t>
        <a:bodyPr/>
        <a:lstStyle/>
        <a:p>
          <a:endParaRPr lang="en-US"/>
        </a:p>
      </dgm:t>
    </dgm:pt>
    <dgm:pt modelId="{CBA8F9A7-B3A3-41C3-888D-E1DD4A1C1874}" type="sibTrans" cxnId="{9399D6E6-EC3A-40E7-8D06-30549A77E737}">
      <dgm:prSet/>
      <dgm:spPr/>
      <dgm:t>
        <a:bodyPr/>
        <a:lstStyle/>
        <a:p>
          <a:endParaRPr lang="en-US"/>
        </a:p>
      </dgm:t>
    </dgm:pt>
    <dgm:pt modelId="{069719F9-BB75-49A5-A166-10F2795AEF0B}">
      <dgm:prSet phldrT="[Text]"/>
      <dgm:spPr/>
      <dgm:t>
        <a:bodyPr/>
        <a:lstStyle/>
        <a:p>
          <a:r>
            <a:rPr lang="en-US" dirty="0" smtClean="0"/>
            <a:t>Output</a:t>
          </a:r>
          <a:endParaRPr lang="en-US" dirty="0"/>
        </a:p>
      </dgm:t>
    </dgm:pt>
    <dgm:pt modelId="{692A72E2-8E20-4674-8647-F531720BD7AB}" type="parTrans" cxnId="{CBB670C9-5286-490A-945E-B2BDEB6C2CF3}">
      <dgm:prSet/>
      <dgm:spPr/>
      <dgm:t>
        <a:bodyPr/>
        <a:lstStyle/>
        <a:p>
          <a:endParaRPr lang="en-US"/>
        </a:p>
      </dgm:t>
    </dgm:pt>
    <dgm:pt modelId="{4FE59848-15AC-4F61-9815-B768F5B4D67A}" type="sibTrans" cxnId="{CBB670C9-5286-490A-945E-B2BDEB6C2CF3}">
      <dgm:prSet/>
      <dgm:spPr/>
      <dgm:t>
        <a:bodyPr/>
        <a:lstStyle/>
        <a:p>
          <a:endParaRPr lang="en-US"/>
        </a:p>
      </dgm:t>
    </dgm:pt>
    <dgm:pt modelId="{1DD63560-39EA-40A5-8D8C-D1F346A7411F}">
      <dgm:prSet phldrT="[Text]"/>
      <dgm:spPr/>
      <dgm:t>
        <a:bodyPr/>
        <a:lstStyle/>
        <a:p>
          <a:r>
            <a:rPr lang="en-US" dirty="0" err="1" smtClean="0"/>
            <a:t>Een</a:t>
          </a:r>
          <a:r>
            <a:rPr lang="en-US" dirty="0" smtClean="0"/>
            <a:t> van de </a:t>
          </a:r>
          <a:r>
            <a:rPr lang="en-US" dirty="0" err="1" smtClean="0"/>
            <a:t>mogelijke</a:t>
          </a:r>
          <a:r>
            <a:rPr lang="en-US" dirty="0" smtClean="0"/>
            <a:t> </a:t>
          </a:r>
          <a:r>
            <a:rPr lang="en-US" dirty="0" err="1" smtClean="0"/>
            <a:t>uitkomsten</a:t>
          </a:r>
          <a:r>
            <a:rPr lang="en-US" dirty="0" smtClean="0"/>
            <a:t> (</a:t>
          </a:r>
          <a:r>
            <a:rPr lang="en-US" b="1" dirty="0" smtClean="0"/>
            <a:t>trekking</a:t>
          </a:r>
          <a:r>
            <a:rPr lang="en-US" dirty="0" smtClean="0"/>
            <a:t>)</a:t>
          </a:r>
          <a:endParaRPr lang="en-US" dirty="0"/>
        </a:p>
      </dgm:t>
    </dgm:pt>
    <dgm:pt modelId="{3F7BE854-47EB-45E1-B095-59561E777271}" type="parTrans" cxnId="{6CD97026-52D1-4004-B7F3-B2201E5C1C44}">
      <dgm:prSet/>
      <dgm:spPr/>
      <dgm:t>
        <a:bodyPr/>
        <a:lstStyle/>
        <a:p>
          <a:endParaRPr lang="en-US"/>
        </a:p>
      </dgm:t>
    </dgm:pt>
    <dgm:pt modelId="{0FDFD97D-4660-4EB9-A519-9BA8162C0D45}" type="sibTrans" cxnId="{6CD97026-52D1-4004-B7F3-B2201E5C1C44}">
      <dgm:prSet/>
      <dgm:spPr/>
      <dgm:t>
        <a:bodyPr/>
        <a:lstStyle/>
        <a:p>
          <a:endParaRPr lang="en-US"/>
        </a:p>
      </dgm:t>
    </dgm:pt>
    <dgm:pt modelId="{1EA94DEB-9F40-4F05-AC41-46C694D6339D}">
      <dgm:prSet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nl-NL">
              <a:noFill/>
            </a:rPr>
            <a:t> </a:t>
          </a:r>
        </a:p>
      </dgm:t>
    </dgm:pt>
    <dgm:pt modelId="{5776BFE5-B53A-4F74-9EBE-26BBD91CBDBB}" type="parTrans" cxnId="{70DD71B6-9057-4717-BEB6-8D9F43FC6D98}">
      <dgm:prSet/>
      <dgm:spPr/>
      <dgm:t>
        <a:bodyPr/>
        <a:lstStyle/>
        <a:p>
          <a:endParaRPr lang="en-US"/>
        </a:p>
      </dgm:t>
    </dgm:pt>
    <dgm:pt modelId="{980D1F3B-6028-4893-9CA9-B72D00BBD16D}" type="sibTrans" cxnId="{70DD71B6-9057-4717-BEB6-8D9F43FC6D98}">
      <dgm:prSet/>
      <dgm:spPr/>
      <dgm:t>
        <a:bodyPr/>
        <a:lstStyle/>
        <a:p>
          <a:endParaRPr lang="en-US"/>
        </a:p>
      </dgm:t>
    </dgm:pt>
    <dgm:pt modelId="{C64F6326-40AA-4438-91FC-00721E0287A0}">
      <dgm:prSet/>
      <dgm:spPr/>
      <dgm:t>
        <a:bodyPr/>
        <a:lstStyle/>
        <a:p>
          <a:r>
            <a:rPr lang="nl-NL">
              <a:noFill/>
            </a:rPr>
            <a:t> </a:t>
          </a:r>
        </a:p>
      </dgm:t>
    </dgm:pt>
    <dgm:pt modelId="{29CA02DC-F699-4B0E-BD2A-F60754D403C9}" type="parTrans" cxnId="{13D89CF0-3F7E-4312-B1E7-DD186B39D479}">
      <dgm:prSet/>
      <dgm:spPr/>
      <dgm:t>
        <a:bodyPr/>
        <a:lstStyle/>
        <a:p>
          <a:endParaRPr lang="en-US"/>
        </a:p>
      </dgm:t>
    </dgm:pt>
    <dgm:pt modelId="{7B355344-C857-4FDF-91D1-D85357A3849D}" type="sibTrans" cxnId="{13D89CF0-3F7E-4312-B1E7-DD186B39D479}">
      <dgm:prSet/>
      <dgm:spPr/>
      <dgm:t>
        <a:bodyPr/>
        <a:lstStyle/>
        <a:p>
          <a:endParaRPr lang="en-US"/>
        </a:p>
      </dgm:t>
    </dgm:pt>
    <dgm:pt modelId="{03124F20-BE95-4AF4-BB13-FABF503744E6}" type="pres">
      <dgm:prSet presAssocID="{969E90AC-1A9D-4974-BAF5-4A7D733043D9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C6D2FDB-F5EB-4609-8AD8-F3C93B94A9D3}" type="pres">
      <dgm:prSet presAssocID="{2AE26EC6-7821-4C66-ACA0-C4C826A60C6F}" presName="composite" presStyleCnt="0"/>
      <dgm:spPr/>
    </dgm:pt>
    <dgm:pt modelId="{42CEEBA4-1378-4AF5-90B3-23A2D88490E9}" type="pres">
      <dgm:prSet presAssocID="{2AE26EC6-7821-4C66-ACA0-C4C826A60C6F}" presName="parTx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F28E15F-C463-4A97-A02E-B468DB006C48}" type="pres">
      <dgm:prSet presAssocID="{2AE26EC6-7821-4C66-ACA0-C4C826A60C6F}" presName="parSh" presStyleLbl="node1" presStyleIdx="0" presStyleCnt="3"/>
      <dgm:spPr/>
      <dgm:t>
        <a:bodyPr/>
        <a:lstStyle/>
        <a:p>
          <a:endParaRPr lang="en-US"/>
        </a:p>
      </dgm:t>
    </dgm:pt>
    <dgm:pt modelId="{ADD3AE7F-21AA-45B5-9626-51D4168ADC97}" type="pres">
      <dgm:prSet presAssocID="{2AE26EC6-7821-4C66-ACA0-C4C826A60C6F}" presName="desTx" presStyleLbl="fgAcc1" presStyleIdx="0" presStyleCnt="3" custScaleX="105343" custScaleY="8601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DCCC56C-82FA-496D-A27C-E92CDD6B587F}" type="pres">
      <dgm:prSet presAssocID="{4CC6A34B-8859-47AA-A26A-16DE8E9CD1CE}" presName="sibTrans" presStyleLbl="sibTrans2D1" presStyleIdx="0" presStyleCnt="2"/>
      <dgm:spPr/>
      <dgm:t>
        <a:bodyPr/>
        <a:lstStyle/>
        <a:p>
          <a:endParaRPr lang="en-US"/>
        </a:p>
      </dgm:t>
    </dgm:pt>
    <dgm:pt modelId="{CF028978-9137-4291-926F-A290C98A4E9A}" type="pres">
      <dgm:prSet presAssocID="{4CC6A34B-8859-47AA-A26A-16DE8E9CD1CE}" presName="connTx" presStyleLbl="sibTrans2D1" presStyleIdx="0" presStyleCnt="2"/>
      <dgm:spPr/>
      <dgm:t>
        <a:bodyPr/>
        <a:lstStyle/>
        <a:p>
          <a:endParaRPr lang="en-US"/>
        </a:p>
      </dgm:t>
    </dgm:pt>
    <dgm:pt modelId="{D824E52D-6C6F-428E-9EE3-BDBFB3E2FDB7}" type="pres">
      <dgm:prSet presAssocID="{E11C979E-DA7F-44FE-93FF-6B10E1A32EFE}" presName="composite" presStyleCnt="0"/>
      <dgm:spPr/>
    </dgm:pt>
    <dgm:pt modelId="{D7E26F22-B107-441F-91C8-C2BAF2213382}" type="pres">
      <dgm:prSet presAssocID="{E11C979E-DA7F-44FE-93FF-6B10E1A32EFE}" presName="parTx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8A36FA2-C369-4F6B-9E66-F573CE9937C7}" type="pres">
      <dgm:prSet presAssocID="{E11C979E-DA7F-44FE-93FF-6B10E1A32EFE}" presName="parSh" presStyleLbl="node1" presStyleIdx="1" presStyleCnt="3" custLinFactNeighborX="1912" custLinFactNeighborY="13619"/>
      <dgm:spPr/>
      <dgm:t>
        <a:bodyPr/>
        <a:lstStyle/>
        <a:p>
          <a:endParaRPr lang="en-US"/>
        </a:p>
      </dgm:t>
    </dgm:pt>
    <dgm:pt modelId="{91B2C4FF-5229-419A-8888-2858F92609F6}" type="pres">
      <dgm:prSet presAssocID="{E11C979E-DA7F-44FE-93FF-6B10E1A32EFE}" presName="desTx" presStyleLbl="fgAcc1" presStyleIdx="1" presStyleCnt="3">
        <dgm:presLayoutVars>
          <dgm:bulletEnabled val="1"/>
        </dgm:presLayoutVars>
      </dgm:prSet>
      <dgm:spPr>
        <a:noFill/>
        <a:ln>
          <a:noFill/>
        </a:ln>
      </dgm:spPr>
      <dgm:t>
        <a:bodyPr/>
        <a:lstStyle/>
        <a:p>
          <a:endParaRPr lang="en-US"/>
        </a:p>
      </dgm:t>
    </dgm:pt>
    <dgm:pt modelId="{2375B698-2873-448F-B324-CD4F680EB8CA}" type="pres">
      <dgm:prSet presAssocID="{CBA8F9A7-B3A3-41C3-888D-E1DD4A1C1874}" presName="sibTrans" presStyleLbl="sibTrans2D1" presStyleIdx="1" presStyleCnt="2"/>
      <dgm:spPr/>
      <dgm:t>
        <a:bodyPr/>
        <a:lstStyle/>
        <a:p>
          <a:endParaRPr lang="en-US"/>
        </a:p>
      </dgm:t>
    </dgm:pt>
    <dgm:pt modelId="{F3862587-3509-442D-A6F0-110B0E5EC7B2}" type="pres">
      <dgm:prSet presAssocID="{CBA8F9A7-B3A3-41C3-888D-E1DD4A1C1874}" presName="connTx" presStyleLbl="sibTrans2D1" presStyleIdx="1" presStyleCnt="2"/>
      <dgm:spPr/>
      <dgm:t>
        <a:bodyPr/>
        <a:lstStyle/>
        <a:p>
          <a:endParaRPr lang="en-US"/>
        </a:p>
      </dgm:t>
    </dgm:pt>
    <dgm:pt modelId="{E0F15CA8-39A9-45AB-96B7-41954EE0801B}" type="pres">
      <dgm:prSet presAssocID="{069719F9-BB75-49A5-A166-10F2795AEF0B}" presName="composite" presStyleCnt="0"/>
      <dgm:spPr/>
    </dgm:pt>
    <dgm:pt modelId="{2FBFA388-BE05-44CE-B01B-779EB17B0BF7}" type="pres">
      <dgm:prSet presAssocID="{069719F9-BB75-49A5-A166-10F2795AEF0B}" presName="parTx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8D3CB30-4DA4-4350-B7A4-3E648F2EB227}" type="pres">
      <dgm:prSet presAssocID="{069719F9-BB75-49A5-A166-10F2795AEF0B}" presName="parSh" presStyleLbl="node1" presStyleIdx="2" presStyleCnt="3" custLinFactNeighborX="311" custLinFactNeighborY="9606"/>
      <dgm:spPr/>
      <dgm:t>
        <a:bodyPr/>
        <a:lstStyle/>
        <a:p>
          <a:endParaRPr lang="en-US"/>
        </a:p>
      </dgm:t>
    </dgm:pt>
    <dgm:pt modelId="{65612ED5-8892-45FF-B158-3CE141D796A7}" type="pres">
      <dgm:prSet presAssocID="{069719F9-BB75-49A5-A166-10F2795AEF0B}" presName="desTx" presStyleLbl="fgAcc1" presStyleIdx="2" presStyleCnt="3" custScaleY="9106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38BCAD4-931C-44B2-9C85-654167CE9A69}" type="presOf" srcId="{E11C979E-DA7F-44FE-93FF-6B10E1A32EFE}" destId="{D7E26F22-B107-441F-91C8-C2BAF2213382}" srcOrd="0" destOrd="0" presId="urn:microsoft.com/office/officeart/2005/8/layout/process3"/>
    <dgm:cxn modelId="{7CEECCED-4FE1-49B1-9243-BF6CAF418BB8}" type="presOf" srcId="{E11C979E-DA7F-44FE-93FF-6B10E1A32EFE}" destId="{58A36FA2-C369-4F6B-9E66-F573CE9937C7}" srcOrd="1" destOrd="0" presId="urn:microsoft.com/office/officeart/2005/8/layout/process3"/>
    <dgm:cxn modelId="{BCA3C229-E5F6-473A-B341-587A45A44BB4}" type="presOf" srcId="{1EA94DEB-9F40-4F05-AC41-46C694D6339D}" destId="{ADD3AE7F-21AA-45B5-9626-51D4168ADC97}" srcOrd="0" destOrd="0" presId="urn:microsoft.com/office/officeart/2005/8/layout/process3"/>
    <dgm:cxn modelId="{ADB9B6C5-EFFC-417D-A9F3-20EC750CE833}" type="presOf" srcId="{4CC6A34B-8859-47AA-A26A-16DE8E9CD1CE}" destId="{5DCCC56C-82FA-496D-A27C-E92CDD6B587F}" srcOrd="0" destOrd="0" presId="urn:microsoft.com/office/officeart/2005/8/layout/process3"/>
    <dgm:cxn modelId="{2BDA2315-127D-47A5-A6F7-58F5D949FAD8}" type="presOf" srcId="{069719F9-BB75-49A5-A166-10F2795AEF0B}" destId="{48D3CB30-4DA4-4350-B7A4-3E648F2EB227}" srcOrd="1" destOrd="0" presId="urn:microsoft.com/office/officeart/2005/8/layout/process3"/>
    <dgm:cxn modelId="{DBD0F1A5-087C-4BE8-A8BC-2A3B93662CB7}" type="presOf" srcId="{969E90AC-1A9D-4974-BAF5-4A7D733043D9}" destId="{03124F20-BE95-4AF4-BB13-FABF503744E6}" srcOrd="0" destOrd="0" presId="urn:microsoft.com/office/officeart/2005/8/layout/process3"/>
    <dgm:cxn modelId="{334B804A-29FA-4013-B447-8612ABE11DA6}" type="presOf" srcId="{4CC6A34B-8859-47AA-A26A-16DE8E9CD1CE}" destId="{CF028978-9137-4291-926F-A290C98A4E9A}" srcOrd="1" destOrd="0" presId="urn:microsoft.com/office/officeart/2005/8/layout/process3"/>
    <dgm:cxn modelId="{9399D6E6-EC3A-40E7-8D06-30549A77E737}" srcId="{969E90AC-1A9D-4974-BAF5-4A7D733043D9}" destId="{E11C979E-DA7F-44FE-93FF-6B10E1A32EFE}" srcOrd="1" destOrd="0" parTransId="{36C2889A-2DD7-4CC0-830A-FD90DB7DE7A3}" sibTransId="{CBA8F9A7-B3A3-41C3-888D-E1DD4A1C1874}"/>
    <dgm:cxn modelId="{80E6E1B5-08FE-4928-A819-DB9CAC909E65}" type="presOf" srcId="{2AE26EC6-7821-4C66-ACA0-C4C826A60C6F}" destId="{42CEEBA4-1378-4AF5-90B3-23A2D88490E9}" srcOrd="0" destOrd="0" presId="urn:microsoft.com/office/officeart/2005/8/layout/process3"/>
    <dgm:cxn modelId="{4A38A417-58F5-4E64-99F3-9C2551F9B067}" type="presOf" srcId="{2AE26EC6-7821-4C66-ACA0-C4C826A60C6F}" destId="{2F28E15F-C463-4A97-A02E-B468DB006C48}" srcOrd="1" destOrd="0" presId="urn:microsoft.com/office/officeart/2005/8/layout/process3"/>
    <dgm:cxn modelId="{CE9F6066-92E7-45A3-BEAF-12762EEF7AC3}" srcId="{969E90AC-1A9D-4974-BAF5-4A7D733043D9}" destId="{2AE26EC6-7821-4C66-ACA0-C4C826A60C6F}" srcOrd="0" destOrd="0" parTransId="{399CC24F-1863-4927-A03D-9014BC9B1320}" sibTransId="{4CC6A34B-8859-47AA-A26A-16DE8E9CD1CE}"/>
    <dgm:cxn modelId="{F95D89BF-4665-4583-80F2-30197FFAD205}" type="presOf" srcId="{CBA8F9A7-B3A3-41C3-888D-E1DD4A1C1874}" destId="{2375B698-2873-448F-B324-CD4F680EB8CA}" srcOrd="0" destOrd="0" presId="urn:microsoft.com/office/officeart/2005/8/layout/process3"/>
    <dgm:cxn modelId="{0F9DCE36-6678-432F-90D7-F0CDE08CA1AF}" type="presOf" srcId="{1DD63560-39EA-40A5-8D8C-D1F346A7411F}" destId="{65612ED5-8892-45FF-B158-3CE141D796A7}" srcOrd="0" destOrd="0" presId="urn:microsoft.com/office/officeart/2005/8/layout/process3"/>
    <dgm:cxn modelId="{4994D5B8-2488-463B-A1B2-2B1A8272DB1E}" type="presOf" srcId="{069719F9-BB75-49A5-A166-10F2795AEF0B}" destId="{2FBFA388-BE05-44CE-B01B-779EB17B0BF7}" srcOrd="0" destOrd="0" presId="urn:microsoft.com/office/officeart/2005/8/layout/process3"/>
    <dgm:cxn modelId="{CBB670C9-5286-490A-945E-B2BDEB6C2CF3}" srcId="{969E90AC-1A9D-4974-BAF5-4A7D733043D9}" destId="{069719F9-BB75-49A5-A166-10F2795AEF0B}" srcOrd="2" destOrd="0" parTransId="{692A72E2-8E20-4674-8647-F531720BD7AB}" sibTransId="{4FE59848-15AC-4F61-9815-B768F5B4D67A}"/>
    <dgm:cxn modelId="{70DD71B6-9057-4717-BEB6-8D9F43FC6D98}" srcId="{2AE26EC6-7821-4C66-ACA0-C4C826A60C6F}" destId="{1EA94DEB-9F40-4F05-AC41-46C694D6339D}" srcOrd="0" destOrd="0" parTransId="{5776BFE5-B53A-4F74-9EBE-26BBD91CBDBB}" sibTransId="{980D1F3B-6028-4893-9CA9-B72D00BBD16D}"/>
    <dgm:cxn modelId="{6CD97026-52D1-4004-B7F3-B2201E5C1C44}" srcId="{069719F9-BB75-49A5-A166-10F2795AEF0B}" destId="{1DD63560-39EA-40A5-8D8C-D1F346A7411F}" srcOrd="0" destOrd="0" parTransId="{3F7BE854-47EB-45E1-B095-59561E777271}" sibTransId="{0FDFD97D-4660-4EB9-A519-9BA8162C0D45}"/>
    <dgm:cxn modelId="{13D89CF0-3F7E-4312-B1E7-DD186B39D479}" srcId="{2AE26EC6-7821-4C66-ACA0-C4C826A60C6F}" destId="{C64F6326-40AA-4438-91FC-00721E0287A0}" srcOrd="1" destOrd="0" parTransId="{29CA02DC-F699-4B0E-BD2A-F60754D403C9}" sibTransId="{7B355344-C857-4FDF-91D1-D85357A3849D}"/>
    <dgm:cxn modelId="{D5B10F76-5062-4297-9E37-F71590979F0E}" type="presOf" srcId="{C64F6326-40AA-4438-91FC-00721E0287A0}" destId="{ADD3AE7F-21AA-45B5-9626-51D4168ADC97}" srcOrd="0" destOrd="1" presId="urn:microsoft.com/office/officeart/2005/8/layout/process3"/>
    <dgm:cxn modelId="{FFCB8FB3-0F13-4B28-97C9-DF6FA35A9121}" type="presOf" srcId="{CBA8F9A7-B3A3-41C3-888D-E1DD4A1C1874}" destId="{F3862587-3509-442D-A6F0-110B0E5EC7B2}" srcOrd="1" destOrd="0" presId="urn:microsoft.com/office/officeart/2005/8/layout/process3"/>
    <dgm:cxn modelId="{B5464F6E-C175-4BC8-9EB1-DBB0DDACF68E}" type="presParOf" srcId="{03124F20-BE95-4AF4-BB13-FABF503744E6}" destId="{EC6D2FDB-F5EB-4609-8AD8-F3C93B94A9D3}" srcOrd="0" destOrd="0" presId="urn:microsoft.com/office/officeart/2005/8/layout/process3"/>
    <dgm:cxn modelId="{8C6A688D-F313-4B2A-838B-4EEC6B142727}" type="presParOf" srcId="{EC6D2FDB-F5EB-4609-8AD8-F3C93B94A9D3}" destId="{42CEEBA4-1378-4AF5-90B3-23A2D88490E9}" srcOrd="0" destOrd="0" presId="urn:microsoft.com/office/officeart/2005/8/layout/process3"/>
    <dgm:cxn modelId="{58B0B9A7-7CBD-4D83-9380-C1AEDA5CF52A}" type="presParOf" srcId="{EC6D2FDB-F5EB-4609-8AD8-F3C93B94A9D3}" destId="{2F28E15F-C463-4A97-A02E-B468DB006C48}" srcOrd="1" destOrd="0" presId="urn:microsoft.com/office/officeart/2005/8/layout/process3"/>
    <dgm:cxn modelId="{BB3876E3-CFD3-4D50-AC41-1B384B99355C}" type="presParOf" srcId="{EC6D2FDB-F5EB-4609-8AD8-F3C93B94A9D3}" destId="{ADD3AE7F-21AA-45B5-9626-51D4168ADC97}" srcOrd="2" destOrd="0" presId="urn:microsoft.com/office/officeart/2005/8/layout/process3"/>
    <dgm:cxn modelId="{2FC108C4-2B9C-4E01-AB00-674EB398C545}" type="presParOf" srcId="{03124F20-BE95-4AF4-BB13-FABF503744E6}" destId="{5DCCC56C-82FA-496D-A27C-E92CDD6B587F}" srcOrd="1" destOrd="0" presId="urn:microsoft.com/office/officeart/2005/8/layout/process3"/>
    <dgm:cxn modelId="{FE0FBC44-90CB-49D8-ABE3-5F9ADE4950E2}" type="presParOf" srcId="{5DCCC56C-82FA-496D-A27C-E92CDD6B587F}" destId="{CF028978-9137-4291-926F-A290C98A4E9A}" srcOrd="0" destOrd="0" presId="urn:microsoft.com/office/officeart/2005/8/layout/process3"/>
    <dgm:cxn modelId="{95517E44-D426-4DFF-AE5C-E6E9A34022BE}" type="presParOf" srcId="{03124F20-BE95-4AF4-BB13-FABF503744E6}" destId="{D824E52D-6C6F-428E-9EE3-BDBFB3E2FDB7}" srcOrd="2" destOrd="0" presId="urn:microsoft.com/office/officeart/2005/8/layout/process3"/>
    <dgm:cxn modelId="{94175DB4-F164-485B-BCDF-4F5167406DCF}" type="presParOf" srcId="{D824E52D-6C6F-428E-9EE3-BDBFB3E2FDB7}" destId="{D7E26F22-B107-441F-91C8-C2BAF2213382}" srcOrd="0" destOrd="0" presId="urn:microsoft.com/office/officeart/2005/8/layout/process3"/>
    <dgm:cxn modelId="{910F243D-EEA6-46F4-98AD-AB47E8024EC4}" type="presParOf" srcId="{D824E52D-6C6F-428E-9EE3-BDBFB3E2FDB7}" destId="{58A36FA2-C369-4F6B-9E66-F573CE9937C7}" srcOrd="1" destOrd="0" presId="urn:microsoft.com/office/officeart/2005/8/layout/process3"/>
    <dgm:cxn modelId="{93CF0CC5-0A8A-48AA-A4CE-5991A217B62F}" type="presParOf" srcId="{D824E52D-6C6F-428E-9EE3-BDBFB3E2FDB7}" destId="{91B2C4FF-5229-419A-8888-2858F92609F6}" srcOrd="2" destOrd="0" presId="urn:microsoft.com/office/officeart/2005/8/layout/process3"/>
    <dgm:cxn modelId="{DE58D759-8CAB-40FA-870B-7385BDA2C1CD}" type="presParOf" srcId="{03124F20-BE95-4AF4-BB13-FABF503744E6}" destId="{2375B698-2873-448F-B324-CD4F680EB8CA}" srcOrd="3" destOrd="0" presId="urn:microsoft.com/office/officeart/2005/8/layout/process3"/>
    <dgm:cxn modelId="{DE957BDA-A020-4BF3-B86E-21148D9DA1FB}" type="presParOf" srcId="{2375B698-2873-448F-B324-CD4F680EB8CA}" destId="{F3862587-3509-442D-A6F0-110B0E5EC7B2}" srcOrd="0" destOrd="0" presId="urn:microsoft.com/office/officeart/2005/8/layout/process3"/>
    <dgm:cxn modelId="{07F1709C-9024-49B4-8FE9-0891712E8B60}" type="presParOf" srcId="{03124F20-BE95-4AF4-BB13-FABF503744E6}" destId="{E0F15CA8-39A9-45AB-96B7-41954EE0801B}" srcOrd="4" destOrd="0" presId="urn:microsoft.com/office/officeart/2005/8/layout/process3"/>
    <dgm:cxn modelId="{8050325E-CF12-49F6-93EF-E6E1ACA35664}" type="presParOf" srcId="{E0F15CA8-39A9-45AB-96B7-41954EE0801B}" destId="{2FBFA388-BE05-44CE-B01B-779EB17B0BF7}" srcOrd="0" destOrd="0" presId="urn:microsoft.com/office/officeart/2005/8/layout/process3"/>
    <dgm:cxn modelId="{CB045D79-7A9E-4196-B0EA-715D5E6A1BE2}" type="presParOf" srcId="{E0F15CA8-39A9-45AB-96B7-41954EE0801B}" destId="{48D3CB30-4DA4-4350-B7A4-3E648F2EB227}" srcOrd="1" destOrd="0" presId="urn:microsoft.com/office/officeart/2005/8/layout/process3"/>
    <dgm:cxn modelId="{15E0BB28-B38D-4F17-981C-9173E4E7DEB4}" type="presParOf" srcId="{E0F15CA8-39A9-45AB-96B7-41954EE0801B}" destId="{65612ED5-8892-45FF-B158-3CE141D796A7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28E15F-C463-4A97-A02E-B468DB006C48}">
      <dsp:nvSpPr>
        <dsp:cNvPr id="0" name=""/>
        <dsp:cNvSpPr/>
      </dsp:nvSpPr>
      <dsp:spPr>
        <a:xfrm>
          <a:off x="2010" y="1437741"/>
          <a:ext cx="2534703" cy="8640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72390" numCol="1" spcCol="1270" anchor="t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Input</a:t>
          </a:r>
          <a:endParaRPr lang="en-US" sz="1900" kern="1200" dirty="0"/>
        </a:p>
      </dsp:txBody>
      <dsp:txXfrm>
        <a:off x="2010" y="1437741"/>
        <a:ext cx="2534703" cy="576000"/>
      </dsp:txXfrm>
    </dsp:sp>
    <dsp:sp modelId="{ADD3AE7F-21AA-45B5-9626-51D4168ADC97}">
      <dsp:nvSpPr>
        <dsp:cNvPr id="0" name=""/>
        <dsp:cNvSpPr/>
      </dsp:nvSpPr>
      <dsp:spPr>
        <a:xfrm>
          <a:off x="453451" y="2134597"/>
          <a:ext cx="2670132" cy="148628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35128" rIns="135128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kern="1200" dirty="0" smtClean="0"/>
            <a:t>Uitkomstenruimte </a:t>
          </a:r>
          <a14:m xmlns:a14="http://schemas.microsoft.com/office/drawing/2010/main">
            <m:oMath xmlns:m="http://schemas.openxmlformats.org/officeDocument/2006/math">
              <m:r>
                <a:rPr lang="en-US" sz="1900" b="0" i="1" kern="1200" smtClean="0">
                  <a:latin typeface="Cambria Math" panose="02040503050406030204" pitchFamily="18" charset="0"/>
                </a:rPr>
                <m:t>𝑆</m:t>
              </m:r>
            </m:oMath>
          </a14:m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kern="1200" dirty="0" smtClean="0"/>
            <a:t>Onderliggende </a:t>
          </a:r>
          <a:r>
            <a:rPr lang="en-US" sz="1900" kern="1200" dirty="0" err="1" smtClean="0"/>
            <a:t>kansverdeling</a:t>
          </a:r>
          <a:r>
            <a:rPr lang="en-US" sz="1900" kern="1200" dirty="0" smtClean="0"/>
            <a:t> over </a:t>
          </a:r>
          <a14:m xmlns:a14="http://schemas.microsoft.com/office/drawing/2010/main">
            <m:oMath xmlns:m="http://schemas.openxmlformats.org/officeDocument/2006/math">
              <m:r>
                <a:rPr lang="en-US" sz="1900" b="0" i="1" kern="1200" smtClean="0">
                  <a:latin typeface="Cambria Math" panose="02040503050406030204" pitchFamily="18" charset="0"/>
                </a:rPr>
                <m:t>𝑆</m:t>
              </m:r>
            </m:oMath>
          </a14:m>
          <a:endParaRPr lang="en-US" sz="1900" kern="1200" dirty="0"/>
        </a:p>
      </dsp:txBody>
      <dsp:txXfrm>
        <a:off x="496983" y="2178129"/>
        <a:ext cx="2583068" cy="1399223"/>
      </dsp:txXfrm>
    </dsp:sp>
    <dsp:sp modelId="{5DCCC56C-82FA-496D-A27C-E92CDD6B587F}">
      <dsp:nvSpPr>
        <dsp:cNvPr id="0" name=""/>
        <dsp:cNvSpPr/>
      </dsp:nvSpPr>
      <dsp:spPr>
        <a:xfrm rot="46984">
          <a:off x="2949969" y="1439166"/>
          <a:ext cx="876270" cy="63106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500" kern="1200"/>
        </a:p>
      </dsp:txBody>
      <dsp:txXfrm>
        <a:off x="2949978" y="1564085"/>
        <a:ext cx="686950" cy="378641"/>
      </dsp:txXfrm>
    </dsp:sp>
    <dsp:sp modelId="{58A36FA2-C369-4F6B-9E66-F573CE9937C7}">
      <dsp:nvSpPr>
        <dsp:cNvPr id="0" name=""/>
        <dsp:cNvSpPr/>
      </dsp:nvSpPr>
      <dsp:spPr>
        <a:xfrm>
          <a:off x="4189899" y="1494981"/>
          <a:ext cx="2534703" cy="8640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72390" numCol="1" spcCol="1270" anchor="t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Experiment </a:t>
          </a:r>
          <a:endParaRPr lang="en-US" sz="1900" kern="1200" dirty="0"/>
        </a:p>
      </dsp:txBody>
      <dsp:txXfrm>
        <a:off x="4189899" y="1494981"/>
        <a:ext cx="2534703" cy="576000"/>
      </dsp:txXfrm>
    </dsp:sp>
    <dsp:sp modelId="{91B2C4FF-5229-419A-8888-2858F92609F6}">
      <dsp:nvSpPr>
        <dsp:cNvPr id="0" name=""/>
        <dsp:cNvSpPr/>
      </dsp:nvSpPr>
      <dsp:spPr>
        <a:xfrm>
          <a:off x="4660592" y="1953313"/>
          <a:ext cx="2534703" cy="1728000"/>
        </a:xfrm>
        <a:prstGeom prst="roundRect">
          <a:avLst>
            <a:gd name="adj" fmla="val 10000"/>
          </a:avLst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75B698-2873-448F-B324-CD4F680EB8CA}">
      <dsp:nvSpPr>
        <dsp:cNvPr id="0" name=""/>
        <dsp:cNvSpPr/>
      </dsp:nvSpPr>
      <dsp:spPr>
        <a:xfrm rot="3345">
          <a:off x="7098710" y="1469430"/>
          <a:ext cx="793106" cy="63106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500" kern="1200"/>
        </a:p>
      </dsp:txBody>
      <dsp:txXfrm>
        <a:off x="7098710" y="1595551"/>
        <a:ext cx="603786" cy="378641"/>
      </dsp:txXfrm>
    </dsp:sp>
    <dsp:sp modelId="{48D3CB30-4DA4-4350-B7A4-3E648F2EB227}">
      <dsp:nvSpPr>
        <dsp:cNvPr id="0" name=""/>
        <dsp:cNvSpPr/>
      </dsp:nvSpPr>
      <dsp:spPr>
        <a:xfrm>
          <a:off x="8221030" y="1498904"/>
          <a:ext cx="2534703" cy="8640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72390" numCol="1" spcCol="1270" anchor="t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Output</a:t>
          </a:r>
          <a:endParaRPr lang="en-US" sz="1900" kern="1200" dirty="0"/>
        </a:p>
      </dsp:txBody>
      <dsp:txXfrm>
        <a:off x="8221030" y="1498904"/>
        <a:ext cx="2534703" cy="576000"/>
      </dsp:txXfrm>
    </dsp:sp>
    <dsp:sp modelId="{65612ED5-8892-45FF-B158-3CE141D796A7}">
      <dsp:nvSpPr>
        <dsp:cNvPr id="0" name=""/>
        <dsp:cNvSpPr/>
      </dsp:nvSpPr>
      <dsp:spPr>
        <a:xfrm>
          <a:off x="8732303" y="2069098"/>
          <a:ext cx="2534703" cy="15736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35128" rIns="135128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kern="1200" dirty="0" err="1" smtClean="0"/>
            <a:t>Een</a:t>
          </a:r>
          <a:r>
            <a:rPr lang="en-US" sz="1900" kern="1200" dirty="0" smtClean="0"/>
            <a:t> van de </a:t>
          </a:r>
          <a:r>
            <a:rPr lang="en-US" sz="1900" kern="1200" dirty="0" err="1" smtClean="0"/>
            <a:t>mogelijke</a:t>
          </a:r>
          <a:r>
            <a:rPr lang="en-US" sz="1900" kern="1200" dirty="0" smtClean="0"/>
            <a:t> </a:t>
          </a:r>
          <a:r>
            <a:rPr lang="en-US" sz="1900" kern="1200" dirty="0" err="1" smtClean="0"/>
            <a:t>uitkomsten</a:t>
          </a:r>
          <a:r>
            <a:rPr lang="en-US" sz="1900" kern="1200" dirty="0" smtClean="0"/>
            <a:t> (</a:t>
          </a:r>
          <a:r>
            <a:rPr lang="en-US" sz="1900" b="1" kern="1200" dirty="0" smtClean="0"/>
            <a:t>trekking</a:t>
          </a:r>
          <a:r>
            <a:rPr lang="en-US" sz="1900" kern="1200" dirty="0" smtClean="0"/>
            <a:t>)</a:t>
          </a:r>
          <a:endParaRPr lang="en-US" sz="1900" kern="1200" dirty="0"/>
        </a:p>
      </dsp:txBody>
      <dsp:txXfrm>
        <a:off x="8778393" y="2115188"/>
        <a:ext cx="2442523" cy="14814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533400" y="446088"/>
            <a:ext cx="5867400" cy="41433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33450" eaLnBrk="0" hangingPunct="0">
              <a:spcBef>
                <a:spcPct val="0"/>
              </a:spcBef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33400" y="114300"/>
            <a:ext cx="2998788" cy="1460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33450" eaLnBrk="0" hangingPunct="0">
              <a:spcBef>
                <a:spcPct val="0"/>
              </a:spcBef>
              <a:defRPr sz="800">
                <a:latin typeface="Arial" charset="0"/>
              </a:defRPr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327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533400" y="8951913"/>
            <a:ext cx="6019800" cy="47148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defTabSz="933450" eaLnBrk="0" hangingPunct="0">
              <a:spcBef>
                <a:spcPct val="0"/>
              </a:spcBef>
              <a:defRPr sz="1000">
                <a:latin typeface="Arial" charset="0"/>
              </a:defRPr>
            </a:lvl1pPr>
          </a:lstStyle>
          <a:p>
            <a:pPr>
              <a:defRPr/>
            </a:pPr>
            <a:r>
              <a:rPr lang="nl-NL"/>
              <a:t>Eventuele voettekst</a:t>
            </a:r>
          </a:p>
        </p:txBody>
      </p:sp>
      <p:sp>
        <p:nvSpPr>
          <p:cNvPr id="327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6613525" y="8951913"/>
            <a:ext cx="228600" cy="47148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ctr" defTabSz="933450" eaLnBrk="0" hangingPunct="0">
              <a:spcBef>
                <a:spcPct val="0"/>
              </a:spcBef>
              <a:defRPr sz="1000">
                <a:latin typeface="Arial" charset="0"/>
              </a:defRPr>
            </a:lvl1pPr>
          </a:lstStyle>
          <a:p>
            <a:pPr>
              <a:defRPr/>
            </a:pPr>
            <a:fld id="{E1460D1F-5074-4EB0-BB4F-B8A7850CD942}" type="slidenum">
              <a:rPr lang="nl-NL"/>
              <a:pPr>
                <a:defRPr/>
              </a:pPr>
              <a:t>‹nr.›</a:t>
            </a:fld>
            <a:endParaRPr lang="nl-NL"/>
          </a:p>
        </p:txBody>
      </p:sp>
      <p:sp>
        <p:nvSpPr>
          <p:cNvPr id="32788" name="RubriceringEnMerking2"/>
          <p:cNvSpPr txBox="1">
            <a:spLocks noChangeArrowheads="1"/>
          </p:cNvSpPr>
          <p:nvPr/>
        </p:nvSpPr>
        <p:spPr bwMode="auto">
          <a:xfrm rot="-5400000">
            <a:off x="4827587" y="2786063"/>
            <a:ext cx="3808413" cy="1222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0" tIns="0" rIns="0" bIns="0">
            <a:spAutoFit/>
          </a:bodyPr>
          <a:lstStyle/>
          <a:p>
            <a:pPr algn="r" eaLnBrk="0" hangingPunct="0">
              <a:defRPr/>
            </a:pPr>
            <a:endParaRPr lang="nl-NL" sz="800">
              <a:latin typeface="Arial" charset="0"/>
            </a:endParaRPr>
          </a:p>
        </p:txBody>
      </p:sp>
      <p:sp>
        <p:nvSpPr>
          <p:cNvPr id="32789" name="RubriceringEnMerking"/>
          <p:cNvSpPr txBox="1">
            <a:spLocks noChangeArrowheads="1"/>
          </p:cNvSpPr>
          <p:nvPr/>
        </p:nvSpPr>
        <p:spPr bwMode="auto">
          <a:xfrm rot="-5400000">
            <a:off x="4826001" y="6527800"/>
            <a:ext cx="3808412" cy="12223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0" tIns="0" rIns="0" bIns="0">
            <a:spAutoFit/>
          </a:bodyPr>
          <a:lstStyle/>
          <a:p>
            <a:pPr eaLnBrk="0" hangingPunct="0">
              <a:defRPr/>
            </a:pPr>
            <a:endParaRPr lang="nl-NL" sz="80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24733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533400" y="447675"/>
            <a:ext cx="5867400" cy="4127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33450" eaLnBrk="0" hangingPunct="0">
              <a:spcBef>
                <a:spcPct val="0"/>
              </a:spcBef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31813" y="114300"/>
            <a:ext cx="2998787" cy="1476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33450" eaLnBrk="0" hangingPunct="0">
              <a:spcBef>
                <a:spcPct val="0"/>
              </a:spcBef>
              <a:defRPr sz="8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-250825" y="933450"/>
            <a:ext cx="6280150" cy="3533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533400" y="4648200"/>
            <a:ext cx="4724400" cy="38449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Klik om het opmaakprofiel van de modeltekst te bewerken</a:t>
            </a:r>
          </a:p>
          <a:p>
            <a:pPr lvl="1"/>
            <a:r>
              <a:rPr lang="en-US" noProof="0" smtClean="0"/>
              <a:t>Tweede niveau</a:t>
            </a:r>
          </a:p>
          <a:p>
            <a:pPr lvl="2"/>
            <a:r>
              <a:rPr lang="en-US" noProof="0" smtClean="0"/>
              <a:t>Derde niveau</a:t>
            </a:r>
          </a:p>
          <a:p>
            <a:pPr lvl="3"/>
            <a:r>
              <a:rPr lang="en-US" noProof="0" smtClean="0"/>
              <a:t>Vierde niveau</a:t>
            </a:r>
          </a:p>
          <a:p>
            <a:pPr lvl="4"/>
            <a:r>
              <a:rPr lang="en-US" noProof="0" smtClean="0"/>
              <a:t>Vijfde niveau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531813" y="8951913"/>
            <a:ext cx="6097587" cy="47148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defTabSz="933450" eaLnBrk="0" hangingPunct="0">
              <a:spcBef>
                <a:spcPct val="0"/>
              </a:spcBef>
              <a:defRPr sz="1000"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Eventuele voettekst</a:t>
            </a:r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615113" y="8951913"/>
            <a:ext cx="230187" cy="47148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ctr" defTabSz="933450" eaLnBrk="0" hangingPunct="0">
              <a:spcBef>
                <a:spcPct val="0"/>
              </a:spcBef>
              <a:defRPr sz="1000">
                <a:latin typeface="Arial" charset="0"/>
              </a:defRPr>
            </a:lvl1pPr>
          </a:lstStyle>
          <a:p>
            <a:pPr>
              <a:defRPr/>
            </a:pPr>
            <a:fld id="{9FC98DC9-4F28-4B39-8B6E-408133FC7853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  <p:sp>
        <p:nvSpPr>
          <p:cNvPr id="5139" name="RubriceringEnMerking2"/>
          <p:cNvSpPr txBox="1">
            <a:spLocks noChangeArrowheads="1"/>
          </p:cNvSpPr>
          <p:nvPr/>
        </p:nvSpPr>
        <p:spPr bwMode="auto">
          <a:xfrm rot="-5400000">
            <a:off x="4827587" y="2786063"/>
            <a:ext cx="3808413" cy="1222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0" tIns="0" rIns="0" bIns="0">
            <a:spAutoFit/>
          </a:bodyPr>
          <a:lstStyle/>
          <a:p>
            <a:pPr algn="r" eaLnBrk="0" hangingPunct="0">
              <a:defRPr/>
            </a:pPr>
            <a:endParaRPr lang="nl-NL" sz="800">
              <a:latin typeface="Arial" charset="0"/>
            </a:endParaRPr>
          </a:p>
        </p:txBody>
      </p:sp>
      <p:sp>
        <p:nvSpPr>
          <p:cNvPr id="5140" name="RubriceringEnMerking"/>
          <p:cNvSpPr txBox="1">
            <a:spLocks noChangeArrowheads="1"/>
          </p:cNvSpPr>
          <p:nvPr/>
        </p:nvSpPr>
        <p:spPr bwMode="auto">
          <a:xfrm rot="-5400000">
            <a:off x="4826001" y="6527800"/>
            <a:ext cx="3808412" cy="12223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0" tIns="0" rIns="0" bIns="0">
            <a:spAutoFit/>
          </a:bodyPr>
          <a:lstStyle/>
          <a:p>
            <a:pPr eaLnBrk="0" hangingPunct="0">
              <a:defRPr/>
            </a:pPr>
            <a:endParaRPr lang="nl-NL" sz="80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2562784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lnSpc>
        <a:spcPct val="110000"/>
      </a:lnSpc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1pPr>
    <a:lvl2pPr marL="190500" algn="l" rtl="0" eaLnBrk="0" fontAlgn="base" hangingPunct="0">
      <a:lnSpc>
        <a:spcPct val="110000"/>
      </a:lnSpc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2pPr>
    <a:lvl3pPr marL="381000" algn="l" rtl="0" eaLnBrk="0" fontAlgn="base" hangingPunct="0">
      <a:lnSpc>
        <a:spcPct val="110000"/>
      </a:lnSpc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3pPr>
    <a:lvl4pPr marL="571500" algn="l" rtl="0" eaLnBrk="0" fontAlgn="base" hangingPunct="0">
      <a:lnSpc>
        <a:spcPct val="110000"/>
      </a:lnSpc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4pPr>
    <a:lvl5pPr marL="762000" algn="l" rtl="0" eaLnBrk="0" fontAlgn="base" hangingPunct="0">
      <a:lnSpc>
        <a:spcPct val="110000"/>
      </a:lnSpc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smtClean="0"/>
              <a:t>Interactieve werkvorm: voorkennis ophalen,</a:t>
            </a:r>
            <a:r>
              <a:rPr lang="nl-NL" baseline="0" dirty="0" smtClean="0"/>
              <a:t> welke eigenschappen heeft een discrete </a:t>
            </a:r>
            <a:r>
              <a:rPr lang="nl-NL" baseline="0" dirty="0" err="1" smtClean="0"/>
              <a:t>kansvariabele</a:t>
            </a:r>
            <a:r>
              <a:rPr lang="nl-NL" baseline="0" dirty="0" smtClean="0"/>
              <a:t> (eindige uitkomstenruimte, </a:t>
            </a:r>
            <a:r>
              <a:rPr lang="nl-NL" baseline="0" dirty="0" err="1" smtClean="0"/>
              <a:t>kansfunctie</a:t>
            </a:r>
            <a:r>
              <a:rPr lang="nl-NL" baseline="0" dirty="0" smtClean="0"/>
              <a:t>, verwachtingswaarde, variantie, en standaardafwijking)</a:t>
            </a:r>
            <a:endParaRPr lang="en-US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Eventuele voettekst</a:t>
            </a:r>
            <a:endParaRPr lang="en-US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FC98DC9-4F28-4B39-8B6E-408133FC7853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0304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 smtClean="0">
                <a:latin typeface="RijksoverheidSansText" panose="020B0503040202060203" pitchFamily="34" charset="0"/>
              </a:rPr>
              <a:t>Tien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eenheden</a:t>
            </a:r>
            <a:r>
              <a:rPr lang="en-US" sz="1000" dirty="0" smtClean="0">
                <a:latin typeface="RijksoverheidSansText" panose="020B0503040202060203" pitchFamily="34" charset="0"/>
              </a:rPr>
              <a:t> van Mountain Leaders,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vanuit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verschillende</a:t>
            </a:r>
            <a:r>
              <a:rPr lang="en-US" sz="1000" dirty="0" smtClean="0">
                <a:latin typeface="RijksoverheidSansText" panose="020B0503040202060203" pitchFamily="34" charset="0"/>
              </a:rPr>
              <a:t> NAVO-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landen</a:t>
            </a:r>
            <a:r>
              <a:rPr lang="en-US" sz="1000" dirty="0" smtClean="0">
                <a:latin typeface="RijksoverheidSansText" panose="020B0503040202060203" pitchFamily="34" charset="0"/>
              </a:rPr>
              <a:t>,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voeren</a:t>
            </a:r>
            <a:r>
              <a:rPr lang="en-US" sz="1000" dirty="0" smtClean="0">
                <a:latin typeface="RijksoverheidSansText" panose="020B0503040202060203" pitchFamily="34" charset="0"/>
              </a:rPr>
              <a:t> in het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kader</a:t>
            </a:r>
            <a:r>
              <a:rPr lang="en-US" sz="1000" dirty="0" smtClean="0">
                <a:latin typeface="RijksoverheidSansText" panose="020B0503040202060203" pitchFamily="34" charset="0"/>
              </a:rPr>
              <a:t> van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een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gezamenlijke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oefening</a:t>
            </a:r>
            <a:r>
              <a:rPr lang="en-US" sz="1000" dirty="0" smtClean="0">
                <a:latin typeface="RijksoverheidSansText" panose="020B0503040202060203" pitchFamily="34" charset="0"/>
              </a:rPr>
              <a:t>, ‘s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nachts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een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verplaatsing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uit</a:t>
            </a:r>
            <a:r>
              <a:rPr lang="en-US" sz="1000" dirty="0" smtClean="0">
                <a:latin typeface="RijksoverheidSansText" panose="020B0503040202060203" pitchFamily="34" charset="0"/>
              </a:rPr>
              <a:t> in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extreem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bergachtig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terrein</a:t>
            </a:r>
            <a:r>
              <a:rPr lang="en-US" sz="1000" dirty="0" smtClean="0">
                <a:latin typeface="RijksoverheidSansText" panose="020B0503040202060203" pitchFamily="34" charset="0"/>
              </a:rPr>
              <a:t>. Het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doel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hierbij</a:t>
            </a:r>
            <a:r>
              <a:rPr lang="en-US" sz="1000" dirty="0" smtClean="0">
                <a:latin typeface="RijksoverheidSansText" panose="020B0503040202060203" pitchFamily="34" charset="0"/>
              </a:rPr>
              <a:t> is om in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een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uur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ongezien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een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bergpas</a:t>
            </a:r>
            <a:r>
              <a:rPr lang="en-US" sz="1000" dirty="0" smtClean="0">
                <a:latin typeface="RijksoverheidSansText" panose="020B0503040202060203" pitchFamily="34" charset="0"/>
              </a:rPr>
              <a:t> over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te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steken</a:t>
            </a:r>
            <a:r>
              <a:rPr lang="en-US" sz="1000" dirty="0" smtClean="0">
                <a:latin typeface="RijksoverheidSansText" panose="020B0503040202060203" pitchFamily="34" charset="0"/>
              </a:rPr>
              <a:t>.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Uit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historische</a:t>
            </a:r>
            <a:r>
              <a:rPr lang="en-US" sz="1000" dirty="0" smtClean="0">
                <a:latin typeface="RijksoverheidSansText" panose="020B0503040202060203" pitchFamily="34" charset="0"/>
              </a:rPr>
              <a:t> data van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oefeningen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blijkt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dat</a:t>
            </a:r>
            <a:r>
              <a:rPr lang="en-US" sz="1000" dirty="0" smtClean="0">
                <a:latin typeface="RijksoverheidSansText" panose="020B0503040202060203" pitchFamily="34" charset="0"/>
              </a:rPr>
              <a:t> de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verplaatsing</a:t>
            </a:r>
            <a:r>
              <a:rPr lang="en-US" sz="1000" dirty="0" smtClean="0">
                <a:latin typeface="RijksoverheidSansText" panose="020B0503040202060203" pitchFamily="34" charset="0"/>
              </a:rPr>
              <a:t> met 75%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kans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binnen</a:t>
            </a:r>
            <a:r>
              <a:rPr lang="en-US" sz="1000" dirty="0" smtClean="0">
                <a:latin typeface="RijksoverheidSansText" panose="020B0503040202060203" pitchFamily="34" charset="0"/>
              </a:rPr>
              <a:t> de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tijd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en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ongezien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wordt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uitgevoerd</a:t>
            </a:r>
            <a:r>
              <a:rPr lang="en-US" sz="1000" dirty="0" smtClean="0">
                <a:latin typeface="RijksoverheidSansText" panose="020B0503040202060203" pitchFamily="34" charset="0"/>
              </a:rPr>
              <a:t>. De commandant van de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gezamenlijke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oefening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wil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informatie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vergaren</a:t>
            </a:r>
            <a:r>
              <a:rPr lang="en-US" sz="1000" dirty="0" smtClean="0">
                <a:latin typeface="RijksoverheidSansText" panose="020B0503040202060203" pitchFamily="34" charset="0"/>
              </a:rPr>
              <a:t> over het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aantal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eenheden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dat</a:t>
            </a:r>
            <a:r>
              <a:rPr lang="en-US" sz="1000" dirty="0" smtClean="0">
                <a:latin typeface="RijksoverheidSansText" panose="020B0503040202060203" pitchFamily="34" charset="0"/>
              </a:rPr>
              <a:t> de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verplaatsing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succesvol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uitvoert</a:t>
            </a:r>
            <a:r>
              <a:rPr lang="en-US" sz="1000" dirty="0" smtClean="0">
                <a:latin typeface="RijksoverheidSansText" panose="020B0503040202060203" pitchFamily="34" charset="0"/>
              </a:rPr>
              <a:t>.</a:t>
            </a:r>
          </a:p>
          <a:p>
            <a:endParaRPr lang="en-US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Eventuele voettekst</a:t>
            </a:r>
            <a:endParaRPr lang="en-US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FC98DC9-4F28-4B39-8B6E-408133FC7853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7334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err="1" smtClean="0"/>
              <a:t>Bernoulli</a:t>
            </a:r>
            <a:r>
              <a:rPr lang="nl-NL" dirty="0" smtClean="0"/>
              <a:t>-experiment: landt</a:t>
            </a:r>
            <a:r>
              <a:rPr lang="nl-NL" baseline="0" dirty="0" smtClean="0"/>
              <a:t> een munt op kop bij de volgende worp? Is de bovenste kaart van een geschud pak kaarten een aas? Is een pasgeboren kind een meisje?</a:t>
            </a:r>
          </a:p>
          <a:p>
            <a:r>
              <a:rPr lang="nl-NL" baseline="0" dirty="0" smtClean="0"/>
              <a:t>Kortom: alles wat onzeker is en twee mogelijke uitkomsten heeft.</a:t>
            </a:r>
            <a:endParaRPr lang="en-US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Eventuele voettekst</a:t>
            </a:r>
            <a:endParaRPr lang="en-US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FC98DC9-4F28-4B39-8B6E-408133FC7853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9013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nl-NL" sz="1000" b="1" dirty="0" smtClean="0">
                <a:solidFill>
                  <a:schemeClr val="tx1"/>
                </a:solidFill>
                <a:latin typeface="RijksoverheidSansText" panose="020B0503040202060203" pitchFamily="34" charset="0"/>
              </a:rPr>
              <a:t>Merk op: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Uitkomst</a:t>
            </a:r>
            <a:r>
              <a:rPr lang="en-US" sz="1000" dirty="0" smtClean="0">
                <a:latin typeface="RijksoverheidSansText" panose="020B0503040202060203" pitchFamily="34" charset="0"/>
              </a:rPr>
              <a:t> van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deze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kansvariabele</a:t>
            </a:r>
            <a:r>
              <a:rPr lang="en-US" sz="1000" dirty="0" smtClean="0">
                <a:latin typeface="RijksoverheidSansText" panose="020B0503040202060203" pitchFamily="34" charset="0"/>
              </a:rPr>
              <a:t> is de </a:t>
            </a:r>
            <a:r>
              <a:rPr lang="en-US" sz="1000" b="1" dirty="0" err="1" smtClean="0">
                <a:latin typeface="RijksoverheidSansText" panose="020B0503040202060203" pitchFamily="34" charset="0"/>
              </a:rPr>
              <a:t>som</a:t>
            </a:r>
            <a:r>
              <a:rPr lang="en-US" sz="1000" dirty="0" smtClean="0">
                <a:latin typeface="RijksoverheidSansText" panose="020B0503040202060203" pitchFamily="34" charset="0"/>
              </a:rPr>
              <a:t> van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uitkomsten</a:t>
            </a:r>
            <a:r>
              <a:rPr lang="en-US" sz="1000" dirty="0" smtClean="0">
                <a:latin typeface="RijksoverheidSansText" panose="020B0503040202060203" pitchFamily="34" charset="0"/>
              </a:rPr>
              <a:t> van 10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onafhankelijke</a:t>
            </a:r>
            <a:r>
              <a:rPr lang="en-US" sz="1000" dirty="0" smtClean="0">
                <a:latin typeface="RijksoverheidSansText" panose="020B0503040202060203" pitchFamily="34" charset="0"/>
              </a:rPr>
              <a:t> Bernoulli-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variabelen</a:t>
            </a:r>
            <a:r>
              <a:rPr lang="en-US" sz="1000" dirty="0" smtClean="0">
                <a:latin typeface="RijksoverheidSansText" panose="020B0503040202060203" pitchFamily="34" charset="0"/>
              </a:rPr>
              <a:t>!</a:t>
            </a:r>
            <a:endParaRPr lang="en-US" sz="1000" dirty="0" smtClean="0">
              <a:latin typeface="Cambria Math" panose="02040503050406030204" pitchFamily="18" charset="0"/>
            </a:endParaRPr>
          </a:p>
          <a:p>
            <a:endParaRPr lang="en-US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Eventuele voettekst</a:t>
            </a:r>
            <a:endParaRPr lang="en-US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FC98DC9-4F28-4B39-8B6E-408133FC7853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5485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smtClean="0"/>
              <a:t>Binomiale </a:t>
            </a:r>
            <a:r>
              <a:rPr lang="nl-NL" dirty="0" err="1" smtClean="0"/>
              <a:t>kansvariabelen</a:t>
            </a:r>
            <a:r>
              <a:rPr lang="nl-NL" dirty="0" smtClean="0"/>
              <a:t>: hoe vaak landt een munt op kop bij</a:t>
            </a:r>
            <a:r>
              <a:rPr lang="nl-NL" baseline="0" dirty="0" smtClean="0"/>
              <a:t> 20 achtereenvolgende worpen? Hoeveel meisjes worden in een ziekenhuis geboren als we weten dat er 30 moeders gaan bevallen in het ziekenhuis?</a:t>
            </a:r>
            <a:endParaRPr lang="nl-NL" dirty="0" smtClean="0"/>
          </a:p>
          <a:p>
            <a:r>
              <a:rPr lang="nl-NL" baseline="0" dirty="0" smtClean="0"/>
              <a:t>Kortom</a:t>
            </a:r>
            <a:r>
              <a:rPr lang="nl-NL" baseline="0" dirty="0" smtClean="0"/>
              <a:t>: alles wat onzeker is en </a:t>
            </a:r>
            <a:r>
              <a:rPr lang="nl-NL" baseline="0" dirty="0" smtClean="0"/>
              <a:t>waar we successen tellen in een gegeven aantal onafhankelijke pogingen.</a:t>
            </a:r>
            <a:endParaRPr lang="en-US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Eventuele voettekst</a:t>
            </a:r>
            <a:endParaRPr lang="en-US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FC98DC9-4F28-4B39-8B6E-408133FC7853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9338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 smtClean="0">
                <a:latin typeface="RijksoverheidSansText" panose="020B0503040202060203" pitchFamily="34" charset="0"/>
              </a:rPr>
              <a:t>Tien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eenheden</a:t>
            </a:r>
            <a:r>
              <a:rPr lang="en-US" sz="1000" dirty="0" smtClean="0">
                <a:latin typeface="RijksoverheidSansText" panose="020B0503040202060203" pitchFamily="34" charset="0"/>
              </a:rPr>
              <a:t> van Mountain Leaders,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vanuit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verschillende</a:t>
            </a:r>
            <a:r>
              <a:rPr lang="en-US" sz="1000" dirty="0" smtClean="0">
                <a:latin typeface="RijksoverheidSansText" panose="020B0503040202060203" pitchFamily="34" charset="0"/>
              </a:rPr>
              <a:t> NAVO-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landen</a:t>
            </a:r>
            <a:r>
              <a:rPr lang="en-US" sz="1000" dirty="0" smtClean="0">
                <a:latin typeface="RijksoverheidSansText" panose="020B0503040202060203" pitchFamily="34" charset="0"/>
              </a:rPr>
              <a:t>,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voeren</a:t>
            </a:r>
            <a:r>
              <a:rPr lang="en-US" sz="1000" dirty="0" smtClean="0">
                <a:latin typeface="RijksoverheidSansText" panose="020B0503040202060203" pitchFamily="34" charset="0"/>
              </a:rPr>
              <a:t> in het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kader</a:t>
            </a:r>
            <a:r>
              <a:rPr lang="en-US" sz="1000" dirty="0" smtClean="0">
                <a:latin typeface="RijksoverheidSansText" panose="020B0503040202060203" pitchFamily="34" charset="0"/>
              </a:rPr>
              <a:t> van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een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gezamenlijke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oefening</a:t>
            </a:r>
            <a:r>
              <a:rPr lang="en-US" sz="1000" dirty="0" smtClean="0">
                <a:latin typeface="RijksoverheidSansText" panose="020B0503040202060203" pitchFamily="34" charset="0"/>
              </a:rPr>
              <a:t>, ‘s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nachts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een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verplaatsing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uit</a:t>
            </a:r>
            <a:r>
              <a:rPr lang="en-US" sz="1000" dirty="0" smtClean="0">
                <a:latin typeface="RijksoverheidSansText" panose="020B0503040202060203" pitchFamily="34" charset="0"/>
              </a:rPr>
              <a:t> in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extreem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bergachtig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terrein</a:t>
            </a:r>
            <a:r>
              <a:rPr lang="en-US" sz="1000" dirty="0" smtClean="0">
                <a:latin typeface="RijksoverheidSansText" panose="020B0503040202060203" pitchFamily="34" charset="0"/>
              </a:rPr>
              <a:t>. Het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doel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hierbij</a:t>
            </a:r>
            <a:r>
              <a:rPr lang="en-US" sz="1000" dirty="0" smtClean="0">
                <a:latin typeface="RijksoverheidSansText" panose="020B0503040202060203" pitchFamily="34" charset="0"/>
              </a:rPr>
              <a:t> is om in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een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uur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ongezien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een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bergpas</a:t>
            </a:r>
            <a:r>
              <a:rPr lang="en-US" sz="1000" dirty="0" smtClean="0">
                <a:latin typeface="RijksoverheidSansText" panose="020B0503040202060203" pitchFamily="34" charset="0"/>
              </a:rPr>
              <a:t> over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te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steken</a:t>
            </a:r>
            <a:r>
              <a:rPr lang="en-US" sz="1000" dirty="0" smtClean="0">
                <a:latin typeface="RijksoverheidSansText" panose="020B0503040202060203" pitchFamily="34" charset="0"/>
              </a:rPr>
              <a:t>.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Uit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historische</a:t>
            </a:r>
            <a:r>
              <a:rPr lang="en-US" sz="1000" dirty="0" smtClean="0">
                <a:latin typeface="RijksoverheidSansText" panose="020B0503040202060203" pitchFamily="34" charset="0"/>
              </a:rPr>
              <a:t> data van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oefeningen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blijkt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dat</a:t>
            </a:r>
            <a:r>
              <a:rPr lang="en-US" sz="1000" dirty="0" smtClean="0">
                <a:latin typeface="RijksoverheidSansText" panose="020B0503040202060203" pitchFamily="34" charset="0"/>
              </a:rPr>
              <a:t> de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verplaatsing</a:t>
            </a:r>
            <a:r>
              <a:rPr lang="en-US" sz="1000" dirty="0" smtClean="0">
                <a:latin typeface="RijksoverheidSansText" panose="020B0503040202060203" pitchFamily="34" charset="0"/>
              </a:rPr>
              <a:t> met 75%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kans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binnen</a:t>
            </a:r>
            <a:r>
              <a:rPr lang="en-US" sz="1000" dirty="0" smtClean="0">
                <a:latin typeface="RijksoverheidSansText" panose="020B0503040202060203" pitchFamily="34" charset="0"/>
              </a:rPr>
              <a:t> de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tijd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en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ongezien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wordt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uitgevoerd</a:t>
            </a:r>
            <a:r>
              <a:rPr lang="en-US" sz="1000" dirty="0" smtClean="0">
                <a:latin typeface="RijksoverheidSansText" panose="020B0503040202060203" pitchFamily="34" charset="0"/>
              </a:rPr>
              <a:t>. De commandant van de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gezamenlijke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oefening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wil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informatie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vergaren</a:t>
            </a:r>
            <a:r>
              <a:rPr lang="en-US" sz="1000" dirty="0" smtClean="0">
                <a:latin typeface="RijksoverheidSansText" panose="020B0503040202060203" pitchFamily="34" charset="0"/>
              </a:rPr>
              <a:t> over het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aantal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eenheden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dat</a:t>
            </a:r>
            <a:r>
              <a:rPr lang="en-US" sz="1000" dirty="0" smtClean="0">
                <a:latin typeface="RijksoverheidSansText" panose="020B0503040202060203" pitchFamily="34" charset="0"/>
              </a:rPr>
              <a:t> de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verplaatsing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succesvol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uitvoert</a:t>
            </a:r>
            <a:r>
              <a:rPr lang="en-US" sz="1000" dirty="0" smtClean="0">
                <a:latin typeface="RijksoverheidSansText" panose="020B0503040202060203" pitchFamily="34" charset="0"/>
              </a:rPr>
              <a:t>.</a:t>
            </a:r>
          </a:p>
          <a:p>
            <a:endParaRPr lang="en-US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334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Eventuele voettekst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9334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C98DC9-4F28-4B39-8B6E-408133FC7853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ctr" defTabSz="93345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09738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89" descr="Bar_Right"/>
          <p:cNvSpPr>
            <a:spLocks noChangeArrowheads="1"/>
          </p:cNvSpPr>
          <p:nvPr/>
        </p:nvSpPr>
        <p:spPr bwMode="auto">
          <a:xfrm>
            <a:off x="6096000" y="0"/>
            <a:ext cx="6096000" cy="6858000"/>
          </a:xfrm>
          <a:prstGeom prst="rect">
            <a:avLst/>
          </a:prstGeom>
          <a:solidFill>
            <a:srgbClr val="E17000"/>
          </a:solidFill>
          <a:ln>
            <a:noFill/>
          </a:ln>
          <a:effectLst/>
          <a:extLst/>
        </p:spPr>
        <p:txBody>
          <a:bodyPr wrap="none" lIns="0" tIns="0" rIns="0" bIns="0" anchor="ctr"/>
          <a:lstStyle/>
          <a:p>
            <a:pPr algn="ctr" eaLnBrk="0" hangingPunct="0">
              <a:spcBef>
                <a:spcPct val="50000"/>
              </a:spcBef>
              <a:defRPr/>
            </a:pPr>
            <a:endParaRPr lang="nl-NL" sz="2600">
              <a:solidFill>
                <a:schemeClr val="bg1"/>
              </a:solidFill>
            </a:endParaRPr>
          </a:p>
        </p:txBody>
      </p:sp>
      <p:sp>
        <p:nvSpPr>
          <p:cNvPr id="5" name="Rectangle 157"/>
          <p:cNvSpPr>
            <a:spLocks noChangeArrowheads="1"/>
          </p:cNvSpPr>
          <p:nvPr/>
        </p:nvSpPr>
        <p:spPr bwMode="auto">
          <a:xfrm>
            <a:off x="6578601" y="2474914"/>
            <a:ext cx="4798484" cy="9429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/>
          <a:lstStyle/>
          <a:p>
            <a:pPr eaLnBrk="0" hangingPunct="0">
              <a:defRPr/>
            </a:pPr>
            <a:endParaRPr lang="nl-NL" sz="2600">
              <a:solidFill>
                <a:schemeClr val="bg1"/>
              </a:solidFill>
            </a:endParaRPr>
          </a:p>
        </p:txBody>
      </p:sp>
      <p:pic>
        <p:nvPicPr>
          <p:cNvPr id="9" name="LogoLandmacht" descr="Placeholder_Departmen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3991" y="0"/>
            <a:ext cx="9144019" cy="2002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veBenaming"/>
          <p:cNvSpPr txBox="1">
            <a:spLocks noChangeArrowheads="1"/>
          </p:cNvSpPr>
          <p:nvPr userDrawn="1"/>
        </p:nvSpPr>
        <p:spPr bwMode="auto">
          <a:xfrm>
            <a:off x="6576485" y="5386389"/>
            <a:ext cx="5183716" cy="28733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 anchor="b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400" dirty="0">
                <a:solidFill>
                  <a:schemeClr val="bg1"/>
                </a:solidFill>
                <a:latin typeface="RijksoverheidSansHeadingTT" panose="020B0503040202060203" pitchFamily="34" charset="0"/>
              </a:rPr>
              <a:t>DOSCO</a:t>
            </a:r>
          </a:p>
        </p:txBody>
      </p:sp>
      <p:sp>
        <p:nvSpPr>
          <p:cNvPr id="11" name="Afdeling"/>
          <p:cNvSpPr txBox="1">
            <a:spLocks noChangeArrowheads="1"/>
          </p:cNvSpPr>
          <p:nvPr userDrawn="1"/>
        </p:nvSpPr>
        <p:spPr bwMode="auto">
          <a:xfrm>
            <a:off x="6576484" y="5746751"/>
            <a:ext cx="5181600" cy="20161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200" dirty="0" smtClean="0">
                <a:solidFill>
                  <a:schemeClr val="bg1"/>
                </a:solidFill>
                <a:latin typeface="RijksoverheidSansHeadingTT" panose="020B0503040202060203" pitchFamily="34" charset="0"/>
              </a:rPr>
              <a:t>Dr. ir. Danny Blom</a:t>
            </a:r>
            <a:endParaRPr lang="nl-NL" sz="1200" dirty="0">
              <a:solidFill>
                <a:schemeClr val="bg1"/>
              </a:solidFill>
              <a:latin typeface="RijksoverheidSansHeadingTT" panose="020B0503040202060203" pitchFamily="34" charset="0"/>
            </a:endParaRPr>
          </a:p>
        </p:txBody>
      </p:sp>
      <p:sp>
        <p:nvSpPr>
          <p:cNvPr id="12" name="Auteur"/>
          <p:cNvSpPr txBox="1">
            <a:spLocks noChangeArrowheads="1"/>
          </p:cNvSpPr>
          <p:nvPr userDrawn="1"/>
        </p:nvSpPr>
        <p:spPr bwMode="auto">
          <a:xfrm>
            <a:off x="6576484" y="5949951"/>
            <a:ext cx="5181600" cy="20161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200" dirty="0" smtClean="0">
                <a:solidFill>
                  <a:schemeClr val="bg1"/>
                </a:solidFill>
                <a:latin typeface="RijksoverheidSansHeadingTT" panose="020B0503040202060203" pitchFamily="34" charset="0"/>
              </a:rPr>
              <a:t>Nederlandse Defensie Academie</a:t>
            </a:r>
            <a:endParaRPr lang="nl-NL" sz="1200" dirty="0">
              <a:solidFill>
                <a:schemeClr val="bg1"/>
              </a:solidFill>
              <a:latin typeface="RijksoverheidSansHeadingTT" panose="020B0503040202060203" pitchFamily="34" charset="0"/>
            </a:endParaRPr>
          </a:p>
        </p:txBody>
      </p:sp>
      <p:sp>
        <p:nvSpPr>
          <p:cNvPr id="13" name="Functie"/>
          <p:cNvSpPr txBox="1">
            <a:spLocks noChangeArrowheads="1"/>
          </p:cNvSpPr>
          <p:nvPr userDrawn="1"/>
        </p:nvSpPr>
        <p:spPr bwMode="auto">
          <a:xfrm>
            <a:off x="6576484" y="6164264"/>
            <a:ext cx="5181600" cy="1428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/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1200" dirty="0" err="1" smtClean="0">
                <a:solidFill>
                  <a:schemeClr val="bg1"/>
                </a:solidFill>
                <a:latin typeface="RijksoverheidSansHeadingTT" panose="020B0503040202060203" pitchFamily="34" charset="0"/>
              </a:rPr>
              <a:t>Faculteit</a:t>
            </a:r>
            <a:r>
              <a:rPr lang="en-US" sz="1200" dirty="0" smtClean="0">
                <a:solidFill>
                  <a:schemeClr val="bg1"/>
                </a:solidFill>
                <a:latin typeface="RijksoverheidSansHeadingTT" panose="020B0503040202060203" pitchFamily="34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RijksoverheidSansHeadingTT" panose="020B0503040202060203" pitchFamily="34" charset="0"/>
              </a:rPr>
              <a:t>Militaire</a:t>
            </a:r>
            <a:r>
              <a:rPr lang="en-US" sz="1200" dirty="0" smtClean="0">
                <a:solidFill>
                  <a:schemeClr val="bg1"/>
                </a:solidFill>
                <a:latin typeface="RijksoverheidSansHeadingTT" panose="020B0503040202060203" pitchFamily="34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RijksoverheidSansHeadingTT" panose="020B0503040202060203" pitchFamily="34" charset="0"/>
              </a:rPr>
              <a:t>Wetenschappen</a:t>
            </a:r>
            <a:endParaRPr sz="1200" dirty="0">
              <a:solidFill>
                <a:schemeClr val="bg1"/>
              </a:solidFill>
              <a:latin typeface="RijksoverheidSansHeadingTT" panose="020B0503040202060203" pitchFamily="34" charset="0"/>
            </a:endParaRPr>
          </a:p>
        </p:txBody>
      </p:sp>
      <p:sp>
        <p:nvSpPr>
          <p:cNvPr id="7364" name="Rectangle 196"/>
          <p:cNvSpPr>
            <a:spLocks noGrp="1" noChangeArrowheads="1"/>
          </p:cNvSpPr>
          <p:nvPr>
            <p:ph type="ctrTitle"/>
          </p:nvPr>
        </p:nvSpPr>
        <p:spPr>
          <a:xfrm>
            <a:off x="6578601" y="2096771"/>
            <a:ext cx="4798484" cy="492443"/>
          </a:xfrm>
        </p:spPr>
        <p:txBody>
          <a:bodyPr lIns="90000" tIns="45720" rIns="90000" bIns="45720" anchor="b"/>
          <a:lstStyle>
            <a:lvl1pPr>
              <a:defRPr>
                <a:solidFill>
                  <a:schemeClr val="bg1"/>
                </a:solidFill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pPr lvl="0"/>
            <a:r>
              <a:rPr lang="en-US" noProof="0" dirty="0" smtClean="0"/>
              <a:t>Click to edit Master title style</a:t>
            </a:r>
            <a:endParaRPr lang="nl-NL" noProof="0" dirty="0" smtClean="0"/>
          </a:p>
        </p:txBody>
      </p:sp>
      <p:sp>
        <p:nvSpPr>
          <p:cNvPr id="7374" name="Rectangle 206"/>
          <p:cNvSpPr>
            <a:spLocks noGrp="1" noChangeArrowheads="1"/>
          </p:cNvSpPr>
          <p:nvPr>
            <p:ph type="subTitle" idx="1"/>
          </p:nvPr>
        </p:nvSpPr>
        <p:spPr>
          <a:xfrm>
            <a:off x="6578601" y="2781301"/>
            <a:ext cx="4798484" cy="2447925"/>
          </a:xfrm>
        </p:spPr>
        <p:txBody>
          <a:bodyPr lIns="91440" tIns="45720" rIns="91440" bIns="45720"/>
          <a:lstStyle>
            <a:lvl1pPr>
              <a:defRPr sz="2400">
                <a:solidFill>
                  <a:schemeClr val="bg1"/>
                </a:solidFill>
                <a:latin typeface="RijksoverheidSansHeadingTT" panose="020B0503040202060203" pitchFamily="34" charset="0"/>
              </a:defRPr>
            </a:lvl1pPr>
          </a:lstStyle>
          <a:p>
            <a:pPr lvl="0"/>
            <a:r>
              <a:rPr lang="en-US" noProof="0" dirty="0" smtClean="0"/>
              <a:t>Click to edit Master subtitle style</a:t>
            </a:r>
            <a:endParaRPr lang="nl-NL" noProof="0" dirty="0" smtClean="0"/>
          </a:p>
        </p:txBody>
      </p:sp>
      <p:sp>
        <p:nvSpPr>
          <p:cNvPr id="14" name="Date Placeholder 1" descr="Date"/>
          <p:cNvSpPr>
            <a:spLocks noGrp="1"/>
          </p:cNvSpPr>
          <p:nvPr>
            <p:ph type="dt" sz="half" idx="10"/>
          </p:nvPr>
        </p:nvSpPr>
        <p:spPr>
          <a:xfrm>
            <a:off x="6580717" y="6469064"/>
            <a:ext cx="2218267" cy="365125"/>
          </a:xfrm>
        </p:spPr>
        <p:txBody>
          <a:bodyPr/>
          <a:lstStyle>
            <a:lvl1pPr algn="l">
              <a:defRPr sz="1200">
                <a:solidFill>
                  <a:schemeClr val="bg1"/>
                </a:solidFill>
                <a:latin typeface="RijksoverheidSansHeadingTT" panose="020B0503040202060203" pitchFamily="34" charset="0"/>
              </a:defRPr>
            </a:lvl1pPr>
          </a:lstStyle>
          <a:p>
            <a:pPr>
              <a:defRPr/>
            </a:pPr>
            <a:r>
              <a:rPr lang="en-US" smtClean="0"/>
              <a:t>College 4a: binomiale verdeling (1/2)</a:t>
            </a:r>
            <a:endParaRPr lang="nl-N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RijksoverheidSansHeadingTT" panose="020B0503040202060203" pitchFamily="34" charset="0"/>
              </a:defRPr>
            </a:lvl1pPr>
            <a:lvl2pPr>
              <a:defRPr>
                <a:latin typeface="RijksoverheidSansHeadingTT" panose="020B0503040202060203" pitchFamily="34" charset="0"/>
              </a:defRPr>
            </a:lvl2pPr>
            <a:lvl3pPr>
              <a:defRPr>
                <a:latin typeface="RijksoverheidSansHeadingTT" panose="020B0503040202060203" pitchFamily="34" charset="0"/>
              </a:defRPr>
            </a:lvl3pPr>
            <a:lvl4pPr>
              <a:defRPr>
                <a:latin typeface="RijksoverheidSansHeadingTT" panose="020B0503040202060203" pitchFamily="34" charset="0"/>
              </a:defRPr>
            </a:lvl4pPr>
            <a:lvl5pPr>
              <a:defRPr>
                <a:latin typeface="RijksoverheidSansHeadingTT" panose="020B0503040202060203" pitchFamily="34" charset="0"/>
              </a:defRPr>
            </a:lvl5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nl-NL" dirty="0"/>
          </a:p>
        </p:txBody>
      </p:sp>
      <p:sp>
        <p:nvSpPr>
          <p:cNvPr id="4" name="Date Placeholder 1" descr="Date"/>
          <p:cNvSpPr>
            <a:spLocks noGrp="1"/>
          </p:cNvSpPr>
          <p:nvPr>
            <p:ph type="dt" sz="half" idx="10"/>
          </p:nvPr>
        </p:nvSpPr>
        <p:spPr>
          <a:xfrm>
            <a:off x="8976321" y="6520259"/>
            <a:ext cx="2881248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College 4a: </a:t>
            </a:r>
            <a:r>
              <a:rPr lang="en-US" dirty="0" err="1" smtClean="0"/>
              <a:t>binomiale</a:t>
            </a:r>
            <a:r>
              <a:rPr lang="en-US" dirty="0" smtClean="0"/>
              <a:t> </a:t>
            </a:r>
            <a:r>
              <a:rPr lang="en-US" dirty="0" err="1" smtClean="0"/>
              <a:t>verdeling</a:t>
            </a:r>
            <a:r>
              <a:rPr lang="en-US" dirty="0" smtClean="0"/>
              <a:t> (1/2)</a:t>
            </a:r>
            <a:endParaRPr lang="nl-N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615553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4a: binomiale verdeling (1/2)</a:t>
            </a:r>
            <a:endParaRPr lang="nl-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0" y="1773238"/>
            <a:ext cx="5080000" cy="42465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0" y="1773238"/>
            <a:ext cx="5080000" cy="42465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4a: binomiale verdeling (1/2)</a:t>
            </a:r>
            <a:endParaRPr lang="nl-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24744"/>
            <a:ext cx="10972800" cy="40011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4a: binomiale verdeling (1/2)</a:t>
            </a:r>
            <a:endParaRPr lang="nl-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4a: binomiale verdeling (1/2)</a:t>
            </a:r>
            <a:endParaRPr lang="nl-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4a: binomiale verdeling (1/2)</a:t>
            </a:r>
            <a:endParaRPr lang="nl-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1124744"/>
            <a:ext cx="4011084" cy="31035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124745"/>
            <a:ext cx="6815667" cy="500141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4a: binomiale verdeling (1/2)</a:t>
            </a:r>
            <a:endParaRPr lang="nl-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5059561"/>
            <a:ext cx="7315200" cy="30777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124744"/>
            <a:ext cx="7315200" cy="360283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nl-NL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4a: binomiale verdeling (1/2)</a:t>
            </a:r>
            <a:endParaRPr lang="nl-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4a: binomiale verdeling (1/2)</a:t>
            </a:r>
            <a:endParaRPr lang="nl-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778007" y="1265238"/>
            <a:ext cx="400110" cy="47545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1265238"/>
            <a:ext cx="7571317" cy="4754562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89" descr="Bar_Right"/>
          <p:cNvSpPr>
            <a:spLocks noChangeArrowheads="1"/>
          </p:cNvSpPr>
          <p:nvPr/>
        </p:nvSpPr>
        <p:spPr bwMode="auto">
          <a:xfrm>
            <a:off x="6096000" y="0"/>
            <a:ext cx="6096000" cy="6858000"/>
          </a:xfrm>
          <a:prstGeom prst="rect">
            <a:avLst/>
          </a:prstGeom>
          <a:solidFill>
            <a:srgbClr val="E17000"/>
          </a:solidFill>
          <a:ln>
            <a:noFill/>
          </a:ln>
          <a:effectLst/>
          <a:extLst/>
        </p:spPr>
        <p:txBody>
          <a:bodyPr wrap="none" lIns="0" tIns="0" rIns="0" bIns="0" anchor="ctr"/>
          <a:lstStyle/>
          <a:p>
            <a:pPr algn="ctr" eaLnBrk="0" hangingPunct="0">
              <a:spcBef>
                <a:spcPct val="50000"/>
              </a:spcBef>
              <a:defRPr/>
            </a:pPr>
            <a:endParaRPr lang="nl-NL" sz="2600">
              <a:solidFill>
                <a:schemeClr val="bg1"/>
              </a:solidFill>
            </a:endParaRPr>
          </a:p>
        </p:txBody>
      </p:sp>
      <p:sp>
        <p:nvSpPr>
          <p:cNvPr id="5" name="Rectangle 157"/>
          <p:cNvSpPr>
            <a:spLocks noChangeArrowheads="1"/>
          </p:cNvSpPr>
          <p:nvPr/>
        </p:nvSpPr>
        <p:spPr bwMode="auto">
          <a:xfrm>
            <a:off x="6578601" y="2474914"/>
            <a:ext cx="4798484" cy="9429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/>
          <a:lstStyle/>
          <a:p>
            <a:pPr eaLnBrk="0" hangingPunct="0">
              <a:defRPr/>
            </a:pPr>
            <a:endParaRPr lang="nl-NL" sz="2600">
              <a:solidFill>
                <a:schemeClr val="bg1"/>
              </a:solidFill>
            </a:endParaRPr>
          </a:p>
        </p:txBody>
      </p:sp>
      <p:pic>
        <p:nvPicPr>
          <p:cNvPr id="9" name="LogoLandmacht" descr="Placeholder_Departmen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3991" y="0"/>
            <a:ext cx="9144019" cy="2002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veBenaming"/>
          <p:cNvSpPr txBox="1">
            <a:spLocks noChangeArrowheads="1"/>
          </p:cNvSpPr>
          <p:nvPr userDrawn="1"/>
        </p:nvSpPr>
        <p:spPr bwMode="auto">
          <a:xfrm>
            <a:off x="6576485" y="5386389"/>
            <a:ext cx="5183716" cy="28733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 anchor="b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100" dirty="0">
                <a:solidFill>
                  <a:schemeClr val="bg1"/>
                </a:solidFill>
              </a:rPr>
              <a:t>DOSCO</a:t>
            </a:r>
          </a:p>
        </p:txBody>
      </p:sp>
      <p:sp>
        <p:nvSpPr>
          <p:cNvPr id="11" name="Afdeling"/>
          <p:cNvSpPr txBox="1">
            <a:spLocks noChangeArrowheads="1"/>
          </p:cNvSpPr>
          <p:nvPr userDrawn="1"/>
        </p:nvSpPr>
        <p:spPr bwMode="auto">
          <a:xfrm>
            <a:off x="6576484" y="5746751"/>
            <a:ext cx="5181600" cy="20161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100" dirty="0">
                <a:solidFill>
                  <a:schemeClr val="bg1"/>
                </a:solidFill>
              </a:rPr>
              <a:t>Nederlandse Defensie Academie</a:t>
            </a:r>
          </a:p>
        </p:txBody>
      </p:sp>
      <p:sp>
        <p:nvSpPr>
          <p:cNvPr id="12" name="Auteur"/>
          <p:cNvSpPr txBox="1">
            <a:spLocks noChangeArrowheads="1"/>
          </p:cNvSpPr>
          <p:nvPr userDrawn="1"/>
        </p:nvSpPr>
        <p:spPr bwMode="auto">
          <a:xfrm>
            <a:off x="6576484" y="5949951"/>
            <a:ext cx="5181600" cy="20161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100" dirty="0">
                <a:solidFill>
                  <a:schemeClr val="bg1"/>
                </a:solidFill>
              </a:rPr>
              <a:t>Dr. ir. D. Blom / Dr. M. van Ee</a:t>
            </a:r>
          </a:p>
        </p:txBody>
      </p:sp>
      <p:sp>
        <p:nvSpPr>
          <p:cNvPr id="13" name="Functie"/>
          <p:cNvSpPr txBox="1">
            <a:spLocks noChangeArrowheads="1"/>
          </p:cNvSpPr>
          <p:nvPr userDrawn="1"/>
        </p:nvSpPr>
        <p:spPr bwMode="auto">
          <a:xfrm>
            <a:off x="6576484" y="6164264"/>
            <a:ext cx="5181600" cy="1428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100" dirty="0">
                <a:solidFill>
                  <a:schemeClr val="bg1"/>
                </a:solidFill>
              </a:rPr>
              <a:t>Faculteit Militaire Wetenschappen</a:t>
            </a:r>
          </a:p>
        </p:txBody>
      </p:sp>
      <p:sp>
        <p:nvSpPr>
          <p:cNvPr id="7364" name="Rectangle 196"/>
          <p:cNvSpPr>
            <a:spLocks noGrp="1" noChangeArrowheads="1"/>
          </p:cNvSpPr>
          <p:nvPr>
            <p:ph type="ctrTitle"/>
          </p:nvPr>
        </p:nvSpPr>
        <p:spPr>
          <a:xfrm>
            <a:off x="6578601" y="1700213"/>
            <a:ext cx="4798484" cy="889000"/>
          </a:xfrm>
        </p:spPr>
        <p:txBody>
          <a:bodyPr lIns="90000" tIns="45720" rIns="90000" bIns="45720"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nl-NL" noProof="0" dirty="0" smtClean="0"/>
              <a:t>Klik om de stijl te bewerken</a:t>
            </a:r>
          </a:p>
        </p:txBody>
      </p:sp>
      <p:sp>
        <p:nvSpPr>
          <p:cNvPr id="7374" name="Rectangle 206"/>
          <p:cNvSpPr>
            <a:spLocks noGrp="1" noChangeArrowheads="1"/>
          </p:cNvSpPr>
          <p:nvPr>
            <p:ph type="subTitle" idx="1"/>
          </p:nvPr>
        </p:nvSpPr>
        <p:spPr>
          <a:xfrm>
            <a:off x="6578601" y="2781301"/>
            <a:ext cx="4798484" cy="2447925"/>
          </a:xfrm>
        </p:spPr>
        <p:txBody>
          <a:bodyPr lIns="91440" tIns="45720" rIns="91440" bIns="45720"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noProof="0" smtClean="0"/>
              <a:t>Klik om de ondertitelstijl van het model te bewerken</a:t>
            </a:r>
          </a:p>
        </p:txBody>
      </p:sp>
      <p:sp>
        <p:nvSpPr>
          <p:cNvPr id="14" name="Date Placeholder 1" descr="Date"/>
          <p:cNvSpPr>
            <a:spLocks noGrp="1"/>
          </p:cNvSpPr>
          <p:nvPr>
            <p:ph type="dt" sz="half" idx="10"/>
          </p:nvPr>
        </p:nvSpPr>
        <p:spPr>
          <a:xfrm>
            <a:off x="6580717" y="6469064"/>
            <a:ext cx="2218267" cy="365125"/>
          </a:xfrm>
        </p:spPr>
        <p:txBody>
          <a:bodyPr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 smtClean="0"/>
              <a:t>College 4a: binomiale verdeling (1/2)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0249835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>
                <a:latin typeface="RijksoverheidSansText" panose="020B0503040202060203" pitchFamily="34" charset="0"/>
              </a:defRPr>
            </a:lvl1pPr>
            <a:lvl2pPr>
              <a:defRPr>
                <a:latin typeface="RijksoverheidSansText" panose="020B0503040202060203" pitchFamily="34" charset="0"/>
              </a:defRPr>
            </a:lvl2pPr>
            <a:lvl3pPr>
              <a:defRPr>
                <a:latin typeface="RijksoverheidSansText" panose="020B0503040202060203" pitchFamily="34" charset="0"/>
              </a:defRPr>
            </a:lvl3pPr>
            <a:lvl4pPr>
              <a:defRPr>
                <a:latin typeface="RijksoverheidSansText" panose="020B0503040202060203" pitchFamily="34" charset="0"/>
              </a:defRPr>
            </a:lvl4pPr>
            <a:lvl5pPr>
              <a:defRPr>
                <a:latin typeface="RijksoverheidSansText" panose="020B0503040202060203" pitchFamily="34" charset="0"/>
              </a:defRPr>
            </a:lvl5pPr>
          </a:lstStyle>
          <a:p>
            <a:pPr lvl="0"/>
            <a:r>
              <a:rPr lang="nl-NL" dirty="0" smtClean="0"/>
              <a:t>Tekststijl van het model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NL" dirty="0"/>
          </a:p>
        </p:txBody>
      </p:sp>
      <p:sp>
        <p:nvSpPr>
          <p:cNvPr id="4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4a: binomiale verdeling (1/2)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51361078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615553"/>
          </a:xfrm>
        </p:spPr>
        <p:txBody>
          <a:bodyPr/>
          <a:lstStyle>
            <a:lvl1pPr algn="l">
              <a:defRPr sz="4000" b="1" cap="all"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latin typeface="RijksoverheidSansText" panose="020B0503040202060203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nl-NL" dirty="0" smtClean="0"/>
              <a:t>Tekststijl van het model bewerken</a:t>
            </a:r>
          </a:p>
        </p:txBody>
      </p:sp>
      <p:sp>
        <p:nvSpPr>
          <p:cNvPr id="4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4a: binomiale verdeling (1/2)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393812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0" y="1773238"/>
            <a:ext cx="5080000" cy="4246562"/>
          </a:xfrm>
        </p:spPr>
        <p:txBody>
          <a:bodyPr/>
          <a:lstStyle>
            <a:lvl1pPr>
              <a:defRPr sz="2800">
                <a:latin typeface="RijksoverheidSansText" panose="020B0503040202060203" pitchFamily="34" charset="0"/>
              </a:defRPr>
            </a:lvl1pPr>
            <a:lvl2pPr>
              <a:defRPr sz="2400">
                <a:latin typeface="RijksoverheidSansText" panose="020B0503040202060203" pitchFamily="34" charset="0"/>
              </a:defRPr>
            </a:lvl2pPr>
            <a:lvl3pPr>
              <a:defRPr sz="2000">
                <a:latin typeface="RijksoverheidSansText" panose="020B0503040202060203" pitchFamily="34" charset="0"/>
              </a:defRPr>
            </a:lvl3pPr>
            <a:lvl4pPr>
              <a:defRPr sz="1800">
                <a:latin typeface="RijksoverheidSansText" panose="020B0503040202060203" pitchFamily="34" charset="0"/>
              </a:defRPr>
            </a:lvl4pPr>
            <a:lvl5pPr>
              <a:defRPr sz="1800">
                <a:latin typeface="RijksoverheidSansText" panose="020B0503040202060203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 dirty="0" smtClean="0"/>
              <a:t>Tekststijl van het model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NL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0" y="1773238"/>
            <a:ext cx="5080000" cy="4246562"/>
          </a:xfrm>
        </p:spPr>
        <p:txBody>
          <a:bodyPr/>
          <a:lstStyle>
            <a:lvl1pPr>
              <a:defRPr sz="2800">
                <a:latin typeface="RijksoverheidSansText" panose="020B0503040202060203" pitchFamily="34" charset="0"/>
              </a:defRPr>
            </a:lvl1pPr>
            <a:lvl2pPr>
              <a:defRPr sz="2400">
                <a:latin typeface="RijksoverheidSansText" panose="020B0503040202060203" pitchFamily="34" charset="0"/>
              </a:defRPr>
            </a:lvl2pPr>
            <a:lvl3pPr>
              <a:defRPr sz="2000">
                <a:latin typeface="RijksoverheidSansText" panose="020B0503040202060203" pitchFamily="34" charset="0"/>
              </a:defRPr>
            </a:lvl3pPr>
            <a:lvl4pPr>
              <a:defRPr sz="1800">
                <a:latin typeface="RijksoverheidSansText" panose="020B0503040202060203" pitchFamily="34" charset="0"/>
              </a:defRPr>
            </a:lvl4pPr>
            <a:lvl5pPr>
              <a:defRPr sz="1800">
                <a:latin typeface="RijksoverheidSansText" panose="020B0503040202060203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 dirty="0" smtClean="0"/>
              <a:t>Tekststijl van het model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NL" dirty="0"/>
          </a:p>
        </p:txBody>
      </p:sp>
      <p:sp>
        <p:nvSpPr>
          <p:cNvPr id="5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4a: binomiale verdeling (1/2)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55593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24744"/>
            <a:ext cx="10972800" cy="400110"/>
          </a:xfrm>
        </p:spPr>
        <p:txBody>
          <a:bodyPr/>
          <a:lstStyle>
            <a:lvl1pPr>
              <a:defRPr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>
                <a:latin typeface="RijksoverheidSansText" panose="020B050304020206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 dirty="0" smtClean="0"/>
              <a:t>Tekststijl van het model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>
                <a:latin typeface="RijksoverheidSansText" panose="020B0503040202060203" pitchFamily="34" charset="0"/>
              </a:defRPr>
            </a:lvl1pPr>
            <a:lvl2pPr>
              <a:defRPr sz="2000">
                <a:latin typeface="RijksoverheidSansText" panose="020B0503040202060203" pitchFamily="34" charset="0"/>
              </a:defRPr>
            </a:lvl2pPr>
            <a:lvl3pPr>
              <a:defRPr sz="1800">
                <a:latin typeface="RijksoverheidSansText" panose="020B0503040202060203" pitchFamily="34" charset="0"/>
              </a:defRPr>
            </a:lvl3pPr>
            <a:lvl4pPr>
              <a:defRPr sz="1600">
                <a:latin typeface="RijksoverheidSansText" panose="020B0503040202060203" pitchFamily="34" charset="0"/>
              </a:defRPr>
            </a:lvl4pPr>
            <a:lvl5pPr>
              <a:defRPr sz="1600">
                <a:latin typeface="RijksoverheidSansText" panose="020B0503040202060203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 dirty="0" smtClean="0"/>
              <a:t>Tekststijl van het model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NL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 dirty="0" smtClean="0"/>
              <a:t>Tekststijl van het model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>
                <a:latin typeface="RijksoverheidSansText" panose="020B0503040202060203" pitchFamily="34" charset="0"/>
              </a:defRPr>
            </a:lvl1pPr>
            <a:lvl2pPr>
              <a:defRPr sz="2000">
                <a:latin typeface="RijksoverheidSansText" panose="020B0503040202060203" pitchFamily="34" charset="0"/>
              </a:defRPr>
            </a:lvl2pPr>
            <a:lvl3pPr>
              <a:defRPr sz="1800">
                <a:latin typeface="RijksoverheidSansText" panose="020B0503040202060203" pitchFamily="34" charset="0"/>
              </a:defRPr>
            </a:lvl3pPr>
            <a:lvl4pPr>
              <a:defRPr sz="1600">
                <a:latin typeface="RijksoverheidSansText" panose="020B0503040202060203" pitchFamily="34" charset="0"/>
              </a:defRPr>
            </a:lvl4pPr>
            <a:lvl5pPr>
              <a:defRPr sz="1600">
                <a:latin typeface="RijksoverheidSansText" panose="020B0503040202060203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 dirty="0" smtClean="0"/>
              <a:t>Tekststijl van het model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NL" dirty="0"/>
          </a:p>
        </p:txBody>
      </p:sp>
      <p:sp>
        <p:nvSpPr>
          <p:cNvPr id="7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4a: binomiale verdeling (1/2)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391182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4a: binomiale verdeling (1/2)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338663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4a: binomiale verdeling (1/2)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20347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1124744"/>
            <a:ext cx="4011084" cy="31035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124745"/>
            <a:ext cx="6815667" cy="5001419"/>
          </a:xfrm>
        </p:spPr>
        <p:txBody>
          <a:bodyPr/>
          <a:lstStyle>
            <a:lvl1pPr>
              <a:defRPr sz="3200">
                <a:latin typeface="RijksoverheidSansText" panose="020B0503040202060203" pitchFamily="34" charset="0"/>
              </a:defRPr>
            </a:lvl1pPr>
            <a:lvl2pPr>
              <a:defRPr sz="2800">
                <a:latin typeface="RijksoverheidSansText" panose="020B0503040202060203" pitchFamily="34" charset="0"/>
              </a:defRPr>
            </a:lvl2pPr>
            <a:lvl3pPr>
              <a:defRPr sz="2400">
                <a:latin typeface="RijksoverheidSansText" panose="020B0503040202060203" pitchFamily="34" charset="0"/>
              </a:defRPr>
            </a:lvl3pPr>
            <a:lvl4pPr>
              <a:defRPr sz="2000">
                <a:latin typeface="RijksoverheidSansText" panose="020B0503040202060203" pitchFamily="34" charset="0"/>
              </a:defRPr>
            </a:lvl4pPr>
            <a:lvl5pPr>
              <a:defRPr sz="2000">
                <a:latin typeface="RijksoverheidSansText" panose="020B0503040202060203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 dirty="0" smtClean="0"/>
              <a:t>Tekststijl van het model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NL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>
                <a:latin typeface="RijksoverheidSansText" panose="020B0503040202060203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 dirty="0" smtClean="0"/>
              <a:t>Tekststijl van het model bewerken</a:t>
            </a:r>
          </a:p>
        </p:txBody>
      </p:sp>
      <p:sp>
        <p:nvSpPr>
          <p:cNvPr id="5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4a: binomiale verdeling (1/2)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312726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5059561"/>
            <a:ext cx="7315200" cy="307777"/>
          </a:xfrm>
        </p:spPr>
        <p:txBody>
          <a:bodyPr anchor="b"/>
          <a:lstStyle>
            <a:lvl1pPr algn="l">
              <a:defRPr sz="2000" b="1"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124744"/>
            <a:ext cx="7315200" cy="3602831"/>
          </a:xfrm>
        </p:spPr>
        <p:txBody>
          <a:bodyPr/>
          <a:lstStyle>
            <a:lvl1pPr marL="0" indent="0">
              <a:buNone/>
              <a:defRPr sz="3200">
                <a:latin typeface="RijksoverheidSansText" panose="020B0503040202060203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nl-NL" noProof="0" dirty="0" smtClean="0"/>
              <a:t>Klik op het pictogram als u een afbeelding wilt toevoegen</a:t>
            </a:r>
            <a:endParaRPr lang="nl-NL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>
                <a:latin typeface="RijksoverheidSansText" panose="020B0503040202060203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 dirty="0" smtClean="0"/>
              <a:t>Tekststijl van het model bewerken</a:t>
            </a:r>
          </a:p>
        </p:txBody>
      </p:sp>
      <p:sp>
        <p:nvSpPr>
          <p:cNvPr id="5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4a: binomiale verdeling (1/2)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819035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RijksoverheidSansText" panose="020B0503040202060203" pitchFamily="34" charset="0"/>
              </a:defRPr>
            </a:lvl1pPr>
            <a:lvl2pPr>
              <a:defRPr>
                <a:latin typeface="RijksoverheidSansText" panose="020B0503040202060203" pitchFamily="34" charset="0"/>
              </a:defRPr>
            </a:lvl2pPr>
            <a:lvl3pPr>
              <a:defRPr>
                <a:latin typeface="RijksoverheidSansText" panose="020B0503040202060203" pitchFamily="34" charset="0"/>
              </a:defRPr>
            </a:lvl3pPr>
            <a:lvl4pPr>
              <a:defRPr>
                <a:latin typeface="RijksoverheidSansText" panose="020B0503040202060203" pitchFamily="34" charset="0"/>
              </a:defRPr>
            </a:lvl4pPr>
            <a:lvl5pPr>
              <a:defRPr>
                <a:latin typeface="RijksoverheidSansText" panose="020B0503040202060203" pitchFamily="34" charset="0"/>
              </a:defRPr>
            </a:lvl5pPr>
          </a:lstStyle>
          <a:p>
            <a:pPr lvl="0"/>
            <a:r>
              <a:rPr lang="nl-NL" dirty="0" smtClean="0"/>
              <a:t>Tekststijl van het model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NL" dirty="0"/>
          </a:p>
        </p:txBody>
      </p:sp>
      <p:sp>
        <p:nvSpPr>
          <p:cNvPr id="4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4a: binomiale verdeling (1/2)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383870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778007" y="1265238"/>
            <a:ext cx="400110" cy="4754562"/>
          </a:xfrm>
        </p:spPr>
        <p:txBody>
          <a:bodyPr vert="eaVert"/>
          <a:lstStyle>
            <a:lvl1pPr>
              <a:defRPr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1265238"/>
            <a:ext cx="7571317" cy="4754562"/>
          </a:xfrm>
        </p:spPr>
        <p:txBody>
          <a:bodyPr vert="eaVert"/>
          <a:lstStyle>
            <a:lvl1pPr>
              <a:defRPr>
                <a:latin typeface="RijksoverheidSansText" panose="020B0503040202060203" pitchFamily="34" charset="0"/>
              </a:defRPr>
            </a:lvl1pPr>
            <a:lvl2pPr>
              <a:defRPr>
                <a:latin typeface="RijksoverheidSansText" panose="020B0503040202060203" pitchFamily="34" charset="0"/>
              </a:defRPr>
            </a:lvl2pPr>
            <a:lvl3pPr>
              <a:defRPr>
                <a:latin typeface="RijksoverheidSansText" panose="020B0503040202060203" pitchFamily="34" charset="0"/>
              </a:defRPr>
            </a:lvl3pPr>
            <a:lvl4pPr>
              <a:defRPr>
                <a:latin typeface="RijksoverheidSansText" panose="020B0503040202060203" pitchFamily="34" charset="0"/>
              </a:defRPr>
            </a:lvl4pPr>
            <a:lvl5pPr>
              <a:defRPr>
                <a:latin typeface="RijksoverheidSansText" panose="020B0503040202060203" pitchFamily="34" charset="0"/>
              </a:defRPr>
            </a:lvl5pPr>
          </a:lstStyle>
          <a:p>
            <a:pPr lvl="0"/>
            <a:r>
              <a:rPr lang="nl-NL" dirty="0" smtClean="0"/>
              <a:t>Tekststijl van het model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594549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89" descr="Bar_Right"/>
          <p:cNvSpPr>
            <a:spLocks noChangeArrowheads="1"/>
          </p:cNvSpPr>
          <p:nvPr/>
        </p:nvSpPr>
        <p:spPr bwMode="auto">
          <a:xfrm>
            <a:off x="6096000" y="0"/>
            <a:ext cx="6096000" cy="6858000"/>
          </a:xfrm>
          <a:prstGeom prst="rect">
            <a:avLst/>
          </a:prstGeom>
          <a:solidFill>
            <a:srgbClr val="E17000"/>
          </a:solidFill>
          <a:ln>
            <a:noFill/>
          </a:ln>
          <a:effectLst/>
          <a:extLst/>
        </p:spPr>
        <p:txBody>
          <a:bodyPr wrap="none" lIns="0" tIns="0" rIns="0" bIns="0" anchor="ctr"/>
          <a:lstStyle/>
          <a:p>
            <a:pPr algn="ctr" eaLnBrk="0" hangingPunct="0">
              <a:spcBef>
                <a:spcPct val="50000"/>
              </a:spcBef>
              <a:defRPr/>
            </a:pPr>
            <a:endParaRPr lang="nl-NL" sz="2600">
              <a:solidFill>
                <a:schemeClr val="bg1"/>
              </a:solidFill>
            </a:endParaRPr>
          </a:p>
        </p:txBody>
      </p:sp>
      <p:sp>
        <p:nvSpPr>
          <p:cNvPr id="5" name="Rectangle 157"/>
          <p:cNvSpPr>
            <a:spLocks noChangeArrowheads="1"/>
          </p:cNvSpPr>
          <p:nvPr/>
        </p:nvSpPr>
        <p:spPr bwMode="auto">
          <a:xfrm>
            <a:off x="6578601" y="2474914"/>
            <a:ext cx="4798484" cy="9429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/>
          <a:lstStyle/>
          <a:p>
            <a:pPr eaLnBrk="0" hangingPunct="0">
              <a:defRPr/>
            </a:pPr>
            <a:endParaRPr lang="nl-NL" sz="2600">
              <a:solidFill>
                <a:schemeClr val="bg1"/>
              </a:solidFill>
            </a:endParaRPr>
          </a:p>
        </p:txBody>
      </p:sp>
      <p:pic>
        <p:nvPicPr>
          <p:cNvPr id="9" name="LogoLandmacht" descr="Placeholder_Departmen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3991" y="0"/>
            <a:ext cx="9144019" cy="2002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veBenaming"/>
          <p:cNvSpPr txBox="1">
            <a:spLocks noChangeArrowheads="1"/>
          </p:cNvSpPr>
          <p:nvPr userDrawn="1"/>
        </p:nvSpPr>
        <p:spPr bwMode="auto">
          <a:xfrm>
            <a:off x="6576485" y="5386389"/>
            <a:ext cx="5183716" cy="28733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 anchor="b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400" dirty="0">
                <a:solidFill>
                  <a:schemeClr val="bg1"/>
                </a:solidFill>
                <a:latin typeface="RijksoverheidSansHeadingTT" panose="020B0503040202060203" pitchFamily="34" charset="0"/>
              </a:rPr>
              <a:t>DOSCO</a:t>
            </a:r>
          </a:p>
        </p:txBody>
      </p:sp>
      <p:sp>
        <p:nvSpPr>
          <p:cNvPr id="11" name="Afdeling"/>
          <p:cNvSpPr txBox="1">
            <a:spLocks noChangeArrowheads="1"/>
          </p:cNvSpPr>
          <p:nvPr userDrawn="1"/>
        </p:nvSpPr>
        <p:spPr bwMode="auto">
          <a:xfrm>
            <a:off x="6576484" y="5746751"/>
            <a:ext cx="5181600" cy="20161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200" dirty="0" smtClean="0">
                <a:solidFill>
                  <a:schemeClr val="bg1"/>
                </a:solidFill>
                <a:latin typeface="RijksoverheidSansHeadingTT" panose="020B0503040202060203" pitchFamily="34" charset="0"/>
              </a:rPr>
              <a:t>Dr. ir. Danny Blom</a:t>
            </a:r>
            <a:endParaRPr lang="nl-NL" sz="1200" dirty="0">
              <a:solidFill>
                <a:schemeClr val="bg1"/>
              </a:solidFill>
              <a:latin typeface="RijksoverheidSansHeadingTT" panose="020B0503040202060203" pitchFamily="34" charset="0"/>
            </a:endParaRPr>
          </a:p>
        </p:txBody>
      </p:sp>
      <p:sp>
        <p:nvSpPr>
          <p:cNvPr id="12" name="Auteur"/>
          <p:cNvSpPr txBox="1">
            <a:spLocks noChangeArrowheads="1"/>
          </p:cNvSpPr>
          <p:nvPr userDrawn="1"/>
        </p:nvSpPr>
        <p:spPr bwMode="auto">
          <a:xfrm>
            <a:off x="6576484" y="5949951"/>
            <a:ext cx="5181600" cy="20161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200" dirty="0" smtClean="0">
                <a:solidFill>
                  <a:schemeClr val="bg1"/>
                </a:solidFill>
                <a:latin typeface="RijksoverheidSansHeadingTT" panose="020B0503040202060203" pitchFamily="34" charset="0"/>
              </a:rPr>
              <a:t>Nederlandse Defensie Academie</a:t>
            </a:r>
            <a:endParaRPr lang="nl-NL" sz="1200" dirty="0">
              <a:solidFill>
                <a:schemeClr val="bg1"/>
              </a:solidFill>
              <a:latin typeface="RijksoverheidSansHeadingTT" panose="020B0503040202060203" pitchFamily="34" charset="0"/>
            </a:endParaRPr>
          </a:p>
        </p:txBody>
      </p:sp>
      <p:sp>
        <p:nvSpPr>
          <p:cNvPr id="13" name="Functie"/>
          <p:cNvSpPr txBox="1">
            <a:spLocks noChangeArrowheads="1"/>
          </p:cNvSpPr>
          <p:nvPr userDrawn="1"/>
        </p:nvSpPr>
        <p:spPr bwMode="auto">
          <a:xfrm>
            <a:off x="6576484" y="6164264"/>
            <a:ext cx="5181600" cy="1428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200" dirty="0">
                <a:solidFill>
                  <a:schemeClr val="bg1"/>
                </a:solidFill>
                <a:latin typeface="RijksoverheidSansHeadingTT" panose="020B0503040202060203" pitchFamily="34" charset="0"/>
              </a:rPr>
              <a:t>Faculteit Militaire Wetenschappen</a:t>
            </a:r>
          </a:p>
        </p:txBody>
      </p:sp>
      <p:sp>
        <p:nvSpPr>
          <p:cNvPr id="7364" name="Rectangle 196"/>
          <p:cNvSpPr>
            <a:spLocks noGrp="1" noChangeArrowheads="1"/>
          </p:cNvSpPr>
          <p:nvPr>
            <p:ph type="ctrTitle"/>
          </p:nvPr>
        </p:nvSpPr>
        <p:spPr>
          <a:xfrm>
            <a:off x="6578601" y="2096771"/>
            <a:ext cx="4798484" cy="492443"/>
          </a:xfrm>
        </p:spPr>
        <p:txBody>
          <a:bodyPr lIns="90000" tIns="45720" rIns="90000" bIns="45720" anchor="b"/>
          <a:lstStyle>
            <a:lvl1pPr>
              <a:defRPr>
                <a:solidFill>
                  <a:schemeClr val="bg1"/>
                </a:solidFill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pPr lvl="0"/>
            <a:endParaRPr lang="nl-NL" noProof="0" dirty="0" smtClean="0"/>
          </a:p>
        </p:txBody>
      </p:sp>
      <p:sp>
        <p:nvSpPr>
          <p:cNvPr id="7374" name="Rectangle 206"/>
          <p:cNvSpPr>
            <a:spLocks noGrp="1" noChangeArrowheads="1"/>
          </p:cNvSpPr>
          <p:nvPr>
            <p:ph type="subTitle" idx="1"/>
          </p:nvPr>
        </p:nvSpPr>
        <p:spPr>
          <a:xfrm>
            <a:off x="6578601" y="2781301"/>
            <a:ext cx="4798484" cy="2447925"/>
          </a:xfrm>
        </p:spPr>
        <p:txBody>
          <a:bodyPr lIns="91440" tIns="45720" rIns="91440" bIns="45720"/>
          <a:lstStyle>
            <a:lvl1pPr>
              <a:defRPr sz="2400">
                <a:solidFill>
                  <a:schemeClr val="bg1"/>
                </a:solidFill>
                <a:latin typeface="RijksoverheidSansHeadingTT" panose="020B0503040202060203" pitchFamily="34" charset="0"/>
              </a:defRPr>
            </a:lvl1pPr>
          </a:lstStyle>
          <a:p>
            <a:pPr lvl="0"/>
            <a:r>
              <a:rPr lang="en-US" noProof="0" dirty="0" smtClean="0"/>
              <a:t>Click to edit Master subtitle style</a:t>
            </a:r>
            <a:endParaRPr lang="nl-NL" noProof="0" dirty="0" smtClean="0"/>
          </a:p>
        </p:txBody>
      </p:sp>
      <p:sp>
        <p:nvSpPr>
          <p:cNvPr id="14" name="Date Placeholder 1" descr="Date"/>
          <p:cNvSpPr>
            <a:spLocks noGrp="1"/>
          </p:cNvSpPr>
          <p:nvPr>
            <p:ph type="dt" sz="half" idx="10"/>
          </p:nvPr>
        </p:nvSpPr>
        <p:spPr>
          <a:xfrm>
            <a:off x="6580717" y="6469064"/>
            <a:ext cx="2218267" cy="365125"/>
          </a:xfrm>
        </p:spPr>
        <p:txBody>
          <a:bodyPr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 smtClean="0"/>
              <a:t>College 4a: binomiale verdeling (1/2)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2822615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4a: binomiale verdeling (1/2)</a:t>
            </a:r>
            <a:endParaRPr lang="nl-NL" dirty="0"/>
          </a:p>
        </p:txBody>
      </p:sp>
      <p:sp>
        <p:nvSpPr>
          <p:cNvPr id="5" name="Rechthoek 4"/>
          <p:cNvSpPr/>
          <p:nvPr userDrawn="1"/>
        </p:nvSpPr>
        <p:spPr bwMode="auto">
          <a:xfrm>
            <a:off x="5951984" y="6381328"/>
            <a:ext cx="1656184" cy="360040"/>
          </a:xfrm>
          <a:prstGeom prst="rect">
            <a:avLst/>
          </a:prstGeom>
          <a:solidFill>
            <a:srgbClr val="E17000"/>
          </a:solidFill>
          <a:ln>
            <a:noFill/>
          </a:ln>
          <a:effectLst/>
          <a:extLst/>
        </p:spPr>
        <p:txBody>
          <a:bodyPr vert="horz" wrap="square" lIns="0" tIns="0" rIns="0" bIns="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06914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615553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4a: binomiale verdeling (1/2)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4558816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0" y="1773238"/>
            <a:ext cx="5080000" cy="42465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0" y="1773238"/>
            <a:ext cx="5080000" cy="42465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4a: binomiale verdeling (1/2)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2501668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24744"/>
            <a:ext cx="10972800" cy="40011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4a: binomiale verdeling (1/2)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09859429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4a: binomiale verdeling (1/2)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2162095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4a: binomiale verdeling (1/2)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21966321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1124744"/>
            <a:ext cx="4011084" cy="31035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124745"/>
            <a:ext cx="6815667" cy="500141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4a: binomiale verdeling (1/2)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900866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5059561"/>
            <a:ext cx="7315200" cy="30777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124744"/>
            <a:ext cx="7315200" cy="360283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nl-NL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4a: binomiale verdeling (1/2)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5637711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4a: binomiale verdeling (1/2)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51308929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778007" y="1265238"/>
            <a:ext cx="400110" cy="47545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1265238"/>
            <a:ext cx="7571317" cy="4754562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69543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shpKleurvlakOnder" descr="Bar_Bottom"/>
          <p:cNvSpPr>
            <a:spLocks noChangeArrowheads="1"/>
          </p:cNvSpPr>
          <p:nvPr/>
        </p:nvSpPr>
        <p:spPr bwMode="auto">
          <a:xfrm>
            <a:off x="0" y="6318250"/>
            <a:ext cx="12192000" cy="539750"/>
          </a:xfrm>
          <a:prstGeom prst="rect">
            <a:avLst/>
          </a:prstGeom>
          <a:solidFill>
            <a:srgbClr val="E17000"/>
          </a:solidFill>
          <a:ln>
            <a:noFill/>
          </a:ln>
          <a:extLst/>
        </p:spPr>
        <p:txBody>
          <a:bodyPr anchor="ctr"/>
          <a:lstStyle/>
          <a:p>
            <a:pPr algn="ctr">
              <a:defRPr/>
            </a:pPr>
            <a:endParaRPr lang="nl-NL" sz="180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1027" name="Rectangle 46"/>
          <p:cNvSpPr>
            <a:spLocks noGrp="1" noChangeAspect="1" noChangeArrowheads="1"/>
          </p:cNvSpPr>
          <p:nvPr>
            <p:ph type="body" idx="1"/>
          </p:nvPr>
        </p:nvSpPr>
        <p:spPr bwMode="auto">
          <a:xfrm>
            <a:off x="812800" y="1773238"/>
            <a:ext cx="10363200" cy="4246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 smtClean="0"/>
              <a:t>Klik om het opmaakprofiel van de modeltekst te bewerken</a:t>
            </a:r>
          </a:p>
          <a:p>
            <a:pPr lvl="1"/>
            <a:r>
              <a:rPr lang="nl-NL" smtClean="0"/>
              <a:t> </a:t>
            </a:r>
          </a:p>
          <a:p>
            <a:pPr lvl="2"/>
            <a:r>
              <a:rPr lang="nl-NL" smtClean="0"/>
              <a:t> </a:t>
            </a:r>
          </a:p>
          <a:p>
            <a:pPr lvl="3"/>
            <a:r>
              <a:rPr lang="nl-NL" smtClean="0"/>
              <a:t> </a:t>
            </a:r>
          </a:p>
          <a:p>
            <a:pPr lvl="4"/>
            <a:r>
              <a:rPr lang="nl-NL" smtClean="0"/>
              <a:t> </a:t>
            </a:r>
          </a:p>
        </p:txBody>
      </p:sp>
      <p:sp>
        <p:nvSpPr>
          <p:cNvPr id="1095" name="shpTekst" descr="Bar_Top"/>
          <p:cNvSpPr>
            <a:spLocks noChangeArrowheads="1"/>
          </p:cNvSpPr>
          <p:nvPr/>
        </p:nvSpPr>
        <p:spPr bwMode="auto">
          <a:xfrm>
            <a:off x="0" y="1"/>
            <a:ext cx="12192000" cy="1071563"/>
          </a:xfrm>
          <a:prstGeom prst="rect">
            <a:avLst/>
          </a:prstGeom>
          <a:solidFill>
            <a:srgbClr val="E17000"/>
          </a:solidFill>
          <a:ln>
            <a:noFill/>
          </a:ln>
          <a:extLst/>
        </p:spPr>
        <p:txBody>
          <a:bodyPr anchor="ctr"/>
          <a:lstStyle/>
          <a:p>
            <a:pPr algn="ctr">
              <a:defRPr/>
            </a:pPr>
            <a:endParaRPr lang="nl-NL" sz="1800" dirty="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1029" name="Rectangle 45"/>
          <p:cNvSpPr>
            <a:spLocks noGrp="1" noChangeArrowheads="1"/>
          </p:cNvSpPr>
          <p:nvPr>
            <p:ph type="title"/>
          </p:nvPr>
        </p:nvSpPr>
        <p:spPr bwMode="auto">
          <a:xfrm>
            <a:off x="814917" y="1265239"/>
            <a:ext cx="10363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nl-NL" smtClean="0"/>
          </a:p>
        </p:txBody>
      </p:sp>
      <p:sp>
        <p:nvSpPr>
          <p:cNvPr id="1099" name="shpKleurvlakBoven"/>
          <p:cNvSpPr>
            <a:spLocks noChangeArrowheads="1"/>
          </p:cNvSpPr>
          <p:nvPr/>
        </p:nvSpPr>
        <p:spPr bwMode="auto">
          <a:xfrm>
            <a:off x="6000751" y="6308725"/>
            <a:ext cx="5552016" cy="287338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eaLnBrk="0" hangingPunct="0">
              <a:defRPr/>
            </a:pPr>
            <a:r>
              <a:rPr lang="nl-NL" sz="1100" dirty="0">
                <a:solidFill>
                  <a:schemeClr val="bg1"/>
                </a:solidFill>
                <a:cs typeface="Arial" charset="0"/>
              </a:rPr>
              <a:t>DOSCO</a:t>
            </a:r>
          </a:p>
        </p:txBody>
      </p:sp>
      <p:sp>
        <p:nvSpPr>
          <p:cNvPr id="1100" name="shpBeeldmerk"/>
          <p:cNvSpPr>
            <a:spLocks noChangeArrowheads="1"/>
          </p:cNvSpPr>
          <p:nvPr/>
        </p:nvSpPr>
        <p:spPr bwMode="auto">
          <a:xfrm>
            <a:off x="516467" y="6362700"/>
            <a:ext cx="950384" cy="363538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eaLnBrk="0" hangingPunct="0">
              <a:defRPr/>
            </a:pPr>
            <a:fld id="{07382E3B-8403-45AB-A22D-980A32E9F913}" type="slidenum">
              <a:rPr lang="nl-NL" sz="1000">
                <a:solidFill>
                  <a:schemeClr val="bg1"/>
                </a:solidFill>
                <a:cs typeface="Arial" charset="0"/>
              </a:rPr>
              <a:pPr eaLnBrk="0" hangingPunct="0">
                <a:defRPr/>
              </a:pPr>
              <a:t>‹nr.›</a:t>
            </a:fld>
            <a:endParaRPr lang="nl-NL" sz="100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1109" name="TitelSlide2"/>
          <p:cNvSpPr txBox="1">
            <a:spLocks noChangeArrowheads="1"/>
          </p:cNvSpPr>
          <p:nvPr/>
        </p:nvSpPr>
        <p:spPr bwMode="auto">
          <a:xfrm>
            <a:off x="6000751" y="6524625"/>
            <a:ext cx="3647016" cy="2174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46800" rIns="90000" bIns="4680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100" dirty="0">
                <a:solidFill>
                  <a:schemeClr val="bg1"/>
                </a:solidFill>
              </a:rPr>
              <a:t>Statistiek</a:t>
            </a:r>
          </a:p>
        </p:txBody>
      </p:sp>
      <p:pic>
        <p:nvPicPr>
          <p:cNvPr id="1036" name="LogoLandmacht" descr="Placeholder_Logo"/>
          <p:cNvPicPr>
            <a:picLocks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5875713" y="1"/>
            <a:ext cx="440575" cy="849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Date Placeholder 1" descr="Date"/>
          <p:cNvSpPr>
            <a:spLocks noGrp="1"/>
          </p:cNvSpPr>
          <p:nvPr>
            <p:ph type="dt" sz="half" idx="2"/>
          </p:nvPr>
        </p:nvSpPr>
        <p:spPr>
          <a:xfrm>
            <a:off x="9637185" y="6520259"/>
            <a:ext cx="22203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spcBef>
                <a:spcPct val="50000"/>
              </a:spcBef>
              <a:defRPr sz="11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 smtClean="0"/>
              <a:t>College 4a: binomiale verdeling (1/2)</a:t>
            </a:r>
            <a:endParaRPr lang="nl-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5" r:id="rId11"/>
  </p:sldLayoutIdLst>
  <p:hf sldNum="0"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9pPr>
    </p:titleStyle>
    <p:bodyStyle>
      <a:lvl1pPr algn="l" rtl="0" eaLnBrk="1" fontAlgn="base" hangingPunct="1">
        <a:spcBef>
          <a:spcPct val="5000"/>
        </a:spcBef>
        <a:spcAft>
          <a:spcPct val="0"/>
        </a:spcAft>
        <a:defRPr sz="2200">
          <a:solidFill>
            <a:srgbClr val="000000"/>
          </a:solidFill>
          <a:latin typeface="+mn-lt"/>
          <a:ea typeface="+mn-ea"/>
          <a:cs typeface="+mn-cs"/>
        </a:defRPr>
      </a:lvl1pPr>
      <a:lvl2pPr marL="374650" indent="-184150" algn="l" rtl="0" eaLnBrk="1" fontAlgn="base" hangingPunct="1">
        <a:spcBef>
          <a:spcPct val="5000"/>
        </a:spcBef>
        <a:spcAft>
          <a:spcPct val="0"/>
        </a:spcAft>
        <a:buChar char="•"/>
        <a:defRPr sz="2200">
          <a:solidFill>
            <a:srgbClr val="000000"/>
          </a:solidFill>
          <a:latin typeface="+mn-lt"/>
        </a:defRPr>
      </a:lvl2pPr>
      <a:lvl3pPr marL="6223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–"/>
        <a:defRPr sz="2200">
          <a:solidFill>
            <a:srgbClr val="000000"/>
          </a:solidFill>
          <a:latin typeface="+mn-lt"/>
        </a:defRPr>
      </a:lvl3pPr>
      <a:lvl4pPr marL="1166813" indent="-1778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›"/>
        <a:defRPr sz="2200">
          <a:solidFill>
            <a:srgbClr val="000000"/>
          </a:solidFill>
          <a:latin typeface="+mn-lt"/>
        </a:defRPr>
      </a:lvl4pPr>
      <a:lvl5pPr marL="13462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5pPr>
      <a:lvl6pPr marL="18034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6pPr>
      <a:lvl7pPr marL="22606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7pPr>
      <a:lvl8pPr marL="27178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8pPr>
      <a:lvl9pPr marL="31750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shpKleurvlakOnder" descr="Bar_Bottom"/>
          <p:cNvSpPr>
            <a:spLocks noChangeArrowheads="1"/>
          </p:cNvSpPr>
          <p:nvPr/>
        </p:nvSpPr>
        <p:spPr bwMode="auto">
          <a:xfrm>
            <a:off x="0" y="6318250"/>
            <a:ext cx="12192000" cy="539750"/>
          </a:xfrm>
          <a:prstGeom prst="rect">
            <a:avLst/>
          </a:prstGeom>
          <a:solidFill>
            <a:srgbClr val="E17000"/>
          </a:solidFill>
          <a:ln>
            <a:noFill/>
          </a:ln>
          <a:extLst/>
        </p:spPr>
        <p:txBody>
          <a:bodyPr anchor="ctr"/>
          <a:lstStyle/>
          <a:p>
            <a:pPr algn="ctr">
              <a:defRPr/>
            </a:pPr>
            <a:endParaRPr lang="nl-NL" sz="180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1027" name="Rectangle 46"/>
          <p:cNvSpPr>
            <a:spLocks noGrp="1" noChangeAspect="1" noChangeArrowheads="1"/>
          </p:cNvSpPr>
          <p:nvPr>
            <p:ph type="body" idx="1"/>
          </p:nvPr>
        </p:nvSpPr>
        <p:spPr bwMode="auto">
          <a:xfrm>
            <a:off x="812800" y="1773238"/>
            <a:ext cx="10363200" cy="4246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 smtClean="0"/>
              <a:t>Klik om het opmaakprofiel van de modeltekst te bewerken</a:t>
            </a:r>
          </a:p>
          <a:p>
            <a:pPr lvl="1"/>
            <a:r>
              <a:rPr lang="nl-NL" smtClean="0"/>
              <a:t> </a:t>
            </a:r>
          </a:p>
          <a:p>
            <a:pPr lvl="2"/>
            <a:r>
              <a:rPr lang="nl-NL" smtClean="0"/>
              <a:t> </a:t>
            </a:r>
          </a:p>
          <a:p>
            <a:pPr lvl="3"/>
            <a:r>
              <a:rPr lang="nl-NL" smtClean="0"/>
              <a:t> </a:t>
            </a:r>
          </a:p>
          <a:p>
            <a:pPr lvl="4"/>
            <a:r>
              <a:rPr lang="nl-NL" smtClean="0"/>
              <a:t> </a:t>
            </a:r>
          </a:p>
        </p:txBody>
      </p:sp>
      <p:sp>
        <p:nvSpPr>
          <p:cNvPr id="1095" name="shpTekst" descr="Bar_Top"/>
          <p:cNvSpPr>
            <a:spLocks noChangeArrowheads="1"/>
          </p:cNvSpPr>
          <p:nvPr/>
        </p:nvSpPr>
        <p:spPr bwMode="auto">
          <a:xfrm>
            <a:off x="0" y="1"/>
            <a:ext cx="12192000" cy="1071563"/>
          </a:xfrm>
          <a:prstGeom prst="rect">
            <a:avLst/>
          </a:prstGeom>
          <a:solidFill>
            <a:srgbClr val="E17000"/>
          </a:solidFill>
          <a:ln>
            <a:noFill/>
          </a:ln>
          <a:extLst/>
        </p:spPr>
        <p:txBody>
          <a:bodyPr anchor="ctr"/>
          <a:lstStyle/>
          <a:p>
            <a:pPr algn="ctr">
              <a:defRPr/>
            </a:pPr>
            <a:endParaRPr lang="nl-NL" sz="1800" dirty="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1029" name="Rectangle 45"/>
          <p:cNvSpPr>
            <a:spLocks noGrp="1" noChangeArrowheads="1"/>
          </p:cNvSpPr>
          <p:nvPr>
            <p:ph type="title"/>
          </p:nvPr>
        </p:nvSpPr>
        <p:spPr bwMode="auto">
          <a:xfrm>
            <a:off x="814917" y="1265239"/>
            <a:ext cx="10363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nl-NL" smtClean="0"/>
          </a:p>
        </p:txBody>
      </p:sp>
      <p:sp>
        <p:nvSpPr>
          <p:cNvPr id="1099" name="shpKleurvlakBoven"/>
          <p:cNvSpPr>
            <a:spLocks noChangeArrowheads="1"/>
          </p:cNvSpPr>
          <p:nvPr/>
        </p:nvSpPr>
        <p:spPr bwMode="auto">
          <a:xfrm>
            <a:off x="6000751" y="6308725"/>
            <a:ext cx="5552016" cy="287338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eaLnBrk="0" hangingPunct="0">
              <a:defRPr/>
            </a:pPr>
            <a:r>
              <a:rPr lang="nl-NL" sz="1100" dirty="0">
                <a:solidFill>
                  <a:schemeClr val="bg1"/>
                </a:solidFill>
                <a:cs typeface="Arial" charset="0"/>
              </a:rPr>
              <a:t>DOSCO</a:t>
            </a:r>
          </a:p>
        </p:txBody>
      </p:sp>
      <p:sp>
        <p:nvSpPr>
          <p:cNvPr id="1100" name="shpBeeldmerk"/>
          <p:cNvSpPr>
            <a:spLocks noChangeArrowheads="1"/>
          </p:cNvSpPr>
          <p:nvPr/>
        </p:nvSpPr>
        <p:spPr bwMode="auto">
          <a:xfrm>
            <a:off x="516467" y="6362700"/>
            <a:ext cx="950384" cy="363538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eaLnBrk="0" hangingPunct="0">
              <a:defRPr/>
            </a:pPr>
            <a:fld id="{07382E3B-8403-45AB-A22D-980A32E9F913}" type="slidenum">
              <a:rPr lang="nl-NL" sz="1000">
                <a:solidFill>
                  <a:schemeClr val="bg1"/>
                </a:solidFill>
                <a:cs typeface="Arial" charset="0"/>
              </a:rPr>
              <a:pPr eaLnBrk="0" hangingPunct="0">
                <a:defRPr/>
              </a:pPr>
              <a:t>‹nr.›</a:t>
            </a:fld>
            <a:endParaRPr lang="nl-NL" sz="100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1109" name="TitelSlide2"/>
          <p:cNvSpPr txBox="1">
            <a:spLocks noChangeArrowheads="1"/>
          </p:cNvSpPr>
          <p:nvPr/>
        </p:nvSpPr>
        <p:spPr bwMode="auto">
          <a:xfrm>
            <a:off x="6000751" y="6524625"/>
            <a:ext cx="3647016" cy="2174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46800" rIns="90000" bIns="4680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100" dirty="0">
                <a:solidFill>
                  <a:schemeClr val="bg1"/>
                </a:solidFill>
              </a:rPr>
              <a:t>Statistiek MBW</a:t>
            </a:r>
          </a:p>
        </p:txBody>
      </p:sp>
      <p:pic>
        <p:nvPicPr>
          <p:cNvPr id="1036" name="LogoLandmacht" descr="Placeholder_Logo"/>
          <p:cNvPicPr>
            <a:picLocks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5875713" y="1"/>
            <a:ext cx="440575" cy="849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Date Placeholder 1" descr="Date"/>
          <p:cNvSpPr>
            <a:spLocks noGrp="1"/>
          </p:cNvSpPr>
          <p:nvPr>
            <p:ph type="dt" sz="half" idx="2"/>
          </p:nvPr>
        </p:nvSpPr>
        <p:spPr>
          <a:xfrm>
            <a:off x="9637185" y="6520259"/>
            <a:ext cx="22203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spcBef>
                <a:spcPct val="50000"/>
              </a:spcBef>
              <a:defRPr sz="11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 smtClean="0"/>
              <a:t>College 4a: binomiale verdeling (1/2)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16532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</p:sldLayoutIdLst>
  <p:timing>
    <p:tnLst>
      <p:par>
        <p:cTn id="1" dur="indefinite" restart="never" nodeType="tmRoot"/>
      </p:par>
    </p:tnLst>
  </p:timing>
  <p:hf sldNum="0"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9pPr>
    </p:titleStyle>
    <p:bodyStyle>
      <a:lvl1pPr algn="l" rtl="0" eaLnBrk="1" fontAlgn="base" hangingPunct="1">
        <a:spcBef>
          <a:spcPct val="5000"/>
        </a:spcBef>
        <a:spcAft>
          <a:spcPct val="0"/>
        </a:spcAft>
        <a:defRPr sz="2200">
          <a:solidFill>
            <a:srgbClr val="000000"/>
          </a:solidFill>
          <a:latin typeface="+mn-lt"/>
          <a:ea typeface="+mn-ea"/>
          <a:cs typeface="+mn-cs"/>
        </a:defRPr>
      </a:lvl1pPr>
      <a:lvl2pPr marL="374650" indent="-184150" algn="l" rtl="0" eaLnBrk="1" fontAlgn="base" hangingPunct="1">
        <a:spcBef>
          <a:spcPct val="5000"/>
        </a:spcBef>
        <a:spcAft>
          <a:spcPct val="0"/>
        </a:spcAft>
        <a:buChar char="•"/>
        <a:defRPr sz="2200">
          <a:solidFill>
            <a:srgbClr val="000000"/>
          </a:solidFill>
          <a:latin typeface="+mn-lt"/>
        </a:defRPr>
      </a:lvl2pPr>
      <a:lvl3pPr marL="6223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–"/>
        <a:defRPr sz="2200">
          <a:solidFill>
            <a:srgbClr val="000000"/>
          </a:solidFill>
          <a:latin typeface="+mn-lt"/>
        </a:defRPr>
      </a:lvl3pPr>
      <a:lvl4pPr marL="1166813" indent="-1778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›"/>
        <a:defRPr sz="2200">
          <a:solidFill>
            <a:srgbClr val="000000"/>
          </a:solidFill>
          <a:latin typeface="+mn-lt"/>
        </a:defRPr>
      </a:lvl4pPr>
      <a:lvl5pPr marL="13462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5pPr>
      <a:lvl6pPr marL="18034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6pPr>
      <a:lvl7pPr marL="22606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7pPr>
      <a:lvl8pPr marL="27178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8pPr>
      <a:lvl9pPr marL="31750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shpKleurvlakOnder" descr="Bar_Bottom"/>
          <p:cNvSpPr>
            <a:spLocks noChangeArrowheads="1"/>
          </p:cNvSpPr>
          <p:nvPr/>
        </p:nvSpPr>
        <p:spPr bwMode="auto">
          <a:xfrm>
            <a:off x="0" y="6318250"/>
            <a:ext cx="12192000" cy="539750"/>
          </a:xfrm>
          <a:prstGeom prst="rect">
            <a:avLst/>
          </a:prstGeom>
          <a:solidFill>
            <a:srgbClr val="E17000"/>
          </a:solidFill>
          <a:ln>
            <a:noFill/>
          </a:ln>
          <a:extLst/>
        </p:spPr>
        <p:txBody>
          <a:bodyPr anchor="ctr"/>
          <a:lstStyle/>
          <a:p>
            <a:pPr algn="ctr">
              <a:defRPr/>
            </a:pPr>
            <a:endParaRPr lang="nl-NL" sz="180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1027" name="Rectangle 46"/>
          <p:cNvSpPr>
            <a:spLocks noGrp="1" noChangeAspect="1" noChangeArrowheads="1"/>
          </p:cNvSpPr>
          <p:nvPr>
            <p:ph type="body" idx="1"/>
          </p:nvPr>
        </p:nvSpPr>
        <p:spPr bwMode="auto">
          <a:xfrm>
            <a:off x="812800" y="1773238"/>
            <a:ext cx="10363200" cy="4246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 smtClean="0"/>
              <a:t>Klik om het opmaakprofiel van de modeltekst te bewerken</a:t>
            </a:r>
          </a:p>
          <a:p>
            <a:pPr lvl="1"/>
            <a:r>
              <a:rPr lang="nl-NL" smtClean="0"/>
              <a:t> </a:t>
            </a:r>
          </a:p>
          <a:p>
            <a:pPr lvl="2"/>
            <a:r>
              <a:rPr lang="nl-NL" smtClean="0"/>
              <a:t> </a:t>
            </a:r>
          </a:p>
          <a:p>
            <a:pPr lvl="3"/>
            <a:r>
              <a:rPr lang="nl-NL" smtClean="0"/>
              <a:t> </a:t>
            </a:r>
          </a:p>
          <a:p>
            <a:pPr lvl="4"/>
            <a:r>
              <a:rPr lang="nl-NL" smtClean="0"/>
              <a:t> </a:t>
            </a:r>
          </a:p>
        </p:txBody>
      </p:sp>
      <p:sp>
        <p:nvSpPr>
          <p:cNvPr id="1095" name="shpTekst" descr="Bar_Top"/>
          <p:cNvSpPr>
            <a:spLocks noChangeArrowheads="1"/>
          </p:cNvSpPr>
          <p:nvPr/>
        </p:nvSpPr>
        <p:spPr bwMode="auto">
          <a:xfrm>
            <a:off x="0" y="1"/>
            <a:ext cx="12192000" cy="1071563"/>
          </a:xfrm>
          <a:prstGeom prst="rect">
            <a:avLst/>
          </a:prstGeom>
          <a:solidFill>
            <a:srgbClr val="E17000"/>
          </a:solidFill>
          <a:ln>
            <a:noFill/>
          </a:ln>
          <a:extLst/>
        </p:spPr>
        <p:txBody>
          <a:bodyPr anchor="ctr"/>
          <a:lstStyle/>
          <a:p>
            <a:pPr algn="ctr">
              <a:defRPr/>
            </a:pPr>
            <a:endParaRPr lang="nl-NL" sz="1800" dirty="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1029" name="Rectangle 45"/>
          <p:cNvSpPr>
            <a:spLocks noGrp="1" noChangeArrowheads="1"/>
          </p:cNvSpPr>
          <p:nvPr>
            <p:ph type="title"/>
          </p:nvPr>
        </p:nvSpPr>
        <p:spPr bwMode="auto">
          <a:xfrm>
            <a:off x="814917" y="1265239"/>
            <a:ext cx="10363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nl-NL" smtClean="0"/>
          </a:p>
        </p:txBody>
      </p:sp>
      <p:sp>
        <p:nvSpPr>
          <p:cNvPr id="1099" name="shpKleurvlakBoven"/>
          <p:cNvSpPr>
            <a:spLocks noChangeArrowheads="1"/>
          </p:cNvSpPr>
          <p:nvPr/>
        </p:nvSpPr>
        <p:spPr bwMode="auto">
          <a:xfrm>
            <a:off x="6000751" y="6308725"/>
            <a:ext cx="5552016" cy="287338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eaLnBrk="0" hangingPunct="0">
              <a:defRPr/>
            </a:pPr>
            <a:r>
              <a:rPr lang="nl-NL" sz="1100" dirty="0">
                <a:solidFill>
                  <a:schemeClr val="bg1"/>
                </a:solidFill>
                <a:cs typeface="Arial" charset="0"/>
              </a:rPr>
              <a:t>DOSCO</a:t>
            </a:r>
          </a:p>
        </p:txBody>
      </p:sp>
      <p:sp>
        <p:nvSpPr>
          <p:cNvPr id="1100" name="shpBeeldmerk"/>
          <p:cNvSpPr>
            <a:spLocks noChangeArrowheads="1"/>
          </p:cNvSpPr>
          <p:nvPr/>
        </p:nvSpPr>
        <p:spPr bwMode="auto">
          <a:xfrm>
            <a:off x="516467" y="6362700"/>
            <a:ext cx="950384" cy="363538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eaLnBrk="0" hangingPunct="0">
              <a:defRPr/>
            </a:pPr>
            <a:fld id="{07382E3B-8403-45AB-A22D-980A32E9F913}" type="slidenum">
              <a:rPr lang="nl-NL" sz="1000">
                <a:solidFill>
                  <a:schemeClr val="bg1"/>
                </a:solidFill>
                <a:cs typeface="Arial" charset="0"/>
              </a:rPr>
              <a:pPr eaLnBrk="0" hangingPunct="0">
                <a:defRPr/>
              </a:pPr>
              <a:t>‹nr.›</a:t>
            </a:fld>
            <a:endParaRPr lang="nl-NL" sz="100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1109" name="TitelSlide2"/>
          <p:cNvSpPr txBox="1">
            <a:spLocks noChangeArrowheads="1"/>
          </p:cNvSpPr>
          <p:nvPr/>
        </p:nvSpPr>
        <p:spPr bwMode="auto">
          <a:xfrm>
            <a:off x="6000751" y="6524625"/>
            <a:ext cx="3647016" cy="2174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46800" rIns="90000" bIns="4680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100" dirty="0">
                <a:solidFill>
                  <a:schemeClr val="bg1"/>
                </a:solidFill>
              </a:rPr>
              <a:t>College 2: Statistiek</a:t>
            </a:r>
          </a:p>
        </p:txBody>
      </p:sp>
      <p:pic>
        <p:nvPicPr>
          <p:cNvPr id="1036" name="LogoLandmacht" descr="Placeholder_Logo"/>
          <p:cNvPicPr>
            <a:picLocks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5875713" y="1"/>
            <a:ext cx="440575" cy="849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Date Placeholder 1" descr="Date"/>
          <p:cNvSpPr>
            <a:spLocks noGrp="1"/>
          </p:cNvSpPr>
          <p:nvPr>
            <p:ph type="dt" sz="half" idx="2"/>
          </p:nvPr>
        </p:nvSpPr>
        <p:spPr>
          <a:xfrm>
            <a:off x="9637185" y="6520259"/>
            <a:ext cx="22203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spcBef>
                <a:spcPct val="50000"/>
              </a:spcBef>
              <a:defRPr sz="11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 smtClean="0"/>
              <a:t>College 4a: binomiale verdeling (1/2)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43671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</p:sldLayoutIdLst>
  <p:hf sldNum="0"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9pPr>
    </p:titleStyle>
    <p:bodyStyle>
      <a:lvl1pPr algn="l" rtl="0" eaLnBrk="1" fontAlgn="base" hangingPunct="1">
        <a:spcBef>
          <a:spcPct val="5000"/>
        </a:spcBef>
        <a:spcAft>
          <a:spcPct val="0"/>
        </a:spcAft>
        <a:defRPr sz="2200">
          <a:solidFill>
            <a:srgbClr val="000000"/>
          </a:solidFill>
          <a:latin typeface="+mn-lt"/>
          <a:ea typeface="+mn-ea"/>
          <a:cs typeface="+mn-cs"/>
        </a:defRPr>
      </a:lvl1pPr>
      <a:lvl2pPr marL="374650" indent="-184150" algn="l" rtl="0" eaLnBrk="1" fontAlgn="base" hangingPunct="1">
        <a:spcBef>
          <a:spcPct val="5000"/>
        </a:spcBef>
        <a:spcAft>
          <a:spcPct val="0"/>
        </a:spcAft>
        <a:buChar char="•"/>
        <a:defRPr sz="2200">
          <a:solidFill>
            <a:srgbClr val="000000"/>
          </a:solidFill>
          <a:latin typeface="+mn-lt"/>
        </a:defRPr>
      </a:lvl2pPr>
      <a:lvl3pPr marL="6223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–"/>
        <a:defRPr sz="2200">
          <a:solidFill>
            <a:srgbClr val="000000"/>
          </a:solidFill>
          <a:latin typeface="+mn-lt"/>
        </a:defRPr>
      </a:lvl3pPr>
      <a:lvl4pPr marL="1166813" indent="-1778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›"/>
        <a:defRPr sz="2200">
          <a:solidFill>
            <a:srgbClr val="000000"/>
          </a:solidFill>
          <a:latin typeface="+mn-lt"/>
        </a:defRPr>
      </a:lvl4pPr>
      <a:lvl5pPr marL="13462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5pPr>
      <a:lvl6pPr marL="18034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6pPr>
      <a:lvl7pPr marL="22606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7pPr>
      <a:lvl8pPr marL="27178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8pPr>
      <a:lvl9pPr marL="31750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0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10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interactive-binomiaal.streamlit.app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hpTitel"/>
          <p:cNvSpPr>
            <a:spLocks noGrp="1" noChangeArrowheads="1"/>
          </p:cNvSpPr>
          <p:nvPr>
            <p:ph type="title"/>
          </p:nvPr>
        </p:nvSpPr>
        <p:spPr>
          <a:xfrm>
            <a:off x="6457951" y="2097087"/>
            <a:ext cx="5040000" cy="492443"/>
          </a:xfrm>
        </p:spPr>
        <p:txBody>
          <a:bodyPr anchor="t" anchorCtr="0"/>
          <a:lstStyle/>
          <a:p>
            <a:r>
              <a:rPr lang="en-US" dirty="0" err="1">
                <a:solidFill>
                  <a:srgbClr val="113652"/>
                </a:solidFill>
                <a:latin typeface="RijksoverheidSansWebText Bold" panose="020B0803040202060203" pitchFamily="34" charset="0"/>
                <a:ea typeface="RijksoverheidSansWebText Bold" panose="020B0803040202060203" pitchFamily="34" charset="0"/>
              </a:rPr>
              <a:t>Statistiek</a:t>
            </a:r>
            <a:r>
              <a:rPr lang="en-US" dirty="0">
                <a:solidFill>
                  <a:srgbClr val="113652"/>
                </a:solidFill>
                <a:latin typeface="RijksoverheidSansWebText Bold" panose="020B0803040202060203" pitchFamily="34" charset="0"/>
                <a:ea typeface="RijksoverheidSansWebText Bold" panose="020B0803040202060203" pitchFamily="34" charset="0"/>
              </a:rPr>
              <a:t>: college </a:t>
            </a:r>
            <a:r>
              <a:rPr lang="en-US" dirty="0" smtClean="0">
                <a:solidFill>
                  <a:srgbClr val="113652"/>
                </a:solidFill>
                <a:latin typeface="RijksoverheidSansWebText Bold" panose="020B0803040202060203" pitchFamily="34" charset="0"/>
                <a:ea typeface="RijksoverheidSansWebText Bold" panose="020B0803040202060203" pitchFamily="34" charset="0"/>
              </a:rPr>
              <a:t>4a</a:t>
            </a:r>
            <a:endParaRPr lang="nl-NL" dirty="0" smtClean="0">
              <a:solidFill>
                <a:srgbClr val="113652"/>
              </a:solidFill>
              <a:latin typeface="RijksoverheidSansWebText Bold" panose="020B0803040202060203" pitchFamily="34" charset="0"/>
              <a:ea typeface="RijksoverheidSansWebText Bold" panose="020B0803040202060203" pitchFamily="34" charset="0"/>
            </a:endParaRPr>
          </a:p>
        </p:txBody>
      </p:sp>
      <p:sp>
        <p:nvSpPr>
          <p:cNvPr id="4099" name="shpTekst"/>
          <p:cNvSpPr>
            <a:spLocks noGrp="1" noChangeArrowheads="1"/>
          </p:cNvSpPr>
          <p:nvPr>
            <p:ph type="body" idx="1"/>
          </p:nvPr>
        </p:nvSpPr>
        <p:spPr>
          <a:xfrm>
            <a:off x="6458400" y="3236400"/>
            <a:ext cx="5040000" cy="986400"/>
          </a:xfrm>
        </p:spPr>
        <p:txBody>
          <a:bodyPr/>
          <a:lstStyle/>
          <a:p>
            <a:pPr eaLnBrk="1" hangingPunct="1"/>
            <a:r>
              <a:rPr lang="nl-NL" dirty="0" smtClean="0">
                <a:solidFill>
                  <a:srgbClr val="113652"/>
                </a:solidFill>
                <a:latin typeface="RijksoverheidSansText" panose="020B0503040202060203" pitchFamily="34" charset="0"/>
              </a:rPr>
              <a:t>De binomiale verdeling (1/2)</a:t>
            </a:r>
          </a:p>
        </p:txBody>
      </p:sp>
      <p:sp>
        <p:nvSpPr>
          <p:cNvPr id="4100" name="Date Placeholder 2"/>
          <p:cNvSpPr>
            <a:spLocks noGrp="1"/>
          </p:cNvSpPr>
          <p:nvPr>
            <p:ph type="dt" sz="quarter" idx="10"/>
          </p:nvPr>
        </p:nvSpPr>
        <p:spPr bwMode="auto">
          <a:xfrm>
            <a:off x="6580717" y="6469064"/>
            <a:ext cx="2899659" cy="365125"/>
          </a:xfrm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11 </a:t>
            </a:r>
            <a:r>
              <a:rPr kumimoji="0" lang="en-US" sz="11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mei</a:t>
            </a:r>
            <a:r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2026</a:t>
            </a:r>
            <a:endParaRPr kumimoji="0" lang="nl-NL" sz="1100" b="0" i="0" u="none" strike="noStrike" kern="120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1284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Recap</a:t>
            </a:r>
            <a:endParaRPr lang="nl-NL" dirty="0" smtClean="0"/>
          </a:p>
        </p:txBody>
      </p:sp>
      <p:sp>
        <p:nvSpPr>
          <p:cNvPr id="5123" name="Rectangle 1027"/>
          <p:cNvSpPr>
            <a:spLocks noGrp="1" noChangeAspect="1" noChangeArrowheads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nl-NL" sz="2400" dirty="0" smtClean="0">
              <a:latin typeface="RijksoverheidSansText" panose="020B050304020206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2400" dirty="0" smtClean="0">
                <a:latin typeface="RijksoverheidSansText" panose="020B0503040202060203" pitchFamily="34" charset="0"/>
              </a:rPr>
              <a:t>Introductie </a:t>
            </a:r>
            <a:r>
              <a:rPr lang="nl-NL" sz="2400" dirty="0">
                <a:latin typeface="RijksoverheidSansText" panose="020B0503040202060203" pitchFamily="34" charset="0"/>
              </a:rPr>
              <a:t>statistiek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 smtClean="0">
              <a:latin typeface="RijksoverheidSansText" panose="020B050304020206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 smtClean="0">
              <a:latin typeface="RijksoverheidSansText" panose="020B050304020206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 smtClean="0">
              <a:latin typeface="RijksoverheidSansText" panose="020B050304020206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 smtClean="0">
                <a:latin typeface="RijksoverheidSansText" panose="020B0503040202060203" pitchFamily="34" charset="0"/>
              </a:rPr>
              <a:t>Datavisualisaties</a:t>
            </a:r>
            <a:endParaRPr lang="en-US" sz="2400" dirty="0">
              <a:latin typeface="RijksoverheidSansText" panose="020B050304020206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 smtClean="0">
              <a:latin typeface="RijksoverheidSansText" panose="020B050304020206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 smtClean="0">
              <a:latin typeface="RijksoverheidSansText" panose="020B050304020206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sz="2400" dirty="0">
              <a:latin typeface="RijksoverheidSansText" panose="020B050304020206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2400" dirty="0">
                <a:latin typeface="RijksoverheidSansText" panose="020B0503040202060203" pitchFamily="34" charset="0"/>
              </a:rPr>
              <a:t>Discrete en continue </a:t>
            </a:r>
            <a:r>
              <a:rPr lang="nl-NL" sz="2400" dirty="0" err="1" smtClean="0">
                <a:latin typeface="RijksoverheidSansText" panose="020B0503040202060203" pitchFamily="34" charset="0"/>
              </a:rPr>
              <a:t>kansvariabelen</a:t>
            </a:r>
            <a:endParaRPr lang="nl-NL" sz="2400" dirty="0">
              <a:latin typeface="RijksoverheidSansText" panose="020B050304020206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976321" y="6520259"/>
            <a:ext cx="2881248" cy="365125"/>
          </a:xfrm>
        </p:spPr>
        <p:txBody>
          <a:bodyPr/>
          <a:lstStyle/>
          <a:p>
            <a:pPr>
              <a:defRPr/>
            </a:pPr>
            <a:r>
              <a:rPr lang="en-US" smtClean="0"/>
              <a:t>College 4a: binomiale verdeling (1/2)</a:t>
            </a:r>
            <a:endParaRPr lang="nl-N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800219"/>
          </a:xfrm>
        </p:spPr>
        <p:txBody>
          <a:bodyPr/>
          <a:lstStyle/>
          <a:p>
            <a:pPr eaLnBrk="1" hangingPunct="1"/>
            <a:r>
              <a:rPr lang="en-US" dirty="0" err="1" smtClean="0"/>
              <a:t>Leerdoelen</a:t>
            </a:r>
            <a:r>
              <a:rPr lang="en-US" dirty="0" smtClean="0"/>
              <a:t/>
            </a:r>
            <a:br>
              <a:rPr lang="en-US" dirty="0" smtClean="0"/>
            </a:br>
            <a:endParaRPr lang="nl-NL" dirty="0" smtClean="0"/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sz="2400" dirty="0">
                <a:latin typeface="RijksoverheidSansText" panose="020B0503040202060203" pitchFamily="34" charset="0"/>
              </a:rPr>
              <a:t>Aan het eind van dit college kunnen studenten:</a:t>
            </a:r>
          </a:p>
          <a:p>
            <a:endParaRPr lang="nl-NL" sz="2400" dirty="0">
              <a:latin typeface="RijksoverheidSansText" panose="020B050304020206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2400" dirty="0">
                <a:latin typeface="RijksoverheidSansText" panose="020B0503040202060203" pitchFamily="34" charset="0"/>
              </a:rPr>
              <a:t>d</a:t>
            </a:r>
            <a:r>
              <a:rPr lang="nl-NL" sz="2400" dirty="0" smtClean="0">
                <a:latin typeface="RijksoverheidSansText" panose="020B0503040202060203" pitchFamily="34" charset="0"/>
              </a:rPr>
              <a:t>e eigenschappen van de </a:t>
            </a:r>
            <a:r>
              <a:rPr lang="nl-NL" sz="2400" dirty="0" err="1" smtClean="0">
                <a:latin typeface="RijksoverheidSansText" panose="020B0503040202060203" pitchFamily="34" charset="0"/>
              </a:rPr>
              <a:t>Bernoulli</a:t>
            </a:r>
            <a:r>
              <a:rPr lang="nl-NL" sz="2400" dirty="0" smtClean="0">
                <a:latin typeface="RijksoverheidSansText" panose="020B0503040202060203" pitchFamily="34" charset="0"/>
              </a:rPr>
              <a:t> verdeling en </a:t>
            </a:r>
            <a:r>
              <a:rPr lang="nl-NL" sz="2400" dirty="0">
                <a:latin typeface="RijksoverheidSansText" panose="020B0503040202060203" pitchFamily="34" charset="0"/>
              </a:rPr>
              <a:t>de binomiale </a:t>
            </a:r>
            <a:r>
              <a:rPr lang="nl-NL" sz="2400" dirty="0" smtClean="0">
                <a:latin typeface="RijksoverheidSansText" panose="020B0503040202060203" pitchFamily="34" charset="0"/>
              </a:rPr>
              <a:t>verdeling </a:t>
            </a:r>
            <a:r>
              <a:rPr lang="nl-NL" sz="2400" i="1" dirty="0" smtClean="0">
                <a:latin typeface="RijksoverheidSansText" panose="020B0503040202060203" pitchFamily="34" charset="0"/>
              </a:rPr>
              <a:t>benoemen</a:t>
            </a:r>
            <a:r>
              <a:rPr lang="nl-NL" sz="2400" dirty="0" smtClean="0">
                <a:latin typeface="RijksoverheidSansText" panose="020B0503040202060203" pitchFamily="34" charset="0"/>
              </a:rPr>
              <a:t> en </a:t>
            </a:r>
            <a:r>
              <a:rPr lang="nl-NL" sz="2400" i="1" dirty="0" smtClean="0">
                <a:latin typeface="RijksoverheidSansText" panose="020B0503040202060203" pitchFamily="34" charset="0"/>
              </a:rPr>
              <a:t>uitleggen </a:t>
            </a:r>
            <a:r>
              <a:rPr lang="nl-NL" sz="2400" dirty="0" smtClean="0">
                <a:latin typeface="RijksoverheidSansText" panose="020B0503040202060203" pitchFamily="34" charset="0"/>
              </a:rPr>
              <a:t>waarom dit discrete kansverdelingen zijn.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sz="2400" b="1" dirty="0" smtClean="0">
              <a:latin typeface="RijksoverheidSansText" panose="020B050304020206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sz="2400" b="1" dirty="0">
              <a:latin typeface="RijksoverheidSansText" panose="020B050304020206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2400" dirty="0" smtClean="0">
                <a:latin typeface="RijksoverheidSansText" panose="020B0503040202060203" pitchFamily="34" charset="0"/>
              </a:rPr>
              <a:t>Toepassingen van de binomiale verdeling </a:t>
            </a:r>
            <a:r>
              <a:rPr lang="nl-NL" sz="2400" i="1" dirty="0" smtClean="0">
                <a:latin typeface="RijksoverheidSansText" panose="020B0503040202060203" pitchFamily="34" charset="0"/>
              </a:rPr>
              <a:t>herkennen</a:t>
            </a:r>
            <a:r>
              <a:rPr lang="nl-NL" sz="2400" dirty="0" smtClean="0">
                <a:latin typeface="RijksoverheidSansText" panose="020B0503040202060203" pitchFamily="34" charset="0"/>
              </a:rPr>
              <a:t> in een militaire context.</a:t>
            </a:r>
            <a:endParaRPr lang="nl-NL" sz="2400" dirty="0">
              <a:latin typeface="RijksoverheidSansText" panose="020B0503040202060203" pitchFamily="34" charset="0"/>
            </a:endParaRPr>
          </a:p>
          <a:p>
            <a:endParaRPr lang="nl-NL" sz="2400" dirty="0" smtClean="0">
              <a:latin typeface="RijksoverheidSansText" panose="020B0503040202060203" pitchFamily="34" charset="0"/>
            </a:endParaRPr>
          </a:p>
          <a:p>
            <a:endParaRPr lang="nl-NL" sz="2400" dirty="0" smtClean="0">
              <a:latin typeface="RijksoverheidSansText" panose="020B050304020206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2400" dirty="0" smtClean="0">
                <a:latin typeface="RijksoverheidSansText" panose="020B0503040202060203" pitchFamily="34" charset="0"/>
              </a:rPr>
              <a:t>berekeningen </a:t>
            </a:r>
            <a:r>
              <a:rPr lang="nl-NL" sz="2400" i="1" dirty="0" smtClean="0">
                <a:latin typeface="RijksoverheidSansText" panose="020B0503040202060203" pitchFamily="34" charset="0"/>
              </a:rPr>
              <a:t>uitvoeren</a:t>
            </a:r>
            <a:r>
              <a:rPr lang="nl-NL" sz="2400" dirty="0" smtClean="0">
                <a:latin typeface="RijksoverheidSansText" panose="020B0503040202060203" pitchFamily="34" charset="0"/>
              </a:rPr>
              <a:t> met de binomiale kansverdeling met behulp van de formule van de binomiale </a:t>
            </a:r>
            <a:r>
              <a:rPr lang="nl-NL" sz="2400" dirty="0" err="1" smtClean="0">
                <a:latin typeface="RijksoverheidSansText" panose="020B0503040202060203" pitchFamily="34" charset="0"/>
              </a:rPr>
              <a:t>kansfunctie</a:t>
            </a:r>
            <a:r>
              <a:rPr lang="nl-NL" sz="2400" dirty="0" smtClean="0">
                <a:latin typeface="RijksoverheidSansText" panose="020B0503040202060203" pitchFamily="34" charset="0"/>
              </a:rPr>
              <a:t> en de grafische rekenmachine.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sz="2400" dirty="0">
              <a:latin typeface="RijksoverheidSansText" panose="020B0503040202060203" pitchFamily="34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College 4a: </a:t>
            </a:r>
            <a:r>
              <a:rPr lang="en-US" dirty="0" err="1" smtClean="0"/>
              <a:t>binomiale</a:t>
            </a:r>
            <a:r>
              <a:rPr lang="en-US" dirty="0" smtClean="0"/>
              <a:t> </a:t>
            </a:r>
            <a:r>
              <a:rPr lang="en-US" dirty="0" err="1" smtClean="0"/>
              <a:t>verdeling</a:t>
            </a:r>
            <a:r>
              <a:rPr lang="en-US" dirty="0" smtClean="0"/>
              <a:t> (1/2)</a:t>
            </a:r>
            <a:endParaRPr lang="nl-N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b="1" dirty="0" err="1" smtClean="0"/>
              <a:t>Terugblik</a:t>
            </a:r>
            <a:r>
              <a:rPr lang="en-US" sz="2800" b="1" dirty="0" smtClean="0"/>
              <a:t>: </a:t>
            </a:r>
            <a:r>
              <a:rPr lang="en-US" sz="2800" b="1" dirty="0" err="1" smtClean="0"/>
              <a:t>welke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eigenschappen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heeft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een</a:t>
            </a:r>
            <a:r>
              <a:rPr lang="en-US" sz="2800" b="1" dirty="0" smtClean="0"/>
              <a:t> discrete </a:t>
            </a:r>
            <a:r>
              <a:rPr lang="en-US" sz="2800" b="1" dirty="0" err="1" smtClean="0"/>
              <a:t>kansvariabele</a:t>
            </a:r>
            <a:r>
              <a:rPr lang="en-US" sz="2800" b="1" dirty="0" smtClean="0"/>
              <a:t>? </a:t>
            </a:r>
            <a:endParaRPr lang="en-US" sz="28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827816" cy="4246562"/>
              </a:xfrm>
            </p:spPr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nl-NL" sz="2400" b="1" dirty="0" smtClean="0">
                    <a:latin typeface="RijksoverheidSansText" panose="020B0503040202060203" pitchFamily="34" charset="0"/>
                  </a:rPr>
                  <a:t>Uitkomstenruimte</a:t>
                </a:r>
                <a:r>
                  <a:rPr lang="nl-NL" sz="2400" dirty="0" smtClean="0">
                    <a:latin typeface="RijksoverheidSansText" panose="020B0503040202060203" pitchFamily="34" charset="0"/>
                  </a:rPr>
                  <a:t> bevat eindig / </a:t>
                </a:r>
                <a:r>
                  <a:rPr lang="nl-NL" sz="2400" i="1" dirty="0" smtClean="0">
                    <a:latin typeface="RijksoverheidSansText" panose="020B0503040202060203" pitchFamily="34" charset="0"/>
                  </a:rPr>
                  <a:t>overaftelbaar oneindig </a:t>
                </a:r>
                <a:r>
                  <a:rPr lang="nl-NL" sz="2400" dirty="0" smtClean="0">
                    <a:latin typeface="RijksoverheidSansText" panose="020B0503040202060203" pitchFamily="34" charset="0"/>
                  </a:rPr>
                  <a:t>veel mogelijke uitkomsten.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nl-NL" sz="2400" b="1" dirty="0">
                  <a:latin typeface="RijksoverheidSansText" panose="020B050304020206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nl-NL" sz="2400" b="1" dirty="0" smtClean="0">
                    <a:latin typeface="RijksoverheidSansText" panose="020B0503040202060203" pitchFamily="34" charset="0"/>
                  </a:rPr>
                  <a:t>Tellen / categoriseren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nl-NL" sz="2400" b="1" dirty="0">
                  <a:latin typeface="RijksoverheidSansText" panose="020B050304020206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nl-NL" sz="2400" b="1" dirty="0" smtClean="0">
                    <a:latin typeface="RijksoverheidSansText" panose="020B0503040202060203" pitchFamily="34" charset="0"/>
                  </a:rPr>
                  <a:t>Kansen berekenen met een </a:t>
                </a:r>
                <a:r>
                  <a:rPr lang="nl-NL" sz="2400" b="1" dirty="0" err="1" smtClean="0">
                    <a:latin typeface="RijksoverheidSansText" panose="020B0503040202060203" pitchFamily="34" charset="0"/>
                  </a:rPr>
                  <a:t>kansfunctie</a:t>
                </a:r>
                <a:r>
                  <a:rPr lang="nl-NL" sz="2400" b="1" dirty="0" smtClean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nl-NL" sz="2400" b="1" i="1" smtClean="0"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nl-NL" sz="2400" b="1" dirty="0" smtClean="0">
                    <a:latin typeface="RijksoverheidSansText" panose="020B0503040202060203" pitchFamily="34" charset="0"/>
                  </a:rPr>
                  <a:t>:</a:t>
                </a:r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nl-NL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nl-NL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nl-NL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nl-NL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endParaRPr lang="nl-NL" sz="2400" b="0" dirty="0" smtClean="0">
                  <a:latin typeface="RijksoverheidSansText" panose="020B0503040202060203" pitchFamily="34" charset="0"/>
                </a:endParaRPr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nl-NL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sz="2400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en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nl-NL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nl-NL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r>
                          <a:rPr lang="nl-NL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nl-NL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NL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nl-NL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nary>
                  </m:oMath>
                </a14:m>
                <a:endParaRPr lang="en-US" sz="2400" dirty="0" smtClean="0">
                  <a:latin typeface="RijksoverheidSansText" panose="020B0503040202060203" pitchFamily="34" charset="0"/>
                </a:endParaRPr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:endParaRPr lang="en-US" sz="2400" dirty="0">
                  <a:latin typeface="RijksoverheidSansText" panose="020B050304020206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b="1" dirty="0" err="1" smtClean="0">
                    <a:latin typeface="RijksoverheidSansText" panose="020B0503040202060203" pitchFamily="34" charset="0"/>
                  </a:rPr>
                  <a:t>Verwachtingswaarde</a:t>
                </a:r>
                <a:r>
                  <a:rPr lang="en-US" sz="2400" b="1" dirty="0" smtClean="0">
                    <a:latin typeface="RijksoverheidSansText" panose="020B0503040202060203" pitchFamily="34" charset="0"/>
                  </a:rPr>
                  <a:t>, </a:t>
                </a:r>
                <a:r>
                  <a:rPr lang="en-US" sz="2400" b="1" dirty="0" err="1" smtClean="0">
                    <a:latin typeface="RijksoverheidSansText" panose="020B0503040202060203" pitchFamily="34" charset="0"/>
                  </a:rPr>
                  <a:t>variantie</a:t>
                </a:r>
                <a:r>
                  <a:rPr lang="en-US" sz="2400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b="1" dirty="0" err="1" smtClean="0">
                    <a:latin typeface="RijksoverheidSansText" panose="020B0503040202060203" pitchFamily="34" charset="0"/>
                  </a:rPr>
                  <a:t>en</a:t>
                </a:r>
                <a:r>
                  <a:rPr lang="en-US" sz="2400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b="1" dirty="0" err="1" smtClean="0">
                    <a:latin typeface="RijksoverheidSansText" panose="020B0503040202060203" pitchFamily="34" charset="0"/>
                  </a:rPr>
                  <a:t>standaardafwijking</a:t>
                </a:r>
                <a:r>
                  <a:rPr lang="en-US" sz="2400" b="1" dirty="0" smtClean="0">
                    <a:latin typeface="RijksoverheidSansText" panose="020B0503040202060203" pitchFamily="34" charset="0"/>
                  </a:rPr>
                  <a:t>:</a:t>
                </a:r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nl-NL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nl-NL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nl-NL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r>
                          <a:rPr lang="nl-NL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nl-NL" sz="2400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nl-NL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nl-NL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nl-NL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nl-NL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nl-NL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nl-NL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2400" dirty="0" smtClean="0">
                  <a:latin typeface="RijksoverheidSansText" panose="020B0503040202060203" pitchFamily="34" charset="0"/>
                </a:endParaRPr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nl-NL" sz="2400" b="0" i="0" smtClean="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ctrlPr>
                          <a:rPr lang="nl-NL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nl-NL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nl-NL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nl-NL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nl-NL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nl-NL" sz="24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nl-NL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nl-NL" sz="2400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d>
                                  <m:dPr>
                                    <m:ctrlPr>
                                      <a:rPr lang="nl-NL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nl-NL" sz="24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nl-NL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nl-NL" sz="2400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nl-NL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nl-NL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nl-NL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nl-NL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nl-NL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nl-NL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nl-NL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nl-NL" sz="24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nl-NL" sz="2400" b="0" i="0" smtClean="0">
                            <a:latin typeface="Cambria Math" panose="02040503050406030204" pitchFamily="18" charset="0"/>
                          </a:rPr>
                          <m:t>Var</m:t>
                        </m:r>
                        <m:d>
                          <m:dPr>
                            <m:ctrlPr>
                              <a:rPr lang="nl-NL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NL" sz="2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rad>
                  </m:oMath>
                </a14:m>
                <a:r>
                  <a:rPr lang="en-US" sz="2400" dirty="0" smtClean="0">
                    <a:latin typeface="RijksoverheidSansText" panose="020B0503040202060203" pitchFamily="34" charset="0"/>
                  </a:rPr>
                  <a:t> 	</a:t>
                </a:r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:endParaRPr lang="en-US" sz="2400" dirty="0">
                  <a:latin typeface="RijksoverheidSansText" panose="020B0503040202060203" pitchFamily="34" charset="0"/>
                </a:endParaRPr>
              </a:p>
              <a:p>
                <a:r>
                  <a:rPr lang="en-US" sz="2400" dirty="0" smtClean="0">
                    <a:latin typeface="RijksoverheidSansText" panose="020B0503040202060203" pitchFamily="34" charset="0"/>
                  </a:rPr>
                  <a:t> </a:t>
                </a:r>
                <a:endParaRPr lang="en-US" sz="2400" dirty="0">
                  <a:latin typeface="RijksoverheidSansText" panose="020B0503040202060203" pitchFamily="34" charset="0"/>
                </a:endParaRPr>
              </a:p>
            </p:txBody>
          </p:sp>
        </mc:Choice>
        <mc:Fallback xmlns="">
          <p:sp>
            <p:nvSpPr>
              <p:cNvPr id="3" name="Tijdelijke aanduiding voor inhoud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827816" cy="4246562"/>
              </a:xfrm>
              <a:blipFill>
                <a:blip r:embed="rId3"/>
                <a:stretch>
                  <a:fillRect l="-1576" t="-2582" b="-124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College 4a: </a:t>
            </a:r>
            <a:r>
              <a:rPr lang="en-US" dirty="0" err="1" smtClean="0"/>
              <a:t>binomiale</a:t>
            </a:r>
            <a:r>
              <a:rPr lang="en-US" dirty="0" smtClean="0"/>
              <a:t> </a:t>
            </a:r>
            <a:r>
              <a:rPr lang="en-US" dirty="0" err="1" smtClean="0"/>
              <a:t>verdeling</a:t>
            </a:r>
            <a:r>
              <a:rPr lang="en-US" dirty="0" smtClean="0"/>
              <a:t> (1/2)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77796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00110"/>
          </a:xfrm>
        </p:spPr>
        <p:txBody>
          <a:bodyPr/>
          <a:lstStyle/>
          <a:p>
            <a:r>
              <a:rPr lang="en-US" dirty="0" smtClean="0"/>
              <a:t>Casus: </a:t>
            </a:r>
            <a:r>
              <a:rPr lang="en-US" dirty="0" err="1" smtClean="0"/>
              <a:t>bergoperaties</a:t>
            </a:r>
            <a:r>
              <a:rPr lang="en-US" dirty="0" smtClean="0"/>
              <a:t> van Mountain Leaders van het </a:t>
            </a:r>
            <a:r>
              <a:rPr lang="en-US" dirty="0" err="1" smtClean="0"/>
              <a:t>Korps</a:t>
            </a:r>
            <a:r>
              <a:rPr lang="en-US" dirty="0" smtClean="0"/>
              <a:t> </a:t>
            </a:r>
            <a:r>
              <a:rPr lang="en-US" dirty="0" err="1" smtClean="0"/>
              <a:t>Mariniers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" y="1773238"/>
            <a:ext cx="6291312" cy="4246562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RijksoverheidSansText" panose="020B0503040202060203" pitchFamily="34" charset="0"/>
              </a:rPr>
              <a:t>Tien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eenheden</a:t>
            </a:r>
            <a:r>
              <a:rPr lang="en-US" sz="2400" dirty="0">
                <a:latin typeface="RijksoverheidSansText" panose="020B0503040202060203" pitchFamily="34" charset="0"/>
              </a:rPr>
              <a:t> </a:t>
            </a:r>
            <a:r>
              <a:rPr lang="en-US" sz="2400" dirty="0" smtClean="0">
                <a:latin typeface="RijksoverheidSansText" panose="020B0503040202060203" pitchFamily="34" charset="0"/>
              </a:rPr>
              <a:t>van </a:t>
            </a:r>
            <a:r>
              <a:rPr lang="en-US" sz="2400" dirty="0">
                <a:latin typeface="RijksoverheidSansText" panose="020B0503040202060203" pitchFamily="34" charset="0"/>
              </a:rPr>
              <a:t>Mountain </a:t>
            </a:r>
            <a:r>
              <a:rPr lang="en-US" sz="2400" dirty="0" smtClean="0">
                <a:latin typeface="RijksoverheidSansText" panose="020B0503040202060203" pitchFamily="34" charset="0"/>
              </a:rPr>
              <a:t>Leaders in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een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gezamenlijke</a:t>
            </a:r>
            <a:r>
              <a:rPr lang="en-US" sz="2400" dirty="0" smtClean="0">
                <a:latin typeface="RijksoverheidSansText" panose="020B0503040202060203" pitchFamily="34" charset="0"/>
              </a:rPr>
              <a:t> NAVO-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oefening</a:t>
            </a:r>
            <a:r>
              <a:rPr lang="en-US" sz="2400" dirty="0" smtClean="0">
                <a:latin typeface="RijksoverheidSansText" panose="020B0503040202060203" pitchFamily="34" charset="0"/>
              </a:rPr>
              <a:t> in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Noorwegen</a:t>
            </a:r>
            <a:r>
              <a:rPr lang="en-US" sz="2400" dirty="0" smtClean="0">
                <a:latin typeface="RijksoverheidSansText" panose="020B0503040202060203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 smtClean="0">
              <a:latin typeface="RijksoverheidSansText" panose="020B050304020206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 smtClean="0">
                <a:latin typeface="RijksoverheidSansText" panose="020B0503040202060203" pitchFamily="34" charset="0"/>
              </a:rPr>
              <a:t>Doel</a:t>
            </a:r>
            <a:r>
              <a:rPr lang="en-US" sz="2400" b="1" dirty="0" smtClean="0">
                <a:latin typeface="RijksoverheidSansText" panose="020B0503040202060203" pitchFamily="34" charset="0"/>
              </a:rPr>
              <a:t>: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een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verplaatsing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uitvoeren</a:t>
            </a:r>
            <a:r>
              <a:rPr lang="en-US" sz="2400" dirty="0" smtClean="0">
                <a:latin typeface="RijksoverheidSansText" panose="020B0503040202060203" pitchFamily="34" charset="0"/>
              </a:rPr>
              <a:t> over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een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bergpas</a:t>
            </a:r>
            <a:r>
              <a:rPr lang="en-US" sz="2400" dirty="0" smtClean="0">
                <a:latin typeface="RijksoverheidSansText" panose="020B0503040202060203" pitchFamily="34" charset="0"/>
              </a:rPr>
              <a:t>,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ongezien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en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binnen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een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bepaalde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tijd</a:t>
            </a:r>
            <a:r>
              <a:rPr lang="en-US" sz="2400" dirty="0" smtClean="0">
                <a:latin typeface="RijksoverheidSansText" panose="020B0503040202060203" pitchFamily="34" charset="0"/>
              </a:rPr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RijksoverheidSansText" panose="020B050304020206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 smtClean="0">
                <a:latin typeface="RijksoverheidSansText" panose="020B0503040202060203" pitchFamily="34" charset="0"/>
              </a:rPr>
              <a:t>Schatting</a:t>
            </a:r>
            <a:r>
              <a:rPr lang="en-US" sz="2400" b="1" dirty="0" smtClean="0">
                <a:latin typeface="RijksoverheidSansText" panose="020B0503040202060203" pitchFamily="34" charset="0"/>
              </a:rPr>
              <a:t> op basis van </a:t>
            </a:r>
            <a:r>
              <a:rPr lang="en-US" sz="2400" b="1" dirty="0" err="1" smtClean="0">
                <a:latin typeface="RijksoverheidSansText" panose="020B0503040202060203" pitchFamily="34" charset="0"/>
              </a:rPr>
              <a:t>historische</a:t>
            </a:r>
            <a:r>
              <a:rPr lang="en-US" sz="2400" b="1" dirty="0" smtClean="0">
                <a:latin typeface="RijksoverheidSansText" panose="020B0503040202060203" pitchFamily="34" charset="0"/>
              </a:rPr>
              <a:t> data</a:t>
            </a:r>
            <a:r>
              <a:rPr lang="en-US" sz="2400" dirty="0" smtClean="0">
                <a:latin typeface="RijksoverheidSansText" panose="020B0503040202060203" pitchFamily="34" charset="0"/>
              </a:rPr>
              <a:t>: </a:t>
            </a:r>
          </a:p>
          <a:p>
            <a:pPr marL="717550" lvl="1" indent="-342900">
              <a:buFont typeface="Arial" panose="020B0604020202020204" pitchFamily="34" charset="0"/>
              <a:buChar char="•"/>
            </a:pPr>
            <a:r>
              <a:rPr lang="en-US" sz="2400" dirty="0" err="1" smtClean="0">
                <a:latin typeface="RijksoverheidSansText" panose="020B0503040202060203" pitchFamily="34" charset="0"/>
              </a:rPr>
              <a:t>Iedere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eenheid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voert</a:t>
            </a:r>
            <a:r>
              <a:rPr lang="en-US" sz="2400" dirty="0" smtClean="0">
                <a:latin typeface="RijksoverheidSansText" panose="020B0503040202060203" pitchFamily="34" charset="0"/>
              </a:rPr>
              <a:t> de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verplaatsing</a:t>
            </a:r>
            <a:r>
              <a:rPr lang="en-US" sz="2400" dirty="0" smtClean="0">
                <a:latin typeface="RijksoverheidSansText" panose="020B0503040202060203" pitchFamily="34" charset="0"/>
              </a:rPr>
              <a:t> met 75</a:t>
            </a:r>
            <a:r>
              <a:rPr lang="en-US" sz="2400" dirty="0">
                <a:latin typeface="RijksoverheidSansText" panose="020B0503040202060203" pitchFamily="34" charset="0"/>
              </a:rPr>
              <a:t>%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kans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succesvol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uit</a:t>
            </a:r>
            <a:r>
              <a:rPr lang="en-US" sz="2400" dirty="0" smtClean="0">
                <a:latin typeface="RijksoverheidSansText" panose="020B0503040202060203" pitchFamily="34" charset="0"/>
              </a:rPr>
              <a:t> (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los</a:t>
            </a:r>
            <a:r>
              <a:rPr lang="en-US" sz="2400" dirty="0" smtClean="0">
                <a:latin typeface="RijksoverheidSansText" panose="020B0503040202060203" pitchFamily="34" charset="0"/>
              </a:rPr>
              <a:t> van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elkaar</a:t>
            </a:r>
            <a:r>
              <a:rPr lang="en-US" sz="2400" dirty="0" smtClean="0">
                <a:latin typeface="RijksoverheidSansText" panose="020B0503040202060203" pitchFamily="34" charset="0"/>
              </a:rPr>
              <a:t>).</a:t>
            </a:r>
            <a:endParaRPr lang="en-US" sz="2400" dirty="0">
              <a:latin typeface="RijksoverheidSansText" panose="020B0503040202060203" pitchFamily="34" charset="0"/>
            </a:endParaRPr>
          </a:p>
          <a:p>
            <a:endParaRPr lang="en-US" sz="2400" b="1" dirty="0" smtClean="0">
              <a:latin typeface="RijksoverheidSansText" panose="020B0503040202060203" pitchFamily="34" charset="0"/>
            </a:endParaRPr>
          </a:p>
          <a:p>
            <a:pPr marL="0" indent="0">
              <a:buNone/>
            </a:pPr>
            <a:r>
              <a:rPr lang="nl-NL" sz="2400" b="1" dirty="0" smtClean="0"/>
              <a:t>Wat kunnen we zeggen over het aantal eenheden dat de verplaatsing succesvol uitvoert?</a:t>
            </a:r>
            <a:endParaRPr lang="en-US" sz="2400" b="1" dirty="0" smtClean="0"/>
          </a:p>
          <a:p>
            <a:pPr algn="ctr"/>
            <a:endParaRPr lang="en-US" sz="2400" b="1" dirty="0" smtClean="0"/>
          </a:p>
          <a:p>
            <a:pPr algn="ctr"/>
            <a:endParaRPr lang="nl-NL" sz="2400" b="1" dirty="0" smtClean="0"/>
          </a:p>
          <a:p>
            <a:pPr algn="ctr"/>
            <a:endParaRPr lang="en-US" sz="2400" b="1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College 4a: binomiale verdeling (1/2)</a:t>
            </a:r>
            <a:endParaRPr lang="nl-NL" dirty="0"/>
          </a:p>
        </p:txBody>
      </p:sp>
      <p:pic>
        <p:nvPicPr>
          <p:cNvPr id="4" name="Afbeelding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2144" y="2324513"/>
            <a:ext cx="4716016" cy="3144011"/>
          </a:xfrm>
          <a:prstGeom prst="rect">
            <a:avLst/>
          </a:prstGeom>
        </p:spPr>
      </p:pic>
      <p:sp>
        <p:nvSpPr>
          <p:cNvPr id="7" name="Tekstvak 6"/>
          <p:cNvSpPr txBox="1"/>
          <p:nvPr/>
        </p:nvSpPr>
        <p:spPr>
          <a:xfrm>
            <a:off x="7896200" y="5589240"/>
            <a:ext cx="374441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https://magazines.defensie.nl/defensiekrant/2015/17/mountain-leaders</a:t>
            </a:r>
          </a:p>
        </p:txBody>
      </p:sp>
    </p:spTree>
    <p:extLst>
      <p:ext uri="{BB962C8B-B14F-4D97-AF65-F5344CB8AC3E}">
        <p14:creationId xmlns:p14="http://schemas.microsoft.com/office/powerpoint/2010/main" val="550507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Diagram 9"/>
              <p:cNvGraphicFramePr/>
              <p:nvPr>
                <p:extLst/>
              </p:nvPr>
            </p:nvGraphicFramePr>
            <p:xfrm>
              <a:off x="539277" y="1265239"/>
              <a:ext cx="11269018" cy="5058627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 xmlns="">
          <p:graphicFrame>
            <p:nvGraphicFramePr>
              <p:cNvPr id="10" name="Diagram 9"/>
              <p:cNvGraphicFramePr/>
              <p:nvPr>
                <p:extLst>
                  <p:ext uri="{D42A27DB-BD31-4B8C-83A1-F6EECF244321}">
                    <p14:modId xmlns:p14="http://schemas.microsoft.com/office/powerpoint/2010/main" val="4020364875"/>
                  </p:ext>
                </p:extLst>
              </p:nvPr>
            </p:nvGraphicFramePr>
            <p:xfrm>
              <a:off x="539277" y="1265239"/>
              <a:ext cx="11269018" cy="5058627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</mc:Fallback>
      </mc:AlternateContent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smtClean="0"/>
              <a:t>Recap: </a:t>
            </a:r>
            <a:r>
              <a:rPr lang="en-US" b="1" dirty="0" err="1" smtClean="0"/>
              <a:t>kansexperiment</a:t>
            </a:r>
            <a:endParaRPr lang="nl-NL" b="1" dirty="0" smtClean="0"/>
          </a:p>
        </p:txBody>
      </p:sp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nl-NL" sz="2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7" name="Rounded Rectangle 6"/>
          <p:cNvSpPr/>
          <p:nvPr/>
        </p:nvSpPr>
        <p:spPr bwMode="auto">
          <a:xfrm>
            <a:off x="2135560" y="4221088"/>
            <a:ext cx="1800200" cy="792088"/>
          </a:xfrm>
          <a:prstGeom prst="round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b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nl-NL" sz="2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11824" y="3683175"/>
            <a:ext cx="3672408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ijksoverheidSansText" panose="020B0503040202060203" pitchFamily="34" charset="0"/>
                <a:ea typeface="+mn-ea"/>
                <a:cs typeface="+mn-cs"/>
              </a:rPr>
              <a:t>Lab-experiment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ijksoverheidSansText" panose="020B0503040202060203" pitchFamily="34" charset="0"/>
                <a:ea typeface="+mn-ea"/>
                <a:cs typeface="+mn-cs"/>
              </a:rPr>
              <a:t>Meting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ijksoverheidSansText" panose="020B0503040202060203" pitchFamily="34" charset="0"/>
                <a:ea typeface="+mn-ea"/>
                <a:cs typeface="+mn-cs"/>
              </a:rPr>
              <a:t>Afname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ijksoverheidSansText" panose="020B0503040202060203" pitchFamily="34" charset="0"/>
                <a:ea typeface="+mn-ea"/>
                <a:cs typeface="+mn-cs"/>
              </a:rPr>
              <a:t> van </a:t>
            </a: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ijksoverheidSansText" panose="020B0503040202060203" pitchFamily="34" charset="0"/>
                <a:ea typeface="+mn-ea"/>
                <a:cs typeface="+mn-cs"/>
              </a:rPr>
              <a:t>een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ijksoverheidSansText" panose="020B0503040202060203" pitchFamily="34" charset="0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ijksoverheidSansText" panose="020B0503040202060203" pitchFamily="34" charset="0"/>
                <a:ea typeface="+mn-ea"/>
                <a:cs typeface="+mn-cs"/>
              </a:rPr>
              <a:t>enquête</a:t>
            </a:r>
            <a:endParaRPr kumimoji="0" lang="en-US" sz="22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ijksoverheidSansText" panose="020B0503040202060203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ijksoverheidSansText" panose="020B0503040202060203" pitchFamily="34" charset="0"/>
                <a:ea typeface="+mn-ea"/>
                <a:cs typeface="+mn-cs"/>
              </a:rPr>
              <a:t>Simulatie</a:t>
            </a:r>
            <a:endParaRPr kumimoji="0" lang="en-US" sz="22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ijksoverheidSansText" panose="020B0503040202060203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ijksoverheidSansText" panose="020B0503040202060203" pitchFamily="34" charset="0"/>
                <a:ea typeface="+mn-ea"/>
                <a:cs typeface="+mn-cs"/>
              </a:rPr>
              <a:t>…</a:t>
            </a:r>
            <a:endParaRPr kumimoji="0" lang="nl-NL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ijksoverheidSansText" panose="020B0503040202060203" pitchFamily="34" charset="0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95400" y="5819050"/>
            <a:ext cx="1180931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ijksoverheidSansText"/>
                <a:ea typeface="+mn-ea"/>
                <a:cs typeface="+mn-cs"/>
              </a:rPr>
              <a:t>Kansvariabele</a:t>
            </a:r>
            <a:r>
              <a:rPr kumimoji="0" lang="en-US" sz="2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ijksoverheidSansText"/>
                <a:ea typeface="+mn-ea"/>
                <a:cs typeface="+mn-cs"/>
              </a:rPr>
              <a:t>: </a:t>
            </a: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ijksoverheidSansText"/>
                <a:ea typeface="+mn-ea"/>
                <a:cs typeface="+mn-cs"/>
              </a:rPr>
              <a:t>aan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ijksoverheidSansText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ijksoverheidSansText"/>
                <a:ea typeface="+mn-ea"/>
                <a:cs typeface="+mn-cs"/>
              </a:rPr>
              <a:t>toeval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ijksoverheidSansText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ijksoverheidSansText"/>
                <a:ea typeface="+mn-ea"/>
                <a:cs typeface="+mn-cs"/>
              </a:rPr>
              <a:t>onderhevige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ijksoverheidSansText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ijksoverheidSansText"/>
                <a:ea typeface="+mn-ea"/>
                <a:cs typeface="+mn-cs"/>
              </a:rPr>
              <a:t>variabele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ijksoverheidSansText"/>
                <a:ea typeface="+mn-ea"/>
                <a:cs typeface="+mn-cs"/>
              </a:rPr>
              <a:t> die </a:t>
            </a: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ijksoverheidSansText"/>
                <a:ea typeface="+mn-ea"/>
                <a:cs typeface="+mn-cs"/>
              </a:rPr>
              <a:t>tijdens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ijksoverheidSansText"/>
                <a:ea typeface="+mn-ea"/>
                <a:cs typeface="+mn-cs"/>
              </a:rPr>
              <a:t> het experiment </a:t>
            </a: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ijksoverheidSansText"/>
                <a:ea typeface="+mn-ea"/>
                <a:cs typeface="+mn-cs"/>
              </a:rPr>
              <a:t>wordt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ijksoverheidSansText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ijksoverheidSansText"/>
                <a:ea typeface="+mn-ea"/>
                <a:cs typeface="+mn-cs"/>
              </a:rPr>
              <a:t>gemeten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ijksoverheidSansText"/>
                <a:ea typeface="+mn-ea"/>
                <a:cs typeface="+mn-cs"/>
              </a:rPr>
              <a:t>.</a:t>
            </a:r>
            <a:endParaRPr kumimoji="0" lang="nl-NL" sz="2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ijksoverheidSansText"/>
              <a:ea typeface="+mn-ea"/>
              <a:cs typeface="+mn-cs"/>
            </a:endParaRPr>
          </a:p>
        </p:txBody>
      </p:sp>
      <p:sp>
        <p:nvSpPr>
          <p:cNvPr id="9" name="Date Placeholder 1"/>
          <p:cNvSpPr>
            <a:spLocks noGrp="1"/>
          </p:cNvSpPr>
          <p:nvPr>
            <p:ph type="dt" sz="quarter" idx="10"/>
          </p:nvPr>
        </p:nvSpPr>
        <p:spPr bwMode="auto">
          <a:xfrm>
            <a:off x="9048328" y="6448251"/>
            <a:ext cx="2881249" cy="365125"/>
          </a:xfrm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College 4a: </a:t>
            </a:r>
            <a:r>
              <a:rPr kumimoji="0" lang="en-US" sz="11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binomiale</a:t>
            </a:r>
            <a:r>
              <a:rPr kumimoji="0" lang="en-US" sz="11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en-US" sz="11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verdeling</a:t>
            </a:r>
            <a:r>
              <a:rPr kumimoji="0" lang="en-US" sz="11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(1/2)</a:t>
            </a:r>
            <a:endParaRPr kumimoji="0" lang="nl-NL" sz="1100" b="0" i="0" u="none" strike="noStrike" kern="120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6673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Discrete </a:t>
            </a:r>
            <a:r>
              <a:rPr lang="en-US" dirty="0" err="1" smtClean="0"/>
              <a:t>kansvariabele</a:t>
            </a:r>
            <a:r>
              <a:rPr lang="en-US" dirty="0" smtClean="0"/>
              <a:t>: </a:t>
            </a:r>
            <a:r>
              <a:rPr lang="en-US" dirty="0" err="1" smtClean="0"/>
              <a:t>succes</a:t>
            </a:r>
            <a:r>
              <a:rPr lang="en-US" dirty="0" smtClean="0"/>
              <a:t> van </a:t>
            </a:r>
            <a:r>
              <a:rPr lang="en-US" dirty="0" err="1" smtClean="0"/>
              <a:t>een</a:t>
            </a:r>
            <a:r>
              <a:rPr lang="en-US" dirty="0" smtClean="0"/>
              <a:t> </a:t>
            </a:r>
            <a:r>
              <a:rPr lang="en-US" dirty="0" err="1" smtClean="0"/>
              <a:t>eenheid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827816" cy="4246562"/>
              </a:xfrm>
            </p:spPr>
            <p:txBody>
              <a:bodyPr/>
              <a:lstStyle/>
              <a:p>
                <a:r>
                  <a:rPr lang="nl-NL" sz="2400" dirty="0" smtClean="0">
                    <a:latin typeface="RijksoverheidSansText" panose="020B0503040202060203" pitchFamily="34" charset="0"/>
                  </a:rPr>
                  <a:t>Eerst beperken we ons tot het geval van een enkele eenheid:</a:t>
                </a:r>
                <a:endParaRPr lang="nl-NL" sz="2400" b="0" dirty="0" smtClean="0">
                  <a:latin typeface="RijksoverheidSansText" panose="020B0503040202060203" pitchFamily="34" charset="0"/>
                </a:endParaRPr>
              </a:p>
              <a:p>
                <a:endParaRPr lang="nl-NL" sz="2400" b="0" i="1" dirty="0" smtClean="0">
                  <a:latin typeface="Cambria Math" panose="02040503050406030204" pitchFamily="18" charset="0"/>
                </a:endParaRPr>
              </a:p>
              <a:p>
                <a:r>
                  <a:rPr lang="en-US" sz="2400" b="1" dirty="0" smtClean="0">
                    <a:latin typeface="RijksoverheidSansText" panose="020B0503040202060203" pitchFamily="34" charset="0"/>
                  </a:rPr>
                  <a:t>“</a:t>
                </a:r>
                <a:r>
                  <a:rPr lang="en-US" sz="2400" b="1" dirty="0" err="1" smtClean="0">
                    <a:latin typeface="RijksoverheidSansText" panose="020B0503040202060203" pitchFamily="34" charset="0"/>
                  </a:rPr>
                  <a:t>Heeft</a:t>
                </a:r>
                <a:r>
                  <a:rPr lang="en-US" sz="2400" b="1" dirty="0" smtClean="0">
                    <a:latin typeface="RijksoverheidSansText" panose="020B0503040202060203" pitchFamily="34" charset="0"/>
                  </a:rPr>
                  <a:t> de </a:t>
                </a:r>
                <a:r>
                  <a:rPr lang="en-US" sz="2400" b="1" dirty="0" err="1" smtClean="0">
                    <a:latin typeface="RijksoverheidSansText" panose="020B0503040202060203" pitchFamily="34" charset="0"/>
                  </a:rPr>
                  <a:t>eenheid</a:t>
                </a:r>
                <a:r>
                  <a:rPr lang="en-US" sz="2400" b="1" dirty="0" smtClean="0">
                    <a:latin typeface="RijksoverheidSansText" panose="020B0503040202060203" pitchFamily="34" charset="0"/>
                  </a:rPr>
                  <a:t> de </a:t>
                </a:r>
                <a:r>
                  <a:rPr lang="en-US" sz="2400" b="1" dirty="0" err="1" smtClean="0">
                    <a:latin typeface="RijksoverheidSansText" panose="020B0503040202060203" pitchFamily="34" charset="0"/>
                  </a:rPr>
                  <a:t>verplaatsing</a:t>
                </a:r>
                <a:r>
                  <a:rPr lang="en-US" sz="2400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b="1" dirty="0" err="1" smtClean="0">
                    <a:latin typeface="RijksoverheidSansText" panose="020B0503040202060203" pitchFamily="34" charset="0"/>
                  </a:rPr>
                  <a:t>ongezien</a:t>
                </a:r>
                <a:r>
                  <a:rPr lang="en-US" sz="2400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b="1" dirty="0" err="1" smtClean="0">
                    <a:latin typeface="RijksoverheidSansText" panose="020B0503040202060203" pitchFamily="34" charset="0"/>
                  </a:rPr>
                  <a:t>en</a:t>
                </a:r>
                <a:r>
                  <a:rPr lang="en-US" sz="2400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b="1" dirty="0" err="1" smtClean="0">
                    <a:latin typeface="RijksoverheidSansText" panose="020B0503040202060203" pitchFamily="34" charset="0"/>
                  </a:rPr>
                  <a:t>binnen</a:t>
                </a:r>
                <a:r>
                  <a:rPr lang="en-US" sz="2400" b="1" dirty="0" smtClean="0">
                    <a:latin typeface="RijksoverheidSansText" panose="020B0503040202060203" pitchFamily="34" charset="0"/>
                  </a:rPr>
                  <a:t> de </a:t>
                </a:r>
                <a:r>
                  <a:rPr lang="en-US" sz="2400" b="1" dirty="0" err="1" smtClean="0">
                    <a:latin typeface="RijksoverheidSansText" panose="020B0503040202060203" pitchFamily="34" charset="0"/>
                  </a:rPr>
                  <a:t>tijd</a:t>
                </a:r>
                <a:r>
                  <a:rPr lang="en-US" sz="2400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b="1" dirty="0" err="1" smtClean="0">
                    <a:latin typeface="RijksoverheidSansText" panose="020B0503040202060203" pitchFamily="34" charset="0"/>
                  </a:rPr>
                  <a:t>uitgevoerd</a:t>
                </a:r>
                <a:r>
                  <a:rPr lang="en-US" sz="2400" b="1" dirty="0" smtClean="0">
                    <a:latin typeface="RijksoverheidSansText" panose="020B0503040202060203" pitchFamily="34" charset="0"/>
                  </a:rPr>
                  <a:t>?”</a:t>
                </a:r>
              </a:p>
              <a:p>
                <a:endParaRPr lang="nl-NL" sz="2400" dirty="0" smtClean="0">
                  <a:latin typeface="RijksoverheidSansText" panose="020B0503040202060203" pitchFamily="34" charset="0"/>
                </a:endParaRPr>
              </a:p>
              <a:p>
                <a:r>
                  <a:rPr lang="nl-NL" sz="2400" dirty="0" smtClean="0">
                    <a:latin typeface="RijksoverheidSansText" panose="020B0503040202060203" pitchFamily="34" charset="0"/>
                  </a:rPr>
                  <a:t>Het antwoord op deze vraag is een </a:t>
                </a:r>
                <a:r>
                  <a:rPr lang="en-US" sz="2400" b="1" dirty="0">
                    <a:solidFill>
                      <a:schemeClr val="accent1"/>
                    </a:solidFill>
                    <a:latin typeface="RijksoverheidSansText" panose="020B0503040202060203" pitchFamily="34" charset="0"/>
                  </a:rPr>
                  <a:t>discrete </a:t>
                </a:r>
                <a:r>
                  <a:rPr lang="en-US" sz="2400" b="1" dirty="0" err="1">
                    <a:solidFill>
                      <a:schemeClr val="accent1"/>
                    </a:solidFill>
                    <a:latin typeface="RijksoverheidSansText" panose="020B0503040202060203" pitchFamily="34" charset="0"/>
                  </a:rPr>
                  <a:t>kansvariabele</a:t>
                </a:r>
                <a:r>
                  <a:rPr lang="nl-NL" sz="2400" dirty="0" smtClean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nl-NL" sz="2400" b="0" dirty="0" smtClean="0">
                  <a:latin typeface="RijksoverheidSansText" panose="020B050304020206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nl-NL" sz="2400" b="1" dirty="0" smtClean="0">
                    <a:solidFill>
                      <a:schemeClr val="accent1"/>
                    </a:solidFill>
                    <a:latin typeface="RijksoverheidSansText" panose="020B0503040202060203" pitchFamily="34" charset="0"/>
                  </a:rPr>
                  <a:t>Uitkomstenruimte </a:t>
                </a:r>
                <a:r>
                  <a:rPr lang="nl-NL" sz="2400" dirty="0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bevat slechts twee uitkomsten:</a:t>
                </a:r>
                <a:r>
                  <a:rPr lang="nl-NL" sz="2400" b="1" dirty="0" smtClean="0">
                    <a:solidFill>
                      <a:schemeClr val="accent1"/>
                    </a:solidFill>
                    <a:latin typeface="RijksoverheidSansText" panose="020B0503040202060203" pitchFamily="34" charset="0"/>
                  </a:rPr>
                  <a:t> </a:t>
                </a:r>
                <a:r>
                  <a:rPr lang="nl-NL" sz="2400" dirty="0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0 (geen succes) en 1 (wel succes)</a:t>
                </a:r>
                <a:endParaRPr lang="en-US" sz="2400" dirty="0">
                  <a:solidFill>
                    <a:schemeClr val="tx1"/>
                  </a:solidFill>
                  <a:latin typeface="RijksoverheidSansText" panose="020B050304020206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b="1" dirty="0" err="1" smtClean="0">
                    <a:solidFill>
                      <a:schemeClr val="accent1"/>
                    </a:solidFill>
                    <a:latin typeface="RijksoverheidSansText" panose="020B0503040202060203" pitchFamily="34" charset="0"/>
                  </a:rPr>
                  <a:t>Kansverdeling</a:t>
                </a:r>
                <a:r>
                  <a:rPr lang="en-US" sz="2400" b="1" dirty="0">
                    <a:solidFill>
                      <a:schemeClr val="accent1"/>
                    </a:solidFill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err="1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wordt</a:t>
                </a:r>
                <a:r>
                  <a:rPr lang="en-US" sz="2400" dirty="0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err="1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gegeven</a:t>
                </a:r>
                <a:r>
                  <a:rPr lang="en-US" sz="2400" dirty="0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 door:</a:t>
                </a:r>
              </a:p>
              <a:p>
                <a:endParaRPr lang="en-US" sz="2400" dirty="0" smtClean="0">
                  <a:latin typeface="RijksoverheidSansText" panose="020B0503040202060203" pitchFamily="34" charset="0"/>
                </a:endParaRPr>
              </a:p>
              <a:p>
                <a:endParaRPr lang="en-US" sz="2400" dirty="0">
                  <a:latin typeface="RijksoverheidSansText" panose="020B0503040202060203" pitchFamily="34" charset="0"/>
                </a:endParaRPr>
              </a:p>
              <a:p>
                <a:endParaRPr lang="en-US" sz="2400" dirty="0" smtClean="0">
                  <a:latin typeface="RijksoverheidSansText" panose="020B050304020206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827816" cy="4246562"/>
              </a:xfrm>
              <a:blipFill>
                <a:blip r:embed="rId2"/>
                <a:stretch>
                  <a:fillRect l="-1688" t="-2296" r="-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College 4a: binomiale verdeling (1/2)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0769115"/>
                  </p:ext>
                </p:extLst>
              </p:nvPr>
            </p:nvGraphicFramePr>
            <p:xfrm>
              <a:off x="3107689" y="5013176"/>
              <a:ext cx="5777655" cy="736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37321">
                      <a:extLst>
                        <a:ext uri="{9D8B030D-6E8A-4147-A177-3AD203B41FA5}">
                          <a16:colId xmlns:a16="http://schemas.microsoft.com/office/drawing/2014/main" val="3764887803"/>
                        </a:ext>
                      </a:extLst>
                    </a:gridCol>
                    <a:gridCol w="1920167">
                      <a:extLst>
                        <a:ext uri="{9D8B030D-6E8A-4147-A177-3AD203B41FA5}">
                          <a16:colId xmlns:a16="http://schemas.microsoft.com/office/drawing/2014/main" val="3550144982"/>
                        </a:ext>
                      </a:extLst>
                    </a:gridCol>
                    <a:gridCol w="1920167">
                      <a:extLst>
                        <a:ext uri="{9D8B030D-6E8A-4147-A177-3AD203B41FA5}">
                          <a16:colId xmlns:a16="http://schemas.microsoft.com/office/drawing/2014/main" val="2375152560"/>
                        </a:ext>
                      </a:extLst>
                    </a:gridCol>
                  </a:tblGrid>
                  <a:tr h="29883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018544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  <m:t>1−0.75=0.25</m:t>
                                </m:r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  <m:t>0.75</m:t>
                                </m:r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10152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0769115"/>
                  </p:ext>
                </p:extLst>
              </p:nvPr>
            </p:nvGraphicFramePr>
            <p:xfrm>
              <a:off x="3107689" y="5013176"/>
              <a:ext cx="5777655" cy="736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37321">
                      <a:extLst>
                        <a:ext uri="{9D8B030D-6E8A-4147-A177-3AD203B41FA5}">
                          <a16:colId xmlns:a16="http://schemas.microsoft.com/office/drawing/2014/main" val="3764887803"/>
                        </a:ext>
                      </a:extLst>
                    </a:gridCol>
                    <a:gridCol w="1920167">
                      <a:extLst>
                        <a:ext uri="{9D8B030D-6E8A-4147-A177-3AD203B41FA5}">
                          <a16:colId xmlns:a16="http://schemas.microsoft.com/office/drawing/2014/main" val="3550144982"/>
                        </a:ext>
                      </a:extLst>
                    </a:gridCol>
                    <a:gridCol w="1920167">
                      <a:extLst>
                        <a:ext uri="{9D8B030D-6E8A-4147-A177-3AD203B41FA5}">
                          <a16:colId xmlns:a16="http://schemas.microsoft.com/office/drawing/2014/main" val="2375152560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14" t="-1639" r="-199686" b="-1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949" t="-1639" r="-100949" b="-1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1587" t="-1639" r="-1270" b="-1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018544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14" t="-101639" r="-199686" b="-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949" t="-101639" r="-100949" b="-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1587" t="-101639" r="-1270" b="-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015296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88087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Bernoulli-experiment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755808" cy="4246562"/>
              </a:xfrm>
            </p:spPr>
            <p:txBody>
              <a:bodyPr/>
              <a:lstStyle/>
              <a:p>
                <a:r>
                  <a:rPr lang="en-US" sz="2400" dirty="0" err="1" smtClean="0">
                    <a:latin typeface="RijksoverheidSansText" panose="020B0503040202060203" pitchFamily="34" charset="0"/>
                  </a:rPr>
                  <a:t>Dit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is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een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voorbeeld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van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een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b="1" dirty="0" smtClean="0">
                    <a:solidFill>
                      <a:schemeClr val="accent1"/>
                    </a:solidFill>
                    <a:latin typeface="RijksoverheidSansText" panose="020B0503040202060203" pitchFamily="34" charset="0"/>
                  </a:rPr>
                  <a:t>Bernoulli-experiment. </a:t>
                </a:r>
                <a:endParaRPr lang="en-US" sz="2400" b="1" dirty="0">
                  <a:solidFill>
                    <a:schemeClr val="accent1"/>
                  </a:solidFill>
                  <a:latin typeface="RijksoverheidSansText" panose="020B0503040202060203" pitchFamily="34" charset="0"/>
                </a:endParaRPr>
              </a:p>
              <a:p>
                <a:r>
                  <a:rPr lang="nl-NL" sz="2400" dirty="0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In algemene zin kunnen we het zien als het antwoord op een “ja/nee-vraag”. </a:t>
                </a:r>
              </a:p>
              <a:p>
                <a:endParaRPr lang="en-US" sz="2400" b="1" dirty="0">
                  <a:latin typeface="RijksoverheidSansText" panose="020B050304020206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b="1" dirty="0" smtClean="0">
                    <a:latin typeface="RijksoverheidSansText" panose="020B0503040202060203" pitchFamily="34" charset="0"/>
                  </a:rPr>
                  <a:t>Twee </a:t>
                </a:r>
                <a:r>
                  <a:rPr lang="en-US" sz="2400" b="1" dirty="0" err="1" smtClean="0">
                    <a:latin typeface="RijksoverheidSansText" panose="020B0503040202060203" pitchFamily="34" charset="0"/>
                  </a:rPr>
                  <a:t>uitkomsten</a:t>
                </a:r>
                <a:r>
                  <a:rPr lang="en-US" sz="2400" dirty="0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: “</a:t>
                </a:r>
                <a:r>
                  <a:rPr lang="en-US" sz="2400" dirty="0" err="1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succes</a:t>
                </a:r>
                <a:r>
                  <a:rPr lang="en-US" sz="2400" dirty="0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” (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) </a:t>
                </a:r>
                <a:r>
                  <a:rPr lang="en-US" sz="2400" dirty="0" err="1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en</a:t>
                </a:r>
                <a:r>
                  <a:rPr lang="en-US" sz="2400" dirty="0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 “</a:t>
                </a:r>
                <a:r>
                  <a:rPr lang="en-US" sz="2400" dirty="0" err="1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mislukking</a:t>
                </a:r>
                <a:r>
                  <a:rPr lang="en-US" sz="2400" dirty="0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” (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b="1" dirty="0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Parameter (</a:t>
                </a:r>
                <a:r>
                  <a:rPr lang="en-US" sz="2400" b="1" dirty="0" err="1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eigenschap</a:t>
                </a:r>
                <a:r>
                  <a:rPr lang="en-US" sz="2400" b="1" dirty="0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 van de </a:t>
                </a:r>
                <a:r>
                  <a:rPr lang="en-US" sz="2400" b="1" dirty="0" err="1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kansverdeling</a:t>
                </a:r>
                <a:r>
                  <a:rPr lang="en-US" sz="2400" b="1" dirty="0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): </a:t>
                </a:r>
                <a:r>
                  <a:rPr lang="en-US" sz="2400" dirty="0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de </a:t>
                </a:r>
                <a:r>
                  <a:rPr lang="en-US" sz="2400" dirty="0" err="1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succeskans</a:t>
                </a:r>
                <a:r>
                  <a:rPr lang="en-US" sz="2400" dirty="0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sz="2400" i="1" dirty="0" smtClean="0">
                  <a:latin typeface="RijksoverheidSansText" panose="020B0503040202060203" pitchFamily="34" charset="0"/>
                </a:endParaRPr>
              </a:p>
              <a:p>
                <a:endParaRPr lang="en-US" sz="2400" dirty="0">
                  <a:latin typeface="RijksoverheidSansText" panose="020B0503040202060203" pitchFamily="34" charset="0"/>
                </a:endParaRPr>
              </a:p>
              <a:p>
                <a:endParaRPr lang="en-US" sz="2400" dirty="0" smtClean="0">
                  <a:latin typeface="RijksoverheidSansText" panose="020B0503040202060203" pitchFamily="34" charset="0"/>
                </a:endParaRPr>
              </a:p>
              <a:p>
                <a:endParaRPr lang="en-US" sz="2400" b="0" dirty="0" smtClean="0">
                  <a:latin typeface="RijksoverheidSansText" panose="020B0503040202060203" pitchFamily="34" charset="0"/>
                </a:endParaRPr>
              </a:p>
              <a:p>
                <a:r>
                  <a:rPr lang="en-US" sz="2400" b="0" dirty="0" smtClean="0">
                    <a:latin typeface="RijksoverheidSansText" panose="020B0503040202060203" pitchFamily="34" charset="0"/>
                  </a:rPr>
                  <a:t>De </a:t>
                </a:r>
                <a:r>
                  <a:rPr lang="en-US" sz="2400" b="0" dirty="0" err="1" smtClean="0">
                    <a:latin typeface="RijksoverheidSansText" panose="020B0503040202060203" pitchFamily="34" charset="0"/>
                  </a:rPr>
                  <a:t>kansvariabele</a:t>
                </a:r>
                <a:r>
                  <a:rPr lang="en-US" sz="2400" b="0" dirty="0" smtClean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b="0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b="0" dirty="0" err="1" smtClean="0">
                    <a:latin typeface="RijksoverheidSansText" panose="020B0503040202060203" pitchFamily="34" charset="0"/>
                  </a:rPr>
                  <a:t>wordt</a:t>
                </a:r>
                <a:r>
                  <a:rPr lang="en-US" sz="2400" b="0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b="0" dirty="0" err="1" smtClean="0">
                    <a:latin typeface="RijksoverheidSansText" panose="020B0503040202060203" pitchFamily="34" charset="0"/>
                  </a:rPr>
                  <a:t>ook</a:t>
                </a:r>
                <a:r>
                  <a:rPr lang="en-US" sz="2400" b="0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b="0" dirty="0" err="1" smtClean="0">
                    <a:latin typeface="RijksoverheidSansText" panose="020B0503040202060203" pitchFamily="34" charset="0"/>
                  </a:rPr>
                  <a:t>wel</a:t>
                </a:r>
                <a:r>
                  <a:rPr lang="en-US" sz="2400" b="0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b="0" dirty="0" err="1" smtClean="0">
                    <a:latin typeface="RijksoverheidSansText" panose="020B0503040202060203" pitchFamily="34" charset="0"/>
                  </a:rPr>
                  <a:t>een</a:t>
                </a:r>
                <a:r>
                  <a:rPr lang="en-US" sz="2400" b="0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b="1" dirty="0" smtClean="0">
                    <a:solidFill>
                      <a:schemeClr val="accent1"/>
                    </a:solidFill>
                    <a:latin typeface="RijksoverheidSansText" panose="020B0503040202060203" pitchFamily="34" charset="0"/>
                  </a:rPr>
                  <a:t>Bernoulli-</a:t>
                </a:r>
                <a:r>
                  <a:rPr lang="en-US" sz="2400" b="1" dirty="0" err="1" smtClean="0">
                    <a:solidFill>
                      <a:schemeClr val="accent1"/>
                    </a:solidFill>
                    <a:latin typeface="RijksoverheidSansText" panose="020B0503040202060203" pitchFamily="34" charset="0"/>
                  </a:rPr>
                  <a:t>variabele</a:t>
                </a:r>
                <a:r>
                  <a:rPr lang="en-US" sz="2400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genoemd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.</a:t>
                </a:r>
              </a:p>
              <a:p>
                <a:endParaRPr lang="nl-NL" sz="2400" b="1" dirty="0" smtClean="0">
                  <a:latin typeface="RijksoverheidSansText" panose="020B0503040202060203" pitchFamily="34" charset="0"/>
                </a:endParaRPr>
              </a:p>
              <a:p>
                <a:pPr algn="ctr"/>
                <a:r>
                  <a:rPr lang="nl-NL" sz="2400" b="1" i="1" dirty="0" smtClean="0">
                    <a:latin typeface="RijksoverheidSansText" panose="020B0503040202060203" pitchFamily="34" charset="0"/>
                  </a:rPr>
                  <a:t>Wat zijn andere voorbeelden van </a:t>
                </a:r>
                <a:r>
                  <a:rPr lang="nl-NL" sz="2400" b="1" i="1" dirty="0" err="1" smtClean="0">
                    <a:latin typeface="RijksoverheidSansText" panose="020B0503040202060203" pitchFamily="34" charset="0"/>
                  </a:rPr>
                  <a:t>Bernoulli</a:t>
                </a:r>
                <a:r>
                  <a:rPr lang="nl-NL" sz="2400" b="1" i="1" dirty="0" smtClean="0">
                    <a:latin typeface="RijksoverheidSansText" panose="020B0503040202060203" pitchFamily="34" charset="0"/>
                  </a:rPr>
                  <a:t>-experimenten?</a:t>
                </a:r>
                <a:endParaRPr lang="nl-NL" sz="2400" b="1" i="1" dirty="0">
                  <a:latin typeface="RijksoverheidSansText" panose="020B050304020206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755808" cy="4246562"/>
              </a:xfrm>
              <a:blipFill>
                <a:blip r:embed="rId3"/>
                <a:stretch>
                  <a:fillRect l="-1700" t="-2582" b="-31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College 4a: binomiale verdeling (1/2)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78772716"/>
                  </p:ext>
                </p:extLst>
              </p:nvPr>
            </p:nvGraphicFramePr>
            <p:xfrm>
              <a:off x="3301876" y="3871812"/>
              <a:ext cx="5777655" cy="736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37321">
                      <a:extLst>
                        <a:ext uri="{9D8B030D-6E8A-4147-A177-3AD203B41FA5}">
                          <a16:colId xmlns:a16="http://schemas.microsoft.com/office/drawing/2014/main" val="3764887803"/>
                        </a:ext>
                      </a:extLst>
                    </a:gridCol>
                    <a:gridCol w="1920167">
                      <a:extLst>
                        <a:ext uri="{9D8B030D-6E8A-4147-A177-3AD203B41FA5}">
                          <a16:colId xmlns:a16="http://schemas.microsoft.com/office/drawing/2014/main" val="3550144982"/>
                        </a:ext>
                      </a:extLst>
                    </a:gridCol>
                    <a:gridCol w="1920167">
                      <a:extLst>
                        <a:ext uri="{9D8B030D-6E8A-4147-A177-3AD203B41FA5}">
                          <a16:colId xmlns:a16="http://schemas.microsoft.com/office/drawing/2014/main" val="2375152560"/>
                        </a:ext>
                      </a:extLst>
                    </a:gridCol>
                  </a:tblGrid>
                  <a:tr h="29883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018544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10152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78772716"/>
                  </p:ext>
                </p:extLst>
              </p:nvPr>
            </p:nvGraphicFramePr>
            <p:xfrm>
              <a:off x="3301876" y="3871812"/>
              <a:ext cx="5777655" cy="736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37321">
                      <a:extLst>
                        <a:ext uri="{9D8B030D-6E8A-4147-A177-3AD203B41FA5}">
                          <a16:colId xmlns:a16="http://schemas.microsoft.com/office/drawing/2014/main" val="3764887803"/>
                        </a:ext>
                      </a:extLst>
                    </a:gridCol>
                    <a:gridCol w="1920167">
                      <a:extLst>
                        <a:ext uri="{9D8B030D-6E8A-4147-A177-3AD203B41FA5}">
                          <a16:colId xmlns:a16="http://schemas.microsoft.com/office/drawing/2014/main" val="3550144982"/>
                        </a:ext>
                      </a:extLst>
                    </a:gridCol>
                    <a:gridCol w="1920167">
                      <a:extLst>
                        <a:ext uri="{9D8B030D-6E8A-4147-A177-3AD203B41FA5}">
                          <a16:colId xmlns:a16="http://schemas.microsoft.com/office/drawing/2014/main" val="2375152560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14" t="-1667" r="-199686" b="-11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949" t="-1667" r="-100949" b="-11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1587" t="-1667" r="-1270" b="-11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018544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14" t="-100000" r="-199686" b="-163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949" t="-100000" r="-100949" b="-163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1587" t="-100000" r="-1270" b="-1639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015296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3057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00110"/>
          </a:xfrm>
        </p:spPr>
        <p:txBody>
          <a:bodyPr/>
          <a:lstStyle/>
          <a:p>
            <a:r>
              <a:rPr lang="en-US" dirty="0"/>
              <a:t>Discrete </a:t>
            </a:r>
            <a:r>
              <a:rPr lang="en-US" dirty="0" err="1"/>
              <a:t>kansvariabele</a:t>
            </a:r>
            <a:r>
              <a:rPr lang="en-US" dirty="0"/>
              <a:t>: </a:t>
            </a:r>
            <a:r>
              <a:rPr lang="en-US" dirty="0" err="1" smtClean="0"/>
              <a:t>aantal</a:t>
            </a:r>
            <a:r>
              <a:rPr lang="en-US" dirty="0" smtClean="0"/>
              <a:t> </a:t>
            </a:r>
            <a:r>
              <a:rPr lang="en-US" dirty="0" err="1" smtClean="0"/>
              <a:t>successen</a:t>
            </a:r>
            <a:r>
              <a:rPr lang="en-US" dirty="0" smtClean="0"/>
              <a:t> van </a:t>
            </a:r>
            <a:r>
              <a:rPr lang="en-US" dirty="0" err="1" smtClean="0"/>
              <a:t>tien</a:t>
            </a:r>
            <a:r>
              <a:rPr lang="en-US" dirty="0" smtClean="0"/>
              <a:t> </a:t>
            </a:r>
            <a:r>
              <a:rPr lang="en-US" dirty="0" err="1" smtClean="0"/>
              <a:t>eenheden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971832" cy="4246562"/>
              </a:xfrm>
            </p:spPr>
            <p:txBody>
              <a:bodyPr/>
              <a:lstStyle/>
              <a:p>
                <a:r>
                  <a:rPr lang="nl-NL" sz="2400" dirty="0" smtClean="0">
                    <a:latin typeface="RijksoverheidSansText" panose="020B0503040202060203" pitchFamily="34" charset="0"/>
                  </a:rPr>
                  <a:t>Nu bekijken we de situatie voor alle eenheden:</a:t>
                </a:r>
                <a:endParaRPr lang="nl-NL" sz="2400" b="0" dirty="0" smtClean="0">
                  <a:latin typeface="RijksoverheidSansText" panose="020B0503040202060203" pitchFamily="34" charset="0"/>
                </a:endParaRPr>
              </a:p>
              <a:p>
                <a:endParaRPr lang="en-US" sz="2400" b="1" dirty="0" smtClean="0">
                  <a:latin typeface="RijksoverheidSansText" panose="020B0503040202060203" pitchFamily="34" charset="0"/>
                </a:endParaRPr>
              </a:p>
              <a:p>
                <a:r>
                  <a:rPr lang="en-US" sz="2400" b="1" dirty="0" smtClean="0">
                    <a:latin typeface="RijksoverheidSansText" panose="020B0503040202060203" pitchFamily="34" charset="0"/>
                  </a:rPr>
                  <a:t>“</a:t>
                </a:r>
                <a:r>
                  <a:rPr lang="en-US" sz="2400" b="1" dirty="0" err="1" smtClean="0">
                    <a:latin typeface="RijksoverheidSansText" panose="020B0503040202060203" pitchFamily="34" charset="0"/>
                  </a:rPr>
                  <a:t>Hoeveel</a:t>
                </a:r>
                <a:r>
                  <a:rPr lang="en-US" sz="2400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b="1" dirty="0" err="1" smtClean="0">
                    <a:latin typeface="RijksoverheidSansText" panose="020B0503040202060203" pitchFamily="34" charset="0"/>
                  </a:rPr>
                  <a:t>eenheden</a:t>
                </a:r>
                <a:r>
                  <a:rPr lang="en-US" sz="2400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b="1" dirty="0" err="1" smtClean="0">
                    <a:latin typeface="RijksoverheidSansText" panose="020B0503040202060203" pitchFamily="34" charset="0"/>
                  </a:rPr>
                  <a:t>hebben</a:t>
                </a:r>
                <a:r>
                  <a:rPr lang="en-US" sz="2400" b="1" dirty="0" smtClean="0">
                    <a:latin typeface="RijksoverheidSansText" panose="020B0503040202060203" pitchFamily="34" charset="0"/>
                  </a:rPr>
                  <a:t> de </a:t>
                </a:r>
                <a:r>
                  <a:rPr lang="en-US" sz="2400" b="1" dirty="0" err="1" smtClean="0">
                    <a:latin typeface="RijksoverheidSansText" panose="020B0503040202060203" pitchFamily="34" charset="0"/>
                  </a:rPr>
                  <a:t>verplaatsing</a:t>
                </a:r>
                <a:r>
                  <a:rPr lang="en-US" sz="2400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b="1" dirty="0" err="1" smtClean="0">
                    <a:latin typeface="RijksoverheidSansText" panose="020B0503040202060203" pitchFamily="34" charset="0"/>
                  </a:rPr>
                  <a:t>ongezien</a:t>
                </a:r>
                <a:r>
                  <a:rPr lang="en-US" sz="2400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b="1" dirty="0" err="1" smtClean="0">
                    <a:latin typeface="RijksoverheidSansText" panose="020B0503040202060203" pitchFamily="34" charset="0"/>
                  </a:rPr>
                  <a:t>en</a:t>
                </a:r>
                <a:r>
                  <a:rPr lang="en-US" sz="2400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b="1" dirty="0" err="1" smtClean="0">
                    <a:latin typeface="RijksoverheidSansText" panose="020B0503040202060203" pitchFamily="34" charset="0"/>
                  </a:rPr>
                  <a:t>binnen</a:t>
                </a:r>
                <a:r>
                  <a:rPr lang="en-US" sz="2400" b="1" dirty="0" smtClean="0">
                    <a:latin typeface="RijksoverheidSansText" panose="020B0503040202060203" pitchFamily="34" charset="0"/>
                  </a:rPr>
                  <a:t> de </a:t>
                </a:r>
                <a:r>
                  <a:rPr lang="en-US" sz="2400" b="1" dirty="0" err="1" smtClean="0">
                    <a:latin typeface="RijksoverheidSansText" panose="020B0503040202060203" pitchFamily="34" charset="0"/>
                  </a:rPr>
                  <a:t>tijd</a:t>
                </a:r>
                <a:r>
                  <a:rPr lang="en-US" sz="2400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b="1" dirty="0" err="1" smtClean="0">
                    <a:latin typeface="RijksoverheidSansText" panose="020B0503040202060203" pitchFamily="34" charset="0"/>
                  </a:rPr>
                  <a:t>uitgevoerd</a:t>
                </a:r>
                <a:r>
                  <a:rPr lang="en-US" sz="2400" b="1" dirty="0" smtClean="0">
                    <a:latin typeface="RijksoverheidSansText" panose="020B0503040202060203" pitchFamily="34" charset="0"/>
                  </a:rPr>
                  <a:t>?”</a:t>
                </a:r>
              </a:p>
              <a:p>
                <a:endParaRPr lang="nl-NL" sz="2400" dirty="0" smtClean="0">
                  <a:latin typeface="RijksoverheidSansText" panose="020B0503040202060203" pitchFamily="34" charset="0"/>
                </a:endParaRPr>
              </a:p>
              <a:p>
                <a:r>
                  <a:rPr lang="nl-NL" sz="2400" dirty="0">
                    <a:latin typeface="RijksoverheidSansText" panose="020B0503040202060203" pitchFamily="34" charset="0"/>
                  </a:rPr>
                  <a:t>Het antwoord op deze vraag is een </a:t>
                </a:r>
                <a:r>
                  <a:rPr lang="en-US" sz="2400" b="1" dirty="0">
                    <a:solidFill>
                      <a:schemeClr val="accent1"/>
                    </a:solidFill>
                    <a:latin typeface="RijksoverheidSansText" panose="020B0503040202060203" pitchFamily="34" charset="0"/>
                  </a:rPr>
                  <a:t>discrete </a:t>
                </a:r>
                <a:r>
                  <a:rPr lang="en-US" sz="2400" b="1" dirty="0" err="1">
                    <a:solidFill>
                      <a:schemeClr val="accent1"/>
                    </a:solidFill>
                    <a:latin typeface="RijksoverheidSansText" panose="020B0503040202060203" pitchFamily="34" charset="0"/>
                  </a:rPr>
                  <a:t>kansvariabele</a:t>
                </a:r>
                <a:r>
                  <a:rPr lang="nl-NL" sz="2400" dirty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nl-NL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nl-NL" sz="2400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nl-NL" sz="2400" dirty="0">
                  <a:latin typeface="RijksoverheidSansText" panose="020B050304020206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nl-NL" sz="2400" b="1" dirty="0">
                    <a:solidFill>
                      <a:schemeClr val="accent1"/>
                    </a:solidFill>
                    <a:latin typeface="RijksoverheidSansText" panose="020B0503040202060203" pitchFamily="34" charset="0"/>
                  </a:rPr>
                  <a:t>Uitkomstenruimte </a:t>
                </a:r>
                <a:r>
                  <a:rPr lang="nl-NL" sz="2400" dirty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bevat </a:t>
                </a:r>
                <a:r>
                  <a:rPr lang="nl-NL" sz="2400" dirty="0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nu elf uitkomsten: </a:t>
                </a:r>
                <a14:m>
                  <m:oMath xmlns:m="http://schemas.openxmlformats.org/officeDocument/2006/math">
                    <m:r>
                      <a:rPr lang="nl-NL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0, 1, 2, 3,…, 10</m:t>
                    </m:r>
                  </m:oMath>
                </a14:m>
                <a:endParaRPr lang="en-US" sz="2400" dirty="0">
                  <a:solidFill>
                    <a:schemeClr val="tx1"/>
                  </a:solidFill>
                  <a:latin typeface="RijksoverheidSansText" panose="020B050304020206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b="1" dirty="0" err="1">
                    <a:solidFill>
                      <a:schemeClr val="accent1"/>
                    </a:solidFill>
                    <a:latin typeface="RijksoverheidSansText" panose="020B0503040202060203" pitchFamily="34" charset="0"/>
                  </a:rPr>
                  <a:t>Kansverdeling</a:t>
                </a:r>
                <a:r>
                  <a:rPr lang="en-US" sz="2400" b="1" dirty="0">
                    <a:solidFill>
                      <a:schemeClr val="accent1"/>
                    </a:solidFill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err="1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wordt</a:t>
                </a:r>
                <a:r>
                  <a:rPr lang="en-US" sz="2400" dirty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err="1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gegeven</a:t>
                </a:r>
                <a:r>
                  <a:rPr lang="en-US" sz="2400" dirty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 door: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nl-NL" sz="2400" b="1" dirty="0">
                  <a:solidFill>
                    <a:schemeClr val="tx1"/>
                  </a:solidFill>
                  <a:latin typeface="RijksoverheidSansText" panose="020B050304020206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b="1" dirty="0">
                  <a:solidFill>
                    <a:schemeClr val="tx1"/>
                  </a:solidFill>
                  <a:latin typeface="RijksoverheidSansText" panose="020B0503040202060203" pitchFamily="34" charset="0"/>
                </a:endParaRPr>
              </a:p>
              <a:p>
                <a:endParaRPr lang="en-US" sz="2400" dirty="0" smtClean="0">
                  <a:latin typeface="RijksoverheidSansText" panose="020B050304020206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971832" cy="4246562"/>
              </a:xfrm>
              <a:blipFill>
                <a:blip r:embed="rId2"/>
                <a:stretch>
                  <a:fillRect l="-1667" t="-2296" r="-1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College 4a: binomiale verdeling (1/2)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el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22654025"/>
                  </p:ext>
                </p:extLst>
              </p:nvPr>
            </p:nvGraphicFramePr>
            <p:xfrm>
              <a:off x="1939673" y="5013176"/>
              <a:ext cx="8574069" cy="74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84973">
                      <a:extLst>
                        <a:ext uri="{9D8B030D-6E8A-4147-A177-3AD203B41FA5}">
                          <a16:colId xmlns:a16="http://schemas.microsoft.com/office/drawing/2014/main" val="3789292417"/>
                        </a:ext>
                      </a:extLst>
                    </a:gridCol>
                    <a:gridCol w="671736">
                      <a:extLst>
                        <a:ext uri="{9D8B030D-6E8A-4147-A177-3AD203B41FA5}">
                          <a16:colId xmlns:a16="http://schemas.microsoft.com/office/drawing/2014/main" val="1889663997"/>
                        </a:ext>
                      </a:extLst>
                    </a:gridCol>
                    <a:gridCol w="671736">
                      <a:extLst>
                        <a:ext uri="{9D8B030D-6E8A-4147-A177-3AD203B41FA5}">
                          <a16:colId xmlns:a16="http://schemas.microsoft.com/office/drawing/2014/main" val="3643412763"/>
                        </a:ext>
                      </a:extLst>
                    </a:gridCol>
                    <a:gridCol w="671736">
                      <a:extLst>
                        <a:ext uri="{9D8B030D-6E8A-4147-A177-3AD203B41FA5}">
                          <a16:colId xmlns:a16="http://schemas.microsoft.com/office/drawing/2014/main" val="1694062046"/>
                        </a:ext>
                      </a:extLst>
                    </a:gridCol>
                    <a:gridCol w="671736">
                      <a:extLst>
                        <a:ext uri="{9D8B030D-6E8A-4147-A177-3AD203B41FA5}">
                          <a16:colId xmlns:a16="http://schemas.microsoft.com/office/drawing/2014/main" val="3797136306"/>
                        </a:ext>
                      </a:extLst>
                    </a:gridCol>
                    <a:gridCol w="671736">
                      <a:extLst>
                        <a:ext uri="{9D8B030D-6E8A-4147-A177-3AD203B41FA5}">
                          <a16:colId xmlns:a16="http://schemas.microsoft.com/office/drawing/2014/main" val="3647225093"/>
                        </a:ext>
                      </a:extLst>
                    </a:gridCol>
                    <a:gridCol w="671736">
                      <a:extLst>
                        <a:ext uri="{9D8B030D-6E8A-4147-A177-3AD203B41FA5}">
                          <a16:colId xmlns:a16="http://schemas.microsoft.com/office/drawing/2014/main" val="2332787275"/>
                        </a:ext>
                      </a:extLst>
                    </a:gridCol>
                    <a:gridCol w="671736">
                      <a:extLst>
                        <a:ext uri="{9D8B030D-6E8A-4147-A177-3AD203B41FA5}">
                          <a16:colId xmlns:a16="http://schemas.microsoft.com/office/drawing/2014/main" val="2594302235"/>
                        </a:ext>
                      </a:extLst>
                    </a:gridCol>
                    <a:gridCol w="671736">
                      <a:extLst>
                        <a:ext uri="{9D8B030D-6E8A-4147-A177-3AD203B41FA5}">
                          <a16:colId xmlns:a16="http://schemas.microsoft.com/office/drawing/2014/main" val="1696080177"/>
                        </a:ext>
                      </a:extLst>
                    </a:gridCol>
                    <a:gridCol w="671736">
                      <a:extLst>
                        <a:ext uri="{9D8B030D-6E8A-4147-A177-3AD203B41FA5}">
                          <a16:colId xmlns:a16="http://schemas.microsoft.com/office/drawing/2014/main" val="3909563458"/>
                        </a:ext>
                      </a:extLst>
                    </a:gridCol>
                    <a:gridCol w="671736">
                      <a:extLst>
                        <a:ext uri="{9D8B030D-6E8A-4147-A177-3AD203B41FA5}">
                          <a16:colId xmlns:a16="http://schemas.microsoft.com/office/drawing/2014/main" val="239643732"/>
                        </a:ext>
                      </a:extLst>
                    </a:gridCol>
                    <a:gridCol w="671736">
                      <a:extLst>
                        <a:ext uri="{9D8B030D-6E8A-4147-A177-3AD203B41FA5}">
                          <a16:colId xmlns:a16="http://schemas.microsoft.com/office/drawing/2014/main" val="400169247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b="1" i="1" smtClean="0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b="1" i="1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b="1" i="1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b="1" i="1" smtClean="0"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b="1" i="1" smtClean="0">
                                    <a:latin typeface="Cambria Math" panose="02040503050406030204" pitchFamily="18" charset="0"/>
                                  </a:rPr>
                                  <m:t>𝟕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b="1" i="1" smtClean="0">
                                    <a:latin typeface="Cambria Math" panose="02040503050406030204" pitchFamily="18" charset="0"/>
                                  </a:rPr>
                                  <m:t>𝟖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b="1" i="1" smtClean="0"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b="1" i="1" smtClean="0">
                                    <a:latin typeface="Cambria Math" panose="02040503050406030204" pitchFamily="18" charset="0"/>
                                  </a:rPr>
                                  <m:t>𝟏𝟎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501694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  <m:t>?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  <m:t>?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  <m:t>?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  <m:t>?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  <m:t>?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  <m:t>?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  <m:t>?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  <m:t>?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  <m:t>?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  <m:t>?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  <m:t>?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5808207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el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22654025"/>
                  </p:ext>
                </p:extLst>
              </p:nvPr>
            </p:nvGraphicFramePr>
            <p:xfrm>
              <a:off x="1939673" y="5013176"/>
              <a:ext cx="8574069" cy="74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84973">
                      <a:extLst>
                        <a:ext uri="{9D8B030D-6E8A-4147-A177-3AD203B41FA5}">
                          <a16:colId xmlns:a16="http://schemas.microsoft.com/office/drawing/2014/main" val="3789292417"/>
                        </a:ext>
                      </a:extLst>
                    </a:gridCol>
                    <a:gridCol w="671736">
                      <a:extLst>
                        <a:ext uri="{9D8B030D-6E8A-4147-A177-3AD203B41FA5}">
                          <a16:colId xmlns:a16="http://schemas.microsoft.com/office/drawing/2014/main" val="1889663997"/>
                        </a:ext>
                      </a:extLst>
                    </a:gridCol>
                    <a:gridCol w="671736">
                      <a:extLst>
                        <a:ext uri="{9D8B030D-6E8A-4147-A177-3AD203B41FA5}">
                          <a16:colId xmlns:a16="http://schemas.microsoft.com/office/drawing/2014/main" val="3643412763"/>
                        </a:ext>
                      </a:extLst>
                    </a:gridCol>
                    <a:gridCol w="671736">
                      <a:extLst>
                        <a:ext uri="{9D8B030D-6E8A-4147-A177-3AD203B41FA5}">
                          <a16:colId xmlns:a16="http://schemas.microsoft.com/office/drawing/2014/main" val="1694062046"/>
                        </a:ext>
                      </a:extLst>
                    </a:gridCol>
                    <a:gridCol w="671736">
                      <a:extLst>
                        <a:ext uri="{9D8B030D-6E8A-4147-A177-3AD203B41FA5}">
                          <a16:colId xmlns:a16="http://schemas.microsoft.com/office/drawing/2014/main" val="3797136306"/>
                        </a:ext>
                      </a:extLst>
                    </a:gridCol>
                    <a:gridCol w="671736">
                      <a:extLst>
                        <a:ext uri="{9D8B030D-6E8A-4147-A177-3AD203B41FA5}">
                          <a16:colId xmlns:a16="http://schemas.microsoft.com/office/drawing/2014/main" val="3647225093"/>
                        </a:ext>
                      </a:extLst>
                    </a:gridCol>
                    <a:gridCol w="671736">
                      <a:extLst>
                        <a:ext uri="{9D8B030D-6E8A-4147-A177-3AD203B41FA5}">
                          <a16:colId xmlns:a16="http://schemas.microsoft.com/office/drawing/2014/main" val="2332787275"/>
                        </a:ext>
                      </a:extLst>
                    </a:gridCol>
                    <a:gridCol w="671736">
                      <a:extLst>
                        <a:ext uri="{9D8B030D-6E8A-4147-A177-3AD203B41FA5}">
                          <a16:colId xmlns:a16="http://schemas.microsoft.com/office/drawing/2014/main" val="2594302235"/>
                        </a:ext>
                      </a:extLst>
                    </a:gridCol>
                    <a:gridCol w="671736">
                      <a:extLst>
                        <a:ext uri="{9D8B030D-6E8A-4147-A177-3AD203B41FA5}">
                          <a16:colId xmlns:a16="http://schemas.microsoft.com/office/drawing/2014/main" val="1696080177"/>
                        </a:ext>
                      </a:extLst>
                    </a:gridCol>
                    <a:gridCol w="671736">
                      <a:extLst>
                        <a:ext uri="{9D8B030D-6E8A-4147-A177-3AD203B41FA5}">
                          <a16:colId xmlns:a16="http://schemas.microsoft.com/office/drawing/2014/main" val="3909563458"/>
                        </a:ext>
                      </a:extLst>
                    </a:gridCol>
                    <a:gridCol w="671736">
                      <a:extLst>
                        <a:ext uri="{9D8B030D-6E8A-4147-A177-3AD203B41FA5}">
                          <a16:colId xmlns:a16="http://schemas.microsoft.com/office/drawing/2014/main" val="239643732"/>
                        </a:ext>
                      </a:extLst>
                    </a:gridCol>
                    <a:gridCol w="671736">
                      <a:extLst>
                        <a:ext uri="{9D8B030D-6E8A-4147-A177-3AD203B41FA5}">
                          <a16:colId xmlns:a16="http://schemas.microsoft.com/office/drawing/2014/main" val="400169247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15" t="-1613" r="-627320" b="-1129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75676" t="-1613" r="-996396" b="-1129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78182" t="-1613" r="-905455" b="-1129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78182" t="-1613" r="-805455" b="-1129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78182" t="-1613" r="-705455" b="-1129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72973" t="-1613" r="-599099" b="-1129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79091" t="-1613" r="-504545" b="-1129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79091" t="-1613" r="-404545" b="-1129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79091" t="-1613" r="-304545" b="-1129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70270" t="-1613" r="-201802" b="-1129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80000" t="-1613" r="-103636" b="-1129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80000" t="-1613" r="-3636" b="-1129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501694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15" t="-103279" r="-627320" b="-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75676" t="-103279" r="-996396" b="-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78182" t="-103279" r="-905455" b="-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78182" t="-103279" r="-805455" b="-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78182" t="-103279" r="-705455" b="-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72973" t="-103279" r="-599099" b="-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79091" t="-103279" r="-504545" b="-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79091" t="-103279" r="-404545" b="-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79091" t="-103279" r="-304545" b="-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70270" t="-103279" r="-201802" b="-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80000" t="-103279" r="-103636" b="-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80000" t="-103279" r="-3636" b="-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5808207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02504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Hoe </a:t>
            </a:r>
            <a:r>
              <a:rPr lang="en-US" dirty="0" err="1" smtClean="0"/>
              <a:t>kunnen</a:t>
            </a:r>
            <a:r>
              <a:rPr lang="en-US" dirty="0" smtClean="0"/>
              <a:t> we </a:t>
            </a:r>
            <a:r>
              <a:rPr lang="en-US" dirty="0" err="1" smtClean="0"/>
              <a:t>kansen</a:t>
            </a:r>
            <a:r>
              <a:rPr lang="en-US" dirty="0" smtClean="0"/>
              <a:t> in </a:t>
            </a:r>
            <a:r>
              <a:rPr lang="en-US" dirty="0" err="1" smtClean="0"/>
              <a:t>deze</a:t>
            </a:r>
            <a:r>
              <a:rPr lang="en-US" dirty="0" smtClean="0"/>
              <a:t> setting </a:t>
            </a:r>
            <a:r>
              <a:rPr lang="en-US" dirty="0" err="1" smtClean="0"/>
              <a:t>bepalen</a:t>
            </a:r>
            <a:r>
              <a:rPr lang="en-US" dirty="0" smtClean="0"/>
              <a:t>?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1115848" cy="4246562"/>
              </a:xfrm>
            </p:spPr>
            <p:txBody>
              <a:bodyPr/>
              <a:lstStyle/>
              <a:p>
                <a:r>
                  <a:rPr lang="en-US" sz="2400" dirty="0" smtClean="0">
                    <a:latin typeface="RijksoverheidSansText" panose="020B0503040202060203" pitchFamily="34" charset="0"/>
                  </a:rPr>
                  <a:t>Stel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dat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we de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kans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willen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bepalen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op </a:t>
                </a:r>
                <a14:m>
                  <m:oMath xmlns:m="http://schemas.openxmlformats.org/officeDocument/2006/math">
                    <m:r>
                      <a:rPr lang="nl-NL" sz="2400" b="0" i="1" dirty="0" smtClean="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US" sz="2400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succesvolle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verplaatsingen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=8)</m:t>
                    </m:r>
                  </m:oMath>
                </a14:m>
                <a:endParaRPr lang="en-US" sz="2400" dirty="0" smtClean="0">
                  <a:latin typeface="RijksoverheidSansText" panose="020B0503040202060203" pitchFamily="34" charset="0"/>
                </a:endParaRPr>
              </a:p>
              <a:p>
                <a:endParaRPr lang="en-US" sz="2400" dirty="0">
                  <a:latin typeface="RijksoverheidSansText" panose="020B0503040202060203" pitchFamily="34" charset="0"/>
                </a:endParaRPr>
              </a:p>
              <a:p>
                <a:endParaRPr lang="en-US" sz="2400" dirty="0" smtClean="0">
                  <a:latin typeface="RijksoverheidSansText" panose="020B0503040202060203" pitchFamily="34" charset="0"/>
                </a:endParaRPr>
              </a:p>
              <a:p>
                <a:endParaRPr lang="en-US" sz="2000" i="1" dirty="0">
                  <a:latin typeface="Cambria Math" panose="02040503050406030204" pitchFamily="18" charset="0"/>
                </a:endParaRPr>
              </a:p>
              <a:p>
                <a:endParaRPr lang="en-US" sz="2000" i="1" dirty="0" smtClean="0">
                  <a:latin typeface="Cambria Math" panose="02040503050406030204" pitchFamily="18" charset="0"/>
                </a:endParaRPr>
              </a:p>
              <a:p>
                <a:endParaRPr lang="en-US" sz="2000" i="1" dirty="0" smtClean="0">
                  <a:latin typeface="Cambria Math" panose="02040503050406030204" pitchFamily="18" charset="0"/>
                </a:endParaRPr>
              </a:p>
              <a:p>
                <a:endParaRPr lang="en-US" sz="2000" i="1" dirty="0" smtClean="0">
                  <a:latin typeface="Cambria Math" panose="02040503050406030204" pitchFamily="18" charset="0"/>
                </a:endParaRPr>
              </a:p>
              <a:p>
                <a:endParaRPr lang="en-US" sz="2000" i="1" dirty="0" smtClean="0">
                  <a:latin typeface="Cambria Math" panose="02040503050406030204" pitchFamily="18" charset="0"/>
                </a:endParaRPr>
              </a:p>
              <a:p>
                <a:endParaRPr lang="en-US" sz="2000" i="1" dirty="0" smtClean="0">
                  <a:latin typeface="Cambria Math" panose="02040503050406030204" pitchFamily="18" charset="0"/>
                </a:endParaRPr>
              </a:p>
              <a:p>
                <a:r>
                  <a:rPr lang="nl-NL" dirty="0" smtClean="0">
                    <a:latin typeface="RijksoverheidSansText" panose="020B0503040202060203" pitchFamily="34" charset="0"/>
                  </a:rPr>
                  <a:t>Verschillende manieren om 10 eenheden er 8 te kiezen die de operatie </a:t>
                </a:r>
                <a:r>
                  <a:rPr lang="nl-NL" smtClean="0">
                    <a:latin typeface="RijksoverheidSansText" panose="020B0503040202060203" pitchFamily="34" charset="0"/>
                  </a:rPr>
                  <a:t>succesvol uitvoeren!</a:t>
                </a:r>
                <a:endParaRPr lang="nl-NL" dirty="0" smtClean="0">
                  <a:latin typeface="RijksoverheidSansText" panose="020B050304020206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 err="1" smtClean="0">
                    <a:latin typeface="RijksoverheidSansText" panose="020B0503040202060203" pitchFamily="34" charset="0"/>
                  </a:rPr>
                  <a:t>Dit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kan</a:t>
                </a:r>
                <a:r>
                  <a:rPr lang="en-US" dirty="0">
                    <a:latin typeface="RijksoverheidSansText" panose="020B0503040202060203" pitchFamily="34" charset="0"/>
                  </a:rPr>
                  <a:t> op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nl-NL" i="1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nl-NL" i="1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nl-NL" i="1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nl-NL" i="1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8!</m:t>
                        </m:r>
                      </m:den>
                    </m:f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10</m:t>
                            </m:r>
                          </m:num>
                          <m:den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  <m:r>
                      <a:rPr lang="nl-NL" b="0" i="1" smtClean="0">
                        <a:latin typeface="Cambria Math" panose="02040503050406030204" pitchFamily="18" charset="0"/>
                      </a:rPr>
                      <m:t>=45</m:t>
                    </m:r>
                  </m:oMath>
                </a14:m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manieren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nl-NL" dirty="0" smtClean="0">
                    <a:latin typeface="RijksoverheidSansText" panose="020B0503040202060203" pitchFamily="34" charset="0"/>
                  </a:rPr>
                  <a:t>Iedere manier heeft een kans van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0.75</m:t>
                        </m:r>
                      </m:e>
                      <m:sup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a:rPr lang="nl-NL" b="0" i="1" smtClean="0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0.25</m:t>
                        </m:r>
                      </m:e>
                      <m:sup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>
                  <a:latin typeface="RijksoverheidSansText" panose="020B0503040202060203" pitchFamily="34" charset="0"/>
                </a:endParaRPr>
              </a:p>
              <a:p>
                <a:pPr marL="0" indent="0">
                  <a:buNone/>
                </a:pPr>
                <a:endParaRPr lang="nl-NL" dirty="0">
                  <a:latin typeface="RijksoverheidSansText" panose="020B0503040202060203" pitchFamily="34" charset="0"/>
                </a:endParaRPr>
              </a:p>
              <a:p>
                <a:endParaRPr lang="en-US" b="0" i="1" dirty="0" smtClean="0">
                  <a:latin typeface="RijksoverheidSansText" panose="020B050304020206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1115848" cy="4246562"/>
              </a:xfrm>
              <a:blipFill>
                <a:blip r:embed="rId2"/>
                <a:stretch>
                  <a:fillRect l="-1645" t="-2296" b="-41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College 4a: binomiale verdeling (1/2)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20539916"/>
                  </p:ext>
                </p:extLst>
              </p:nvPr>
            </p:nvGraphicFramePr>
            <p:xfrm>
              <a:off x="552315" y="2348880"/>
              <a:ext cx="11305253" cy="239911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29640">
                      <a:extLst>
                        <a:ext uri="{9D8B030D-6E8A-4147-A177-3AD203B41FA5}">
                          <a16:colId xmlns:a16="http://schemas.microsoft.com/office/drawing/2014/main" val="1226535014"/>
                        </a:ext>
                      </a:extLst>
                    </a:gridCol>
                    <a:gridCol w="1129640">
                      <a:extLst>
                        <a:ext uri="{9D8B030D-6E8A-4147-A177-3AD203B41FA5}">
                          <a16:colId xmlns:a16="http://schemas.microsoft.com/office/drawing/2014/main" val="2437621987"/>
                        </a:ext>
                      </a:extLst>
                    </a:gridCol>
                    <a:gridCol w="1129640">
                      <a:extLst>
                        <a:ext uri="{9D8B030D-6E8A-4147-A177-3AD203B41FA5}">
                          <a16:colId xmlns:a16="http://schemas.microsoft.com/office/drawing/2014/main" val="1486977261"/>
                        </a:ext>
                      </a:extLst>
                    </a:gridCol>
                    <a:gridCol w="1129640">
                      <a:extLst>
                        <a:ext uri="{9D8B030D-6E8A-4147-A177-3AD203B41FA5}">
                          <a16:colId xmlns:a16="http://schemas.microsoft.com/office/drawing/2014/main" val="338256455"/>
                        </a:ext>
                      </a:extLst>
                    </a:gridCol>
                    <a:gridCol w="1129640">
                      <a:extLst>
                        <a:ext uri="{9D8B030D-6E8A-4147-A177-3AD203B41FA5}">
                          <a16:colId xmlns:a16="http://schemas.microsoft.com/office/drawing/2014/main" val="2278984090"/>
                        </a:ext>
                      </a:extLst>
                    </a:gridCol>
                    <a:gridCol w="1129640">
                      <a:extLst>
                        <a:ext uri="{9D8B030D-6E8A-4147-A177-3AD203B41FA5}">
                          <a16:colId xmlns:a16="http://schemas.microsoft.com/office/drawing/2014/main" val="2366125743"/>
                        </a:ext>
                      </a:extLst>
                    </a:gridCol>
                    <a:gridCol w="1129640">
                      <a:extLst>
                        <a:ext uri="{9D8B030D-6E8A-4147-A177-3AD203B41FA5}">
                          <a16:colId xmlns:a16="http://schemas.microsoft.com/office/drawing/2014/main" val="336876055"/>
                        </a:ext>
                      </a:extLst>
                    </a:gridCol>
                    <a:gridCol w="1129640">
                      <a:extLst>
                        <a:ext uri="{9D8B030D-6E8A-4147-A177-3AD203B41FA5}">
                          <a16:colId xmlns:a16="http://schemas.microsoft.com/office/drawing/2014/main" val="3088914115"/>
                        </a:ext>
                      </a:extLst>
                    </a:gridCol>
                    <a:gridCol w="1129640">
                      <a:extLst>
                        <a:ext uri="{9D8B030D-6E8A-4147-A177-3AD203B41FA5}">
                          <a16:colId xmlns:a16="http://schemas.microsoft.com/office/drawing/2014/main" val="244087976"/>
                        </a:ext>
                      </a:extLst>
                    </a:gridCol>
                    <a:gridCol w="1138493">
                      <a:extLst>
                        <a:ext uri="{9D8B030D-6E8A-4147-A177-3AD203B41FA5}">
                          <a16:colId xmlns:a16="http://schemas.microsoft.com/office/drawing/2014/main" val="3847245253"/>
                        </a:ext>
                      </a:extLst>
                    </a:gridCol>
                  </a:tblGrid>
                  <a:tr h="31947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err="1" smtClean="0">
                              <a:latin typeface="RijksoverheidSansText" panose="020B0503040202060203" pitchFamily="34" charset="0"/>
                            </a:rPr>
                            <a:t>Eenheid</a:t>
                          </a:r>
                          <a:r>
                            <a:rPr lang="en-US" sz="1600" dirty="0" smtClean="0">
                              <a:latin typeface="RijksoverheidSansText" panose="020B0503040202060203" pitchFamily="34" charset="0"/>
                            </a:rPr>
                            <a:t> 1</a:t>
                          </a:r>
                          <a:endParaRPr lang="nl-NL" sz="160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err="1" smtClean="0">
                              <a:latin typeface="RijksoverheidSansText" panose="020B0503040202060203" pitchFamily="34" charset="0"/>
                            </a:rPr>
                            <a:t>Eenheid</a:t>
                          </a:r>
                          <a:r>
                            <a:rPr lang="en-US" sz="1600" dirty="0" smtClean="0">
                              <a:latin typeface="RijksoverheidSansText" panose="020B0503040202060203" pitchFamily="34" charset="0"/>
                            </a:rPr>
                            <a:t> </a:t>
                          </a:r>
                          <a:r>
                            <a:rPr lang="en-US" sz="1600" baseline="0" dirty="0" smtClean="0">
                              <a:latin typeface="RijksoverheidSansText" panose="020B0503040202060203" pitchFamily="34" charset="0"/>
                            </a:rPr>
                            <a:t>2</a:t>
                          </a:r>
                          <a:endParaRPr lang="nl-NL" sz="160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err="1" smtClean="0">
                              <a:latin typeface="RijksoverheidSansText" panose="020B0503040202060203" pitchFamily="34" charset="0"/>
                            </a:rPr>
                            <a:t>Eenheid</a:t>
                          </a:r>
                          <a:r>
                            <a:rPr lang="en-US" sz="1600" dirty="0" smtClean="0">
                              <a:latin typeface="RijksoverheidSansText" panose="020B0503040202060203" pitchFamily="34" charset="0"/>
                            </a:rPr>
                            <a:t> 3</a:t>
                          </a:r>
                          <a:endParaRPr lang="nl-NL" sz="160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err="1" smtClean="0">
                              <a:latin typeface="RijksoverheidSansText" panose="020B0503040202060203" pitchFamily="34" charset="0"/>
                            </a:rPr>
                            <a:t>Eenheid</a:t>
                          </a:r>
                          <a:r>
                            <a:rPr lang="en-US" sz="1600" dirty="0" smtClean="0">
                              <a:latin typeface="RijksoverheidSansText" panose="020B0503040202060203" pitchFamily="34" charset="0"/>
                            </a:rPr>
                            <a:t> 4</a:t>
                          </a:r>
                          <a:endParaRPr lang="nl-NL" sz="160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err="1" smtClean="0">
                              <a:latin typeface="RijksoverheidSansText" panose="020B0503040202060203" pitchFamily="34" charset="0"/>
                            </a:rPr>
                            <a:t>Eenheid</a:t>
                          </a:r>
                          <a:r>
                            <a:rPr lang="en-US" sz="1600" dirty="0" smtClean="0">
                              <a:latin typeface="RijksoverheidSansText" panose="020B0503040202060203" pitchFamily="34" charset="0"/>
                            </a:rPr>
                            <a:t> 5 </a:t>
                          </a:r>
                          <a:endParaRPr lang="nl-NL" sz="160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err="1" smtClean="0">
                              <a:latin typeface="RijksoverheidSansText" panose="020B0503040202060203" pitchFamily="34" charset="0"/>
                            </a:rPr>
                            <a:t>Eenheid</a:t>
                          </a:r>
                          <a:r>
                            <a:rPr lang="en-US" sz="1600" dirty="0" smtClean="0">
                              <a:latin typeface="RijksoverheidSansText" panose="020B0503040202060203" pitchFamily="34" charset="0"/>
                            </a:rPr>
                            <a:t> 6</a:t>
                          </a:r>
                          <a:endParaRPr lang="nl-NL" sz="160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err="1" smtClean="0">
                              <a:latin typeface="RijksoverheidSansText" panose="020B0503040202060203" pitchFamily="34" charset="0"/>
                            </a:rPr>
                            <a:t>Eenheid</a:t>
                          </a:r>
                          <a:r>
                            <a:rPr lang="en-US" sz="1600" dirty="0" smtClean="0">
                              <a:latin typeface="RijksoverheidSansText" panose="020B0503040202060203" pitchFamily="34" charset="0"/>
                            </a:rPr>
                            <a:t> 7 </a:t>
                          </a:r>
                          <a:endParaRPr lang="nl-NL" sz="160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err="1" smtClean="0">
                              <a:latin typeface="RijksoverheidSansText" panose="020B0503040202060203" pitchFamily="34" charset="0"/>
                            </a:rPr>
                            <a:t>Eenheid</a:t>
                          </a:r>
                          <a:r>
                            <a:rPr lang="en-US" sz="1600" dirty="0" smtClean="0">
                              <a:latin typeface="RijksoverheidSansText" panose="020B0503040202060203" pitchFamily="34" charset="0"/>
                            </a:rPr>
                            <a:t> 8</a:t>
                          </a:r>
                          <a:endParaRPr lang="nl-NL" sz="160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err="1" smtClean="0">
                              <a:latin typeface="RijksoverheidSansText" panose="020B0503040202060203" pitchFamily="34" charset="0"/>
                            </a:rPr>
                            <a:t>Eenheid</a:t>
                          </a:r>
                          <a:r>
                            <a:rPr lang="en-US" sz="1600" dirty="0" smtClean="0">
                              <a:latin typeface="RijksoverheidSansText" panose="020B0503040202060203" pitchFamily="34" charset="0"/>
                            </a:rPr>
                            <a:t> 9</a:t>
                          </a:r>
                          <a:endParaRPr lang="nl-NL" sz="160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err="1" smtClean="0">
                              <a:latin typeface="RijksoverheidSansText" panose="020B0503040202060203" pitchFamily="34" charset="0"/>
                            </a:rPr>
                            <a:t>Eenheid</a:t>
                          </a:r>
                          <a:r>
                            <a:rPr lang="en-US" sz="1600" dirty="0" smtClean="0">
                              <a:latin typeface="RijksoverheidSansText" panose="020B0503040202060203" pitchFamily="34" charset="0"/>
                            </a:rPr>
                            <a:t> </a:t>
                          </a:r>
                          <a:r>
                            <a:rPr lang="en-US" sz="1600" baseline="0" dirty="0" smtClean="0">
                              <a:latin typeface="RijksoverheidSansText" panose="020B0503040202060203" pitchFamily="34" charset="0"/>
                            </a:rPr>
                            <a:t>10</a:t>
                          </a:r>
                          <a:endParaRPr lang="nl-NL" sz="160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20229969"/>
                      </a:ext>
                    </a:extLst>
                  </a:tr>
                  <a:tr h="34397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FF000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</a:t>
                          </a:r>
                          <a:endParaRPr lang="nl-NL" sz="1600" dirty="0" smtClean="0">
                            <a:solidFill>
                              <a:srgbClr val="FF000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FF000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</a:t>
                          </a:r>
                          <a:endParaRPr lang="nl-NL" sz="1600" dirty="0" smtClean="0">
                            <a:solidFill>
                              <a:srgbClr val="FF000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91378210"/>
                      </a:ext>
                    </a:extLst>
                  </a:tr>
                  <a:tr h="34397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FF000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</a:t>
                          </a:r>
                          <a:endParaRPr lang="nl-NL" sz="1600" dirty="0" smtClean="0">
                            <a:solidFill>
                              <a:srgbClr val="FF000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FF000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</a:t>
                          </a:r>
                          <a:endParaRPr lang="nl-NL" sz="1600" dirty="0" smtClean="0">
                            <a:solidFill>
                              <a:srgbClr val="FF000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12019258"/>
                      </a:ext>
                    </a:extLst>
                  </a:tr>
                  <a:tr h="34397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FF000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</a:t>
                          </a:r>
                          <a:endParaRPr lang="nl-NL" sz="1600" dirty="0" smtClean="0">
                            <a:solidFill>
                              <a:srgbClr val="FF000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FF000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</a:t>
                          </a:r>
                          <a:endParaRPr lang="nl-NL" sz="1600" dirty="0" smtClean="0">
                            <a:solidFill>
                              <a:srgbClr val="FF000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49237543"/>
                      </a:ext>
                    </a:extLst>
                  </a:tr>
                  <a:tr h="34397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FF000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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FF000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</a:t>
                          </a:r>
                          <a:endParaRPr lang="nl-NL" sz="1600" dirty="0" smtClean="0">
                            <a:solidFill>
                              <a:srgbClr val="FF000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280307"/>
                      </a:ext>
                    </a:extLst>
                  </a:tr>
                  <a:tr h="34397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FF000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</a:t>
                          </a:r>
                          <a:endParaRPr lang="nl-NL" sz="1600" dirty="0" smtClean="0">
                            <a:solidFill>
                              <a:srgbClr val="FF000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FF000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</a:t>
                          </a:r>
                          <a:endParaRPr lang="nl-NL" sz="1600" dirty="0" smtClean="0">
                            <a:solidFill>
                              <a:srgbClr val="FF000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99969823"/>
                      </a:ext>
                    </a:extLst>
                  </a:tr>
                  <a:tr h="34397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nl-NL" sz="1600" dirty="0">
                            <a:solidFill>
                              <a:schemeClr val="tx1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nl-NL" sz="1600" dirty="0">
                            <a:solidFill>
                              <a:schemeClr val="tx1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nl-NL" sz="1600" dirty="0">
                            <a:solidFill>
                              <a:schemeClr val="tx1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nl-NL" sz="1600" dirty="0">
                            <a:solidFill>
                              <a:schemeClr val="tx1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nl-NL" sz="1600" dirty="0">
                            <a:solidFill>
                              <a:schemeClr val="tx1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nl-NL" sz="1600" dirty="0">
                            <a:solidFill>
                              <a:schemeClr val="tx1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nl-NL" sz="1600" dirty="0">
                            <a:solidFill>
                              <a:schemeClr val="tx1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nl-NL" sz="1600" dirty="0">
                            <a:solidFill>
                              <a:schemeClr val="tx1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nl-NL" sz="1600" dirty="0">
                            <a:solidFill>
                              <a:schemeClr val="tx1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6184563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20539916"/>
                  </p:ext>
                </p:extLst>
              </p:nvPr>
            </p:nvGraphicFramePr>
            <p:xfrm>
              <a:off x="552315" y="2348880"/>
              <a:ext cx="11305253" cy="239911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29640">
                      <a:extLst>
                        <a:ext uri="{9D8B030D-6E8A-4147-A177-3AD203B41FA5}">
                          <a16:colId xmlns:a16="http://schemas.microsoft.com/office/drawing/2014/main" val="1226535014"/>
                        </a:ext>
                      </a:extLst>
                    </a:gridCol>
                    <a:gridCol w="1129640">
                      <a:extLst>
                        <a:ext uri="{9D8B030D-6E8A-4147-A177-3AD203B41FA5}">
                          <a16:colId xmlns:a16="http://schemas.microsoft.com/office/drawing/2014/main" val="2437621987"/>
                        </a:ext>
                      </a:extLst>
                    </a:gridCol>
                    <a:gridCol w="1129640">
                      <a:extLst>
                        <a:ext uri="{9D8B030D-6E8A-4147-A177-3AD203B41FA5}">
                          <a16:colId xmlns:a16="http://schemas.microsoft.com/office/drawing/2014/main" val="1486977261"/>
                        </a:ext>
                      </a:extLst>
                    </a:gridCol>
                    <a:gridCol w="1129640">
                      <a:extLst>
                        <a:ext uri="{9D8B030D-6E8A-4147-A177-3AD203B41FA5}">
                          <a16:colId xmlns:a16="http://schemas.microsoft.com/office/drawing/2014/main" val="338256455"/>
                        </a:ext>
                      </a:extLst>
                    </a:gridCol>
                    <a:gridCol w="1129640">
                      <a:extLst>
                        <a:ext uri="{9D8B030D-6E8A-4147-A177-3AD203B41FA5}">
                          <a16:colId xmlns:a16="http://schemas.microsoft.com/office/drawing/2014/main" val="2278984090"/>
                        </a:ext>
                      </a:extLst>
                    </a:gridCol>
                    <a:gridCol w="1129640">
                      <a:extLst>
                        <a:ext uri="{9D8B030D-6E8A-4147-A177-3AD203B41FA5}">
                          <a16:colId xmlns:a16="http://schemas.microsoft.com/office/drawing/2014/main" val="2366125743"/>
                        </a:ext>
                      </a:extLst>
                    </a:gridCol>
                    <a:gridCol w="1129640">
                      <a:extLst>
                        <a:ext uri="{9D8B030D-6E8A-4147-A177-3AD203B41FA5}">
                          <a16:colId xmlns:a16="http://schemas.microsoft.com/office/drawing/2014/main" val="336876055"/>
                        </a:ext>
                      </a:extLst>
                    </a:gridCol>
                    <a:gridCol w="1129640">
                      <a:extLst>
                        <a:ext uri="{9D8B030D-6E8A-4147-A177-3AD203B41FA5}">
                          <a16:colId xmlns:a16="http://schemas.microsoft.com/office/drawing/2014/main" val="3088914115"/>
                        </a:ext>
                      </a:extLst>
                    </a:gridCol>
                    <a:gridCol w="1129640">
                      <a:extLst>
                        <a:ext uri="{9D8B030D-6E8A-4147-A177-3AD203B41FA5}">
                          <a16:colId xmlns:a16="http://schemas.microsoft.com/office/drawing/2014/main" val="244087976"/>
                        </a:ext>
                      </a:extLst>
                    </a:gridCol>
                    <a:gridCol w="1138493">
                      <a:extLst>
                        <a:ext uri="{9D8B030D-6E8A-4147-A177-3AD203B41FA5}">
                          <a16:colId xmlns:a16="http://schemas.microsoft.com/office/drawing/2014/main" val="3847245253"/>
                        </a:ext>
                      </a:extLst>
                    </a:gridCol>
                  </a:tblGrid>
                  <a:tr h="3352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err="1" smtClean="0">
                              <a:latin typeface="RijksoverheidSansText" panose="020B0503040202060203" pitchFamily="34" charset="0"/>
                            </a:rPr>
                            <a:t>Eenheid</a:t>
                          </a:r>
                          <a:r>
                            <a:rPr lang="en-US" sz="1600" dirty="0" smtClean="0">
                              <a:latin typeface="RijksoverheidSansText" panose="020B0503040202060203" pitchFamily="34" charset="0"/>
                            </a:rPr>
                            <a:t> 1</a:t>
                          </a:r>
                          <a:endParaRPr lang="nl-NL" sz="160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err="1" smtClean="0">
                              <a:latin typeface="RijksoverheidSansText" panose="020B0503040202060203" pitchFamily="34" charset="0"/>
                            </a:rPr>
                            <a:t>Eenheid</a:t>
                          </a:r>
                          <a:r>
                            <a:rPr lang="en-US" sz="1600" dirty="0" smtClean="0">
                              <a:latin typeface="RijksoverheidSansText" panose="020B0503040202060203" pitchFamily="34" charset="0"/>
                            </a:rPr>
                            <a:t> </a:t>
                          </a:r>
                          <a:r>
                            <a:rPr lang="en-US" sz="1600" baseline="0" dirty="0" smtClean="0">
                              <a:latin typeface="RijksoverheidSansText" panose="020B0503040202060203" pitchFamily="34" charset="0"/>
                            </a:rPr>
                            <a:t>2</a:t>
                          </a:r>
                          <a:endParaRPr lang="nl-NL" sz="160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err="1" smtClean="0">
                              <a:latin typeface="RijksoverheidSansText" panose="020B0503040202060203" pitchFamily="34" charset="0"/>
                            </a:rPr>
                            <a:t>Eenheid</a:t>
                          </a:r>
                          <a:r>
                            <a:rPr lang="en-US" sz="1600" dirty="0" smtClean="0">
                              <a:latin typeface="RijksoverheidSansText" panose="020B0503040202060203" pitchFamily="34" charset="0"/>
                            </a:rPr>
                            <a:t> 3</a:t>
                          </a:r>
                          <a:endParaRPr lang="nl-NL" sz="160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err="1" smtClean="0">
                              <a:latin typeface="RijksoverheidSansText" panose="020B0503040202060203" pitchFamily="34" charset="0"/>
                            </a:rPr>
                            <a:t>Eenheid</a:t>
                          </a:r>
                          <a:r>
                            <a:rPr lang="en-US" sz="1600" dirty="0" smtClean="0">
                              <a:latin typeface="RijksoverheidSansText" panose="020B0503040202060203" pitchFamily="34" charset="0"/>
                            </a:rPr>
                            <a:t> 4</a:t>
                          </a:r>
                          <a:endParaRPr lang="nl-NL" sz="160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err="1" smtClean="0">
                              <a:latin typeface="RijksoverheidSansText" panose="020B0503040202060203" pitchFamily="34" charset="0"/>
                            </a:rPr>
                            <a:t>Eenheid</a:t>
                          </a:r>
                          <a:r>
                            <a:rPr lang="en-US" sz="1600" dirty="0" smtClean="0">
                              <a:latin typeface="RijksoverheidSansText" panose="020B0503040202060203" pitchFamily="34" charset="0"/>
                            </a:rPr>
                            <a:t> 5 </a:t>
                          </a:r>
                          <a:endParaRPr lang="nl-NL" sz="160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err="1" smtClean="0">
                              <a:latin typeface="RijksoverheidSansText" panose="020B0503040202060203" pitchFamily="34" charset="0"/>
                            </a:rPr>
                            <a:t>Eenheid</a:t>
                          </a:r>
                          <a:r>
                            <a:rPr lang="en-US" sz="1600" dirty="0" smtClean="0">
                              <a:latin typeface="RijksoverheidSansText" panose="020B0503040202060203" pitchFamily="34" charset="0"/>
                            </a:rPr>
                            <a:t> 6</a:t>
                          </a:r>
                          <a:endParaRPr lang="nl-NL" sz="160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err="1" smtClean="0">
                              <a:latin typeface="RijksoverheidSansText" panose="020B0503040202060203" pitchFamily="34" charset="0"/>
                            </a:rPr>
                            <a:t>Eenheid</a:t>
                          </a:r>
                          <a:r>
                            <a:rPr lang="en-US" sz="1600" dirty="0" smtClean="0">
                              <a:latin typeface="RijksoverheidSansText" panose="020B0503040202060203" pitchFamily="34" charset="0"/>
                            </a:rPr>
                            <a:t> 7 </a:t>
                          </a:r>
                          <a:endParaRPr lang="nl-NL" sz="160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err="1" smtClean="0">
                              <a:latin typeface="RijksoverheidSansText" panose="020B0503040202060203" pitchFamily="34" charset="0"/>
                            </a:rPr>
                            <a:t>Eenheid</a:t>
                          </a:r>
                          <a:r>
                            <a:rPr lang="en-US" sz="1600" dirty="0" smtClean="0">
                              <a:latin typeface="RijksoverheidSansText" panose="020B0503040202060203" pitchFamily="34" charset="0"/>
                            </a:rPr>
                            <a:t> 8</a:t>
                          </a:r>
                          <a:endParaRPr lang="nl-NL" sz="160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err="1" smtClean="0">
                              <a:latin typeface="RijksoverheidSansText" panose="020B0503040202060203" pitchFamily="34" charset="0"/>
                            </a:rPr>
                            <a:t>Eenheid</a:t>
                          </a:r>
                          <a:r>
                            <a:rPr lang="en-US" sz="1600" dirty="0" smtClean="0">
                              <a:latin typeface="RijksoverheidSansText" panose="020B0503040202060203" pitchFamily="34" charset="0"/>
                            </a:rPr>
                            <a:t> 9</a:t>
                          </a:r>
                          <a:endParaRPr lang="nl-NL" sz="160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err="1" smtClean="0">
                              <a:latin typeface="RijksoverheidSansText" panose="020B0503040202060203" pitchFamily="34" charset="0"/>
                            </a:rPr>
                            <a:t>Eenheid</a:t>
                          </a:r>
                          <a:r>
                            <a:rPr lang="en-US" sz="1600" dirty="0" smtClean="0">
                              <a:latin typeface="RijksoverheidSansText" panose="020B0503040202060203" pitchFamily="34" charset="0"/>
                            </a:rPr>
                            <a:t> </a:t>
                          </a:r>
                          <a:r>
                            <a:rPr lang="en-US" sz="1600" baseline="0" dirty="0" smtClean="0">
                              <a:latin typeface="RijksoverheidSansText" panose="020B0503040202060203" pitchFamily="34" charset="0"/>
                            </a:rPr>
                            <a:t>10</a:t>
                          </a:r>
                          <a:endParaRPr lang="nl-NL" sz="160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20229969"/>
                      </a:ext>
                    </a:extLst>
                  </a:tr>
                  <a:tr h="34397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FF000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</a:t>
                          </a:r>
                          <a:endParaRPr lang="nl-NL" sz="1600" dirty="0" smtClean="0">
                            <a:solidFill>
                              <a:srgbClr val="FF000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FF000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</a:t>
                          </a:r>
                          <a:endParaRPr lang="nl-NL" sz="1600" dirty="0" smtClean="0">
                            <a:solidFill>
                              <a:srgbClr val="FF000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91378210"/>
                      </a:ext>
                    </a:extLst>
                  </a:tr>
                  <a:tr h="34397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FF000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</a:t>
                          </a:r>
                          <a:endParaRPr lang="nl-NL" sz="1600" dirty="0" smtClean="0">
                            <a:solidFill>
                              <a:srgbClr val="FF000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FF000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</a:t>
                          </a:r>
                          <a:endParaRPr lang="nl-NL" sz="1600" dirty="0" smtClean="0">
                            <a:solidFill>
                              <a:srgbClr val="FF000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12019258"/>
                      </a:ext>
                    </a:extLst>
                  </a:tr>
                  <a:tr h="34397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FF000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</a:t>
                          </a:r>
                          <a:endParaRPr lang="nl-NL" sz="1600" dirty="0" smtClean="0">
                            <a:solidFill>
                              <a:srgbClr val="FF000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FF000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</a:t>
                          </a:r>
                          <a:endParaRPr lang="nl-NL" sz="1600" dirty="0" smtClean="0">
                            <a:solidFill>
                              <a:srgbClr val="FF000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49237543"/>
                      </a:ext>
                    </a:extLst>
                  </a:tr>
                  <a:tr h="34397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FF000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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FF000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</a:t>
                          </a:r>
                          <a:endParaRPr lang="nl-NL" sz="1600" dirty="0" smtClean="0">
                            <a:solidFill>
                              <a:srgbClr val="FF000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280307"/>
                      </a:ext>
                    </a:extLst>
                  </a:tr>
                  <a:tr h="34397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FF000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</a:t>
                          </a:r>
                          <a:endParaRPr lang="nl-NL" sz="1600" dirty="0" smtClean="0">
                            <a:solidFill>
                              <a:srgbClr val="FF000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00B05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</a:t>
                          </a:r>
                          <a:endParaRPr lang="nl-NL" sz="1600" dirty="0" smtClean="0">
                            <a:solidFill>
                              <a:srgbClr val="00B05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NL" sz="1600" dirty="0" smtClean="0">
                              <a:solidFill>
                                <a:srgbClr val="FF0000"/>
                              </a:solidFill>
                              <a:latin typeface="RijksoverheidSansText" panose="020B0503040202060203" pitchFamily="34" charset="0"/>
                              <a:sym typeface="Wingdings" panose="05000000000000000000" pitchFamily="2" charset="2"/>
                            </a:rPr>
                            <a:t></a:t>
                          </a:r>
                          <a:endParaRPr lang="nl-NL" sz="1600" dirty="0" smtClean="0">
                            <a:solidFill>
                              <a:srgbClr val="FF0000"/>
                            </a:solidFill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99969823"/>
                      </a:ext>
                    </a:extLst>
                  </a:tr>
                  <a:tr h="3439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41" t="-608929" r="-905405" b="-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000" t="-608929" r="-800538" b="-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1081" t="-608929" r="-704865" b="-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99462" t="-608929" r="-601075" b="-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1622" t="-608929" r="-504324" b="-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98925" t="-608929" r="-401613" b="-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02162" t="-608929" r="-303784" b="-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98387" t="-608929" r="-202151" b="-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02703" t="-608929" r="-103243" b="-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93048" t="-608929" r="-2139" b="-3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184563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kstvak 5"/>
              <p:cNvSpPr txBox="1"/>
              <p:nvPr/>
            </p:nvSpPr>
            <p:spPr>
              <a:xfrm>
                <a:off x="7320136" y="260648"/>
                <a:ext cx="4392488" cy="476726"/>
              </a:xfrm>
              <a:prstGeom prst="round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nl-NL" b="1" dirty="0" smtClean="0">
                    <a:latin typeface="RijksoverheidSansText" panose="020B0503040202060203" pitchFamily="34" charset="0"/>
                  </a:rPr>
                  <a:t>Notatie: </a:t>
                </a:r>
                <a14:m>
                  <m:oMath xmlns:m="http://schemas.openxmlformats.org/officeDocument/2006/math">
                    <m:r>
                      <a:rPr lang="nl-NL" b="0" i="0" smtClean="0">
                        <a:latin typeface="Cambria Math" panose="02040503050406030204" pitchFamily="18" charset="0"/>
                      </a:rPr>
                      <m:t>8!=8⋅7⋅6⋅…⋅1</m:t>
                    </m:r>
                  </m:oMath>
                </a14:m>
                <a:endParaRPr lang="en-US" dirty="0">
                  <a:latin typeface="RijksoverheidSansText" panose="020B0503040202060203" pitchFamily="34" charset="0"/>
                </a:endParaRPr>
              </a:p>
            </p:txBody>
          </p:sp>
        </mc:Choice>
        <mc:Fallback xmlns="">
          <p:sp>
            <p:nvSpPr>
              <p:cNvPr id="6" name="Tekstvak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0136" y="260648"/>
                <a:ext cx="4392488" cy="476726"/>
              </a:xfrm>
              <a:prstGeom prst="roundRect">
                <a:avLst/>
              </a:prstGeom>
              <a:blipFill>
                <a:blip r:embed="rId4"/>
                <a:stretch>
                  <a:fillRect l="-967" t="-1220" b="-170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2120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Discrete </a:t>
            </a:r>
            <a:r>
              <a:rPr lang="en-US" dirty="0" err="1" smtClean="0"/>
              <a:t>kansvariabele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611792" cy="4246562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het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aantal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eenheden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dat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de </a:t>
                </a:r>
                <a:r>
                  <a:rPr lang="en-US" sz="2400" dirty="0" err="1">
                    <a:latin typeface="RijksoverheidSansText" panose="020B0503040202060203" pitchFamily="34" charset="0"/>
                  </a:rPr>
                  <a:t>verplaatsing</a:t>
                </a:r>
                <a:r>
                  <a:rPr lang="en-US" sz="2400" dirty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err="1">
                    <a:latin typeface="RijksoverheidSansText" panose="020B0503040202060203" pitchFamily="34" charset="0"/>
                  </a:rPr>
                  <a:t>ongezien</a:t>
                </a:r>
                <a:r>
                  <a:rPr lang="en-US" sz="2400" dirty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err="1">
                    <a:latin typeface="RijksoverheidSansText" panose="020B0503040202060203" pitchFamily="34" charset="0"/>
                  </a:rPr>
                  <a:t>en</a:t>
                </a:r>
                <a:r>
                  <a:rPr lang="en-US" sz="2400" dirty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err="1">
                    <a:latin typeface="RijksoverheidSansText" panose="020B0503040202060203" pitchFamily="34" charset="0"/>
                  </a:rPr>
                  <a:t>binnen</a:t>
                </a:r>
                <a:r>
                  <a:rPr lang="en-US" sz="2400" dirty="0">
                    <a:latin typeface="RijksoverheidSansText" panose="020B0503040202060203" pitchFamily="34" charset="0"/>
                  </a:rPr>
                  <a:t> de </a:t>
                </a:r>
                <a:r>
                  <a:rPr lang="en-US" sz="2400" dirty="0" err="1">
                    <a:latin typeface="RijksoverheidSansText" panose="020B0503040202060203" pitchFamily="34" charset="0"/>
                  </a:rPr>
                  <a:t>tijd</a:t>
                </a:r>
                <a:r>
                  <a:rPr lang="en-US" sz="2400" dirty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err="1">
                    <a:latin typeface="RijksoverheidSansText" panose="020B0503040202060203" pitchFamily="34" charset="0"/>
                  </a:rPr>
                  <a:t>uitvoert</a:t>
                </a:r>
                <a:r>
                  <a:rPr lang="en-US" sz="2400" dirty="0">
                    <a:latin typeface="RijksoverheidSansText" panose="020B0503040202060203" pitchFamily="34" charset="0"/>
                  </a:rPr>
                  <a:t>.</a:t>
                </a:r>
              </a:p>
              <a:p>
                <a:endParaRPr lang="nl-NL" sz="2400" dirty="0" smtClean="0">
                  <a:latin typeface="RijksoverheidSansText" panose="020B0503040202060203" pitchFamily="34" charset="0"/>
                </a:endParaRPr>
              </a:p>
              <a:p>
                <a:r>
                  <a:rPr lang="en-US" sz="2400" b="1" dirty="0" err="1" smtClean="0">
                    <a:latin typeface="RijksoverheidSansText" panose="020B0503040202060203" pitchFamily="34" charset="0"/>
                  </a:rPr>
                  <a:t>Eigenschappen</a:t>
                </a:r>
                <a:r>
                  <a:rPr lang="en-US" sz="2400" b="1" dirty="0" smtClean="0">
                    <a:latin typeface="RijksoverheidSansText" panose="020B0503040202060203" pitchFamily="34" charset="0"/>
                  </a:rPr>
                  <a:t>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 smtClean="0">
                    <a:latin typeface="RijksoverheidSansText" panose="020B0503040202060203" pitchFamily="34" charset="0"/>
                  </a:rPr>
                  <a:t>De </a:t>
                </a:r>
                <a:r>
                  <a:rPr lang="en-US" sz="2400" b="1" dirty="0" err="1" smtClean="0">
                    <a:solidFill>
                      <a:schemeClr val="accent1"/>
                    </a:solidFill>
                    <a:latin typeface="RijksoverheidSansText" panose="020B0503040202060203" pitchFamily="34" charset="0"/>
                  </a:rPr>
                  <a:t>uitkomstenruimte</a:t>
                </a:r>
                <a:r>
                  <a:rPr lang="en-US" sz="2400" dirty="0">
                    <a:solidFill>
                      <a:schemeClr val="accent1"/>
                    </a:solidFill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err="1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bestaat</a:t>
                </a:r>
                <a:r>
                  <a:rPr lang="en-US" sz="2400" dirty="0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 uit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0, 1, 2, …, 10</m:t>
                    </m:r>
                  </m:oMath>
                </a14:m>
                <a:endParaRPr lang="en-US" sz="2400" dirty="0" smtClean="0">
                  <a:solidFill>
                    <a:schemeClr val="tx1"/>
                  </a:solidFill>
                  <a:latin typeface="RijksoverheidSansText" panose="020B050304020206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 smtClean="0">
                  <a:solidFill>
                    <a:schemeClr val="tx1"/>
                  </a:solidFill>
                  <a:latin typeface="RijksoverheidSansText" panose="020B050304020206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De </a:t>
                </a:r>
                <a:r>
                  <a:rPr lang="en-US" sz="2400" dirty="0" err="1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onderliggende</a:t>
                </a:r>
                <a:r>
                  <a:rPr lang="en-US" sz="2400" dirty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 </a:t>
                </a:r>
                <a:r>
                  <a:rPr lang="en-US" sz="2400" b="1" dirty="0" err="1">
                    <a:solidFill>
                      <a:schemeClr val="accent1"/>
                    </a:solidFill>
                    <a:latin typeface="RijksoverheidSansText" panose="020B0503040202060203" pitchFamily="34" charset="0"/>
                  </a:rPr>
                  <a:t>kansverdeling</a:t>
                </a:r>
                <a:r>
                  <a:rPr lang="en-US" sz="2400" b="1" dirty="0">
                    <a:solidFill>
                      <a:schemeClr val="accent1"/>
                    </a:solidFill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is </a:t>
                </a:r>
                <a:r>
                  <a:rPr lang="en-US" sz="2400" dirty="0" err="1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gegeven</a:t>
                </a:r>
                <a:r>
                  <a:rPr lang="en-US" sz="2400" dirty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 door de </a:t>
                </a:r>
                <a:r>
                  <a:rPr lang="en-US" sz="2400" dirty="0" err="1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kansfunctie</a:t>
                </a:r>
                <a:r>
                  <a:rPr lang="en-US" sz="2400" dirty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:</a:t>
                </a:r>
                <a:endParaRPr lang="en-US" sz="24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num>
                            <m:den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nl-NL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nl-NL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75</m:t>
                              </m:r>
                            </m:e>
                          </m:d>
                        </m:e>
                        <m:sup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nl-NL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nl-NL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25</m:t>
                              </m:r>
                            </m:e>
                          </m:d>
                        </m:e>
                        <m:sup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10−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  <a:latin typeface="RijksoverheidSansText" panose="020B050304020206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nl-NL" sz="2400" b="1" dirty="0">
                  <a:solidFill>
                    <a:schemeClr val="tx1"/>
                  </a:solidFill>
                  <a:latin typeface="RijksoverheidSansText" panose="020B0503040202060203" pitchFamily="34" charset="0"/>
                </a:endParaRPr>
              </a:p>
              <a:p>
                <a:endParaRPr lang="en-US" sz="2400" b="1" dirty="0" smtClean="0">
                  <a:solidFill>
                    <a:schemeClr val="tx1"/>
                  </a:solidFill>
                  <a:latin typeface="RijksoverheidSansText" panose="020B0503040202060203" pitchFamily="34" charset="0"/>
                </a:endParaRPr>
              </a:p>
              <a:p>
                <a:endParaRPr lang="en-US" sz="2400" b="0" i="1" dirty="0" smtClean="0">
                  <a:latin typeface="RijksoverheidSansText" panose="020B050304020206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611792" cy="4246562"/>
              </a:xfrm>
              <a:blipFill>
                <a:blip r:embed="rId3"/>
                <a:stretch>
                  <a:fillRect l="-1723" t="-22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College 4a: binomiale verdeling (1/2)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57793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Binomiaal</a:t>
            </a:r>
            <a:r>
              <a:rPr lang="en-US" dirty="0" smtClean="0"/>
              <a:t> experiment</a:t>
            </a:r>
            <a:endParaRPr lang="nl-N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1187856" cy="4246562"/>
              </a:xfrm>
            </p:spPr>
            <p:txBody>
              <a:bodyPr/>
              <a:lstStyle/>
              <a:p>
                <a:r>
                  <a:rPr lang="en-US" dirty="0" smtClean="0">
                    <a:latin typeface="RijksoverheidSansText" panose="020B0503040202060203" pitchFamily="34" charset="0"/>
                  </a:rPr>
                  <a:t>Dit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is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een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voorbeeld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van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een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solidFill>
                      <a:schemeClr val="accent1"/>
                    </a:solidFill>
                    <a:latin typeface="RijksoverheidSansText" panose="020B0503040202060203" pitchFamily="34" charset="0"/>
                  </a:rPr>
                  <a:t>binomiaal</a:t>
                </a:r>
                <a:r>
                  <a:rPr lang="en-US" b="1" dirty="0" smtClean="0">
                    <a:solidFill>
                      <a:schemeClr val="accent1"/>
                    </a:solidFill>
                    <a:latin typeface="RijksoverheidSansText" panose="020B0503040202060203" pitchFamily="34" charset="0"/>
                  </a:rPr>
                  <a:t> experiment</a:t>
                </a:r>
                <a:r>
                  <a:rPr lang="en-US" dirty="0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.</a:t>
                </a:r>
                <a:r>
                  <a:rPr lang="en-US" b="1" dirty="0" smtClean="0">
                    <a:solidFill>
                      <a:schemeClr val="accent1"/>
                    </a:solidFill>
                    <a:latin typeface="RijksoverheidSansText" panose="020B0503040202060203" pitchFamily="34" charset="0"/>
                  </a:rPr>
                  <a:t> </a:t>
                </a:r>
                <a:r>
                  <a:rPr lang="nl-NL" dirty="0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In </a:t>
                </a:r>
                <a:r>
                  <a:rPr lang="nl-NL" dirty="0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algemene zin kunnen we het zien als </a:t>
                </a:r>
                <a:r>
                  <a:rPr lang="nl-NL" dirty="0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het aantal </a:t>
                </a:r>
                <a:r>
                  <a:rPr lang="nl-NL" dirty="0" err="1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ja’s</a:t>
                </a:r>
                <a:r>
                  <a:rPr lang="nl-NL" dirty="0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 op een rij onafhankelijke “ja/nee-vragen”. </a:t>
                </a:r>
                <a:endParaRPr lang="nl-NL" dirty="0" smtClean="0">
                  <a:solidFill>
                    <a:schemeClr val="tx1"/>
                  </a:solidFill>
                  <a:latin typeface="RijksoverheidSansText" panose="020B0503040202060203" pitchFamily="34" charset="0"/>
                </a:endParaRPr>
              </a:p>
              <a:p>
                <a:endParaRPr lang="nl-NL" b="1" dirty="0" smtClean="0">
                  <a:latin typeface="RijksoverheidSansText" panose="020B050304020206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Parameters: </a:t>
                </a:r>
                <a:r>
                  <a:rPr lang="en-US" dirty="0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het </a:t>
                </a:r>
                <a:r>
                  <a:rPr lang="en-US" dirty="0" err="1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aantal</a:t>
                </a:r>
                <a:r>
                  <a:rPr lang="en-US" dirty="0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 Bernoulli-</a:t>
                </a:r>
                <a:r>
                  <a:rPr lang="en-US" dirty="0" err="1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experimenten</a:t>
                </a:r>
                <a:r>
                  <a:rPr lang="en-US" dirty="0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nl-NL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en</a:t>
                </a:r>
                <a:r>
                  <a:rPr lang="en-US" dirty="0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 de </a:t>
                </a:r>
                <a:r>
                  <a:rPr lang="en-US" dirty="0" err="1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succeskans</a:t>
                </a:r>
                <a:r>
                  <a:rPr lang="en-US" dirty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i="1" dirty="0">
                  <a:latin typeface="RijksoverheidSansText" panose="020B050304020206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nl-NL" b="1" dirty="0" smtClean="0"/>
                  <a:t>Uitkomstenruimte: </a:t>
                </a:r>
                <a:r>
                  <a:rPr lang="nl-NL" dirty="0" smtClean="0"/>
                  <a:t>bevat </a:t>
                </a:r>
                <a14:m>
                  <m:oMath xmlns:m="http://schemas.openxmlformats.org/officeDocument/2006/math">
                    <m:r>
                      <a:rPr lang="nl-NL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nl-NL" b="0" i="1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uitkomsten</a:t>
                </a:r>
                <a:r>
                  <a:rPr lang="en-US" dirty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,</a:t>
                </a:r>
                <a:r>
                  <a:rPr lang="en-US" dirty="0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 namelijk </a:t>
                </a:r>
                <a14:m>
                  <m:oMath xmlns:m="http://schemas.openxmlformats.org/officeDocument/2006/math">
                    <m:r>
                      <a:rPr lang="nl-NL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0, 1, 2, …, </m:t>
                    </m:r>
                    <m:r>
                      <a:rPr lang="nl-NL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nl-NL" b="0" dirty="0" smtClean="0">
                  <a:solidFill>
                    <a:schemeClr val="tx1"/>
                  </a:solidFill>
                  <a:latin typeface="RijksoverheidSansText" panose="020B050304020206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nl-NL" b="1" dirty="0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Onafhankelijkheid</a:t>
                </a:r>
                <a:r>
                  <a:rPr lang="nl-NL" dirty="0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: het resultaat van </a:t>
                </a:r>
                <a:r>
                  <a:rPr lang="nl-NL" dirty="0" err="1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Bernoulli</a:t>
                </a:r>
                <a:r>
                  <a:rPr lang="nl-NL" dirty="0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-experiment </a:t>
                </a:r>
                <a14:m>
                  <m:oMath xmlns:m="http://schemas.openxmlformats.org/officeDocument/2006/math">
                    <m:r>
                      <a:rPr lang="nl-NL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1 </m:t>
                    </m:r>
                  </m:oMath>
                </a14:m>
                <a:r>
                  <a:rPr lang="nl-NL" dirty="0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zegt niets over experiment </a:t>
                </a:r>
                <a14:m>
                  <m:oMath xmlns:m="http://schemas.openxmlformats.org/officeDocument/2006/math">
                    <m:r>
                      <a:rPr lang="nl-NL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nl-NL" dirty="0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, etc. </a:t>
                </a:r>
                <a:endParaRPr lang="nl-NL" b="0" dirty="0" smtClean="0">
                  <a:solidFill>
                    <a:schemeClr val="tx1"/>
                  </a:solidFill>
                  <a:latin typeface="RijksoverheidSansText" panose="020B050304020206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nl-NL" b="1" dirty="0" err="1" smtClean="0">
                    <a:latin typeface="RijksoverheidSansText" panose="020B0503040202060203" pitchFamily="34" charset="0"/>
                  </a:rPr>
                  <a:t>Kansfunctie</a:t>
                </a:r>
                <a:r>
                  <a:rPr lang="nl-NL" dirty="0" smtClean="0">
                    <a:latin typeface="RijksoverheidSansText" panose="020B0503040202060203" pitchFamily="34" charset="0"/>
                  </a:rPr>
                  <a:t>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nl-NL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nl-NL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l-N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nl-NL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NL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nl-NL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nl-N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1" dirty="0">
                  <a:solidFill>
                    <a:schemeClr val="tx1"/>
                  </a:solidFill>
                  <a:latin typeface="RijksoverheidSansText" panose="020B0503040202060203" pitchFamily="34" charset="0"/>
                </a:endParaRPr>
              </a:p>
              <a:p>
                <a:endParaRPr lang="en-US" b="0" dirty="0" smtClean="0">
                  <a:latin typeface="RijksoverheidSansText" panose="020B0503040202060203" pitchFamily="34" charset="0"/>
                </a:endParaRPr>
              </a:p>
              <a:p>
                <a:r>
                  <a:rPr lang="en-US" b="0" dirty="0" smtClean="0">
                    <a:latin typeface="RijksoverheidSansText" panose="020B0503040202060203" pitchFamily="34" charset="0"/>
                  </a:rPr>
                  <a:t>De </a:t>
                </a:r>
                <a:r>
                  <a:rPr lang="en-US" b="0" dirty="0" err="1" smtClean="0">
                    <a:latin typeface="RijksoverheidSansText" panose="020B0503040202060203" pitchFamily="34" charset="0"/>
                  </a:rPr>
                  <a:t>kansvariabele</a:t>
                </a:r>
                <a:r>
                  <a:rPr lang="en-US" b="0" dirty="0" smtClean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b="0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0" dirty="0" err="1" smtClean="0">
                    <a:latin typeface="RijksoverheidSansText" panose="020B0503040202060203" pitchFamily="34" charset="0"/>
                  </a:rPr>
                  <a:t>wordt</a:t>
                </a:r>
                <a:r>
                  <a:rPr lang="en-US" b="0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0" dirty="0" err="1" smtClean="0">
                    <a:latin typeface="RijksoverheidSansText" panose="020B0503040202060203" pitchFamily="34" charset="0"/>
                  </a:rPr>
                  <a:t>ook</a:t>
                </a:r>
                <a:r>
                  <a:rPr lang="en-US" b="0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0" dirty="0" err="1" smtClean="0">
                    <a:latin typeface="RijksoverheidSansText" panose="020B0503040202060203" pitchFamily="34" charset="0"/>
                  </a:rPr>
                  <a:t>wel</a:t>
                </a:r>
                <a:r>
                  <a:rPr lang="en-US" b="0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0" dirty="0" err="1" smtClean="0">
                    <a:latin typeface="RijksoverheidSansText" panose="020B0503040202060203" pitchFamily="34" charset="0"/>
                  </a:rPr>
                  <a:t>een</a:t>
                </a:r>
                <a:r>
                  <a:rPr lang="en-US" b="0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solidFill>
                      <a:schemeClr val="accent1"/>
                    </a:solidFill>
                    <a:latin typeface="RijksoverheidSansText" panose="020B0503040202060203" pitchFamily="34" charset="0"/>
                  </a:rPr>
                  <a:t>binomiale</a:t>
                </a:r>
                <a:r>
                  <a:rPr lang="en-US" b="1" dirty="0" smtClean="0">
                    <a:solidFill>
                      <a:schemeClr val="accent1"/>
                    </a:solidFill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solidFill>
                      <a:schemeClr val="accent1"/>
                    </a:solidFill>
                    <a:latin typeface="RijksoverheidSansText" panose="020B0503040202060203" pitchFamily="34" charset="0"/>
                  </a:rPr>
                  <a:t>kansvariabele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genoemd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.</a:t>
                </a:r>
              </a:p>
              <a:p>
                <a:endParaRPr lang="nl-NL" sz="2400" b="1" dirty="0" smtClean="0">
                  <a:latin typeface="RijksoverheidSansText" panose="020B0503040202060203" pitchFamily="34" charset="0"/>
                </a:endParaRPr>
              </a:p>
              <a:p>
                <a:pPr algn="ctr"/>
                <a:r>
                  <a:rPr lang="nl-NL" sz="2400" b="1" i="1" dirty="0" smtClean="0">
                    <a:latin typeface="RijksoverheidSansText" panose="020B0503040202060203" pitchFamily="34" charset="0"/>
                  </a:rPr>
                  <a:t>Wat zijn andere voorbeelden van </a:t>
                </a:r>
                <a:r>
                  <a:rPr lang="nl-NL" sz="2400" b="1" i="1" dirty="0" smtClean="0">
                    <a:latin typeface="RijksoverheidSansText" panose="020B0503040202060203" pitchFamily="34" charset="0"/>
                  </a:rPr>
                  <a:t>binomiale </a:t>
                </a:r>
                <a:r>
                  <a:rPr lang="nl-NL" sz="2400" b="1" i="1" dirty="0" err="1" smtClean="0">
                    <a:latin typeface="RijksoverheidSansText" panose="020B0503040202060203" pitchFamily="34" charset="0"/>
                  </a:rPr>
                  <a:t>kansvariabelen</a:t>
                </a:r>
                <a:r>
                  <a:rPr lang="nl-NL" sz="2400" b="1" i="1" dirty="0" smtClean="0">
                    <a:latin typeface="RijksoverheidSansText" panose="020B0503040202060203" pitchFamily="34" charset="0"/>
                  </a:rPr>
                  <a:t>?</a:t>
                </a:r>
                <a:endParaRPr lang="nl-NL" sz="2400" b="1" i="1" dirty="0">
                  <a:latin typeface="RijksoverheidSansText" panose="020B0503040202060203" pitchFamily="34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1187856" cy="4246562"/>
              </a:xfrm>
              <a:blipFill>
                <a:blip r:embed="rId3"/>
                <a:stretch>
                  <a:fillRect l="-1525" t="-2296" r="-1634" b="-96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College 4a: binomiale verdeling (1/2)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56245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Binomiale</a:t>
            </a:r>
            <a:r>
              <a:rPr lang="en-US" dirty="0" smtClean="0"/>
              <a:t> </a:t>
            </a:r>
            <a:r>
              <a:rPr lang="en-US" dirty="0" err="1" smtClean="0"/>
              <a:t>verdeling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 algn="ctr">
              <a:buNone/>
            </a:pPr>
            <a:r>
              <a:rPr lang="nl-NL" b="1" dirty="0" smtClean="0">
                <a:latin typeface="RijksoverheidSansText" panose="020B0503040202060203" pitchFamily="34" charset="0"/>
                <a:hlinkClick r:id="rId2"/>
              </a:rPr>
              <a:t>https://interactive-binomiaal.streamlit.app</a:t>
            </a:r>
            <a:endParaRPr lang="nl-NL" b="1" dirty="0" smtClean="0">
              <a:latin typeface="RijksoverheidSansText" panose="020B0503040202060203" pitchFamily="34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College 4a: binomiale verdeling (1/2)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912244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Kansrekening</a:t>
            </a:r>
            <a:r>
              <a:rPr lang="en-US" dirty="0" smtClean="0"/>
              <a:t> met de </a:t>
            </a:r>
            <a:r>
              <a:rPr lang="en-US" dirty="0" err="1" smtClean="0"/>
              <a:t>binomiale</a:t>
            </a:r>
            <a:r>
              <a:rPr lang="en-US" dirty="0" smtClean="0"/>
              <a:t> </a:t>
            </a:r>
            <a:r>
              <a:rPr lang="en-US" dirty="0" err="1" smtClean="0"/>
              <a:t>verdeling</a:t>
            </a:r>
            <a:endParaRPr lang="nl-N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1187856" cy="4246562"/>
              </a:xfrm>
            </p:spPr>
            <p:txBody>
              <a:bodyPr anchor="t"/>
              <a:lstStyle/>
              <a:p>
                <a:pPr marL="0" indent="0">
                  <a:buNone/>
                </a:pPr>
                <a:r>
                  <a:rPr lang="en-US" dirty="0" smtClean="0">
                    <a:latin typeface="RijksoverheidSansText" panose="020B0503040202060203" pitchFamily="34" charset="0"/>
                  </a:rPr>
                  <a:t>Op de GR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kunnen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we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binomiale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kansen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uitrekenen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met: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b="1" dirty="0" smtClean="0">
                  <a:latin typeface="RijksoverheidSansText" panose="020B050304020206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b="1" dirty="0" err="1" smtClean="0">
                    <a:latin typeface="RijksoverheidSansText" panose="020B0503040202060203" pitchFamily="34" charset="0"/>
                  </a:rPr>
                  <a:t>binompdf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(</a:t>
                </a:r>
                <a:r>
                  <a:rPr lang="en-US" i="1" dirty="0" err="1" smtClean="0">
                    <a:latin typeface="RijksoverheidSansText" panose="020B0503040202060203" pitchFamily="34" charset="0"/>
                  </a:rPr>
                  <a:t>binomiale</a:t>
                </a:r>
                <a:r>
                  <a:rPr lang="en-US" b="1" i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i="1" dirty="0" err="1" smtClean="0">
                    <a:latin typeface="RijksoverheidSansText" panose="020B0503040202060203" pitchFamily="34" charset="0"/>
                  </a:rPr>
                  <a:t>kansfunctie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) </a:t>
                </a:r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nl-NL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nd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nl-NL" b="0" i="0" smtClean="0">
                        <a:latin typeface="Cambria Math" panose="02040503050406030204" pitchFamily="18" charset="0"/>
                      </a:rPr>
                      <m:t>vars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nl-NL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nl-NL" dirty="0" smtClean="0">
                  <a:latin typeface="RijksoverheidSansText" panose="020B0503040202060203" pitchFamily="34" charset="0"/>
                </a:endParaRPr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:r>
                  <a:rPr lang="nl-NL" dirty="0">
                    <a:latin typeface="RijksoverheidSansText" panose="020B0503040202060203" pitchFamily="34" charset="0"/>
                  </a:rPr>
                  <a:t>K</a:t>
                </a:r>
                <a:r>
                  <a:rPr lang="nl-NL" dirty="0" smtClean="0">
                    <a:latin typeface="RijksoverheidSansText" panose="020B0503040202060203" pitchFamily="34" charset="0"/>
                  </a:rPr>
                  <a:t>ansen op specifieke uitkomsten: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 smtClean="0">
                  <a:latin typeface="RijksoverheidSansText" panose="020B050304020206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b="1" dirty="0" err="1" smtClean="0">
                    <a:latin typeface="RijksoverheidSansText" panose="020B0503040202060203" pitchFamily="34" charset="0"/>
                  </a:rPr>
                  <a:t>binomcdf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(</a:t>
                </a:r>
                <a:r>
                  <a:rPr lang="en-US" i="1" dirty="0" err="1" smtClean="0">
                    <a:latin typeface="RijksoverheidSansText" panose="020B0503040202060203" pitchFamily="34" charset="0"/>
                  </a:rPr>
                  <a:t>binomiale</a:t>
                </a:r>
                <a:r>
                  <a:rPr lang="en-US" i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i="1" dirty="0" err="1" smtClean="0">
                    <a:latin typeface="RijksoverheidSansText" panose="020B0503040202060203" pitchFamily="34" charset="0"/>
                  </a:rPr>
                  <a:t>cumulatieve</a:t>
                </a:r>
                <a:r>
                  <a:rPr lang="en-US" i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i="1" dirty="0" err="1" smtClean="0">
                    <a:latin typeface="RijksoverheidSansText" panose="020B0503040202060203" pitchFamily="34" charset="0"/>
                  </a:rPr>
                  <a:t>verdelingsfunctie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)</a:t>
                </a:r>
                <a:r>
                  <a:rPr lang="en-US" dirty="0" smtClean="0"/>
                  <a:t> </a:t>
                </a:r>
                <a:endParaRPr lang="nl-NL" i="1" dirty="0" smtClean="0">
                  <a:latin typeface="Cambria Math" panose="02040503050406030204" pitchFamily="18" charset="0"/>
                </a:endParaRPr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nl-NL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nd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VARS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nl-NL" b="0" i="0" smtClean="0"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lang="en-US" dirty="0">
                    <a:latin typeface="RijksoverheidSansText" panose="020B0503040202060203" pitchFamily="34" charset="0"/>
                  </a:rPr>
                  <a:t>)</a:t>
                </a:r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:r>
                  <a:rPr lang="nl-NL" dirty="0" smtClean="0">
                    <a:latin typeface="RijksoverheidSansText" panose="020B0503040202060203" pitchFamily="34" charset="0"/>
                  </a:rPr>
                  <a:t>Kansen op hoogstens een uitkomst: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 smtClean="0">
                  <a:latin typeface="RijksoverheidSansText" panose="020B0503040202060203" pitchFamily="34" charset="0"/>
                </a:endParaRPr>
              </a:p>
              <a:p>
                <a:endParaRPr lang="nl-NL" b="0" i="1" dirty="0" smtClean="0">
                  <a:latin typeface="Cambria Math" panose="02040503050406030204" pitchFamily="18" charset="0"/>
                </a:endParaRPr>
              </a:p>
              <a:p>
                <a:r>
                  <a:rPr lang="nl-NL" b="1" dirty="0" smtClean="0">
                    <a:latin typeface="RijksoverheidSansText" panose="020B0503040202060203" pitchFamily="34" charset="0"/>
                  </a:rPr>
                  <a:t>Trials: </a:t>
                </a:r>
                <a:r>
                  <a:rPr lang="nl-NL" dirty="0" smtClean="0">
                    <a:latin typeface="RijksoverheidSansText" panose="020B0503040202060203" pitchFamily="34" charset="0"/>
                  </a:rPr>
                  <a:t>het aantal </a:t>
                </a:r>
                <a:r>
                  <a:rPr lang="nl-NL" dirty="0" err="1" smtClean="0">
                    <a:latin typeface="RijksoverheidSansText" panose="020B0503040202060203" pitchFamily="34" charset="0"/>
                  </a:rPr>
                  <a:t>Bernoulli</a:t>
                </a:r>
                <a:r>
                  <a:rPr lang="nl-NL" dirty="0" smtClean="0">
                    <a:latin typeface="RijksoverheidSansText" panose="020B0503040202060203" pitchFamily="34" charset="0"/>
                  </a:rPr>
                  <a:t>-experimenten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nl-NL" b="0" dirty="0" smtClean="0">
                  <a:latin typeface="RijksoverheidSansText" panose="020B0503040202060203" pitchFamily="34" charset="0"/>
                </a:endParaRPr>
              </a:p>
              <a:p>
                <a:r>
                  <a:rPr lang="nl-NL" b="0" dirty="0" smtClean="0"/>
                  <a:t> </a:t>
                </a:r>
                <a14:m>
                  <m:oMath xmlns:m="http://schemas.openxmlformats.org/officeDocument/2006/math">
                    <m:r>
                      <a:rPr lang="nl-NL" b="1" i="1" smtClean="0"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nl-NL" b="1" dirty="0" smtClean="0">
                    <a:latin typeface="RijksoverheidSansText" panose="020B0503040202060203" pitchFamily="34" charset="0"/>
                  </a:rPr>
                  <a:t>: </a:t>
                </a:r>
                <a:r>
                  <a:rPr lang="nl-NL" dirty="0" smtClean="0">
                    <a:latin typeface="RijksoverheidSansText" panose="020B0503040202060203" pitchFamily="34" charset="0"/>
                  </a:rPr>
                  <a:t>de succeskans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nl-NL" b="1" dirty="0" smtClean="0">
                  <a:latin typeface="RijksoverheidSansText" panose="020B0503040202060203" pitchFamily="34" charset="0"/>
                </a:endParaRPr>
              </a:p>
              <a:p>
                <a:r>
                  <a:rPr lang="nl-NL" b="1" dirty="0" smtClean="0"/>
                  <a:t> </a:t>
                </a:r>
                <a14:m>
                  <m:oMath xmlns:m="http://schemas.openxmlformats.org/officeDocument/2006/math">
                    <m:r>
                      <a:rPr lang="nl-NL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nl-NL" b="1" dirty="0" smtClean="0">
                    <a:latin typeface="RijksoverheidSansText" panose="020B0503040202060203" pitchFamily="34" charset="0"/>
                  </a:rPr>
                  <a:t>-</a:t>
                </a:r>
                <a:r>
                  <a:rPr lang="nl-NL" b="1" dirty="0" err="1" smtClean="0">
                    <a:latin typeface="RijksoverheidSansText" panose="020B0503040202060203" pitchFamily="34" charset="0"/>
                  </a:rPr>
                  <a:t>value</a:t>
                </a:r>
                <a:r>
                  <a:rPr lang="nl-NL" b="1" dirty="0" smtClean="0">
                    <a:latin typeface="RijksoverheidSansText" panose="020B0503040202060203" pitchFamily="34" charset="0"/>
                  </a:rPr>
                  <a:t>: </a:t>
                </a:r>
                <a:r>
                  <a:rPr lang="nl-NL" dirty="0" smtClean="0">
                    <a:latin typeface="RijksoverheidSansText" panose="020B0503040202060203" pitchFamily="34" charset="0"/>
                  </a:rPr>
                  <a:t>de waarde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nl-NL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nl-NL" dirty="0" smtClean="0">
                    <a:latin typeface="RijksoverheidSansText" panose="020B0503040202060203" pitchFamily="34" charset="0"/>
                  </a:rPr>
                  <a:t>die je wilt invullen.</a:t>
                </a:r>
                <a:endParaRPr lang="nl-NL" b="1" dirty="0" smtClean="0">
                  <a:latin typeface="RijksoverheidSansText" panose="020B0503040202060203" pitchFamily="34" charset="0"/>
                </a:endParaRPr>
              </a:p>
              <a:p>
                <a:endParaRPr lang="nl-NL" b="0" i="1" dirty="0" smtClean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1187856" cy="4246562"/>
              </a:xfrm>
              <a:blipFill>
                <a:blip r:embed="rId2"/>
                <a:stretch>
                  <a:fillRect l="-1525" t="-2009" b="-30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College 4a: binomiale verdeling (1/2)</a:t>
            </a:r>
            <a:endParaRPr lang="nl-NL" dirty="0"/>
          </a:p>
        </p:txBody>
      </p:sp>
      <p:pic>
        <p:nvPicPr>
          <p:cNvPr id="6" name="Afbeelding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6320" y="497760"/>
            <a:ext cx="2592288" cy="5772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993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Kansrekening</a:t>
            </a:r>
            <a:r>
              <a:rPr lang="en-US" dirty="0" smtClean="0"/>
              <a:t> met de </a:t>
            </a:r>
            <a:r>
              <a:rPr lang="en-US" dirty="0" err="1" smtClean="0"/>
              <a:t>binomiale</a:t>
            </a:r>
            <a:r>
              <a:rPr lang="en-US" dirty="0" smtClean="0"/>
              <a:t> </a:t>
            </a:r>
            <a:r>
              <a:rPr lang="en-US" dirty="0" err="1" smtClean="0"/>
              <a:t>verdeling</a:t>
            </a:r>
            <a:endParaRPr lang="nl-N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1187856" cy="4246562"/>
              </a:xfrm>
            </p:spPr>
            <p:txBody>
              <a:bodyPr anchor="t"/>
              <a:lstStyle/>
              <a:p>
                <a:endParaRPr lang="en-US" b="1" dirty="0" smtClean="0">
                  <a:latin typeface="RijksoverheidSansText" panose="020B0503040202060203" pitchFamily="34" charset="0"/>
                </a:endParaRPr>
              </a:p>
              <a:p>
                <a:r>
                  <a:rPr lang="en-US" b="1" dirty="0" err="1" smtClean="0">
                    <a:latin typeface="RijksoverheidSansText" panose="020B0503040202060203" pitchFamily="34" charset="0"/>
                  </a:rPr>
                  <a:t>Voorbeelden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=2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binompdf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, 2</m:t>
                        </m:r>
                      </m:e>
                    </m:d>
                  </m:oMath>
                </a14:m>
                <a:endParaRPr lang="en-US" b="0" dirty="0" smtClean="0">
                  <a:latin typeface="RijksoverheidSansText" panose="020B050304020206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b="0" dirty="0" smtClean="0">
                  <a:latin typeface="RijksoverheidSansText" panose="020B050304020206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≤4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binomcdf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,4</m:t>
                        </m:r>
                      </m:e>
                    </m:d>
                  </m:oMath>
                </a14:m>
                <a:endParaRPr lang="en-US" b="0" dirty="0" smtClean="0">
                  <a:latin typeface="RijksoverheidSansText" panose="020B050304020206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b="0" dirty="0" smtClean="0">
                  <a:latin typeface="RijksoverheidSansText" panose="020B050304020206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≥5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≤4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binomcdf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,4</m:t>
                        </m:r>
                      </m:e>
                    </m:d>
                  </m:oMath>
                </a14:m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nl-NL" b="0" i="1" dirty="0" smtClean="0">
                  <a:latin typeface="Cambria Math" panose="020405030504060302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2≤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≤7</m:t>
                        </m:r>
                      </m:e>
                    </m:d>
                    <m:r>
                      <m:rPr>
                        <m:aln/>
                      </m:rPr>
                      <a:rPr lang="nl-NL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≤7</m:t>
                        </m:r>
                      </m:e>
                    </m:d>
                    <m:r>
                      <a:rPr lang="nl-NL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≤1</m:t>
                        </m:r>
                      </m:e>
                    </m:d>
                  </m:oMath>
                </a14:m>
                <a:endParaRPr lang="nl-NL" b="0" i="1" dirty="0" smtClean="0">
                  <a:latin typeface="Cambria Math" panose="02040503050406030204" pitchFamily="18" charset="0"/>
                </a:endParaRPr>
              </a:p>
              <a:p>
                <a:pPr/>
                <a:r>
                  <a:rPr lang="nl-NL" b="0" dirty="0" smtClean="0"/>
                  <a:t>		     </a:t>
                </a:r>
                <a14:m>
                  <m:oMath xmlns:m="http://schemas.openxmlformats.org/officeDocument/2006/math">
                    <m:r>
                      <m:rPr>
                        <m:aln/>
                      </m:rPr>
                      <a:rPr lang="nl-NL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binomcdf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nl-NL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l-NL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nl-NL" i="1">
                            <a:latin typeface="Cambria Math" panose="02040503050406030204" pitchFamily="18" charset="0"/>
                          </a:rPr>
                          <m:t>,7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binomcdf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nl-NL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nl-NL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nl-NL" i="1">
                        <a:latin typeface="Cambria Math" panose="02040503050406030204" pitchFamily="18" charset="0"/>
                      </a:rPr>
                      <m:t>,1)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nl-NL" b="0" i="1" dirty="0" smtClean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1187856" cy="4246562"/>
              </a:xfrm>
              <a:blipFill>
                <a:blip r:embed="rId2"/>
                <a:stretch>
                  <a:fillRect l="-15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College 4a: binomiale verdeling (1/2)</a:t>
            </a:r>
            <a:endParaRPr lang="nl-NL" dirty="0"/>
          </a:p>
        </p:txBody>
      </p:sp>
      <p:pic>
        <p:nvPicPr>
          <p:cNvPr id="7" name="Afbeelding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6320" y="497760"/>
            <a:ext cx="2592288" cy="5772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179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00110"/>
          </a:xfrm>
        </p:spPr>
        <p:txBody>
          <a:bodyPr/>
          <a:lstStyle/>
          <a:p>
            <a:r>
              <a:rPr lang="en-US" dirty="0" smtClean="0"/>
              <a:t>Casus: </a:t>
            </a:r>
            <a:r>
              <a:rPr lang="en-US" dirty="0" err="1" smtClean="0"/>
              <a:t>bergoperaties</a:t>
            </a:r>
            <a:r>
              <a:rPr lang="en-US" dirty="0" smtClean="0"/>
              <a:t> van Mountain Leaders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" y="1773238"/>
            <a:ext cx="6291312" cy="4246562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RijksoverheidSansText" panose="020B0503040202060203" pitchFamily="34" charset="0"/>
              </a:rPr>
              <a:t>Tien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eenheden</a:t>
            </a:r>
            <a:r>
              <a:rPr lang="en-US" sz="2400" dirty="0">
                <a:latin typeface="RijksoverheidSansText" panose="020B0503040202060203" pitchFamily="34" charset="0"/>
              </a:rPr>
              <a:t> </a:t>
            </a:r>
            <a:r>
              <a:rPr lang="en-US" sz="2400" dirty="0" smtClean="0">
                <a:latin typeface="RijksoverheidSansText" panose="020B0503040202060203" pitchFamily="34" charset="0"/>
              </a:rPr>
              <a:t>van </a:t>
            </a:r>
            <a:r>
              <a:rPr lang="en-US" sz="2400" dirty="0">
                <a:latin typeface="RijksoverheidSansText" panose="020B0503040202060203" pitchFamily="34" charset="0"/>
              </a:rPr>
              <a:t>Mountain </a:t>
            </a:r>
            <a:r>
              <a:rPr lang="en-US" sz="2400" dirty="0" smtClean="0">
                <a:latin typeface="RijksoverheidSansText" panose="020B0503040202060203" pitchFamily="34" charset="0"/>
              </a:rPr>
              <a:t>Leaders in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een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gezamenlijke</a:t>
            </a:r>
            <a:r>
              <a:rPr lang="en-US" sz="2400" dirty="0" smtClean="0">
                <a:latin typeface="RijksoverheidSansText" panose="020B0503040202060203" pitchFamily="34" charset="0"/>
              </a:rPr>
              <a:t> NAVO-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oefening</a:t>
            </a:r>
            <a:r>
              <a:rPr lang="en-US" sz="2400" dirty="0" smtClean="0">
                <a:latin typeface="RijksoverheidSansText" panose="020B0503040202060203" pitchFamily="34" charset="0"/>
              </a:rPr>
              <a:t> in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Noorwegen</a:t>
            </a:r>
            <a:r>
              <a:rPr lang="en-US" sz="2400" dirty="0" smtClean="0">
                <a:latin typeface="RijksoverheidSansText" panose="020B0503040202060203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 smtClean="0">
              <a:latin typeface="RijksoverheidSansText" panose="020B050304020206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 smtClean="0">
                <a:latin typeface="RijksoverheidSansText" panose="020B0503040202060203" pitchFamily="34" charset="0"/>
              </a:rPr>
              <a:t>Doel</a:t>
            </a:r>
            <a:r>
              <a:rPr lang="en-US" sz="2400" b="1" dirty="0" smtClean="0">
                <a:latin typeface="RijksoverheidSansText" panose="020B0503040202060203" pitchFamily="34" charset="0"/>
              </a:rPr>
              <a:t>: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een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verplaatsing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uitvoeren</a:t>
            </a:r>
            <a:r>
              <a:rPr lang="en-US" sz="2400" dirty="0" smtClean="0">
                <a:latin typeface="RijksoverheidSansText" panose="020B0503040202060203" pitchFamily="34" charset="0"/>
              </a:rPr>
              <a:t> over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een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bergpas</a:t>
            </a:r>
            <a:r>
              <a:rPr lang="en-US" sz="2400" dirty="0" smtClean="0">
                <a:latin typeface="RijksoverheidSansText" panose="020B0503040202060203" pitchFamily="34" charset="0"/>
              </a:rPr>
              <a:t>,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ongezien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en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binnen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een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bepaalde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tijd</a:t>
            </a:r>
            <a:r>
              <a:rPr lang="en-US" sz="2400" dirty="0" smtClean="0">
                <a:latin typeface="RijksoverheidSansText" panose="020B0503040202060203" pitchFamily="34" charset="0"/>
              </a:rPr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RijksoverheidSansText" panose="020B050304020206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 smtClean="0">
                <a:latin typeface="RijksoverheidSansText" panose="020B0503040202060203" pitchFamily="34" charset="0"/>
              </a:rPr>
              <a:t>Historische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oefeningsdata</a:t>
            </a:r>
            <a:r>
              <a:rPr lang="en-US" sz="2400" dirty="0" smtClean="0">
                <a:latin typeface="RijksoverheidSansText" panose="020B0503040202060203" pitchFamily="34" charset="0"/>
              </a:rPr>
              <a:t>: </a:t>
            </a:r>
          </a:p>
          <a:p>
            <a:pPr marL="717550" lvl="1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RijksoverheidSansText" panose="020B0503040202060203" pitchFamily="34" charset="0"/>
              </a:rPr>
              <a:t>75</a:t>
            </a:r>
            <a:r>
              <a:rPr lang="en-US" sz="2400" dirty="0">
                <a:latin typeface="RijksoverheidSansText" panose="020B0503040202060203" pitchFamily="34" charset="0"/>
              </a:rPr>
              <a:t>%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kans</a:t>
            </a:r>
            <a:r>
              <a:rPr lang="en-US" sz="2400" dirty="0" smtClean="0">
                <a:latin typeface="RijksoverheidSansText" panose="020B0503040202060203" pitchFamily="34" charset="0"/>
              </a:rPr>
              <a:t> op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succes</a:t>
            </a:r>
            <a:r>
              <a:rPr lang="en-US" sz="2400" dirty="0" smtClean="0">
                <a:latin typeface="RijksoverheidSansText" panose="020B0503040202060203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RijksoverheidSansText" panose="020B0503040202060203" pitchFamily="34" charset="0"/>
            </a:endParaRPr>
          </a:p>
          <a:p>
            <a:pPr marL="0" indent="0">
              <a:buNone/>
            </a:pPr>
            <a:r>
              <a:rPr lang="nl-NL" sz="2400" b="1" dirty="0" smtClean="0"/>
              <a:t>Wat is de kans dat minstens zeven van de tien eenheden de verplaatsing succesvol uitvoert?</a:t>
            </a:r>
            <a:endParaRPr lang="en-US" sz="2400" b="1" dirty="0" smtClean="0"/>
          </a:p>
          <a:p>
            <a:pPr algn="ctr"/>
            <a:endParaRPr lang="en-US" sz="2400" b="1" dirty="0" smtClean="0"/>
          </a:p>
          <a:p>
            <a:pPr algn="ctr"/>
            <a:endParaRPr lang="nl-NL" sz="2400" b="1" dirty="0" smtClean="0"/>
          </a:p>
          <a:p>
            <a:pPr algn="ctr"/>
            <a:endParaRPr lang="en-US" sz="2400" b="1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College 4a: binomiale verdeling (1/2)</a:t>
            </a:r>
            <a:endParaRPr kumimoji="0" lang="nl-NL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pic>
        <p:nvPicPr>
          <p:cNvPr id="4" name="Afbeelding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2144" y="2324513"/>
            <a:ext cx="4716016" cy="3144011"/>
          </a:xfrm>
          <a:prstGeom prst="rect">
            <a:avLst/>
          </a:prstGeom>
        </p:spPr>
      </p:pic>
      <p:sp>
        <p:nvSpPr>
          <p:cNvPr id="5" name="Tekstvak 4"/>
          <p:cNvSpPr txBox="1"/>
          <p:nvPr/>
        </p:nvSpPr>
        <p:spPr>
          <a:xfrm>
            <a:off x="7896200" y="5589240"/>
            <a:ext cx="374441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https://magazines.defensie.nl/defensiekrant/2015/17/mountain-leaders</a:t>
            </a:r>
          </a:p>
        </p:txBody>
      </p:sp>
    </p:spTree>
    <p:extLst>
      <p:ext uri="{BB962C8B-B14F-4D97-AF65-F5344CB8AC3E}">
        <p14:creationId xmlns:p14="http://schemas.microsoft.com/office/powerpoint/2010/main" val="1914617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Voorbeeld</a:t>
            </a:r>
            <a:r>
              <a:rPr lang="en-US" dirty="0"/>
              <a:t>: </a:t>
            </a:r>
            <a:r>
              <a:rPr lang="en-US" dirty="0" err="1"/>
              <a:t>bergoperaties</a:t>
            </a:r>
            <a:r>
              <a:rPr lang="en-US" dirty="0"/>
              <a:t> van Mountain Leaders</a:t>
            </a:r>
            <a:endParaRPr lang="nl-N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971832" cy="4246562"/>
              </a:xfrm>
            </p:spPr>
            <p:txBody>
              <a:bodyPr anchor="t"/>
              <a:lstStyle/>
              <a:p>
                <a:pPr marL="0" indent="0">
                  <a:buNone/>
                </a:pPr>
                <a:r>
                  <a:rPr lang="nl-NL" sz="2400" b="1" dirty="0" smtClean="0"/>
                  <a:t>Wat is de kans dat minstens zeven eenheden </a:t>
                </a:r>
                <a:r>
                  <a:rPr lang="nl-NL" sz="2400" b="1" dirty="0"/>
                  <a:t>de verplaatsing succesvol </a:t>
                </a:r>
                <a:r>
                  <a:rPr lang="nl-NL" sz="2400" b="1" dirty="0" smtClean="0"/>
                  <a:t>uitvoeren?</a:t>
                </a:r>
                <a:endParaRPr lang="en-US" sz="2400" b="1" dirty="0"/>
              </a:p>
              <a:p>
                <a:pPr algn="ctr"/>
                <a:endParaRPr lang="en-US" sz="2400" b="1" dirty="0">
                  <a:latin typeface="RijksoverheidSansText" panose="020B0503040202060203" pitchFamily="34" charset="0"/>
                </a:endParaRPr>
              </a:p>
              <a:p>
                <a:r>
                  <a:rPr lang="en-US" sz="2400" dirty="0" smtClean="0">
                    <a:latin typeface="RijksoverheidSansText" panose="020B0503040202060203" pitchFamily="34" charset="0"/>
                  </a:rPr>
                  <a:t>Het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aantal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eenheden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dat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het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observatiepunt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tijdig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bereikt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is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binomiaal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verdeeld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met parameters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sz="2400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en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=0.75.</m:t>
                    </m:r>
                  </m:oMath>
                </a14:m>
                <a:endParaRPr lang="en-US" sz="2400" dirty="0" smtClean="0">
                  <a:latin typeface="RijksoverheidSansText" panose="020B0503040202060203" pitchFamily="34" charset="0"/>
                </a:endParaRPr>
              </a:p>
              <a:p>
                <a:endParaRPr lang="en-US" sz="2400" dirty="0" smtClean="0">
                  <a:latin typeface="RijksoverheidSansText" panose="020B0503040202060203" pitchFamily="34" charset="0"/>
                </a:endParaRPr>
              </a:p>
              <a:p>
                <a:r>
                  <a:rPr lang="en-US" sz="2400" dirty="0" smtClean="0">
                    <a:latin typeface="RijksoverheidSansText" panose="020B0503040202060203" pitchFamily="34" charset="0"/>
                  </a:rPr>
                  <a:t>We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willen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dus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de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kans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≥7)</m:t>
                    </m:r>
                  </m:oMath>
                </a14:m>
                <a:r>
                  <a:rPr lang="en-US" sz="2400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bepalen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:</a:t>
                </a:r>
              </a:p>
              <a:p>
                <a:endParaRPr lang="en-US" sz="2400" dirty="0">
                  <a:latin typeface="RijksoverheidSansText" panose="020B0503040202060203" pitchFamily="34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≥7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≤6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=1−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binomcdf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nl-NL" sz="2400" b="0" i="1" smtClean="0">
                            <a:latin typeface="Cambria Math" panose="02040503050406030204" pitchFamily="18" charset="0"/>
                          </a:rPr>
                          <m:t>=10, </m:t>
                        </m:r>
                        <m:r>
                          <a:rPr lang="nl-NL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nl-NL" sz="2400" b="0" i="1" smtClean="0">
                            <a:latin typeface="Cambria Math" panose="02040503050406030204" pitchFamily="18" charset="0"/>
                          </a:rPr>
                          <m:t>=0.75</m:t>
                        </m:r>
                        <m:r>
                          <a:rPr lang="nl-NL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l-NL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nl-NL" sz="2400" b="0" i="1" smtClean="0">
                            <a:latin typeface="Cambria Math" panose="02040503050406030204" pitchFamily="18" charset="0"/>
                          </a:rPr>
                          <m:t>=6</m:t>
                        </m:r>
                      </m:e>
                    </m:d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7759</m:t>
                    </m:r>
                  </m:oMath>
                </a14:m>
                <a:r>
                  <a:rPr lang="en-US" sz="2400" dirty="0" smtClean="0">
                    <a:latin typeface="RijksoverheidSansText" panose="020B0503040202060203" pitchFamily="34" charset="0"/>
                  </a:rPr>
                  <a:t>.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</a:t>
                </a:r>
                <a:endParaRPr lang="en-US" sz="2400" dirty="0">
                  <a:latin typeface="RijksoverheidSansText" panose="020B0503040202060203" pitchFamily="34" charset="0"/>
                </a:endParaRPr>
              </a:p>
              <a:p>
                <a:endParaRPr lang="en-US" sz="2400" dirty="0">
                  <a:latin typeface="RijksoverheidSansText" panose="020B0503040202060203" pitchFamily="34" charset="0"/>
                </a:endParaRPr>
              </a:p>
              <a:p>
                <a:endParaRPr lang="en-US" sz="2400" dirty="0" smtClean="0">
                  <a:latin typeface="RijksoverheidSansText" panose="020B0503040202060203" pitchFamily="34" charset="0"/>
                </a:endParaRPr>
              </a:p>
              <a:p>
                <a:pPr algn="ctr"/>
                <a:r>
                  <a:rPr lang="en-US" sz="2400" b="1" dirty="0" smtClean="0">
                    <a:latin typeface="RijksoverheidSansText" panose="020B0503040202060203" pitchFamily="34" charset="0"/>
                  </a:rPr>
                  <a:t>Met 77.59% </a:t>
                </a:r>
                <a:r>
                  <a:rPr lang="en-US" sz="2400" b="1" dirty="0" err="1" smtClean="0">
                    <a:latin typeface="RijksoverheidSansText" panose="020B0503040202060203" pitchFamily="34" charset="0"/>
                  </a:rPr>
                  <a:t>kans</a:t>
                </a:r>
                <a:r>
                  <a:rPr lang="en-US" sz="2400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b="1" dirty="0" err="1" smtClean="0">
                    <a:latin typeface="RijksoverheidSansText" panose="020B0503040202060203" pitchFamily="34" charset="0"/>
                  </a:rPr>
                  <a:t>voeren</a:t>
                </a:r>
                <a:r>
                  <a:rPr lang="en-US" sz="2400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b="1" dirty="0" err="1" smtClean="0">
                    <a:latin typeface="RijksoverheidSansText" panose="020B0503040202060203" pitchFamily="34" charset="0"/>
                  </a:rPr>
                  <a:t>minstens</a:t>
                </a:r>
                <a:r>
                  <a:rPr lang="en-US" sz="2400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b="1" dirty="0" err="1" smtClean="0">
                    <a:latin typeface="RijksoverheidSansText" panose="020B0503040202060203" pitchFamily="34" charset="0"/>
                  </a:rPr>
                  <a:t>zeven</a:t>
                </a:r>
                <a:r>
                  <a:rPr lang="en-US" sz="2400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b="1" dirty="0" err="1" smtClean="0">
                    <a:latin typeface="RijksoverheidSansText" panose="020B0503040202060203" pitchFamily="34" charset="0"/>
                  </a:rPr>
                  <a:t>eenheden</a:t>
                </a:r>
                <a:r>
                  <a:rPr lang="en-US" sz="2400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b="1" dirty="0" smtClean="0">
                    <a:latin typeface="RijksoverheidSansText" panose="020B0503040202060203" pitchFamily="34" charset="0"/>
                  </a:rPr>
                  <a:t>de </a:t>
                </a:r>
                <a:r>
                  <a:rPr lang="en-US" sz="2400" b="1" dirty="0" err="1" smtClean="0">
                    <a:latin typeface="RijksoverheidSansText" panose="020B0503040202060203" pitchFamily="34" charset="0"/>
                  </a:rPr>
                  <a:t>verplaatsing</a:t>
                </a:r>
                <a:r>
                  <a:rPr lang="en-US" sz="2400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b="1" dirty="0" err="1" smtClean="0">
                    <a:latin typeface="RijksoverheidSansText" panose="020B0503040202060203" pitchFamily="34" charset="0"/>
                  </a:rPr>
                  <a:t>succesvol</a:t>
                </a:r>
                <a:r>
                  <a:rPr lang="en-US" sz="2400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b="1" dirty="0" err="1" smtClean="0">
                    <a:latin typeface="RijksoverheidSansText" panose="020B0503040202060203" pitchFamily="34" charset="0"/>
                  </a:rPr>
                  <a:t>uit</a:t>
                </a:r>
                <a:r>
                  <a:rPr lang="en-US" sz="2400" b="1" dirty="0" smtClean="0">
                    <a:latin typeface="RijksoverheidSansText" panose="020B0503040202060203" pitchFamily="34" charset="0"/>
                  </a:rPr>
                  <a:t>.</a:t>
                </a:r>
                <a:endParaRPr lang="en-US" sz="2400" b="1" dirty="0">
                  <a:latin typeface="RijksoverheidSansText" panose="020B0503040202060203" pitchFamily="34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971832" cy="4246562"/>
              </a:xfrm>
              <a:blipFill>
                <a:blip r:embed="rId2"/>
                <a:stretch>
                  <a:fillRect l="-1667" t="-2296" b="-27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College 4a: binomiale verdeling (1/2)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036490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Voorbeeld</a:t>
            </a:r>
            <a:r>
              <a:rPr lang="en-US" dirty="0"/>
              <a:t>: </a:t>
            </a:r>
            <a:r>
              <a:rPr lang="en-US" dirty="0" err="1"/>
              <a:t>bergoperaties</a:t>
            </a:r>
            <a:r>
              <a:rPr lang="en-US" dirty="0"/>
              <a:t> van Mountain Leaders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" y="1773238"/>
            <a:ext cx="10611792" cy="4246562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RijksoverheidSansText" panose="020B0503040202060203" pitchFamily="34" charset="0"/>
              </a:rPr>
              <a:t>De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missie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slaagt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als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minstens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zeven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eenheden</a:t>
            </a:r>
            <a:r>
              <a:rPr lang="en-US" sz="2400" dirty="0" smtClean="0">
                <a:latin typeface="RijksoverheidSansText" panose="020B0503040202060203" pitchFamily="34" charset="0"/>
              </a:rPr>
              <a:t> de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verplaatsing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succesvol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voert</a:t>
            </a:r>
            <a:r>
              <a:rPr lang="en-US" sz="2400" dirty="0" smtClean="0">
                <a:latin typeface="RijksoverheidSansText" panose="020B0503040202060203" pitchFamily="34" charset="0"/>
              </a:rPr>
              <a:t>.</a:t>
            </a:r>
          </a:p>
          <a:p>
            <a:endParaRPr lang="en-US" sz="2400" dirty="0">
              <a:latin typeface="RijksoverheidSansText" panose="020B050304020206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RijksoverheidSansText" panose="020B0503040202060203" pitchFamily="34" charset="0"/>
              </a:rPr>
              <a:t>De commandant was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niet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tevreden</a:t>
            </a:r>
            <a:r>
              <a:rPr lang="en-US" sz="2400" dirty="0" smtClean="0">
                <a:latin typeface="RijksoverheidSansText" panose="020B0503040202060203" pitchFamily="34" charset="0"/>
              </a:rPr>
              <a:t> met de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berekende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kans</a:t>
            </a:r>
            <a:r>
              <a:rPr lang="en-US" sz="2400" dirty="0" smtClean="0">
                <a:latin typeface="RijksoverheidSansText" panose="020B0503040202060203" pitchFamily="34" charset="0"/>
              </a:rPr>
              <a:t> op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slagen</a:t>
            </a:r>
            <a:r>
              <a:rPr lang="en-US" sz="2400" dirty="0" smtClean="0">
                <a:latin typeface="RijksoverheidSansText" panose="020B0503040202060203" pitchFamily="34" charset="0"/>
              </a:rPr>
              <a:t> (77.59%)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RijksoverheidSansText" panose="020B050304020206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RijksoverheidSansText" panose="020B0503040202060203" pitchFamily="34" charset="0"/>
              </a:rPr>
              <a:t>De commandant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wil</a:t>
            </a:r>
            <a:r>
              <a:rPr lang="en-US" sz="2400" dirty="0" smtClean="0">
                <a:latin typeface="RijksoverheidSansText" panose="020B0503040202060203" pitchFamily="34" charset="0"/>
              </a:rPr>
              <a:t> extra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eenheden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inzetten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zodat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kans</a:t>
            </a:r>
            <a:r>
              <a:rPr lang="en-US" sz="2400" dirty="0" smtClean="0">
                <a:latin typeface="RijksoverheidSansText" panose="020B0503040202060203" pitchFamily="34" charset="0"/>
              </a:rPr>
              <a:t> van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slagen</a:t>
            </a:r>
            <a:r>
              <a:rPr lang="en-US" sz="2400" dirty="0" smtClean="0">
                <a:latin typeface="RijksoverheidSansText" panose="020B0503040202060203" pitchFamily="34" charset="0"/>
              </a:rPr>
              <a:t> 95%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wordt</a:t>
            </a:r>
            <a:r>
              <a:rPr lang="en-US" sz="2400" dirty="0" smtClean="0">
                <a:latin typeface="RijksoverheidSansText" panose="020B0503040202060203" pitchFamily="34" charset="0"/>
              </a:rPr>
              <a:t>.</a:t>
            </a:r>
            <a:endParaRPr lang="en-US" sz="2400" dirty="0">
              <a:latin typeface="RijksoverheidSansText" panose="020B0503040202060203" pitchFamily="34" charset="0"/>
            </a:endParaRPr>
          </a:p>
          <a:p>
            <a:endParaRPr lang="en-US" sz="2400" dirty="0" smtClean="0">
              <a:latin typeface="RijksoverheidSansText" panose="020B0503040202060203" pitchFamily="34" charset="0"/>
            </a:endParaRPr>
          </a:p>
          <a:p>
            <a:endParaRPr lang="en-US" sz="2400" dirty="0">
              <a:latin typeface="RijksoverheidSansText" panose="020B0503040202060203" pitchFamily="34" charset="0"/>
            </a:endParaRPr>
          </a:p>
          <a:p>
            <a:endParaRPr lang="en-US" sz="2400" dirty="0" smtClean="0">
              <a:latin typeface="RijksoverheidSansText" panose="020B0503040202060203" pitchFamily="34" charset="0"/>
            </a:endParaRPr>
          </a:p>
          <a:p>
            <a:endParaRPr lang="en-US" sz="2400" dirty="0">
              <a:latin typeface="RijksoverheidSansText" panose="020B0503040202060203" pitchFamily="34" charset="0"/>
            </a:endParaRPr>
          </a:p>
          <a:p>
            <a:endParaRPr lang="en-US" sz="2400" dirty="0" smtClean="0">
              <a:latin typeface="RijksoverheidSansText" panose="020B0503040202060203" pitchFamily="34" charset="0"/>
            </a:endParaRPr>
          </a:p>
          <a:p>
            <a:pPr algn="ctr"/>
            <a:r>
              <a:rPr lang="en-US" sz="2400" b="1" dirty="0" err="1" smtClean="0">
                <a:latin typeface="RijksoverheidSansText" panose="020B0503040202060203" pitchFamily="34" charset="0"/>
              </a:rPr>
              <a:t>Hoeveel</a:t>
            </a:r>
            <a:r>
              <a:rPr lang="en-US" sz="2400" b="1" dirty="0" smtClean="0">
                <a:latin typeface="RijksoverheidSansText" panose="020B0503040202060203" pitchFamily="34" charset="0"/>
              </a:rPr>
              <a:t> extra </a:t>
            </a:r>
            <a:r>
              <a:rPr lang="en-US" sz="2400" b="1" dirty="0" err="1" smtClean="0">
                <a:latin typeface="RijksoverheidSansText" panose="020B0503040202060203" pitchFamily="34" charset="0"/>
              </a:rPr>
              <a:t>eenheden</a:t>
            </a:r>
            <a:r>
              <a:rPr lang="en-US" sz="2400" b="1" dirty="0" smtClean="0">
                <a:latin typeface="RijksoverheidSansText" panose="020B0503040202060203" pitchFamily="34" charset="0"/>
              </a:rPr>
              <a:t> </a:t>
            </a:r>
            <a:r>
              <a:rPr lang="en-US" sz="2400" b="1" dirty="0" err="1" smtClean="0">
                <a:latin typeface="RijksoverheidSansText" panose="020B0503040202060203" pitchFamily="34" charset="0"/>
              </a:rPr>
              <a:t>moeten</a:t>
            </a:r>
            <a:r>
              <a:rPr lang="en-US" sz="2400" b="1" dirty="0" smtClean="0">
                <a:latin typeface="RijksoverheidSansText" panose="020B0503040202060203" pitchFamily="34" charset="0"/>
              </a:rPr>
              <a:t> </a:t>
            </a:r>
            <a:r>
              <a:rPr lang="en-US" sz="2400" b="1" dirty="0" err="1" smtClean="0">
                <a:latin typeface="RijksoverheidSansText" panose="020B0503040202060203" pitchFamily="34" charset="0"/>
              </a:rPr>
              <a:t>er</a:t>
            </a:r>
            <a:r>
              <a:rPr lang="en-US" sz="2400" b="1" dirty="0" smtClean="0">
                <a:latin typeface="RijksoverheidSansText" panose="020B0503040202060203" pitchFamily="34" charset="0"/>
              </a:rPr>
              <a:t> </a:t>
            </a:r>
            <a:r>
              <a:rPr lang="en-US" sz="2400" b="1" dirty="0" err="1" smtClean="0">
                <a:latin typeface="RijksoverheidSansText" panose="020B0503040202060203" pitchFamily="34" charset="0"/>
              </a:rPr>
              <a:t>ingezet</a:t>
            </a:r>
            <a:r>
              <a:rPr lang="en-US" sz="2400" b="1" dirty="0" smtClean="0">
                <a:latin typeface="RijksoverheidSansText" panose="020B0503040202060203" pitchFamily="34" charset="0"/>
              </a:rPr>
              <a:t> </a:t>
            </a:r>
            <a:r>
              <a:rPr lang="en-US" sz="2400" b="1" dirty="0" err="1" smtClean="0">
                <a:latin typeface="RijksoverheidSansText" panose="020B0503040202060203" pitchFamily="34" charset="0"/>
              </a:rPr>
              <a:t>worden</a:t>
            </a:r>
            <a:r>
              <a:rPr lang="en-US" sz="2400" b="1" dirty="0" smtClean="0">
                <a:latin typeface="RijksoverheidSansText" panose="020B0503040202060203" pitchFamily="34" charset="0"/>
              </a:rPr>
              <a:t> om </a:t>
            </a:r>
            <a:r>
              <a:rPr lang="en-US" sz="2400" b="1" dirty="0" err="1" smtClean="0">
                <a:latin typeface="RijksoverheidSansText" panose="020B0503040202060203" pitchFamily="34" charset="0"/>
              </a:rPr>
              <a:t>deze</a:t>
            </a:r>
            <a:r>
              <a:rPr lang="en-US" sz="2400" b="1" dirty="0" smtClean="0">
                <a:latin typeface="RijksoverheidSansText" panose="020B0503040202060203" pitchFamily="34" charset="0"/>
              </a:rPr>
              <a:t> </a:t>
            </a:r>
            <a:r>
              <a:rPr lang="en-US" sz="2400" b="1" dirty="0" err="1" smtClean="0">
                <a:latin typeface="RijksoverheidSansText" panose="020B0503040202060203" pitchFamily="34" charset="0"/>
              </a:rPr>
              <a:t>missie</a:t>
            </a:r>
            <a:r>
              <a:rPr lang="en-US" sz="2400" b="1" dirty="0" smtClean="0">
                <a:latin typeface="RijksoverheidSansText" panose="020B0503040202060203" pitchFamily="34" charset="0"/>
              </a:rPr>
              <a:t> met 95% </a:t>
            </a:r>
            <a:r>
              <a:rPr lang="en-US" sz="2400" b="1" dirty="0" err="1" smtClean="0">
                <a:latin typeface="RijksoverheidSansText" panose="020B0503040202060203" pitchFamily="34" charset="0"/>
              </a:rPr>
              <a:t>kans</a:t>
            </a:r>
            <a:r>
              <a:rPr lang="en-US" sz="2400" b="1" dirty="0" smtClean="0">
                <a:latin typeface="RijksoverheidSansText" panose="020B0503040202060203" pitchFamily="34" charset="0"/>
              </a:rPr>
              <a:t> </a:t>
            </a:r>
            <a:r>
              <a:rPr lang="en-US" sz="2400" b="1" dirty="0" err="1" smtClean="0">
                <a:latin typeface="RijksoverheidSansText" panose="020B0503040202060203" pitchFamily="34" charset="0"/>
              </a:rPr>
              <a:t>te</a:t>
            </a:r>
            <a:r>
              <a:rPr lang="en-US" sz="2400" b="1" dirty="0" smtClean="0">
                <a:latin typeface="RijksoverheidSansText" panose="020B0503040202060203" pitchFamily="34" charset="0"/>
              </a:rPr>
              <a:t> </a:t>
            </a:r>
            <a:r>
              <a:rPr lang="en-US" sz="2400" b="1" dirty="0" err="1" smtClean="0">
                <a:latin typeface="RijksoverheidSansText" panose="020B0503040202060203" pitchFamily="34" charset="0"/>
              </a:rPr>
              <a:t>laten</a:t>
            </a:r>
            <a:r>
              <a:rPr lang="en-US" sz="2400" b="1" dirty="0" smtClean="0">
                <a:latin typeface="RijksoverheidSansText" panose="020B0503040202060203" pitchFamily="34" charset="0"/>
              </a:rPr>
              <a:t> </a:t>
            </a:r>
            <a:r>
              <a:rPr lang="en-US" sz="2400" b="1" dirty="0" err="1" smtClean="0">
                <a:latin typeface="RijksoverheidSansText" panose="020B0503040202060203" pitchFamily="34" charset="0"/>
              </a:rPr>
              <a:t>slagen</a:t>
            </a:r>
            <a:r>
              <a:rPr lang="en-US" sz="2400" b="1" dirty="0" smtClean="0">
                <a:latin typeface="RijksoverheidSansText" panose="020B0503040202060203" pitchFamily="34" charset="0"/>
              </a:rPr>
              <a:t>?</a:t>
            </a:r>
            <a:endParaRPr lang="nl-NL" sz="2400" b="1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College 4a: binomiale verdeling (1/2)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21958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Voorbeeld</a:t>
            </a:r>
            <a:r>
              <a:rPr lang="en-US" dirty="0"/>
              <a:t>: </a:t>
            </a:r>
            <a:r>
              <a:rPr lang="en-US" dirty="0" err="1"/>
              <a:t>bergoperaties</a:t>
            </a:r>
            <a:r>
              <a:rPr lang="en-US" dirty="0"/>
              <a:t> van Mountain Leaders</a:t>
            </a:r>
            <a:endParaRPr lang="nl-N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1187856" cy="424656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 smtClean="0">
                    <a:latin typeface="RijksoverheidSansText" panose="020B0503040202060203" pitchFamily="34" charset="0"/>
                  </a:rPr>
                  <a:t>In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dit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geval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hebben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we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een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binomiaal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verdeelde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kansvariabele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nl-NL" dirty="0" smtClean="0">
                    <a:latin typeface="RijksoverheidSansText" panose="020B0503040202060203" pitchFamily="34" charset="0"/>
                  </a:rPr>
                  <a:t> met nog steeds succeskans </a:t>
                </a:r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=0.75</m:t>
                    </m:r>
                  </m:oMath>
                </a14:m>
                <a:r>
                  <a:rPr lang="nl-NL" dirty="0" smtClean="0">
                    <a:latin typeface="RijksoverheidSansText" panose="020B0503040202060203" pitchFamily="34" charset="0"/>
                  </a:rPr>
                  <a:t>, maar met onbekende (nader te bepalen)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nl-NL" dirty="0" smtClean="0">
                    <a:latin typeface="RijksoverheidSansText" panose="020B0503040202060203" pitchFamily="34" charset="0"/>
                  </a:rPr>
                  <a:t>.</a:t>
                </a:r>
              </a:p>
              <a:p>
                <a:pPr marL="0" indent="0">
                  <a:buNone/>
                </a:pPr>
                <a:endParaRPr lang="nl-NL" dirty="0">
                  <a:latin typeface="RijksoverheidSansText" panose="020B0503040202060203" pitchFamily="34" charset="0"/>
                </a:endParaRPr>
              </a:p>
              <a:p>
                <a:pPr marL="0" indent="0">
                  <a:buNone/>
                </a:pPr>
                <a:r>
                  <a:rPr lang="en-US" b="1" dirty="0" err="1" smtClean="0">
                    <a:latin typeface="RijksoverheidSansText" panose="020B0503040202060203" pitchFamily="34" charset="0"/>
                  </a:rPr>
                  <a:t>Vraag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: 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wat 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is de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minimale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waarde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van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nl-NL" dirty="0" smtClean="0">
                    <a:latin typeface="RijksoverheidSansText" panose="020B0503040202060203" pitchFamily="34" charset="0"/>
                  </a:rPr>
                  <a:t> zodanig dat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b="0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≥7</m:t>
                        </m:r>
                      </m:e>
                    </m:d>
                    <m:r>
                      <a:rPr lang="nl-NL" b="0" i="1" smtClean="0">
                        <a:latin typeface="Cambria Math" panose="02040503050406030204" pitchFamily="18" charset="0"/>
                      </a:rPr>
                      <m:t>≥0.95</m:t>
                    </m:r>
                  </m:oMath>
                </a14:m>
                <a:r>
                  <a:rPr lang="nl-NL" b="0" dirty="0" smtClean="0">
                    <a:latin typeface="RijksoverheidSansText" panose="020B0503040202060203" pitchFamily="34" charset="0"/>
                  </a:rPr>
                  <a:t>, oftewel</a:t>
                </a:r>
              </a:p>
              <a:p>
                <a:pPr/>
                <a:r>
                  <a:rPr lang="nl-NL" b="0" dirty="0" smtClean="0"/>
                  <a:t>	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binomcdf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?</m:t>
                    </m:r>
                    <m:r>
                      <a:rPr lang="nl-NL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nl-NL" b="0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75</m:t>
                    </m:r>
                    <m:r>
                      <a:rPr lang="nl-NL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6)≥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95</m:t>
                    </m:r>
                  </m:oMath>
                </a14:m>
                <a:endParaRPr lang="nl-NL" dirty="0" smtClean="0">
                  <a:latin typeface="RijksoverheidSansText" panose="020B0503040202060203" pitchFamily="34" charset="0"/>
                </a:endParaRPr>
              </a:p>
              <a:p>
                <a:pPr marL="0" indent="0" algn="ctr">
                  <a:buNone/>
                </a:pPr>
                <a:endParaRPr lang="en-US" dirty="0">
                  <a:latin typeface="RijksoverheidSansText" panose="020B0503040202060203" pitchFamily="34" charset="0"/>
                </a:endParaRPr>
              </a:p>
              <a:p>
                <a:pPr marL="0" indent="0">
                  <a:buNone/>
                </a:pPr>
                <a:r>
                  <a:rPr lang="en-US" dirty="0" smtClean="0">
                    <a:latin typeface="RijksoverheidSansText" panose="020B0503040202060203" pitchFamily="34" charset="0"/>
                  </a:rPr>
                  <a:t>Je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kunt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hiervoor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een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table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maken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(optie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nl-NL" b="0" i="0" smtClean="0">
                        <a:latin typeface="Cambria Math" panose="02040503050406030204" pitchFamily="18" charset="0"/>
                      </a:rPr>
                      <m:t>nd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nl-NL" b="0" i="0" smtClean="0">
                        <a:latin typeface="Cambria Math" panose="02040503050406030204" pitchFamily="18" charset="0"/>
                      </a:rPr>
                      <m:t>graph</m:t>
                    </m:r>
                  </m:oMath>
                </a14:m>
                <a:r>
                  <a:rPr lang="en-US" dirty="0" smtClean="0">
                    <a:latin typeface="RijksoverheidSansText" panose="020B0503040202060203" pitchFamily="34" charset="0"/>
                  </a:rPr>
                  <a:t>):</a:t>
                </a:r>
                <a:endParaRPr lang="en-US" dirty="0" smtClean="0">
                  <a:latin typeface="RijksoverheidSansText" panose="020B050304020206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=12→1−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binomcdf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=12,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=0.75,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=6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nl-NL" b="0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9456</m:t>
                    </m:r>
                  </m:oMath>
                </a14:m>
                <a:endParaRPr lang="en-US" b="0" dirty="0" smtClean="0">
                  <a:latin typeface="RijksoverheidSansText" panose="020B050304020206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=13→1−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binomcdf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=13,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=0.75,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=6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≈0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9757</m:t>
                    </m:r>
                  </m:oMath>
                </a14:m>
                <a:endParaRPr lang="nl-NL" dirty="0" smtClean="0">
                  <a:latin typeface="RijksoverheidSansText" panose="020B0503040202060203" pitchFamily="34" charset="0"/>
                </a:endParaRPr>
              </a:p>
              <a:p>
                <a:pPr marL="0" indent="0">
                  <a:buNone/>
                </a:pPr>
                <a:r>
                  <a:rPr lang="nl-NL" dirty="0" smtClean="0">
                    <a:latin typeface="RijksoverheidSansText" panose="020B0503040202060203" pitchFamily="34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b="1" dirty="0" err="1" smtClean="0">
                    <a:latin typeface="RijksoverheidSansText" panose="020B0503040202060203" pitchFamily="34" charset="0"/>
                  </a:rPr>
                  <a:t>Er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moeten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minimaal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𝟏𝟑</m:t>
                    </m:r>
                  </m:oMath>
                </a14:m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eenheden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ingezet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worden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om de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missie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endParaRPr lang="en-US" b="1" dirty="0" smtClean="0">
                  <a:latin typeface="RijksoverheidSansText" panose="020B0503040202060203" pitchFamily="34" charset="0"/>
                </a:endParaRPr>
              </a:p>
              <a:p>
                <a:pPr marL="0" indent="0">
                  <a:buNone/>
                </a:pPr>
                <a:r>
                  <a:rPr lang="en-US" b="1" dirty="0" smtClean="0">
                    <a:latin typeface="RijksoverheidSansText" panose="020B0503040202060203" pitchFamily="34" charset="0"/>
                  </a:rPr>
                  <a:t>met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𝟗𝟓</m:t>
                    </m:r>
                  </m:oMath>
                </a14:m>
                <a:r>
                  <a:rPr lang="en-US" b="1" dirty="0" smtClean="0">
                    <a:latin typeface="RijksoverheidSansText" panose="020B0503040202060203" pitchFamily="34" charset="0"/>
                  </a:rPr>
                  <a:t>%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kans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te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laten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slagen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(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oftewel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nl-NL" b="1" i="1" smtClean="0">
                        <a:latin typeface="Cambria Math" panose="02040503050406030204" pitchFamily="18" charset="0"/>
                      </a:rPr>
                      <m:t>𝟏𝟑</m:t>
                    </m:r>
                    <m:r>
                      <a:rPr lang="nl-NL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nl-NL" b="1" i="1" smtClean="0"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nl-NL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nl-NL" b="1" i="1" smtClean="0"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US" b="1" dirty="0" smtClean="0">
                    <a:latin typeface="RijksoverheidSansText" panose="020B0503040202060203" pitchFamily="34" charset="0"/>
                  </a:rPr>
                  <a:t> extra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eenheden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).</a:t>
                </a:r>
                <a:endParaRPr lang="nl-NL" b="1" dirty="0">
                  <a:latin typeface="RijksoverheidSansText" panose="020B0503040202060203" pitchFamily="34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1187856" cy="4246562"/>
              </a:xfrm>
              <a:blipFill>
                <a:blip r:embed="rId2"/>
                <a:stretch>
                  <a:fillRect l="-1525" t="-2009" b="-113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College 4a: binomiale verdeling (1/2)</a:t>
            </a:r>
            <a:endParaRPr lang="nl-NL" dirty="0"/>
          </a:p>
        </p:txBody>
      </p:sp>
      <p:pic>
        <p:nvPicPr>
          <p:cNvPr id="4" name="Afbeelding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0256" y="2197297"/>
            <a:ext cx="1614914" cy="3751983"/>
          </a:xfrm>
          <a:prstGeom prst="rect">
            <a:avLst/>
          </a:prstGeom>
        </p:spPr>
      </p:pic>
      <p:pic>
        <p:nvPicPr>
          <p:cNvPr id="6" name="Afbeelding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6078" y="2197297"/>
            <a:ext cx="1607993" cy="3751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569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Buijs: </a:t>
            </a:r>
            <a:r>
              <a:rPr lang="en-US" dirty="0" err="1" smtClean="0"/>
              <a:t>opdracht</a:t>
            </a:r>
            <a:r>
              <a:rPr lang="en-US" dirty="0" smtClean="0"/>
              <a:t> 6.11</a:t>
            </a:r>
            <a:endParaRPr lang="nl-N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611792" cy="424656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 smtClean="0">
                    <a:latin typeface="RijksoverheidSansText" panose="020B0503040202060203" pitchFamily="34" charset="0"/>
                  </a:rPr>
                  <a:t>Een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wijnhandelaar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blijkt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flessen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enigszins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onnauwkeurig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te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vullen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.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Hierdoor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voldoet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𝟏𝟎</m:t>
                    </m:r>
                  </m:oMath>
                </a14:m>
                <a:r>
                  <a:rPr lang="en-US" b="1" dirty="0" smtClean="0">
                    <a:latin typeface="RijksoverheidSansText" panose="020B0503040202060203" pitchFamily="34" charset="0"/>
                  </a:rPr>
                  <a:t>% van de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afgeleverde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flessen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niet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aan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de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inhoudsnorm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van het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etiket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.</a:t>
                </a:r>
              </a:p>
              <a:p>
                <a:pPr marL="457200" indent="-457200">
                  <a:buFont typeface="+mj-lt"/>
                  <a:buAutoNum type="alphaLcParenR"/>
                </a:pPr>
                <a:r>
                  <a:rPr lang="en-US" b="1" dirty="0" err="1" smtClean="0">
                    <a:latin typeface="RijksoverheidSansText" panose="020B0503040202060203" pitchFamily="34" charset="0"/>
                  </a:rPr>
                  <a:t>Een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consument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koopt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twaalf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flessen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wijn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. Hoe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groot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is de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kans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dat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er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precies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twee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flessen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zijn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die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niet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aan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de norm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voldoen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?</a:t>
                </a:r>
              </a:p>
              <a:p>
                <a:pPr marL="457200" indent="-457200">
                  <a:buFont typeface="+mj-lt"/>
                  <a:buAutoNum type="alphaLcParenR"/>
                </a:pPr>
                <a:endParaRPr lang="en-US" b="1" dirty="0">
                  <a:latin typeface="RijksoverheidSansText" panose="020B0503040202060203" pitchFamily="34" charset="0"/>
                </a:endParaRPr>
              </a:p>
              <a:p>
                <a:pPr marL="457200" indent="-457200">
                  <a:buFont typeface="+mj-lt"/>
                  <a:buAutoNum type="alphaLcParenR"/>
                </a:pPr>
                <a:endParaRPr lang="en-US" dirty="0">
                  <a:latin typeface="RijksoverheidSansText" panose="020B0503040202060203" pitchFamily="34" charset="0"/>
                </a:endParaRPr>
              </a:p>
              <a:p>
                <a:endParaRPr lang="nl-NL" dirty="0">
                  <a:latin typeface="RijksoverheidSansText" panose="020B0503040202060203" pitchFamily="34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611792" cy="4246562"/>
              </a:xfrm>
              <a:blipFill>
                <a:blip r:embed="rId2"/>
                <a:stretch>
                  <a:fillRect l="-1608" t="-2009" r="-1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College 4a: binomiale verdeling (1/2)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89324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Buijs: </a:t>
            </a:r>
            <a:r>
              <a:rPr lang="en-US" dirty="0" err="1" smtClean="0"/>
              <a:t>opdracht</a:t>
            </a:r>
            <a:r>
              <a:rPr lang="en-US" dirty="0" smtClean="0"/>
              <a:t> 6.11</a:t>
            </a:r>
            <a:endParaRPr lang="nl-N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611792" cy="424656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 smtClean="0">
                    <a:latin typeface="RijksoverheidSansText" panose="020B0503040202060203" pitchFamily="34" charset="0"/>
                  </a:rPr>
                  <a:t>Een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wijnhandelaar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blijkt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flessen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enigszins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onnauwkeurig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te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vullen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.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Hierdoor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voldoet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𝟏𝟎</m:t>
                    </m:r>
                  </m:oMath>
                </a14:m>
                <a:r>
                  <a:rPr lang="en-US" b="1" dirty="0" smtClean="0">
                    <a:latin typeface="RijksoverheidSansText" panose="020B0503040202060203" pitchFamily="34" charset="0"/>
                  </a:rPr>
                  <a:t>% van de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afgeleverde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flessen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niet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aan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de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inhoudsnorm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van het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etiket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.</a:t>
                </a:r>
              </a:p>
              <a:p>
                <a:pPr marL="457200" indent="-457200">
                  <a:buFont typeface="+mj-lt"/>
                  <a:buAutoNum type="alphaLcParenR"/>
                </a:pPr>
                <a:r>
                  <a:rPr lang="en-US" b="1" dirty="0" err="1" smtClean="0">
                    <a:latin typeface="RijksoverheidSansText" panose="020B0503040202060203" pitchFamily="34" charset="0"/>
                  </a:rPr>
                  <a:t>Een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consument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koopt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twaalf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flessen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wijn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. Hoe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groot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is de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kans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dat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er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precies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twee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flessen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zijn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die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niet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aan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de norm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voldoen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?</a:t>
                </a:r>
              </a:p>
              <a:p>
                <a:pPr marL="457200" indent="-457200">
                  <a:buFont typeface="+mj-lt"/>
                  <a:buAutoNum type="alphaLcParenR"/>
                </a:pPr>
                <a:endParaRPr lang="en-US" b="1" dirty="0">
                  <a:latin typeface="RijksoverheidSansText" panose="020B0503040202060203" pitchFamily="34" charset="0"/>
                </a:endParaRPr>
              </a:p>
              <a:p>
                <a:r>
                  <a:rPr lang="en-US" dirty="0">
                    <a:latin typeface="RijksoverheidSansText" panose="020B0503040202060203" pitchFamily="34" charset="0"/>
                  </a:rPr>
                  <a:t>We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hebben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hier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te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maken</a:t>
                </a:r>
                <a:r>
                  <a:rPr lang="en-US" dirty="0">
                    <a:latin typeface="RijksoverheidSansText" panose="020B0503040202060203" pitchFamily="34" charset="0"/>
                  </a:rPr>
                  <a:t> met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een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binomiale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verdeling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:</a:t>
                </a:r>
                <a:endParaRPr lang="en-US" dirty="0">
                  <a:latin typeface="RijksoverheidSansText" panose="020B050304020206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 err="1">
                    <a:latin typeface="RijksoverheidSansText" panose="020B0503040202060203" pitchFamily="34" charset="0"/>
                  </a:rPr>
                  <a:t>Elke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fles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voldoet</a:t>
                </a:r>
                <a:r>
                  <a:rPr lang="en-US" dirty="0">
                    <a:latin typeface="RijksoverheidSansText" panose="020B0503040202060203" pitchFamily="34" charset="0"/>
                  </a:rPr>
                  <a:t> met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kans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=0.10</m:t>
                    </m:r>
                  </m:oMath>
                </a14:m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niet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aan</a:t>
                </a:r>
                <a:r>
                  <a:rPr lang="en-US" dirty="0">
                    <a:latin typeface="RijksoverheidSansText" panose="020B0503040202060203" pitchFamily="34" charset="0"/>
                  </a:rPr>
                  <a:t> de norm (“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succes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”).</a:t>
                </a:r>
                <a:endParaRPr lang="en-US" dirty="0">
                  <a:latin typeface="RijksoverheidSansText" panose="020B050304020206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 err="1" smtClean="0">
                    <a:latin typeface="RijksoverheidSansText" panose="020B0503040202060203" pitchFamily="34" charset="0"/>
                  </a:rPr>
                  <a:t>Elke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fles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wordt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onafhankelijk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van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anderen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gevuld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(Bernoulli-experiment),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en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het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aantal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flessen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is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gelijk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aan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=12.</m:t>
                    </m:r>
                  </m:oMath>
                </a14:m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endParaRPr lang="en-US" dirty="0">
                  <a:latin typeface="RijksoverheidSansText" panose="020B0503040202060203" pitchFamily="34" charset="0"/>
                </a:endParaRPr>
              </a:p>
              <a:p>
                <a:endParaRPr lang="en-US" dirty="0" smtClean="0">
                  <a:latin typeface="RijksoverheidSansText" panose="020B0503040202060203" pitchFamily="34" charset="0"/>
                </a:endParaRPr>
              </a:p>
              <a:p>
                <a:r>
                  <a:rPr lang="en-US" dirty="0" smtClean="0">
                    <a:latin typeface="RijksoverheidSansText" panose="020B0503040202060203" pitchFamily="34" charset="0"/>
                  </a:rPr>
                  <a:t>We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willen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de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kans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=2</m:t>
                        </m:r>
                      </m:e>
                    </m:d>
                  </m:oMath>
                </a14:m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bepalen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=2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binompdf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=12,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=0.10,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=2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≈0.2301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>
                  <a:latin typeface="RijksoverheidSansText" panose="020B0503040202060203" pitchFamily="34" charset="0"/>
                </a:endParaRPr>
              </a:p>
              <a:p>
                <a:endParaRPr lang="en-US" dirty="0">
                  <a:latin typeface="RijksoverheidSansText" panose="020B0503040202060203" pitchFamily="34" charset="0"/>
                </a:endParaRPr>
              </a:p>
              <a:p>
                <a:endParaRPr lang="nl-NL" dirty="0">
                  <a:latin typeface="RijksoverheidSansText" panose="020B0503040202060203" pitchFamily="34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611792" cy="4246562"/>
              </a:xfrm>
              <a:blipFill>
                <a:blip r:embed="rId2"/>
                <a:stretch>
                  <a:fillRect l="-1608" t="-2009" r="-1895" b="-4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College 4a: binomiale verdeling (1/2)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068375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Buijs: </a:t>
            </a:r>
            <a:r>
              <a:rPr lang="en-US" dirty="0" err="1" smtClean="0"/>
              <a:t>opdracht</a:t>
            </a:r>
            <a:r>
              <a:rPr lang="en-US" dirty="0" smtClean="0"/>
              <a:t> 6.11</a:t>
            </a:r>
            <a:endParaRPr lang="nl-N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611792" cy="424656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 smtClean="0">
                    <a:latin typeface="RijksoverheidSansText" panose="020B0503040202060203" pitchFamily="34" charset="0"/>
                  </a:rPr>
                  <a:t>Een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wijnhandelaar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blijkt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flessen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enigszins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onnauwkeurig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te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vullen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.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Hierdoor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voldoet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𝟏𝟎</m:t>
                    </m:r>
                  </m:oMath>
                </a14:m>
                <a:r>
                  <a:rPr lang="en-US" b="1" dirty="0" smtClean="0">
                    <a:latin typeface="RijksoverheidSansText" panose="020B0503040202060203" pitchFamily="34" charset="0"/>
                  </a:rPr>
                  <a:t>% van de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afgeleverde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flessen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niet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aan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de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inhoudsnorm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van het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etiket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.</a:t>
                </a:r>
              </a:p>
              <a:p>
                <a:pPr marL="457200" indent="-457200">
                  <a:buFont typeface="+mj-lt"/>
                  <a:buAutoNum type="alphaLcParenR" startAt="2"/>
                </a:pPr>
                <a:r>
                  <a:rPr lang="en-US" b="1" dirty="0" err="1" smtClean="0">
                    <a:latin typeface="RijksoverheidSansText" panose="020B0503040202060203" pitchFamily="34" charset="0"/>
                  </a:rPr>
                  <a:t>Iemand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koopt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𝟏𝟒𝟒</m:t>
                    </m:r>
                  </m:oMath>
                </a14:m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flessen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wijn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. Hoe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groot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is de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kans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dat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er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hoogstens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tien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flessen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niet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aan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de norm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voldoen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?</a:t>
                </a:r>
                <a:endParaRPr lang="en-US" b="1" dirty="0">
                  <a:latin typeface="RijksoverheidSansText" panose="020B0503040202060203" pitchFamily="34" charset="0"/>
                </a:endParaRPr>
              </a:p>
              <a:p>
                <a:pPr marL="457200" indent="-457200">
                  <a:buFont typeface="+mj-lt"/>
                  <a:buAutoNum type="alphaLcParenR" startAt="2"/>
                </a:pPr>
                <a:endParaRPr lang="en-US" dirty="0">
                  <a:latin typeface="RijksoverheidSansText" panose="020B0503040202060203" pitchFamily="34" charset="0"/>
                </a:endParaRPr>
              </a:p>
              <a:p>
                <a:endParaRPr lang="nl-NL" dirty="0">
                  <a:latin typeface="RijksoverheidSansText" panose="020B0503040202060203" pitchFamily="34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611792" cy="4246562"/>
              </a:xfrm>
              <a:blipFill>
                <a:blip r:embed="rId2"/>
                <a:stretch>
                  <a:fillRect l="-1608" t="-2009" r="-1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College 4a: binomiale verdeling (1/2)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269907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Buijs: </a:t>
            </a:r>
            <a:r>
              <a:rPr lang="en-US" dirty="0" err="1" smtClean="0"/>
              <a:t>opdracht</a:t>
            </a:r>
            <a:r>
              <a:rPr lang="en-US" dirty="0" smtClean="0"/>
              <a:t> 6.11</a:t>
            </a:r>
            <a:endParaRPr lang="nl-N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467776" cy="424656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 smtClean="0">
                    <a:latin typeface="RijksoverheidSansText" panose="020B0503040202060203" pitchFamily="34" charset="0"/>
                  </a:rPr>
                  <a:t>Een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wijnhandelaar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blijkt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flessen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enigszins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onnauwkeurig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te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vullen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.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Hierdoor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voldoet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𝟏𝟎</m:t>
                    </m:r>
                  </m:oMath>
                </a14:m>
                <a:r>
                  <a:rPr lang="en-US" b="1" dirty="0">
                    <a:latin typeface="RijksoverheidSansText" panose="020B0503040202060203" pitchFamily="34" charset="0"/>
                  </a:rPr>
                  <a:t>% van de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afgeleverde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flessen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niet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aan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de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inhoudsnorm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van het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etiket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.</a:t>
                </a:r>
              </a:p>
              <a:p>
                <a:pPr marL="457200" indent="-457200">
                  <a:buFont typeface="+mj-lt"/>
                  <a:buAutoNum type="alphaLcParenR" startAt="2"/>
                </a:pPr>
                <a:r>
                  <a:rPr lang="en-US" b="1" dirty="0" err="1">
                    <a:latin typeface="RijksoverheidSansText" panose="020B0503040202060203" pitchFamily="34" charset="0"/>
                  </a:rPr>
                  <a:t>Iemand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koopt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𝟏𝟒𝟒</m:t>
                    </m:r>
                  </m:oMath>
                </a14:m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flessen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wijn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. Hoe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groot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is de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kans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dat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er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hoogstens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tien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flessen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niet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aan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de norm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voldoen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?</a:t>
                </a:r>
              </a:p>
              <a:p>
                <a:endParaRPr lang="en-US" dirty="0" smtClean="0">
                  <a:latin typeface="RijksoverheidSansText" panose="020B0503040202060203" pitchFamily="34" charset="0"/>
                </a:endParaRPr>
              </a:p>
              <a:p>
                <a:r>
                  <a:rPr lang="en-US" dirty="0" smtClean="0">
                    <a:latin typeface="RijksoverheidSansText" panose="020B0503040202060203" pitchFamily="34" charset="0"/>
                  </a:rPr>
                  <a:t>We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hebben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opnieuw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te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maken</a:t>
                </a:r>
                <a:r>
                  <a:rPr lang="en-US" dirty="0">
                    <a:latin typeface="RijksoverheidSansText" panose="020B0503040202060203" pitchFamily="34" charset="0"/>
                  </a:rPr>
                  <a:t> met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een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binomiale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verdeling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:</a:t>
                </a:r>
                <a:endParaRPr lang="en-US" dirty="0">
                  <a:latin typeface="RijksoverheidSansText" panose="020B050304020206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 err="1">
                    <a:latin typeface="RijksoverheidSansText" panose="020B0503040202060203" pitchFamily="34" charset="0"/>
                  </a:rPr>
                  <a:t>Elke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fles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voldoet</a:t>
                </a:r>
                <a:r>
                  <a:rPr lang="en-US" dirty="0">
                    <a:latin typeface="RijksoverheidSansText" panose="020B0503040202060203" pitchFamily="34" charset="0"/>
                  </a:rPr>
                  <a:t> met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kans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=0.10</m:t>
                    </m:r>
                  </m:oMath>
                </a14:m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niet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aan</a:t>
                </a:r>
                <a:r>
                  <a:rPr lang="en-US" dirty="0">
                    <a:latin typeface="RijksoverheidSansText" panose="020B0503040202060203" pitchFamily="34" charset="0"/>
                  </a:rPr>
                  <a:t> de norm (“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succes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”).</a:t>
                </a:r>
                <a:endParaRPr lang="en-US" dirty="0">
                  <a:latin typeface="RijksoverheidSansText" panose="020B050304020206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 err="1">
                    <a:latin typeface="RijksoverheidSansText" panose="020B0503040202060203" pitchFamily="34" charset="0"/>
                  </a:rPr>
                  <a:t>Elke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fles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wordt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onafhankelijk</a:t>
                </a:r>
                <a:r>
                  <a:rPr lang="en-US" dirty="0">
                    <a:latin typeface="RijksoverheidSansText" panose="020B0503040202060203" pitchFamily="34" charset="0"/>
                  </a:rPr>
                  <a:t> van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anderen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gevuld</a:t>
                </a:r>
                <a:r>
                  <a:rPr lang="en-US" dirty="0">
                    <a:latin typeface="RijksoverheidSansText" panose="020B0503040202060203" pitchFamily="34" charset="0"/>
                  </a:rPr>
                  <a:t> (Bernoulli-experiment),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en</a:t>
                </a:r>
                <a:r>
                  <a:rPr lang="en-US" dirty="0">
                    <a:latin typeface="RijksoverheidSansText" panose="020B0503040202060203" pitchFamily="34" charset="0"/>
                  </a:rPr>
                  <a:t> het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aantal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flessen</a:t>
                </a:r>
                <a:r>
                  <a:rPr lang="en-US" dirty="0">
                    <a:latin typeface="RijksoverheidSansText" panose="020B0503040202060203" pitchFamily="34" charset="0"/>
                  </a:rPr>
                  <a:t> is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gelijk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aan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nl-NL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nl-NL" i="1">
                        <a:latin typeface="Cambria Math" panose="02040503050406030204" pitchFamily="18" charset="0"/>
                      </a:rPr>
                      <m:t>=144.</m:t>
                    </m:r>
                  </m:oMath>
                </a14:m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</a:p>
              <a:p>
                <a:endParaRPr lang="en-US" sz="2400" dirty="0" smtClean="0">
                  <a:latin typeface="RijksoverheidSansText" panose="020B0503040202060203" pitchFamily="34" charset="0"/>
                </a:endParaRPr>
              </a:p>
              <a:p>
                <a:r>
                  <a:rPr lang="en-US" dirty="0" smtClean="0">
                    <a:latin typeface="RijksoverheidSansText" panose="020B0503040202060203" pitchFamily="34" charset="0"/>
                  </a:rPr>
                  <a:t>We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willen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nu de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kans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≤10</m:t>
                        </m:r>
                      </m:e>
                    </m:d>
                  </m:oMath>
                </a14:m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bepalen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(“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hoogstens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”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betekent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“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 smtClean="0">
                    <a:latin typeface="RijksoverheidSansText" panose="020B0503040202060203" pitchFamily="34" charset="0"/>
                  </a:rPr>
                  <a:t>“):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≤10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binomcdf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=144,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=0.10,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≈0.1372</m:t>
                      </m:r>
                      <m:r>
                        <a:rPr lang="nl-NL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>
                  <a:latin typeface="RijksoverheidSansText" panose="020B0503040202060203" pitchFamily="34" charset="0"/>
                </a:endParaRPr>
              </a:p>
              <a:p>
                <a:endParaRPr lang="en-US" dirty="0">
                  <a:latin typeface="RijksoverheidSansText" panose="020B0503040202060203" pitchFamily="34" charset="0"/>
                </a:endParaRPr>
              </a:p>
              <a:p>
                <a:endParaRPr lang="nl-NL" dirty="0">
                  <a:latin typeface="RijksoverheidSansText" panose="020B0503040202060203" pitchFamily="34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467776" cy="4246562"/>
              </a:xfrm>
              <a:blipFill>
                <a:blip r:embed="rId2"/>
                <a:stretch>
                  <a:fillRect l="-1631" t="-2009" b="-4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College 4a: binomiale verdeling (1/2)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469485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Buijs: </a:t>
            </a:r>
            <a:r>
              <a:rPr lang="en-US" dirty="0" err="1" smtClean="0"/>
              <a:t>opdracht</a:t>
            </a:r>
            <a:r>
              <a:rPr lang="en-US" dirty="0" smtClean="0"/>
              <a:t> 6.11</a:t>
            </a:r>
            <a:endParaRPr lang="nl-N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827816" cy="424656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 smtClean="0">
                    <a:latin typeface="RijksoverheidSansText" panose="020B0503040202060203" pitchFamily="34" charset="0"/>
                  </a:rPr>
                  <a:t>Een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wijnhandelaar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blijkt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flessen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enigszins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onnauwkeurig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te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vullen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.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Hierdoor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voldoet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𝟏𝟎</m:t>
                    </m:r>
                  </m:oMath>
                </a14:m>
                <a:r>
                  <a:rPr lang="en-US" b="1" dirty="0" smtClean="0">
                    <a:latin typeface="RijksoverheidSansText" panose="020B0503040202060203" pitchFamily="34" charset="0"/>
                  </a:rPr>
                  <a:t>% van de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afgeleverde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flessen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niet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aan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de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inhoudsnorm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van het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etiket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.</a:t>
                </a:r>
              </a:p>
              <a:p>
                <a:pPr marL="457200" indent="-457200">
                  <a:buFont typeface="+mj-lt"/>
                  <a:buAutoNum type="alphaLcParenR" startAt="3"/>
                </a:pPr>
                <a:r>
                  <a:rPr lang="en-US" b="1" dirty="0" err="1" smtClean="0">
                    <a:latin typeface="RijksoverheidSansText" panose="020B0503040202060203" pitchFamily="34" charset="0"/>
                  </a:rPr>
                  <a:t>Iemand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koopt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flessen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. Hoe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groot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moet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men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kiezen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om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ervoor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te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zorgen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dat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de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kans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𝟗𝟓</m:t>
                    </m:r>
                  </m:oMath>
                </a14:m>
                <a:r>
                  <a:rPr lang="en-US" b="1" dirty="0" smtClean="0">
                    <a:latin typeface="RijksoverheidSansText" panose="020B0503040202060203" pitchFamily="34" charset="0"/>
                  </a:rPr>
                  <a:t>% is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dat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het percentage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flessen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dat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niet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aan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de norm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voldoet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lager is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dan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𝟏𝟐</m:t>
                    </m:r>
                  </m:oMath>
                </a14:m>
                <a:r>
                  <a:rPr lang="en-US" b="1" dirty="0" smtClean="0">
                    <a:latin typeface="RijksoverheidSansText" panose="020B0503040202060203" pitchFamily="34" charset="0"/>
                  </a:rPr>
                  <a:t>%?</a:t>
                </a:r>
                <a:endParaRPr lang="en-US" b="1" dirty="0">
                  <a:latin typeface="RijksoverheidSansText" panose="020B0503040202060203" pitchFamily="34" charset="0"/>
                </a:endParaRPr>
              </a:p>
              <a:p>
                <a:endParaRPr lang="en-US" dirty="0">
                  <a:latin typeface="RijksoverheidSansText" panose="020B0503040202060203" pitchFamily="34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827816" cy="4246562"/>
              </a:xfrm>
              <a:blipFill>
                <a:blip r:embed="rId2"/>
                <a:stretch>
                  <a:fillRect l="-1576" t="-2009" r="-7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College 4a: binomiale verdeling (1/2)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685467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Buijs: </a:t>
            </a:r>
            <a:r>
              <a:rPr lang="en-US" dirty="0" err="1" smtClean="0"/>
              <a:t>opdracht</a:t>
            </a:r>
            <a:r>
              <a:rPr lang="en-US" dirty="0" smtClean="0"/>
              <a:t> 6.11</a:t>
            </a:r>
            <a:endParaRPr lang="nl-N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827816" cy="424656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 smtClean="0">
                    <a:latin typeface="RijksoverheidSansText" panose="020B0503040202060203" pitchFamily="34" charset="0"/>
                  </a:rPr>
                  <a:t>Een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wijnhandelaar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blijkt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flessen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enigszins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onnauwkeurig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te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vullen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.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Hierdoor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voldoet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nl-NL" b="1" i="1" smtClean="0"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nl-NL" b="1" i="1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b="1" dirty="0" smtClean="0">
                    <a:latin typeface="RijksoverheidSansText" panose="020B0503040202060203" pitchFamily="34" charset="0"/>
                  </a:rPr>
                  <a:t> van de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afgeleverde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flessen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niet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aan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de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inhoudsnorm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van het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etiket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.</a:t>
                </a:r>
              </a:p>
              <a:p>
                <a:pPr marL="457200" indent="-457200">
                  <a:buFont typeface="+mj-lt"/>
                  <a:buAutoNum type="alphaLcParenR" startAt="3"/>
                </a:pPr>
                <a:r>
                  <a:rPr lang="en-US" b="1" dirty="0" err="1" smtClean="0">
                    <a:latin typeface="RijksoverheidSansText" panose="020B0503040202060203" pitchFamily="34" charset="0"/>
                  </a:rPr>
                  <a:t>Iemand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koopt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flessen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. Hoe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groot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moet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men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kiezen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om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ervoor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te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zorgen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dat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de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kans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𝟗𝟓</m:t>
                    </m:r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b="1" dirty="0" smtClean="0">
                    <a:latin typeface="RijksoverheidSansText" panose="020B0503040202060203" pitchFamily="34" charset="0"/>
                  </a:rPr>
                  <a:t> is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dat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het percentage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flessen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dat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niet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aan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de norm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voldoet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lager is </a:t>
                </a:r>
                <a:r>
                  <a:rPr lang="en-US" b="1" dirty="0" err="1" smtClean="0">
                    <a:latin typeface="RijksoverheidSansText" panose="020B0503040202060203" pitchFamily="34" charset="0"/>
                  </a:rPr>
                  <a:t>dan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nl-NL" b="1" i="1" smtClean="0">
                        <a:latin typeface="Cambria Math" panose="02040503050406030204" pitchFamily="18" charset="0"/>
                      </a:rPr>
                      <m:t>𝟏𝟐</m:t>
                    </m:r>
                    <m:r>
                      <a:rPr lang="nl-NL" b="1" i="1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b="1" dirty="0" smtClean="0">
                    <a:latin typeface="RijksoverheidSansText" panose="020B0503040202060203" pitchFamily="34" charset="0"/>
                  </a:rPr>
                  <a:t>?</a:t>
                </a:r>
                <a:endParaRPr lang="en-US" b="1" dirty="0">
                  <a:latin typeface="RijksoverheidSansText" panose="020B0503040202060203" pitchFamily="34" charset="0"/>
                </a:endParaRPr>
              </a:p>
              <a:p>
                <a:pPr marL="457200" indent="-457200">
                  <a:buFont typeface="+mj-lt"/>
                  <a:buAutoNum type="alphaLcParenR" startAt="3"/>
                </a:pPr>
                <a:endParaRPr lang="en-US" dirty="0">
                  <a:latin typeface="RijksoverheidSansText" panose="020B0503040202060203" pitchFamily="34" charset="0"/>
                </a:endParaRPr>
              </a:p>
              <a:p>
                <a:r>
                  <a:rPr lang="en-US" dirty="0" smtClean="0">
                    <a:latin typeface="RijksoverheidSansText" panose="020B0503040202060203" pitchFamily="34" charset="0"/>
                  </a:rPr>
                  <a:t>In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deze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vraag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willen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we de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minimale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waarde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voor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nl-NL" dirty="0" smtClean="0">
                    <a:latin typeface="RijksoverheidSansText" panose="020B0503040202060203" pitchFamily="34" charset="0"/>
                  </a:rPr>
                  <a:t> bepalen zodanig dat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0.12⋅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binomcdf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≥0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95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nl-NL" dirty="0" smtClean="0">
                  <a:latin typeface="RijksoverheidSansText" panose="020B0503040202060203" pitchFamily="34" charset="0"/>
                </a:endParaRPr>
              </a:p>
              <a:p>
                <a:endParaRPr lang="en-US" dirty="0" smtClean="0">
                  <a:latin typeface="RijksoverheidSansText" panose="020B0503040202060203" pitchFamily="34" charset="0"/>
                </a:endParaRPr>
              </a:p>
              <a:p>
                <a:r>
                  <a:rPr lang="en-US" dirty="0" smtClean="0">
                    <a:latin typeface="RijksoverheidSansText" panose="020B0503040202060203" pitchFamily="34" charset="0"/>
                  </a:rPr>
                  <a:t>Met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een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tabel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in de GR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vinden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we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dan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de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kleinste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waarde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voor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 smtClean="0">
                    <a:latin typeface="RijksoverheidSansText" panose="020B0503040202060203" pitchFamily="34" charset="0"/>
                  </a:rPr>
                  <a:t> die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hieraan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voldoet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=591:  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≤0.12⋅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=70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binomcdf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=591, 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=0.10, 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=70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≈0.9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382.</m:t>
                    </m:r>
                  </m:oMath>
                </a14:m>
                <a:endParaRPr lang="nl-NL" b="0" i="1" dirty="0" smtClean="0">
                  <a:latin typeface="Cambria Math" panose="020405030504060302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=592:   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≤0.12⋅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nl-NL" i="1">
                            <a:latin typeface="Cambria Math" panose="02040503050406030204" pitchFamily="18" charset="0"/>
                          </a:rPr>
                          <m:t>=71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binomcdf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nl-NL" i="1">
                            <a:latin typeface="Cambria Math" panose="02040503050406030204" pitchFamily="18" charset="0"/>
                          </a:rPr>
                          <m:t>=592, </m:t>
                        </m:r>
                        <m:r>
                          <a:rPr lang="nl-NL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nl-NL" i="1">
                            <a:latin typeface="Cambria Math" panose="02040503050406030204" pitchFamily="18" charset="0"/>
                          </a:rPr>
                          <m:t>=0.10, </m:t>
                        </m:r>
                        <m:r>
                          <a:rPr lang="nl-NL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nl-NL" i="1">
                            <a:latin typeface="Cambria Math" panose="02040503050406030204" pitchFamily="18" charset="0"/>
                          </a:rPr>
                          <m:t>=71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≈0.9510</m:t>
                    </m:r>
                    <m:r>
                      <a:rPr lang="nl-NL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nl-NL" dirty="0">
                  <a:latin typeface="RijksoverheidSansText" panose="020B0503040202060203" pitchFamily="34" charset="0"/>
                </a:endParaRPr>
              </a:p>
              <a:p>
                <a:endParaRPr lang="en-US" b="1" dirty="0" smtClean="0">
                  <a:latin typeface="RijksoverheidSansText" panose="020B0503040202060203" pitchFamily="34" charset="0"/>
                </a:endParaRPr>
              </a:p>
              <a:p>
                <a:r>
                  <a:rPr lang="en-US" sz="2000" b="1" dirty="0" err="1" smtClean="0">
                    <a:latin typeface="RijksoverheidSansText" panose="020B0503040202060203" pitchFamily="34" charset="0"/>
                  </a:rPr>
                  <a:t>Bij</a:t>
                </a:r>
                <a:r>
                  <a:rPr lang="en-US" sz="2000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000" b="1" dirty="0" err="1" smtClean="0">
                    <a:latin typeface="RijksoverheidSansText" panose="020B0503040202060203" pitchFamily="34" charset="0"/>
                  </a:rPr>
                  <a:t>aankoop</a:t>
                </a:r>
                <a:r>
                  <a:rPr lang="en-US" sz="2000" b="1" dirty="0" smtClean="0">
                    <a:latin typeface="RijksoverheidSansText" panose="020B0503040202060203" pitchFamily="34" charset="0"/>
                  </a:rPr>
                  <a:t> van 592 </a:t>
                </a:r>
                <a:r>
                  <a:rPr lang="en-US" sz="2000" b="1" dirty="0" err="1" smtClean="0">
                    <a:latin typeface="RijksoverheidSansText" panose="020B0503040202060203" pitchFamily="34" charset="0"/>
                  </a:rPr>
                  <a:t>flessen</a:t>
                </a:r>
                <a:r>
                  <a:rPr lang="en-US" sz="2000" b="1" dirty="0" smtClean="0">
                    <a:latin typeface="RijksoverheidSansText" panose="020B0503040202060203" pitchFamily="34" charset="0"/>
                  </a:rPr>
                  <a:t> is de </a:t>
                </a:r>
                <a:r>
                  <a:rPr lang="en-US" sz="2000" b="1" dirty="0" err="1" smtClean="0">
                    <a:latin typeface="RijksoverheidSansText" panose="020B0503040202060203" pitchFamily="34" charset="0"/>
                  </a:rPr>
                  <a:t>kans</a:t>
                </a:r>
                <a:r>
                  <a:rPr lang="en-US" sz="2000" b="1" dirty="0" smtClean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nl-NL" sz="2000" b="1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nl-NL" sz="2000" b="1" i="1" smtClean="0">
                        <a:latin typeface="Cambria Math" panose="02040503050406030204" pitchFamily="18" charset="0"/>
                      </a:rPr>
                      <m:t>𝟗𝟓</m:t>
                    </m:r>
                    <m:r>
                      <a:rPr lang="nl-NL" sz="2000" b="1" i="1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sz="2000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000" b="1" dirty="0" err="1" smtClean="0">
                    <a:latin typeface="RijksoverheidSansText" panose="020B0503040202060203" pitchFamily="34" charset="0"/>
                  </a:rPr>
                  <a:t>dat</a:t>
                </a:r>
                <a:r>
                  <a:rPr lang="en-US" sz="2000" b="1" dirty="0" smtClean="0">
                    <a:latin typeface="RijksoverheidSansText" panose="020B0503040202060203" pitchFamily="34" charset="0"/>
                  </a:rPr>
                  <a:t> minder </a:t>
                </a:r>
                <a:r>
                  <a:rPr lang="en-US" sz="2000" b="1" dirty="0" err="1" smtClean="0">
                    <a:latin typeface="RijksoverheidSansText" panose="020B0503040202060203" pitchFamily="34" charset="0"/>
                  </a:rPr>
                  <a:t>dan</a:t>
                </a:r>
                <a:r>
                  <a:rPr lang="en-US" sz="2000" b="1" dirty="0" smtClean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nl-NL" sz="2000" b="1" i="1" smtClean="0">
                        <a:latin typeface="Cambria Math" panose="02040503050406030204" pitchFamily="18" charset="0"/>
                      </a:rPr>
                      <m:t>𝟏𝟐</m:t>
                    </m:r>
                    <m:r>
                      <a:rPr lang="nl-NL" sz="2000" b="1" i="1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sz="2000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000" b="1" dirty="0" err="1" smtClean="0">
                    <a:latin typeface="RijksoverheidSansText" panose="020B0503040202060203" pitchFamily="34" charset="0"/>
                  </a:rPr>
                  <a:t>niet</a:t>
                </a:r>
                <a:r>
                  <a:rPr lang="en-US" sz="2000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000" b="1" dirty="0" err="1" smtClean="0">
                    <a:latin typeface="RijksoverheidSansText" panose="020B0503040202060203" pitchFamily="34" charset="0"/>
                  </a:rPr>
                  <a:t>aan</a:t>
                </a:r>
                <a:r>
                  <a:rPr lang="en-US" sz="2000" b="1" dirty="0" smtClean="0">
                    <a:latin typeface="RijksoverheidSansText" panose="020B0503040202060203" pitchFamily="34" charset="0"/>
                  </a:rPr>
                  <a:t> de norm </a:t>
                </a:r>
                <a:r>
                  <a:rPr lang="en-US" sz="2000" b="1" dirty="0" err="1" smtClean="0">
                    <a:latin typeface="RijksoverheidSansText" panose="020B0503040202060203" pitchFamily="34" charset="0"/>
                  </a:rPr>
                  <a:t>voldoen</a:t>
                </a:r>
                <a:r>
                  <a:rPr lang="en-US" sz="2000" b="1" dirty="0" smtClean="0">
                    <a:latin typeface="RijksoverheidSansText" panose="020B0503040202060203" pitchFamily="34" charset="0"/>
                  </a:rPr>
                  <a:t>.</a:t>
                </a:r>
                <a:endParaRPr lang="nl-NL" sz="2000" b="1" dirty="0">
                  <a:latin typeface="RijksoverheidSansText" panose="020B0503040202060203" pitchFamily="34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827816" cy="4246562"/>
              </a:xfrm>
              <a:blipFill>
                <a:blip r:embed="rId2"/>
                <a:stretch>
                  <a:fillRect l="-1576" t="-2009" r="-1069" b="-8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College 4a: binomiale verdeling (1/2)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261852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Meer </a:t>
            </a:r>
            <a:r>
              <a:rPr lang="en-US" dirty="0" err="1" smtClean="0"/>
              <a:t>toepassingen</a:t>
            </a:r>
            <a:r>
              <a:rPr lang="en-US" dirty="0" smtClean="0"/>
              <a:t> van de </a:t>
            </a:r>
            <a:r>
              <a:rPr lang="en-US" dirty="0" err="1" smtClean="0"/>
              <a:t>binomiale</a:t>
            </a:r>
            <a:r>
              <a:rPr lang="en-US" dirty="0" smtClean="0"/>
              <a:t> </a:t>
            </a:r>
            <a:r>
              <a:rPr lang="en-US" dirty="0" err="1" smtClean="0"/>
              <a:t>verdeling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" y="1773238"/>
            <a:ext cx="10611792" cy="4246562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 err="1" smtClean="0">
                <a:latin typeface="RijksoverheidSansText" panose="020B0503040202060203" pitchFamily="34" charset="0"/>
              </a:rPr>
              <a:t>Geneeskundige</a:t>
            </a:r>
            <a:r>
              <a:rPr lang="en-US" b="1" dirty="0" smtClean="0">
                <a:latin typeface="RijksoverheidSansText" panose="020B0503040202060203" pitchFamily="34" charset="0"/>
              </a:rPr>
              <a:t> </a:t>
            </a:r>
            <a:r>
              <a:rPr lang="en-US" b="1" dirty="0" err="1" smtClean="0">
                <a:latin typeface="RijksoverheidSansText" panose="020B0503040202060203" pitchFamily="34" charset="0"/>
              </a:rPr>
              <a:t>dienst</a:t>
            </a:r>
            <a:r>
              <a:rPr lang="en-US" b="1" dirty="0" smtClean="0">
                <a:latin typeface="RijksoverheidSansText" panose="020B0503040202060203" pitchFamily="34" charset="0"/>
              </a:rPr>
              <a:t>: </a:t>
            </a:r>
          </a:p>
          <a:p>
            <a:pPr marL="717550" lvl="1" indent="-342900">
              <a:buFont typeface="Arial" panose="020B0604020202020204" pitchFamily="34" charset="0"/>
              <a:buChar char="•"/>
            </a:pPr>
            <a:r>
              <a:rPr lang="en-US" dirty="0" err="1" smtClean="0">
                <a:latin typeface="RijksoverheidSansText" panose="020B0503040202060203" pitchFamily="34" charset="0"/>
              </a:rPr>
              <a:t>Voorspellen</a:t>
            </a:r>
            <a:r>
              <a:rPr lang="en-US" dirty="0" smtClean="0">
                <a:latin typeface="RijksoverheidSansText" panose="020B0503040202060203" pitchFamily="34" charset="0"/>
              </a:rPr>
              <a:t> van de </a:t>
            </a:r>
            <a:r>
              <a:rPr lang="en-US" dirty="0" err="1" smtClean="0">
                <a:latin typeface="RijksoverheidSansText" panose="020B0503040202060203" pitchFamily="34" charset="0"/>
              </a:rPr>
              <a:t>succeskans</a:t>
            </a:r>
            <a:r>
              <a:rPr lang="en-US" dirty="0" smtClean="0">
                <a:latin typeface="RijksoverheidSansText" panose="020B0503040202060203" pitchFamily="34" charset="0"/>
              </a:rPr>
              <a:t> van </a:t>
            </a:r>
            <a:r>
              <a:rPr lang="en-US" dirty="0" err="1" smtClean="0">
                <a:latin typeface="RijksoverheidSansText" panose="020B0503040202060203" pitchFamily="34" charset="0"/>
              </a:rPr>
              <a:t>een</a:t>
            </a:r>
            <a:r>
              <a:rPr lang="en-US" dirty="0" smtClean="0">
                <a:latin typeface="RijksoverheidSansText" panose="020B0503040202060203" pitchFamily="34" charset="0"/>
              </a:rPr>
              <a:t> </a:t>
            </a:r>
            <a:r>
              <a:rPr lang="en-US" dirty="0" err="1" smtClean="0">
                <a:latin typeface="RijksoverheidSansText" panose="020B0503040202060203" pitchFamily="34" charset="0"/>
              </a:rPr>
              <a:t>nieuw</a:t>
            </a:r>
            <a:r>
              <a:rPr lang="en-US" dirty="0" smtClean="0">
                <a:latin typeface="RijksoverheidSansText" panose="020B0503040202060203" pitchFamily="34" charset="0"/>
              </a:rPr>
              <a:t> type </a:t>
            </a:r>
            <a:r>
              <a:rPr lang="en-US" dirty="0" err="1" smtClean="0">
                <a:latin typeface="RijksoverheidSansText" panose="020B0503040202060203" pitchFamily="34" charset="0"/>
              </a:rPr>
              <a:t>antibioticum</a:t>
            </a:r>
            <a:r>
              <a:rPr lang="en-US" dirty="0" smtClean="0">
                <a:latin typeface="RijksoverheidSansText" panose="020B0503040202060203" pitchFamily="34" charset="0"/>
              </a:rPr>
              <a:t> </a:t>
            </a:r>
            <a:r>
              <a:rPr lang="en-US" dirty="0" err="1" smtClean="0">
                <a:latin typeface="RijksoverheidSansText" panose="020B0503040202060203" pitchFamily="34" charset="0"/>
              </a:rPr>
              <a:t>voor</a:t>
            </a:r>
            <a:r>
              <a:rPr lang="en-US" dirty="0" smtClean="0">
                <a:latin typeface="RijksoverheidSansText" panose="020B0503040202060203" pitchFamily="34" charset="0"/>
              </a:rPr>
              <a:t> </a:t>
            </a:r>
            <a:r>
              <a:rPr lang="en-US" dirty="0" err="1" smtClean="0">
                <a:latin typeface="RijksoverheidSansText" panose="020B0503040202060203" pitchFamily="34" charset="0"/>
              </a:rPr>
              <a:t>gewonde</a:t>
            </a:r>
            <a:r>
              <a:rPr lang="en-US" dirty="0" smtClean="0">
                <a:latin typeface="RijksoverheidSansText" panose="020B0503040202060203" pitchFamily="34" charset="0"/>
              </a:rPr>
              <a:t> </a:t>
            </a:r>
            <a:r>
              <a:rPr lang="en-US" dirty="0" err="1" smtClean="0">
                <a:latin typeface="RijksoverheidSansText" panose="020B0503040202060203" pitchFamily="34" charset="0"/>
              </a:rPr>
              <a:t>soldaten</a:t>
            </a:r>
            <a:r>
              <a:rPr lang="en-US" dirty="0">
                <a:latin typeface="RijksoverheidSansText" panose="020B0503040202060203" pitchFamily="34" charset="0"/>
              </a:rPr>
              <a:t>.</a:t>
            </a:r>
            <a:endParaRPr lang="en-US" dirty="0" smtClean="0">
              <a:latin typeface="RijksoverheidSansText" panose="020B0503040202060203" pitchFamily="34" charset="0"/>
            </a:endParaRPr>
          </a:p>
          <a:p>
            <a:pPr marL="717550" lvl="1" indent="-342900">
              <a:buFont typeface="Arial" panose="020B0604020202020204" pitchFamily="34" charset="0"/>
              <a:buChar char="•"/>
            </a:pPr>
            <a:endParaRPr lang="en-US" dirty="0" smtClean="0">
              <a:latin typeface="RijksoverheidSansText" panose="020B050304020206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 err="1" smtClean="0">
                <a:latin typeface="RijksoverheidSansText" panose="020B0503040202060203" pitchFamily="34" charset="0"/>
              </a:rPr>
              <a:t>Materiële</a:t>
            </a:r>
            <a:r>
              <a:rPr lang="en-US" b="1" dirty="0" smtClean="0">
                <a:latin typeface="RijksoverheidSansText" panose="020B0503040202060203" pitchFamily="34" charset="0"/>
              </a:rPr>
              <a:t> </a:t>
            </a:r>
            <a:r>
              <a:rPr lang="en-US" b="1" dirty="0" err="1" smtClean="0">
                <a:latin typeface="RijksoverheidSansText" panose="020B0503040202060203" pitchFamily="34" charset="0"/>
              </a:rPr>
              <a:t>logistiek</a:t>
            </a:r>
            <a:endParaRPr lang="en-US" b="1" dirty="0" smtClean="0">
              <a:latin typeface="RijksoverheidSansText" panose="020B0503040202060203" pitchFamily="34" charset="0"/>
            </a:endParaRPr>
          </a:p>
          <a:p>
            <a:pPr marL="717550" lvl="1" indent="-342900">
              <a:buFont typeface="Arial" panose="020B0604020202020204" pitchFamily="34" charset="0"/>
              <a:buChar char="•"/>
            </a:pPr>
            <a:r>
              <a:rPr lang="en-US" dirty="0" err="1" smtClean="0">
                <a:latin typeface="RijksoverheidSansText" panose="020B0503040202060203" pitchFamily="34" charset="0"/>
              </a:rPr>
              <a:t>Voorspellen</a:t>
            </a:r>
            <a:r>
              <a:rPr lang="en-US" dirty="0" smtClean="0">
                <a:latin typeface="RijksoverheidSansText" panose="020B0503040202060203" pitchFamily="34" charset="0"/>
              </a:rPr>
              <a:t> van het </a:t>
            </a:r>
            <a:r>
              <a:rPr lang="en-US" dirty="0" err="1" smtClean="0">
                <a:latin typeface="RijksoverheidSansText" panose="020B0503040202060203" pitchFamily="34" charset="0"/>
              </a:rPr>
              <a:t>aantal</a:t>
            </a:r>
            <a:r>
              <a:rPr lang="en-US" dirty="0" smtClean="0">
                <a:latin typeface="RijksoverheidSansText" panose="020B0503040202060203" pitchFamily="34" charset="0"/>
              </a:rPr>
              <a:t> </a:t>
            </a:r>
            <a:r>
              <a:rPr lang="en-US" dirty="0" err="1" smtClean="0">
                <a:latin typeface="RijksoverheidSansText" panose="020B0503040202060203" pitchFamily="34" charset="0"/>
              </a:rPr>
              <a:t>scherfvesten</a:t>
            </a:r>
            <a:r>
              <a:rPr lang="en-US" dirty="0" smtClean="0">
                <a:latin typeface="RijksoverheidSansText" panose="020B0503040202060203" pitchFamily="34" charset="0"/>
              </a:rPr>
              <a:t> in </a:t>
            </a:r>
            <a:r>
              <a:rPr lang="en-US" dirty="0" err="1" smtClean="0">
                <a:latin typeface="RijksoverheidSansText" panose="020B0503040202060203" pitchFamily="34" charset="0"/>
              </a:rPr>
              <a:t>een</a:t>
            </a:r>
            <a:r>
              <a:rPr lang="en-US" dirty="0" smtClean="0">
                <a:latin typeface="RijksoverheidSansText" panose="020B0503040202060203" pitchFamily="34" charset="0"/>
              </a:rPr>
              <a:t> batch van 100 die </a:t>
            </a:r>
            <a:r>
              <a:rPr lang="en-US" dirty="0" err="1" smtClean="0">
                <a:latin typeface="RijksoverheidSansText" panose="020B0503040202060203" pitchFamily="34" charset="0"/>
              </a:rPr>
              <a:t>een</a:t>
            </a:r>
            <a:r>
              <a:rPr lang="en-US" dirty="0" smtClean="0">
                <a:latin typeface="RijksoverheidSansText" panose="020B0503040202060203" pitchFamily="34" charset="0"/>
              </a:rPr>
              <a:t> </a:t>
            </a:r>
            <a:r>
              <a:rPr lang="en-US" dirty="0" err="1" smtClean="0">
                <a:latin typeface="RijksoverheidSansText" panose="020B0503040202060203" pitchFamily="34" charset="0"/>
              </a:rPr>
              <a:t>kwaliteitscontrole</a:t>
            </a:r>
            <a:r>
              <a:rPr lang="en-US" dirty="0" smtClean="0">
                <a:latin typeface="RijksoverheidSansText" panose="020B0503040202060203" pitchFamily="34" charset="0"/>
              </a:rPr>
              <a:t> </a:t>
            </a:r>
            <a:r>
              <a:rPr lang="en-US" dirty="0" err="1" smtClean="0">
                <a:latin typeface="RijksoverheidSansText" panose="020B0503040202060203" pitchFamily="34" charset="0"/>
              </a:rPr>
              <a:t>doorkomen</a:t>
            </a:r>
            <a:r>
              <a:rPr lang="en-US" dirty="0" smtClean="0">
                <a:latin typeface="RijksoverheidSansText" panose="020B0503040202060203" pitchFamily="34" charset="0"/>
              </a:rPr>
              <a:t>.</a:t>
            </a:r>
          </a:p>
          <a:p>
            <a:pPr marL="717550" lvl="1" indent="-342900">
              <a:buFont typeface="Arial" panose="020B0604020202020204" pitchFamily="34" charset="0"/>
              <a:buChar char="•"/>
            </a:pPr>
            <a:endParaRPr lang="en-US" dirty="0" smtClean="0">
              <a:latin typeface="RijksoverheidSansText" panose="020B050304020206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 smtClean="0">
                <a:latin typeface="RijksoverheidSansText" panose="020B0503040202060203" pitchFamily="34" charset="0"/>
              </a:rPr>
              <a:t>Marketing van de MBW master DMCI</a:t>
            </a:r>
          </a:p>
          <a:p>
            <a:pPr marL="717550" lvl="1" indent="-342900">
              <a:buFont typeface="Arial" panose="020B0604020202020204" pitchFamily="34" charset="0"/>
              <a:buChar char="•"/>
            </a:pPr>
            <a:r>
              <a:rPr lang="en-US" dirty="0" err="1" smtClean="0">
                <a:latin typeface="RijksoverheidSansText" panose="020B0503040202060203" pitchFamily="34" charset="0"/>
              </a:rPr>
              <a:t>Voorspellen</a:t>
            </a:r>
            <a:r>
              <a:rPr lang="en-US" dirty="0" smtClean="0">
                <a:latin typeface="RijksoverheidSansText" panose="020B0503040202060203" pitchFamily="34" charset="0"/>
              </a:rPr>
              <a:t> van het </a:t>
            </a:r>
            <a:r>
              <a:rPr lang="en-US" dirty="0" err="1" smtClean="0">
                <a:latin typeface="RijksoverheidSansText" panose="020B0503040202060203" pitchFamily="34" charset="0"/>
              </a:rPr>
              <a:t>aantal</a:t>
            </a:r>
            <a:r>
              <a:rPr lang="en-US" dirty="0" smtClean="0">
                <a:latin typeface="RijksoverheidSansText" panose="020B0503040202060203" pitchFamily="34" charset="0"/>
              </a:rPr>
              <a:t> </a:t>
            </a:r>
            <a:r>
              <a:rPr lang="en-US" dirty="0" err="1" smtClean="0">
                <a:latin typeface="RijksoverheidSansText" panose="020B0503040202060203" pitchFamily="34" charset="0"/>
              </a:rPr>
              <a:t>inschrijvingen</a:t>
            </a:r>
            <a:r>
              <a:rPr lang="en-US" dirty="0" smtClean="0">
                <a:latin typeface="RijksoverheidSansText" panose="020B0503040202060203" pitchFamily="34" charset="0"/>
              </a:rPr>
              <a:t> </a:t>
            </a:r>
            <a:r>
              <a:rPr lang="en-US" dirty="0" err="1" smtClean="0">
                <a:latin typeface="RijksoverheidSansText" panose="020B0503040202060203" pitchFamily="34" charset="0"/>
              </a:rPr>
              <a:t>voor</a:t>
            </a:r>
            <a:r>
              <a:rPr lang="en-US" dirty="0" smtClean="0">
                <a:latin typeface="RijksoverheidSansText" panose="020B0503040202060203" pitchFamily="34" charset="0"/>
              </a:rPr>
              <a:t> de master DMCI </a:t>
            </a:r>
            <a:r>
              <a:rPr lang="en-US" dirty="0" err="1" smtClean="0">
                <a:latin typeface="RijksoverheidSansText" panose="020B0503040202060203" pitchFamily="34" charset="0"/>
              </a:rPr>
              <a:t>als</a:t>
            </a:r>
            <a:r>
              <a:rPr lang="en-US" dirty="0" smtClean="0">
                <a:latin typeface="RijksoverheidSansText" panose="020B0503040202060203" pitchFamily="34" charset="0"/>
              </a:rPr>
              <a:t> </a:t>
            </a:r>
            <a:r>
              <a:rPr lang="en-US" dirty="0" err="1" smtClean="0">
                <a:latin typeface="RijksoverheidSansText" panose="020B0503040202060203" pitchFamily="34" charset="0"/>
              </a:rPr>
              <a:t>deze</a:t>
            </a:r>
            <a:r>
              <a:rPr lang="en-US" dirty="0" smtClean="0">
                <a:latin typeface="RijksoverheidSansText" panose="020B0503040202060203" pitchFamily="34" charset="0"/>
              </a:rPr>
              <a:t> </a:t>
            </a:r>
            <a:r>
              <a:rPr lang="en-US" dirty="0" err="1" smtClean="0">
                <a:latin typeface="RijksoverheidSansText" panose="020B0503040202060203" pitchFamily="34" charset="0"/>
              </a:rPr>
              <a:t>binnen</a:t>
            </a:r>
            <a:r>
              <a:rPr lang="en-US" dirty="0" smtClean="0">
                <a:latin typeface="RijksoverheidSansText" panose="020B0503040202060203" pitchFamily="34" charset="0"/>
              </a:rPr>
              <a:t> </a:t>
            </a:r>
            <a:r>
              <a:rPr lang="en-US" dirty="0" err="1" smtClean="0">
                <a:latin typeface="RijksoverheidSansText" panose="020B0503040202060203" pitchFamily="34" charset="0"/>
              </a:rPr>
              <a:t>Defensie</a:t>
            </a:r>
            <a:r>
              <a:rPr lang="en-US" dirty="0" smtClean="0">
                <a:latin typeface="RijksoverheidSansText" panose="020B0503040202060203" pitchFamily="34" charset="0"/>
              </a:rPr>
              <a:t> </a:t>
            </a:r>
            <a:r>
              <a:rPr lang="en-US" dirty="0" err="1" smtClean="0">
                <a:latin typeface="RijksoverheidSansText" panose="020B0503040202060203" pitchFamily="34" charset="0"/>
              </a:rPr>
              <a:t>wordt</a:t>
            </a:r>
            <a:r>
              <a:rPr lang="en-US" dirty="0" smtClean="0">
                <a:latin typeface="RijksoverheidSansText" panose="020B0503040202060203" pitchFamily="34" charset="0"/>
              </a:rPr>
              <a:t> </a:t>
            </a:r>
            <a:r>
              <a:rPr lang="en-US" dirty="0" err="1" smtClean="0">
                <a:latin typeface="RijksoverheidSansText" panose="020B0503040202060203" pitchFamily="34" charset="0"/>
              </a:rPr>
              <a:t>gepromoot</a:t>
            </a:r>
            <a:r>
              <a:rPr lang="en-US" dirty="0" smtClean="0">
                <a:latin typeface="RijksoverheidSansText" panose="020B0503040202060203" pitchFamily="34" charset="0"/>
              </a:rPr>
              <a:t>. 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College 4a: binomiale verdeling (1/2)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478731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Connectie</a:t>
            </a:r>
            <a:r>
              <a:rPr lang="en-US" dirty="0" smtClean="0"/>
              <a:t> met </a:t>
            </a:r>
            <a:r>
              <a:rPr lang="en-US" dirty="0" err="1" smtClean="0"/>
              <a:t>statistiek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611792" cy="4246562"/>
              </a:xfrm>
            </p:spPr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 smtClean="0">
                  <a:latin typeface="RijksoverheidSansText" panose="020B050304020206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 smtClean="0">
                    <a:latin typeface="RijksoverheidSansText" panose="020B0503040202060203" pitchFamily="34" charset="0"/>
                  </a:rPr>
                  <a:t>Neem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een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b="1" dirty="0" err="1" smtClean="0">
                    <a:solidFill>
                      <a:schemeClr val="accent1"/>
                    </a:solidFill>
                    <a:latin typeface="RijksoverheidSansText" panose="020B0503040202060203" pitchFamily="34" charset="0"/>
                  </a:rPr>
                  <a:t>steekproef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van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gewonde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soldaten</a:t>
                </a:r>
                <a:r>
                  <a:rPr lang="en-US" sz="2400" dirty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dat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een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antibioticum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krijgt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 smtClean="0">
                  <a:latin typeface="RijksoverheidSansText" panose="020B050304020206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 smtClean="0">
                    <a:latin typeface="RijksoverheidSansText" panose="020B0503040202060203" pitchFamily="34" charset="0"/>
                  </a:rPr>
                  <a:t>Per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steekproefelement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(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gewonde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soldaat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):</a:t>
                </a:r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:r>
                  <a:rPr lang="en-US" sz="2400" dirty="0" err="1" smtClean="0">
                    <a:latin typeface="RijksoverheidSansText" panose="020B0503040202060203" pitchFamily="34" charset="0"/>
                  </a:rPr>
                  <a:t>Bepaal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of de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antibiotica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wel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/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niet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effectief</a:t>
                </a:r>
                <a:r>
                  <a:rPr lang="en-US" sz="2400" dirty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is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voor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deze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soldaat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.</a:t>
                </a:r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:endParaRPr lang="en-US" sz="2400" dirty="0" smtClean="0">
                  <a:latin typeface="RijksoverheidSansText" panose="020B050304020206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 smtClean="0">
                    <a:latin typeface="RijksoverheidSansText" panose="020B0503040202060203" pitchFamily="34" charset="0"/>
                  </a:rPr>
                  <a:t>Op basis van de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steekproefresultaten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: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bepaal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de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succeskans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400" dirty="0" smtClean="0">
                    <a:latin typeface="RijksoverheidSansText" panose="020B0503040202060203" pitchFamily="34" charset="0"/>
                  </a:rPr>
                  <a:t> van het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antibioticum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voor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de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gehele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b="1" dirty="0" err="1" smtClean="0">
                    <a:solidFill>
                      <a:schemeClr val="accent1"/>
                    </a:solidFill>
                    <a:latin typeface="RijksoverheidSansText" panose="020B0503040202060203" pitchFamily="34" charset="0"/>
                  </a:rPr>
                  <a:t>populatie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gewonde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soldaten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.</a:t>
                </a:r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:r>
                  <a:rPr lang="en-US" sz="2400" dirty="0" smtClean="0">
                    <a:latin typeface="RijksoverheidSansText" panose="020B0503040202060203" pitchFamily="34" charset="0"/>
                  </a:rPr>
                  <a:t>Wat is de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succeskans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van het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nieuwe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antibioticum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>
                  <a:latin typeface="RijksoverheidSansText" panose="020B050304020206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 smtClean="0">
                  <a:latin typeface="RijksoverheidSansText" panose="020B050304020206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611792" cy="4246562"/>
              </a:xfrm>
              <a:blipFill>
                <a:blip r:embed="rId2"/>
                <a:stretch>
                  <a:fillRect l="-1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College 4a: binomiale verdeling (1/2)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17378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smtClean="0"/>
              <a:t>Samenvatting</a:t>
            </a:r>
            <a:endParaRPr lang="nl-N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1187856" cy="4246562"/>
              </a:xfrm>
            </p:spPr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nl-NL" sz="2400" b="1" dirty="0" smtClean="0">
                    <a:latin typeface="RijksoverheidSansText" panose="020B0503040202060203" pitchFamily="34" charset="0"/>
                  </a:rPr>
                  <a:t>De </a:t>
                </a:r>
                <a:r>
                  <a:rPr lang="nl-NL" sz="2400" b="1" dirty="0" err="1" smtClean="0">
                    <a:latin typeface="RijksoverheidSansText" panose="020B0503040202060203" pitchFamily="34" charset="0"/>
                  </a:rPr>
                  <a:t>Bernoulli-verdeling</a:t>
                </a:r>
                <a:r>
                  <a:rPr lang="nl-NL" sz="2400" b="1" dirty="0" smtClean="0">
                    <a:latin typeface="RijksoverheidSansText" panose="020B0503040202060203" pitchFamily="34" charset="0"/>
                  </a:rPr>
                  <a:t> als elementaire bouwsteen</a:t>
                </a:r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:r>
                  <a:rPr lang="nl-NL" sz="2000" dirty="0" smtClean="0">
                    <a:latin typeface="RijksoverheidSansText" panose="020B0503040202060203" pitchFamily="34" charset="0"/>
                  </a:rPr>
                  <a:t>Antwoord op een “ja/nee”-vraag, gecodeerd met </a:t>
                </a:r>
                <a14:m>
                  <m:oMath xmlns:m="http://schemas.openxmlformats.org/officeDocument/2006/math"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0/1</m:t>
                    </m:r>
                  </m:oMath>
                </a14:m>
                <a:r>
                  <a:rPr lang="nl-NL" sz="2000" dirty="0" smtClean="0">
                    <a:latin typeface="RijksoverheidSansText" panose="020B0503040202060203" pitchFamily="34" charset="0"/>
                  </a:rPr>
                  <a:t>.</a:t>
                </a:r>
                <a:endParaRPr lang="nl-NL" sz="2000" dirty="0" smtClean="0">
                  <a:latin typeface="RijksoverheidSansText" panose="020B0503040202060203" pitchFamily="34" charset="0"/>
                </a:endParaRPr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:r>
                  <a:rPr lang="nl-NL" sz="2000" dirty="0" smtClean="0">
                    <a:latin typeface="RijksoverheidSansText" panose="020B0503040202060203" pitchFamily="34" charset="0"/>
                  </a:rPr>
                  <a:t>Twee uitkomsten</a:t>
                </a:r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:r>
                  <a:rPr lang="nl-NL" sz="2000" dirty="0" smtClean="0">
                    <a:latin typeface="RijksoverheidSansText" panose="020B0503040202060203" pitchFamily="34" charset="0"/>
                  </a:rPr>
                  <a:t>Eén </a:t>
                </a:r>
                <a:r>
                  <a:rPr lang="nl-NL" sz="2000" dirty="0" smtClean="0">
                    <a:latin typeface="RijksoverheidSansText" panose="020B0503040202060203" pitchFamily="34" charset="0"/>
                  </a:rPr>
                  <a:t>parameter: succeskans</a:t>
                </a:r>
                <a:r>
                  <a:rPr lang="nl-NL" sz="2000" i="1" dirty="0" smtClean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sz="2000" b="0" i="1" dirty="0" smtClean="0">
                  <a:latin typeface="RijksoverheidSansText" panose="020B0503040202060203" pitchFamily="34" charset="0"/>
                </a:endParaRPr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:endParaRPr lang="nl-NL" sz="2400" dirty="0" smtClean="0">
                  <a:latin typeface="RijksoverheidSansText" panose="020B050304020206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nl-NL" sz="2400" b="1" dirty="0" smtClean="0">
                    <a:latin typeface="RijksoverheidSansText" panose="020B0503040202060203" pitchFamily="34" charset="0"/>
                  </a:rPr>
                  <a:t>De binomiale verdeling: </a:t>
                </a:r>
                <a:endParaRPr lang="nl-NL" sz="2400" dirty="0" smtClean="0">
                  <a:latin typeface="RijksoverheidSansText" panose="020B0503040202060203" pitchFamily="34" charset="0"/>
                </a:endParaRPr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:r>
                  <a:rPr lang="nl-NL" sz="2000" dirty="0" smtClean="0">
                    <a:latin typeface="RijksoverheidSansText" panose="020B0503040202060203" pitchFamily="34" charset="0"/>
                  </a:rPr>
                  <a:t>Tellen van aantal successen in een gegeven aantal onafhankelijke pogingen</a:t>
                </a:r>
                <a:endParaRPr lang="nl-NL" sz="2000" dirty="0" smtClean="0">
                  <a:latin typeface="RijksoverheidSansText" panose="020B0503040202060203" pitchFamily="34" charset="0"/>
                </a:endParaRPr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 smtClean="0">
                    <a:latin typeface="RijksoverheidSansText" panose="020B0503040202060203" pitchFamily="34" charset="0"/>
                  </a:rPr>
                  <a:t>Twee parameters: </a:t>
                </a:r>
                <a:r>
                  <a:rPr lang="en-US" sz="2000" dirty="0" err="1" smtClean="0">
                    <a:latin typeface="RijksoverheidSansText" panose="020B0503040202060203" pitchFamily="34" charset="0"/>
                  </a:rPr>
                  <a:t>aantal</a:t>
                </a:r>
                <a:r>
                  <a:rPr lang="en-US" sz="2000" dirty="0" smtClean="0">
                    <a:latin typeface="RijksoverheidSansText" panose="020B0503040202060203" pitchFamily="34" charset="0"/>
                  </a:rPr>
                  <a:t> Bernoulli-</a:t>
                </a:r>
                <a:r>
                  <a:rPr lang="en-US" sz="2000" dirty="0" err="1" smtClean="0">
                    <a:latin typeface="RijksoverheidSansText" panose="020B0503040202060203" pitchFamily="34" charset="0"/>
                  </a:rPr>
                  <a:t>experimenten</a:t>
                </a:r>
                <a:r>
                  <a:rPr lang="en-US" sz="2000" dirty="0" smtClean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nl-NL" sz="2000" dirty="0" smtClean="0">
                    <a:latin typeface="RijksoverheidSansText" panose="020B0503040202060203" pitchFamily="34" charset="0"/>
                  </a:rPr>
                  <a:t> en succeskans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nl-NL" sz="2000" i="1" dirty="0" smtClean="0">
                  <a:latin typeface="RijksoverheidSansText" panose="020B0503040202060203" pitchFamily="34" charset="0"/>
                </a:endParaRPr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nl-NL" sz="2000" i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nl-NL" sz="2000" dirty="0" smtClean="0">
                    <a:latin typeface="RijksoverheidSansText" panose="020B0503040202060203" pitchFamily="34" charset="0"/>
                  </a:rPr>
                  <a:t>uitkomsten</a:t>
                </a:r>
                <a:endParaRPr lang="nl-NL" sz="2000" dirty="0">
                  <a:latin typeface="RijksoverheidSansText" panose="020B050304020206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nl-NL" sz="2000" dirty="0" smtClean="0">
                  <a:latin typeface="RijksoverheidSansText" panose="020B050304020206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b="1" dirty="0" err="1" smtClean="0">
                    <a:latin typeface="RijksoverheidSansText" panose="020B0503040202060203" pitchFamily="34" charset="0"/>
                  </a:rPr>
                  <a:t>Kansen</a:t>
                </a:r>
                <a:r>
                  <a:rPr lang="en-US" sz="2400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b="1" dirty="0" err="1" smtClean="0">
                    <a:latin typeface="RijksoverheidSansText" panose="020B0503040202060203" pitchFamily="34" charset="0"/>
                  </a:rPr>
                  <a:t>berekenen</a:t>
                </a:r>
                <a:r>
                  <a:rPr lang="en-US" sz="2400" b="1" dirty="0" smtClean="0">
                    <a:latin typeface="RijksoverheidSansText" panose="020B0503040202060203" pitchFamily="34" charset="0"/>
                  </a:rPr>
                  <a:t> met </a:t>
                </a:r>
                <a:r>
                  <a:rPr lang="en-US" sz="2400" b="1" dirty="0" smtClean="0">
                    <a:latin typeface="RijksoverheidSansText" panose="020B0503040202060203" pitchFamily="34" charset="0"/>
                  </a:rPr>
                  <a:t>de </a:t>
                </a:r>
                <a:r>
                  <a:rPr lang="en-US" sz="2400" b="1" dirty="0" err="1" smtClean="0">
                    <a:latin typeface="RijksoverheidSansText" panose="020B0503040202060203" pitchFamily="34" charset="0"/>
                  </a:rPr>
                  <a:t>binomiale</a:t>
                </a:r>
                <a:r>
                  <a:rPr lang="en-US" sz="2400" b="1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b="1" dirty="0" err="1" smtClean="0">
                    <a:latin typeface="RijksoverheidSansText" panose="020B0503040202060203" pitchFamily="34" charset="0"/>
                  </a:rPr>
                  <a:t>verdeling</a:t>
                </a:r>
                <a:r>
                  <a:rPr lang="en-US" sz="2400" b="1" dirty="0" smtClean="0">
                    <a:latin typeface="RijksoverheidSansText" panose="020B0503040202060203" pitchFamily="34" charset="0"/>
                  </a:rPr>
                  <a:t>:</a:t>
                </a:r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nl-NL" sz="2000" b="0" i="0" smtClean="0">
                        <a:latin typeface="Cambria Math" panose="02040503050406030204" pitchFamily="18" charset="0"/>
                      </a:rPr>
                      <m:t>binompdf</m:t>
                    </m:r>
                  </m:oMath>
                </a14:m>
                <a:r>
                  <a:rPr lang="nl-NL" sz="2000" dirty="0" smtClean="0">
                    <a:latin typeface="RijksoverheidSansText" panose="020B0503040202060203" pitchFamily="34" charset="0"/>
                  </a:rPr>
                  <a:t> 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nl-NL" sz="2000" b="0" i="0" smtClean="0">
                        <a:latin typeface="Cambria Math" panose="02040503050406030204" pitchFamily="18" charset="0"/>
                      </a:rPr>
                      <m:t>binomcdf</m:t>
                    </m:r>
                  </m:oMath>
                </a14:m>
                <a:endParaRPr lang="nl-NL" sz="2000" dirty="0" smtClean="0">
                  <a:latin typeface="RijksoverheidSansText" panose="020B0503040202060203" pitchFamily="34" charset="0"/>
                </a:endParaRPr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:r>
                  <a:rPr lang="nl-NL" sz="2000" dirty="0" smtClean="0">
                    <a:latin typeface="RijksoverheidSansText" panose="020B0503040202060203" pitchFamily="34" charset="0"/>
                  </a:rPr>
                  <a:t>Hoeveel pogingen </a:t>
                </a:r>
                <a14:m>
                  <m:oMath xmlns:m="http://schemas.openxmlformats.org/officeDocument/2006/math"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nl-NL" sz="2000" dirty="0" smtClean="0">
                    <a:latin typeface="RijksoverheidSansText" panose="020B0503040202060203" pitchFamily="34" charset="0"/>
                  </a:rPr>
                  <a:t> heb je nodig om met een bepaalde kans </a:t>
                </a:r>
                <a14:m>
                  <m:oMath xmlns:m="http://schemas.openxmlformats.org/officeDocument/2006/math">
                    <m:r>
                      <a:rPr lang="nl-NL" sz="2000" b="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nl-NL" sz="2000" dirty="0" smtClean="0">
                    <a:latin typeface="RijksoverheidSansText" panose="020B0503040202060203" pitchFamily="34" charset="0"/>
                  </a:rPr>
                  <a:t> successen te garanderen?</a:t>
                </a:r>
                <a:endParaRPr lang="nl-NL" sz="2000" dirty="0">
                  <a:latin typeface="RijksoverheidSansText" panose="020B0503040202060203" pitchFamily="34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1187856" cy="4246562"/>
              </a:xfrm>
              <a:blipFill>
                <a:blip r:embed="rId2"/>
                <a:stretch>
                  <a:fillRect l="-1525" t="-2439" b="-7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College 4a: binomiale verdeling (1/2)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99113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smtClean="0"/>
              <a:t>Volgend college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" y="1773238"/>
            <a:ext cx="11187856" cy="4246562"/>
          </a:xfrm>
        </p:spPr>
        <p:txBody>
          <a:bodyPr/>
          <a:lstStyle/>
          <a:p>
            <a:r>
              <a:rPr lang="nl-NL" sz="2400" dirty="0" smtClean="0"/>
              <a:t>Verdieping op de binomiale verdeling</a:t>
            </a:r>
            <a:endParaRPr lang="en-US" sz="2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 smtClean="0">
                <a:latin typeface="RijksoverheidSansText" panose="020B0503040202060203" pitchFamily="34" charset="0"/>
              </a:rPr>
              <a:t>Eigenschappen</a:t>
            </a:r>
            <a:r>
              <a:rPr lang="en-US" sz="2000" dirty="0" smtClean="0">
                <a:latin typeface="RijksoverheidSansText" panose="020B0503040202060203" pitchFamily="34" charset="0"/>
              </a:rPr>
              <a:t> </a:t>
            </a:r>
            <a:r>
              <a:rPr lang="en-US" sz="2000" dirty="0" smtClean="0">
                <a:latin typeface="RijksoverheidSansText" panose="020B0503040202060203" pitchFamily="34" charset="0"/>
              </a:rPr>
              <a:t>van de </a:t>
            </a:r>
            <a:r>
              <a:rPr lang="en-US" sz="2000" dirty="0" err="1" smtClean="0">
                <a:latin typeface="RijksoverheidSansText" panose="020B0503040202060203" pitchFamily="34" charset="0"/>
              </a:rPr>
              <a:t>binomiale</a:t>
            </a:r>
            <a:r>
              <a:rPr lang="en-US" sz="2000" dirty="0" smtClean="0">
                <a:latin typeface="RijksoverheidSansText" panose="020B0503040202060203" pitchFamily="34" charset="0"/>
              </a:rPr>
              <a:t> </a:t>
            </a:r>
            <a:r>
              <a:rPr lang="en-US" sz="2000" dirty="0" err="1" smtClean="0">
                <a:latin typeface="RijksoverheidSansText" panose="020B0503040202060203" pitchFamily="34" charset="0"/>
              </a:rPr>
              <a:t>verdeling</a:t>
            </a:r>
            <a:endParaRPr lang="nl-NL" sz="2000" dirty="0">
              <a:latin typeface="RijksoverheidSansText" panose="020B0503040202060203" pitchFamily="34" charset="0"/>
            </a:endParaRPr>
          </a:p>
          <a:p>
            <a:pPr marL="0" indent="0">
              <a:buNone/>
            </a:pPr>
            <a:endParaRPr lang="en-US" sz="2400" b="1" dirty="0" smtClean="0"/>
          </a:p>
          <a:p>
            <a:endParaRPr lang="en-US" sz="2400" b="1" dirty="0" smtClean="0">
              <a:latin typeface="RijksoverheidSansText" panose="020B0503040202060203" pitchFamily="34" charset="0"/>
            </a:endParaRPr>
          </a:p>
          <a:p>
            <a:endParaRPr lang="en-US" sz="2400" b="1" dirty="0" smtClean="0">
              <a:latin typeface="RijksoverheidSansText" panose="020B0503040202060203" pitchFamily="34" charset="0"/>
            </a:endParaRPr>
          </a:p>
          <a:p>
            <a:endParaRPr lang="en-US" sz="2400" b="1" dirty="0">
              <a:latin typeface="RijksoverheidSansText" panose="020B0503040202060203" pitchFamily="34" charset="0"/>
            </a:endParaRPr>
          </a:p>
          <a:p>
            <a:r>
              <a:rPr lang="en-US" sz="2400" b="1" dirty="0" err="1" smtClean="0">
                <a:latin typeface="RijksoverheidSansText" panose="020B0503040202060203" pitchFamily="34" charset="0"/>
              </a:rPr>
              <a:t>Huiswerk</a:t>
            </a:r>
            <a:r>
              <a:rPr lang="en-US" sz="2400" b="1" dirty="0">
                <a:latin typeface="RijksoverheidSansText" panose="020B0503040202060203" pitchFamily="34" charset="0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RijksoverheidSansText" panose="020B0503040202060203" pitchFamily="34" charset="0"/>
              </a:rPr>
              <a:t>Lezen</a:t>
            </a:r>
            <a:r>
              <a:rPr lang="en-US" sz="2400" dirty="0">
                <a:latin typeface="RijksoverheidSansText" panose="020B0503040202060203" pitchFamily="34" charset="0"/>
              </a:rPr>
              <a:t> van A. Buijs: </a:t>
            </a:r>
            <a:r>
              <a:rPr lang="en-US" sz="2400" dirty="0" err="1">
                <a:latin typeface="RijksoverheidSansText" panose="020B0503040202060203" pitchFamily="34" charset="0"/>
              </a:rPr>
              <a:t>hoofdstuk</a:t>
            </a:r>
            <a:r>
              <a:rPr lang="en-US" sz="2400" dirty="0">
                <a:latin typeface="RijksoverheidSansText" panose="020B0503040202060203" pitchFamily="34" charset="0"/>
              </a:rPr>
              <a:t> </a:t>
            </a:r>
            <a:r>
              <a:rPr lang="en-US" sz="2400" dirty="0" smtClean="0">
                <a:latin typeface="RijksoverheidSansText" panose="020B0503040202060203" pitchFamily="34" charset="0"/>
              </a:rPr>
              <a:t>6.1 </a:t>
            </a:r>
            <a:r>
              <a:rPr lang="en-US" sz="2400" dirty="0">
                <a:latin typeface="RijksoverheidSansText" panose="020B0503040202060203" pitchFamily="34" charset="0"/>
              </a:rPr>
              <a:t>(</a:t>
            </a:r>
            <a:r>
              <a:rPr lang="en-US" sz="2400" dirty="0" err="1">
                <a:latin typeface="RijksoverheidSansText" panose="020B0503040202060203" pitchFamily="34" charset="0"/>
              </a:rPr>
              <a:t>blz</a:t>
            </a:r>
            <a:r>
              <a:rPr lang="en-US" sz="2400" dirty="0">
                <a:latin typeface="RijksoverheidSansText" panose="020B0503040202060203" pitchFamily="34" charset="0"/>
              </a:rPr>
              <a:t>. </a:t>
            </a:r>
            <a:r>
              <a:rPr lang="en-US" sz="2400" dirty="0" smtClean="0">
                <a:latin typeface="RijksoverheidSansText" panose="020B0503040202060203" pitchFamily="34" charset="0"/>
              </a:rPr>
              <a:t>201-207</a:t>
            </a:r>
            <a:r>
              <a:rPr lang="en-US" sz="2400" dirty="0" smtClean="0">
                <a:latin typeface="RijksoverheidSansText" panose="020B0503040202060203" pitchFamily="34" charset="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RijksoverheidSansText" panose="020B050304020206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 smtClean="0">
                <a:latin typeface="RijksoverheidSansText" panose="020B0503040202060203" pitchFamily="34" charset="0"/>
              </a:rPr>
              <a:t>Opdrachten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uit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i="1" dirty="0" smtClean="0">
                <a:latin typeface="RijksoverheidSansText" panose="020B0503040202060203" pitchFamily="34" charset="0"/>
              </a:rPr>
              <a:t>“</a:t>
            </a:r>
            <a:r>
              <a:rPr lang="en-US" sz="2400" i="1" dirty="0" err="1" smtClean="0">
                <a:latin typeface="RijksoverheidSansText" panose="020B0503040202060203" pitchFamily="34" charset="0"/>
              </a:rPr>
              <a:t>Statistiek</a:t>
            </a:r>
            <a:r>
              <a:rPr lang="en-US" sz="2400" i="1" dirty="0" smtClean="0">
                <a:latin typeface="RijksoverheidSansText" panose="020B0503040202060203" pitchFamily="34" charset="0"/>
              </a:rPr>
              <a:t> om </a:t>
            </a:r>
            <a:r>
              <a:rPr lang="en-US" sz="2400" i="1" dirty="0" err="1" smtClean="0">
                <a:latin typeface="RijksoverheidSansText" panose="020B0503040202060203" pitchFamily="34" charset="0"/>
              </a:rPr>
              <a:t>mee</a:t>
            </a:r>
            <a:r>
              <a:rPr lang="en-US" sz="2400" i="1" dirty="0" smtClean="0">
                <a:latin typeface="RijksoverheidSansText" panose="020B0503040202060203" pitchFamily="34" charset="0"/>
              </a:rPr>
              <a:t> </a:t>
            </a:r>
            <a:r>
              <a:rPr lang="en-US" sz="2400" i="1" dirty="0" err="1" smtClean="0">
                <a:latin typeface="RijksoverheidSansText" panose="020B0503040202060203" pitchFamily="34" charset="0"/>
              </a:rPr>
              <a:t>te</a:t>
            </a:r>
            <a:r>
              <a:rPr lang="en-US" sz="2400" i="1" dirty="0" smtClean="0">
                <a:latin typeface="RijksoverheidSansText" panose="020B0503040202060203" pitchFamily="34" charset="0"/>
              </a:rPr>
              <a:t> </a:t>
            </a:r>
            <a:r>
              <a:rPr lang="en-US" sz="2400" i="1" dirty="0" err="1" smtClean="0">
                <a:latin typeface="RijksoverheidSansText" panose="020B0503040202060203" pitchFamily="34" charset="0"/>
              </a:rPr>
              <a:t>werken</a:t>
            </a:r>
            <a:r>
              <a:rPr lang="en-US" sz="2400" i="1" dirty="0" smtClean="0">
                <a:latin typeface="RijksoverheidSansText" panose="020B0503040202060203" pitchFamily="34" charset="0"/>
              </a:rPr>
              <a:t>: </a:t>
            </a:r>
            <a:r>
              <a:rPr lang="en-US" sz="2400" i="1" dirty="0" err="1" smtClean="0">
                <a:latin typeface="RijksoverheidSansText" panose="020B0503040202060203" pitchFamily="34" charset="0"/>
              </a:rPr>
              <a:t>opgave</a:t>
            </a:r>
            <a:r>
              <a:rPr lang="en-US" sz="2400" i="1" dirty="0" smtClean="0">
                <a:latin typeface="RijksoverheidSansText" panose="020B0503040202060203" pitchFamily="34" charset="0"/>
              </a:rPr>
              <a:t> </a:t>
            </a:r>
            <a:r>
              <a:rPr lang="en-US" sz="2400" i="1" dirty="0" err="1" smtClean="0">
                <a:latin typeface="RijksoverheidSansText" panose="020B0503040202060203" pitchFamily="34" charset="0"/>
              </a:rPr>
              <a:t>en</a:t>
            </a:r>
            <a:r>
              <a:rPr lang="en-US" sz="2400" i="1" dirty="0" smtClean="0">
                <a:latin typeface="RijksoverheidSansText" panose="020B0503040202060203" pitchFamily="34" charset="0"/>
              </a:rPr>
              <a:t> </a:t>
            </a:r>
            <a:r>
              <a:rPr lang="en-US" sz="2400" i="1" dirty="0" err="1" smtClean="0">
                <a:latin typeface="RijksoverheidSansText" panose="020B0503040202060203" pitchFamily="34" charset="0"/>
              </a:rPr>
              <a:t>uitwerkingen</a:t>
            </a:r>
            <a:r>
              <a:rPr lang="en-US" sz="2400" i="1" dirty="0" smtClean="0">
                <a:latin typeface="RijksoverheidSansText" panose="020B0503040202060203" pitchFamily="34" charset="0"/>
              </a:rPr>
              <a:t>”</a:t>
            </a:r>
            <a:r>
              <a:rPr lang="en-US" sz="2400" dirty="0" smtClean="0">
                <a:latin typeface="RijksoverheidSansText" panose="020B0503040202060203" pitchFamily="34" charset="0"/>
              </a:rPr>
              <a:t>:</a:t>
            </a:r>
          </a:p>
          <a:p>
            <a:pPr marL="717550" lvl="1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RijksoverheidSansText" panose="020B0503040202060203" pitchFamily="34" charset="0"/>
              </a:rPr>
              <a:t>H6</a:t>
            </a:r>
            <a:r>
              <a:rPr lang="en-US" sz="2000" dirty="0" smtClean="0">
                <a:latin typeface="RijksoverheidSansText" panose="020B0503040202060203" pitchFamily="34" charset="0"/>
              </a:rPr>
              <a:t>: 4, 5, 6, 7</a:t>
            </a:r>
            <a:endParaRPr lang="en-US" sz="2000" dirty="0">
              <a:latin typeface="RijksoverheidSansText" panose="020B0503040202060203" pitchFamily="34" charset="0"/>
            </a:endParaRPr>
          </a:p>
          <a:p>
            <a:pPr marL="0" indent="0">
              <a:buNone/>
            </a:pPr>
            <a:endParaRPr lang="nl-NL" sz="2400" b="1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College 4a: binomiale verdeling (1/2)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69515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esentatie">
  <a:themeElements>
    <a:clrScheme name="landmachtNL1 1">
      <a:dk1>
        <a:srgbClr val="000000"/>
      </a:dk1>
      <a:lt1>
        <a:srgbClr val="FFFFFF"/>
      </a:lt1>
      <a:dk2>
        <a:srgbClr val="E17000"/>
      </a:dk2>
      <a:lt2>
        <a:srgbClr val="9ACCD4"/>
      </a:lt2>
      <a:accent1>
        <a:srgbClr val="2494C5"/>
      </a:accent1>
      <a:accent2>
        <a:srgbClr val="9ACCD4"/>
      </a:accent2>
      <a:accent3>
        <a:srgbClr val="FFFFFF"/>
      </a:accent3>
      <a:accent4>
        <a:srgbClr val="000000"/>
      </a:accent4>
      <a:accent5>
        <a:srgbClr val="ACC8DF"/>
      </a:accent5>
      <a:accent6>
        <a:srgbClr val="8BB9C0"/>
      </a:accent6>
      <a:hlink>
        <a:srgbClr val="004228"/>
      </a:hlink>
      <a:folHlink>
        <a:srgbClr val="E17000"/>
      </a:folHlink>
    </a:clrScheme>
    <a:fontScheme name="landmachtNL1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b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b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landmachtNL1 1">
        <a:dk1>
          <a:srgbClr val="000000"/>
        </a:dk1>
        <a:lt1>
          <a:srgbClr val="FFFFFF"/>
        </a:lt1>
        <a:dk2>
          <a:srgbClr val="E17000"/>
        </a:dk2>
        <a:lt2>
          <a:srgbClr val="9ACCD4"/>
        </a:lt2>
        <a:accent1>
          <a:srgbClr val="2494C5"/>
        </a:accent1>
        <a:accent2>
          <a:srgbClr val="9ACCD4"/>
        </a:accent2>
        <a:accent3>
          <a:srgbClr val="FFFFFF"/>
        </a:accent3>
        <a:accent4>
          <a:srgbClr val="000000"/>
        </a:accent4>
        <a:accent5>
          <a:srgbClr val="ACC8DF"/>
        </a:accent5>
        <a:accent6>
          <a:srgbClr val="8BB9C0"/>
        </a:accent6>
        <a:hlink>
          <a:srgbClr val="004228"/>
        </a:hlink>
        <a:folHlink>
          <a:srgbClr val="E17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e_COMMIT_16-9.potx" id="{1445475F-C680-4984-B289-2F11A48A3D2F}" vid="{C2C83AC2-C8C5-4794-9F5F-E1F5002BF5A0}"/>
    </a:ext>
  </a:extLst>
</a:theme>
</file>

<file path=ppt/theme/theme2.xml><?xml version="1.0" encoding="utf-8"?>
<a:theme xmlns:a="http://schemas.openxmlformats.org/drawingml/2006/main" name="2_Presentatie">
  <a:themeElements>
    <a:clrScheme name="landmachtNL1 1">
      <a:dk1>
        <a:srgbClr val="000000"/>
      </a:dk1>
      <a:lt1>
        <a:srgbClr val="FFFFFF"/>
      </a:lt1>
      <a:dk2>
        <a:srgbClr val="E17000"/>
      </a:dk2>
      <a:lt2>
        <a:srgbClr val="9ACCD4"/>
      </a:lt2>
      <a:accent1>
        <a:srgbClr val="2494C5"/>
      </a:accent1>
      <a:accent2>
        <a:srgbClr val="9ACCD4"/>
      </a:accent2>
      <a:accent3>
        <a:srgbClr val="FFFFFF"/>
      </a:accent3>
      <a:accent4>
        <a:srgbClr val="000000"/>
      </a:accent4>
      <a:accent5>
        <a:srgbClr val="ACC8DF"/>
      </a:accent5>
      <a:accent6>
        <a:srgbClr val="8BB9C0"/>
      </a:accent6>
      <a:hlink>
        <a:srgbClr val="004228"/>
      </a:hlink>
      <a:folHlink>
        <a:srgbClr val="E17000"/>
      </a:folHlink>
    </a:clrScheme>
    <a:fontScheme name="Aangepast 1">
      <a:majorFont>
        <a:latin typeface="RijksoverheidSansWebText Bold"/>
        <a:ea typeface=""/>
        <a:cs typeface=""/>
      </a:majorFont>
      <a:minorFont>
        <a:latin typeface="RijksoverheidSansWebText Regul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b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b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landmachtNL1 1">
        <a:dk1>
          <a:srgbClr val="000000"/>
        </a:dk1>
        <a:lt1>
          <a:srgbClr val="FFFFFF"/>
        </a:lt1>
        <a:dk2>
          <a:srgbClr val="E17000"/>
        </a:dk2>
        <a:lt2>
          <a:srgbClr val="9ACCD4"/>
        </a:lt2>
        <a:accent1>
          <a:srgbClr val="2494C5"/>
        </a:accent1>
        <a:accent2>
          <a:srgbClr val="9ACCD4"/>
        </a:accent2>
        <a:accent3>
          <a:srgbClr val="FFFFFF"/>
        </a:accent3>
        <a:accent4>
          <a:srgbClr val="000000"/>
        </a:accent4>
        <a:accent5>
          <a:srgbClr val="ACC8DF"/>
        </a:accent5>
        <a:accent6>
          <a:srgbClr val="8BB9C0"/>
        </a:accent6>
        <a:hlink>
          <a:srgbClr val="004228"/>
        </a:hlink>
        <a:folHlink>
          <a:srgbClr val="E17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e_COMMIT_16-9.potx" id="{1445475F-C680-4984-B289-2F11A48A3D2F}" vid="{C2C83AC2-C8C5-4794-9F5F-E1F5002BF5A0}"/>
    </a:ext>
  </a:extLst>
</a:theme>
</file>

<file path=ppt/theme/theme3.xml><?xml version="1.0" encoding="utf-8"?>
<a:theme xmlns:a="http://schemas.openxmlformats.org/drawingml/2006/main" name="3_Presentatie">
  <a:themeElements>
    <a:clrScheme name="landmachtNL1 1">
      <a:dk1>
        <a:srgbClr val="000000"/>
      </a:dk1>
      <a:lt1>
        <a:srgbClr val="FFFFFF"/>
      </a:lt1>
      <a:dk2>
        <a:srgbClr val="E17000"/>
      </a:dk2>
      <a:lt2>
        <a:srgbClr val="9ACCD4"/>
      </a:lt2>
      <a:accent1>
        <a:srgbClr val="2494C5"/>
      </a:accent1>
      <a:accent2>
        <a:srgbClr val="9ACCD4"/>
      </a:accent2>
      <a:accent3>
        <a:srgbClr val="FFFFFF"/>
      </a:accent3>
      <a:accent4>
        <a:srgbClr val="000000"/>
      </a:accent4>
      <a:accent5>
        <a:srgbClr val="ACC8DF"/>
      </a:accent5>
      <a:accent6>
        <a:srgbClr val="8BB9C0"/>
      </a:accent6>
      <a:hlink>
        <a:srgbClr val="004228"/>
      </a:hlink>
      <a:folHlink>
        <a:srgbClr val="E17000"/>
      </a:folHlink>
    </a:clrScheme>
    <a:fontScheme name="Custom 1">
      <a:majorFont>
        <a:latin typeface="RijksoverheidSansWebText Bold"/>
        <a:ea typeface=""/>
        <a:cs typeface=""/>
      </a:majorFont>
      <a:minorFont>
        <a:latin typeface="RijksoverheidSans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E17000"/>
        </a:solidFill>
        <a:ln>
          <a:noFill/>
        </a:ln>
        <a:effectLst/>
        <a:extLst/>
      </a:spPr>
      <a:bodyPr vert="horz" wrap="square" lIns="0" tIns="0" rIns="0" bIns="0" numCol="1" rtlCol="0" anchor="b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b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landmachtNL1 1">
        <a:dk1>
          <a:srgbClr val="000000"/>
        </a:dk1>
        <a:lt1>
          <a:srgbClr val="FFFFFF"/>
        </a:lt1>
        <a:dk2>
          <a:srgbClr val="E17000"/>
        </a:dk2>
        <a:lt2>
          <a:srgbClr val="9ACCD4"/>
        </a:lt2>
        <a:accent1>
          <a:srgbClr val="2494C5"/>
        </a:accent1>
        <a:accent2>
          <a:srgbClr val="9ACCD4"/>
        </a:accent2>
        <a:accent3>
          <a:srgbClr val="FFFFFF"/>
        </a:accent3>
        <a:accent4>
          <a:srgbClr val="000000"/>
        </a:accent4>
        <a:accent5>
          <a:srgbClr val="ACC8DF"/>
        </a:accent5>
        <a:accent6>
          <a:srgbClr val="8BB9C0"/>
        </a:accent6>
        <a:hlink>
          <a:srgbClr val="004228"/>
        </a:hlink>
        <a:folHlink>
          <a:srgbClr val="E17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e_COMMIT_16-9.potx" id="{1445475F-C680-4984-B289-2F11A48A3D2F}" vid="{C2C83AC2-C8C5-4794-9F5F-E1F5002BF5A0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Tijdelijk_bestand_Presentatie_DOSCO_16-9 (1)</Template>
  <TotalTime>0</TotalTime>
  <Words>3029</Words>
  <Application>Microsoft Office PowerPoint</Application>
  <PresentationFormat>Breedbeeld</PresentationFormat>
  <Paragraphs>441</Paragraphs>
  <Slides>29</Slides>
  <Notes>6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8</vt:i4>
      </vt:variant>
      <vt:variant>
        <vt:lpstr>Thema</vt:lpstr>
      </vt:variant>
      <vt:variant>
        <vt:i4>3</vt:i4>
      </vt:variant>
      <vt:variant>
        <vt:lpstr>Diatitels</vt:lpstr>
      </vt:variant>
      <vt:variant>
        <vt:i4>29</vt:i4>
      </vt:variant>
    </vt:vector>
  </HeadingPairs>
  <TitlesOfParts>
    <vt:vector size="40" baseType="lpstr">
      <vt:lpstr>Arial</vt:lpstr>
      <vt:lpstr>Cambria Math</vt:lpstr>
      <vt:lpstr>RijksoverheidSansHeadingTT</vt:lpstr>
      <vt:lpstr>RijksoverheidSansText</vt:lpstr>
      <vt:lpstr>RijksoverheidSansWebText Bold</vt:lpstr>
      <vt:lpstr>RijksoverheidSansWebText Regula</vt:lpstr>
      <vt:lpstr>Verdana</vt:lpstr>
      <vt:lpstr>Wingdings</vt:lpstr>
      <vt:lpstr>Presentatie</vt:lpstr>
      <vt:lpstr>2_Presentatie</vt:lpstr>
      <vt:lpstr>3_Presentatie</vt:lpstr>
      <vt:lpstr>Statistiek: college 4a</vt:lpstr>
      <vt:lpstr>Recap</vt:lpstr>
      <vt:lpstr>Leerdoelen </vt:lpstr>
      <vt:lpstr>Terugblik: welke eigenschappen heeft een discrete kansvariabele? </vt:lpstr>
      <vt:lpstr>Casus: bergoperaties van Mountain Leaders van het Korps Mariniers</vt:lpstr>
      <vt:lpstr>Recap: kansexperiment</vt:lpstr>
      <vt:lpstr>Discrete kansvariabele: succes van een eenheid</vt:lpstr>
      <vt:lpstr>Bernoulli-experiment</vt:lpstr>
      <vt:lpstr>Discrete kansvariabele: aantal successen van tien eenheden</vt:lpstr>
      <vt:lpstr>Hoe kunnen we kansen in deze setting bepalen?</vt:lpstr>
      <vt:lpstr>Discrete kansvariabele</vt:lpstr>
      <vt:lpstr>Binomiaal experiment</vt:lpstr>
      <vt:lpstr>Binomiale verdeling</vt:lpstr>
      <vt:lpstr>Kansrekening met de binomiale verdeling</vt:lpstr>
      <vt:lpstr>Kansrekening met de binomiale verdeling</vt:lpstr>
      <vt:lpstr>Casus: bergoperaties van Mountain Leaders</vt:lpstr>
      <vt:lpstr>Voorbeeld: bergoperaties van Mountain Leaders</vt:lpstr>
      <vt:lpstr>Voorbeeld: bergoperaties van Mountain Leaders</vt:lpstr>
      <vt:lpstr>Voorbeeld: bergoperaties van Mountain Leaders</vt:lpstr>
      <vt:lpstr>Buijs: opdracht 6.11</vt:lpstr>
      <vt:lpstr>Buijs: opdracht 6.11</vt:lpstr>
      <vt:lpstr>Buijs: opdracht 6.11</vt:lpstr>
      <vt:lpstr>Buijs: opdracht 6.11</vt:lpstr>
      <vt:lpstr>Buijs: opdracht 6.11</vt:lpstr>
      <vt:lpstr>Buijs: opdracht 6.11</vt:lpstr>
      <vt:lpstr>Meer toepassingen van de binomiale verdeling</vt:lpstr>
      <vt:lpstr>Connectie met statistiek</vt:lpstr>
      <vt:lpstr>Samenvatting</vt:lpstr>
      <vt:lpstr>Volgend college</vt:lpstr>
    </vt:vector>
  </TitlesOfParts>
  <Company>Ministerie van Defensie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Statistiek</dc:title>
  <dc:creator>Blom, DAMP, Dr. ir., DOSCO/NLDA/FMW/CG MTW</dc:creator>
  <cp:lastModifiedBy>Gebruiker</cp:lastModifiedBy>
  <cp:revision>223</cp:revision>
  <cp:lastPrinted>2011-09-21T07:52:24Z</cp:lastPrinted>
  <dcterms:created xsi:type="dcterms:W3CDTF">2024-11-25T09:45:08Z</dcterms:created>
  <dcterms:modified xsi:type="dcterms:W3CDTF">2026-04-03T14:10:27Z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eur">
    <vt:lpwstr>Auteur</vt:lpwstr>
  </property>
  <property fmtid="{D5CDD505-2E9C-101B-9397-08002B2CF9AE}" pid="3" name="Functie">
    <vt:lpwstr>Functie</vt:lpwstr>
  </property>
  <property fmtid="{D5CDD505-2E9C-101B-9397-08002B2CF9AE}" pid="4" name="Titel">
    <vt:lpwstr>Titel</vt:lpwstr>
  </property>
  <property fmtid="{D5CDD505-2E9C-101B-9397-08002B2CF9AE}" pid="5" name="Subtitel">
    <vt:lpwstr>Subtitel</vt:lpwstr>
  </property>
  <property fmtid="{D5CDD505-2E9C-101B-9397-08002B2CF9AE}" pid="6" name="Afdeling">
    <vt:lpwstr>Afdeling</vt:lpwstr>
  </property>
  <property fmtid="{D5CDD505-2E9C-101B-9397-08002B2CF9AE}" pid="7" name="Merking">
    <vt:lpwstr>Merking</vt:lpwstr>
  </property>
  <property fmtid="{D5CDD505-2E9C-101B-9397-08002B2CF9AE}" pid="8" name="Rubricering">
    <vt:lpwstr>Rubricering</vt:lpwstr>
  </property>
  <property fmtid="{D5CDD505-2E9C-101B-9397-08002B2CF9AE}" pid="9" name="Datum">
    <vt:filetime>1999-12-31T22:00:00Z</vt:filetime>
  </property>
</Properties>
</file>