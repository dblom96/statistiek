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2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86" r:id="rId2"/>
  </p:sldMasterIdLst>
  <p:notesMasterIdLst>
    <p:notesMasterId r:id="rId33"/>
  </p:notesMasterIdLst>
  <p:handoutMasterIdLst>
    <p:handoutMasterId r:id="rId34"/>
  </p:handoutMasterIdLst>
  <p:sldIdLst>
    <p:sldId id="324" r:id="rId3"/>
    <p:sldId id="257" r:id="rId4"/>
    <p:sldId id="259" r:id="rId5"/>
    <p:sldId id="260" r:id="rId6"/>
    <p:sldId id="278" r:id="rId7"/>
    <p:sldId id="306" r:id="rId8"/>
    <p:sldId id="302" r:id="rId9"/>
    <p:sldId id="316" r:id="rId10"/>
    <p:sldId id="315" r:id="rId11"/>
    <p:sldId id="323" r:id="rId12"/>
    <p:sldId id="322" r:id="rId13"/>
    <p:sldId id="314" r:id="rId14"/>
    <p:sldId id="261" r:id="rId15"/>
    <p:sldId id="262" r:id="rId16"/>
    <p:sldId id="264" r:id="rId17"/>
    <p:sldId id="305" r:id="rId18"/>
    <p:sldId id="319" r:id="rId19"/>
    <p:sldId id="313" r:id="rId20"/>
    <p:sldId id="265" r:id="rId21"/>
    <p:sldId id="317" r:id="rId22"/>
    <p:sldId id="325" r:id="rId23"/>
    <p:sldId id="284" r:id="rId24"/>
    <p:sldId id="310" r:id="rId25"/>
    <p:sldId id="285" r:id="rId26"/>
    <p:sldId id="312" r:id="rId27"/>
    <p:sldId id="275" r:id="rId28"/>
    <p:sldId id="320" r:id="rId29"/>
    <p:sldId id="311" r:id="rId30"/>
    <p:sldId id="266" r:id="rId31"/>
    <p:sldId id="318" r:id="rId32"/>
  </p:sldIdLst>
  <p:sldSz cx="12192000" cy="6858000"/>
  <p:notesSz cx="6921500" cy="9423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8">
          <p15:clr>
            <a:srgbClr val="A4A3A4"/>
          </p15:clr>
        </p15:guide>
        <p15:guide id="2" pos="21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7000"/>
    <a:srgbClr val="33CC33"/>
    <a:srgbClr val="FF0000"/>
    <a:srgbClr val="00CCFF"/>
    <a:srgbClr val="FF7F7F"/>
    <a:srgbClr val="CC3399"/>
    <a:srgbClr val="996633"/>
    <a:srgbClr val="B80047"/>
    <a:srgbClr val="000000"/>
    <a:srgbClr val="552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0"/>
  </p:normalViewPr>
  <p:slideViewPr>
    <p:cSldViewPr>
      <p:cViewPr varScale="1">
        <p:scale>
          <a:sx n="109" d="100"/>
          <a:sy n="109" d="100"/>
        </p:scale>
        <p:origin x="612" y="12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2118" y="-90"/>
      </p:cViewPr>
      <p:guideLst>
        <p:guide orient="horz" pos="2968"/>
        <p:guide pos="21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9E90AC-1A9D-4974-BAF5-4A7D733043D9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E26EC6-7821-4C66-ACA0-C4C826A60C6F}">
      <dgm:prSet phldrT="[Text]"/>
      <dgm:spPr/>
      <dgm:t>
        <a:bodyPr/>
        <a:lstStyle/>
        <a:p>
          <a:r>
            <a:rPr lang="en-US" dirty="0" smtClean="0"/>
            <a:t>Input</a:t>
          </a:r>
          <a:endParaRPr lang="en-US" dirty="0"/>
        </a:p>
      </dgm:t>
    </dgm:pt>
    <dgm:pt modelId="{399CC24F-1863-4927-A03D-9014BC9B1320}" type="parTrans" cxnId="{CE9F6066-92E7-45A3-BEAF-12762EEF7AC3}">
      <dgm:prSet/>
      <dgm:spPr/>
      <dgm:t>
        <a:bodyPr/>
        <a:lstStyle/>
        <a:p>
          <a:endParaRPr lang="en-US"/>
        </a:p>
      </dgm:t>
    </dgm:pt>
    <dgm:pt modelId="{4CC6A34B-8859-47AA-A26A-16DE8E9CD1CE}" type="sibTrans" cxnId="{CE9F6066-92E7-45A3-BEAF-12762EEF7AC3}">
      <dgm:prSet/>
      <dgm:spPr/>
      <dgm:t>
        <a:bodyPr/>
        <a:lstStyle/>
        <a:p>
          <a:endParaRPr lang="en-US"/>
        </a:p>
      </dgm:t>
    </dgm:pt>
    <dgm:pt modelId="{E11C979E-DA7F-44FE-93FF-6B10E1A32EFE}">
      <dgm:prSet phldrT="[Text]"/>
      <dgm:spPr/>
      <dgm:t>
        <a:bodyPr/>
        <a:lstStyle/>
        <a:p>
          <a:r>
            <a:rPr lang="en-US" dirty="0" smtClean="0"/>
            <a:t>Experiment </a:t>
          </a:r>
          <a:endParaRPr lang="en-US" dirty="0"/>
        </a:p>
      </dgm:t>
    </dgm:pt>
    <dgm:pt modelId="{36C2889A-2DD7-4CC0-830A-FD90DB7DE7A3}" type="parTrans" cxnId="{9399D6E6-EC3A-40E7-8D06-30549A77E737}">
      <dgm:prSet/>
      <dgm:spPr/>
      <dgm:t>
        <a:bodyPr/>
        <a:lstStyle/>
        <a:p>
          <a:endParaRPr lang="en-US"/>
        </a:p>
      </dgm:t>
    </dgm:pt>
    <dgm:pt modelId="{CBA8F9A7-B3A3-41C3-888D-E1DD4A1C1874}" type="sibTrans" cxnId="{9399D6E6-EC3A-40E7-8D06-30549A77E737}">
      <dgm:prSet/>
      <dgm:spPr/>
      <dgm:t>
        <a:bodyPr/>
        <a:lstStyle/>
        <a:p>
          <a:endParaRPr lang="en-US"/>
        </a:p>
      </dgm:t>
    </dgm:pt>
    <dgm:pt modelId="{069719F9-BB75-49A5-A166-10F2795AEF0B}">
      <dgm:prSet phldrT="[Text]"/>
      <dgm:spPr/>
      <dgm:t>
        <a:bodyPr/>
        <a:lstStyle/>
        <a:p>
          <a:r>
            <a:rPr lang="en-US" dirty="0" smtClean="0"/>
            <a:t>Output</a:t>
          </a:r>
          <a:endParaRPr lang="en-US" dirty="0"/>
        </a:p>
      </dgm:t>
    </dgm:pt>
    <dgm:pt modelId="{692A72E2-8E20-4674-8647-F531720BD7AB}" type="parTrans" cxnId="{CBB670C9-5286-490A-945E-B2BDEB6C2CF3}">
      <dgm:prSet/>
      <dgm:spPr/>
      <dgm:t>
        <a:bodyPr/>
        <a:lstStyle/>
        <a:p>
          <a:endParaRPr lang="en-US"/>
        </a:p>
      </dgm:t>
    </dgm:pt>
    <dgm:pt modelId="{4FE59848-15AC-4F61-9815-B768F5B4D67A}" type="sibTrans" cxnId="{CBB670C9-5286-490A-945E-B2BDEB6C2CF3}">
      <dgm:prSet/>
      <dgm:spPr/>
      <dgm:t>
        <a:bodyPr/>
        <a:lstStyle/>
        <a:p>
          <a:endParaRPr lang="en-US"/>
        </a:p>
      </dgm:t>
    </dgm:pt>
    <dgm:pt modelId="{1DD63560-39EA-40A5-8D8C-D1F346A7411F}">
      <dgm:prSet phldrT="[Text]"/>
      <dgm:spPr/>
      <dgm:t>
        <a:bodyPr/>
        <a:lstStyle/>
        <a:p>
          <a:r>
            <a:rPr lang="en-US" dirty="0" err="1" smtClean="0"/>
            <a:t>Een</a:t>
          </a:r>
          <a:r>
            <a:rPr lang="en-US" dirty="0" smtClean="0"/>
            <a:t> van de </a:t>
          </a:r>
          <a:r>
            <a:rPr lang="en-US" dirty="0" err="1" smtClean="0"/>
            <a:t>mogelijke</a:t>
          </a:r>
          <a:r>
            <a:rPr lang="en-US" dirty="0" smtClean="0"/>
            <a:t> </a:t>
          </a:r>
          <a:r>
            <a:rPr lang="en-US" dirty="0" err="1" smtClean="0"/>
            <a:t>uitkomsten</a:t>
          </a:r>
          <a:r>
            <a:rPr lang="en-US" dirty="0" smtClean="0"/>
            <a:t> (</a:t>
          </a:r>
          <a:r>
            <a:rPr lang="en-US" b="1" dirty="0" smtClean="0"/>
            <a:t>trekking</a:t>
          </a:r>
          <a:r>
            <a:rPr lang="en-US" dirty="0" smtClean="0"/>
            <a:t>)</a:t>
          </a:r>
          <a:endParaRPr lang="en-US" dirty="0"/>
        </a:p>
      </dgm:t>
    </dgm:pt>
    <dgm:pt modelId="{3F7BE854-47EB-45E1-B095-59561E777271}" type="parTrans" cxnId="{6CD97026-52D1-4004-B7F3-B2201E5C1C44}">
      <dgm:prSet/>
      <dgm:spPr/>
      <dgm:t>
        <a:bodyPr/>
        <a:lstStyle/>
        <a:p>
          <a:endParaRPr lang="en-US"/>
        </a:p>
      </dgm:t>
    </dgm:pt>
    <dgm:pt modelId="{0FDFD97D-4660-4EB9-A519-9BA8162C0D45}" type="sibTrans" cxnId="{6CD97026-52D1-4004-B7F3-B2201E5C1C44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1EA94DEB-9F40-4F05-AC41-46C694D6339D}">
          <dgm:prSet/>
          <dgm:spPr/>
          <dgm:t>
            <a:bodyPr/>
            <a:lstStyle/>
            <a:p>
              <a:r>
                <a:rPr lang="en-US" dirty="0" smtClean="0"/>
                <a:t>Uitkomstenruimte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𝑆</m:t>
                  </m:r>
                </m:oMath>
              </a14:m>
              <a:endParaRPr lang="en-US" dirty="0"/>
            </a:p>
          </dgm:t>
        </dgm:pt>
      </mc:Choice>
      <mc:Fallback xmlns="">
        <dgm:pt modelId="{1EA94DEB-9F40-4F05-AC41-46C694D6339D}">
          <dgm:prSet/>
          <dgm:spPr/>
          <dgm:t>
            <a:bodyPr/>
            <a:lstStyle/>
            <a:p>
              <a:r>
                <a:rPr lang="en-US" dirty="0" smtClean="0"/>
                <a:t>Uitkomstenruimte </a:t>
              </a:r>
              <a:r>
                <a:rPr lang="en-US" b="0" i="0" smtClean="0">
                  <a:latin typeface="Cambria Math" panose="02040503050406030204" pitchFamily="18" charset="0"/>
                </a:rPr>
                <a:t>𝑆</a:t>
              </a:r>
              <a:endParaRPr lang="en-US" dirty="0"/>
            </a:p>
          </dgm:t>
        </dgm:pt>
      </mc:Fallback>
    </mc:AlternateContent>
    <dgm:pt modelId="{5776BFE5-B53A-4F74-9EBE-26BBD91CBDBB}" type="parTrans" cxnId="{70DD71B6-9057-4717-BEB6-8D9F43FC6D98}">
      <dgm:prSet/>
      <dgm:spPr/>
      <dgm:t>
        <a:bodyPr/>
        <a:lstStyle/>
        <a:p>
          <a:endParaRPr lang="en-US"/>
        </a:p>
      </dgm:t>
    </dgm:pt>
    <dgm:pt modelId="{980D1F3B-6028-4893-9CA9-B72D00BBD16D}" type="sibTrans" cxnId="{70DD71B6-9057-4717-BEB6-8D9F43FC6D9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64F6326-40AA-4438-91FC-00721E0287A0}">
          <dgm:prSet/>
          <dgm:spPr/>
          <dgm:t>
            <a:bodyPr/>
            <a:lstStyle/>
            <a:p>
              <a:r>
                <a:rPr lang="en-US" dirty="0" smtClean="0"/>
                <a:t>Onderliggende </a:t>
              </a:r>
              <a:r>
                <a:rPr lang="en-US" dirty="0" err="1" smtClean="0"/>
                <a:t>kansverdeling</a:t>
              </a:r>
              <a:r>
                <a:rPr lang="en-US" dirty="0" smtClean="0"/>
                <a:t> over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𝑆</m:t>
                  </m:r>
                </m:oMath>
              </a14:m>
              <a:endParaRPr lang="en-US" dirty="0"/>
            </a:p>
          </dgm:t>
        </dgm:pt>
      </mc:Choice>
      <mc:Fallback xmlns="">
        <dgm:pt modelId="{C64F6326-40AA-4438-91FC-00721E0287A0}">
          <dgm:prSet/>
          <dgm:spPr/>
          <dgm:t>
            <a:bodyPr/>
            <a:lstStyle/>
            <a:p>
              <a:r>
                <a:rPr lang="en-US" dirty="0" smtClean="0"/>
                <a:t>Onderliggende </a:t>
              </a:r>
              <a:r>
                <a:rPr lang="en-US" dirty="0" err="1" smtClean="0"/>
                <a:t>kansverdeling</a:t>
              </a:r>
              <a:r>
                <a:rPr lang="en-US" dirty="0" smtClean="0"/>
                <a:t> over </a:t>
              </a:r>
              <a:r>
                <a:rPr lang="en-US" b="0" i="0" smtClean="0">
                  <a:latin typeface="Cambria Math" panose="02040503050406030204" pitchFamily="18" charset="0"/>
                </a:rPr>
                <a:t>𝑆</a:t>
              </a:r>
              <a:endParaRPr lang="en-US" dirty="0"/>
            </a:p>
          </dgm:t>
        </dgm:pt>
      </mc:Fallback>
    </mc:AlternateContent>
    <dgm:pt modelId="{29CA02DC-F699-4B0E-BD2A-F60754D403C9}" type="parTrans" cxnId="{13D89CF0-3F7E-4312-B1E7-DD186B39D479}">
      <dgm:prSet/>
      <dgm:spPr/>
      <dgm:t>
        <a:bodyPr/>
        <a:lstStyle/>
        <a:p>
          <a:endParaRPr lang="en-US"/>
        </a:p>
      </dgm:t>
    </dgm:pt>
    <dgm:pt modelId="{7B355344-C857-4FDF-91D1-D85357A3849D}" type="sibTrans" cxnId="{13D89CF0-3F7E-4312-B1E7-DD186B39D479}">
      <dgm:prSet/>
      <dgm:spPr/>
      <dgm:t>
        <a:bodyPr/>
        <a:lstStyle/>
        <a:p>
          <a:endParaRPr lang="en-US"/>
        </a:p>
      </dgm:t>
    </dgm:pt>
    <dgm:pt modelId="{03124F20-BE95-4AF4-BB13-FABF503744E6}" type="pres">
      <dgm:prSet presAssocID="{969E90AC-1A9D-4974-BAF5-4A7D733043D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6D2FDB-F5EB-4609-8AD8-F3C93B94A9D3}" type="pres">
      <dgm:prSet presAssocID="{2AE26EC6-7821-4C66-ACA0-C4C826A60C6F}" presName="composite" presStyleCnt="0"/>
      <dgm:spPr/>
    </dgm:pt>
    <dgm:pt modelId="{42CEEBA4-1378-4AF5-90B3-23A2D88490E9}" type="pres">
      <dgm:prSet presAssocID="{2AE26EC6-7821-4C66-ACA0-C4C826A60C6F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28E15F-C463-4A97-A02E-B468DB006C48}" type="pres">
      <dgm:prSet presAssocID="{2AE26EC6-7821-4C66-ACA0-C4C826A60C6F}" presName="parSh" presStyleLbl="node1" presStyleIdx="0" presStyleCnt="3"/>
      <dgm:spPr/>
      <dgm:t>
        <a:bodyPr/>
        <a:lstStyle/>
        <a:p>
          <a:endParaRPr lang="en-US"/>
        </a:p>
      </dgm:t>
    </dgm:pt>
    <dgm:pt modelId="{ADD3AE7F-21AA-45B5-9626-51D4168ADC97}" type="pres">
      <dgm:prSet presAssocID="{2AE26EC6-7821-4C66-ACA0-C4C826A60C6F}" presName="desTx" presStyleLbl="fgAcc1" presStyleIdx="0" presStyleCnt="3" custScaleX="105343" custScaleY="860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CCC56C-82FA-496D-A27C-E92CDD6B587F}" type="pres">
      <dgm:prSet presAssocID="{4CC6A34B-8859-47AA-A26A-16DE8E9CD1CE}" presName="sibTrans" presStyleLbl="sibTrans2D1" presStyleIdx="0" presStyleCnt="2"/>
      <dgm:spPr/>
      <dgm:t>
        <a:bodyPr/>
        <a:lstStyle/>
        <a:p>
          <a:endParaRPr lang="en-US"/>
        </a:p>
      </dgm:t>
    </dgm:pt>
    <dgm:pt modelId="{CF028978-9137-4291-926F-A290C98A4E9A}" type="pres">
      <dgm:prSet presAssocID="{4CC6A34B-8859-47AA-A26A-16DE8E9CD1CE}" presName="connTx" presStyleLbl="sibTrans2D1" presStyleIdx="0" presStyleCnt="2"/>
      <dgm:spPr/>
      <dgm:t>
        <a:bodyPr/>
        <a:lstStyle/>
        <a:p>
          <a:endParaRPr lang="en-US"/>
        </a:p>
      </dgm:t>
    </dgm:pt>
    <dgm:pt modelId="{D824E52D-6C6F-428E-9EE3-BDBFB3E2FDB7}" type="pres">
      <dgm:prSet presAssocID="{E11C979E-DA7F-44FE-93FF-6B10E1A32EFE}" presName="composite" presStyleCnt="0"/>
      <dgm:spPr/>
    </dgm:pt>
    <dgm:pt modelId="{D7E26F22-B107-441F-91C8-C2BAF2213382}" type="pres">
      <dgm:prSet presAssocID="{E11C979E-DA7F-44FE-93FF-6B10E1A32EFE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A36FA2-C369-4F6B-9E66-F573CE9937C7}" type="pres">
      <dgm:prSet presAssocID="{E11C979E-DA7F-44FE-93FF-6B10E1A32EFE}" presName="parSh" presStyleLbl="node1" presStyleIdx="1" presStyleCnt="3" custLinFactNeighborX="1912" custLinFactNeighborY="13619"/>
      <dgm:spPr/>
      <dgm:t>
        <a:bodyPr/>
        <a:lstStyle/>
        <a:p>
          <a:endParaRPr lang="en-US"/>
        </a:p>
      </dgm:t>
    </dgm:pt>
    <dgm:pt modelId="{91B2C4FF-5229-419A-8888-2858F92609F6}" type="pres">
      <dgm:prSet presAssocID="{E11C979E-DA7F-44FE-93FF-6B10E1A32EFE}" presName="desTx" presStyleLbl="fgAcc1" presStyleIdx="1" presStyleCnt="3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2375B698-2873-448F-B324-CD4F680EB8CA}" type="pres">
      <dgm:prSet presAssocID="{CBA8F9A7-B3A3-41C3-888D-E1DD4A1C1874}" presName="sibTrans" presStyleLbl="sibTrans2D1" presStyleIdx="1" presStyleCnt="2"/>
      <dgm:spPr/>
      <dgm:t>
        <a:bodyPr/>
        <a:lstStyle/>
        <a:p>
          <a:endParaRPr lang="en-US"/>
        </a:p>
      </dgm:t>
    </dgm:pt>
    <dgm:pt modelId="{F3862587-3509-442D-A6F0-110B0E5EC7B2}" type="pres">
      <dgm:prSet presAssocID="{CBA8F9A7-B3A3-41C3-888D-E1DD4A1C1874}" presName="connTx" presStyleLbl="sibTrans2D1" presStyleIdx="1" presStyleCnt="2"/>
      <dgm:spPr/>
      <dgm:t>
        <a:bodyPr/>
        <a:lstStyle/>
        <a:p>
          <a:endParaRPr lang="en-US"/>
        </a:p>
      </dgm:t>
    </dgm:pt>
    <dgm:pt modelId="{E0F15CA8-39A9-45AB-96B7-41954EE0801B}" type="pres">
      <dgm:prSet presAssocID="{069719F9-BB75-49A5-A166-10F2795AEF0B}" presName="composite" presStyleCnt="0"/>
      <dgm:spPr/>
    </dgm:pt>
    <dgm:pt modelId="{2FBFA388-BE05-44CE-B01B-779EB17B0BF7}" type="pres">
      <dgm:prSet presAssocID="{069719F9-BB75-49A5-A166-10F2795AEF0B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D3CB30-4DA4-4350-B7A4-3E648F2EB227}" type="pres">
      <dgm:prSet presAssocID="{069719F9-BB75-49A5-A166-10F2795AEF0B}" presName="parSh" presStyleLbl="node1" presStyleIdx="2" presStyleCnt="3" custLinFactNeighborX="311" custLinFactNeighborY="9606"/>
      <dgm:spPr/>
      <dgm:t>
        <a:bodyPr/>
        <a:lstStyle/>
        <a:p>
          <a:endParaRPr lang="en-US"/>
        </a:p>
      </dgm:t>
    </dgm:pt>
    <dgm:pt modelId="{65612ED5-8892-45FF-B158-3CE141D796A7}" type="pres">
      <dgm:prSet presAssocID="{069719F9-BB75-49A5-A166-10F2795AEF0B}" presName="desTx" presStyleLbl="fgAcc1" presStyleIdx="2" presStyleCnt="3" custScaleY="910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38BCAD4-931C-44B2-9C85-654167CE9A69}" type="presOf" srcId="{E11C979E-DA7F-44FE-93FF-6B10E1A32EFE}" destId="{D7E26F22-B107-441F-91C8-C2BAF2213382}" srcOrd="0" destOrd="0" presId="urn:microsoft.com/office/officeart/2005/8/layout/process3"/>
    <dgm:cxn modelId="{7CEECCED-4FE1-49B1-9243-BF6CAF418BB8}" type="presOf" srcId="{E11C979E-DA7F-44FE-93FF-6B10E1A32EFE}" destId="{58A36FA2-C369-4F6B-9E66-F573CE9937C7}" srcOrd="1" destOrd="0" presId="urn:microsoft.com/office/officeart/2005/8/layout/process3"/>
    <dgm:cxn modelId="{BCA3C229-E5F6-473A-B341-587A45A44BB4}" type="presOf" srcId="{1EA94DEB-9F40-4F05-AC41-46C694D6339D}" destId="{ADD3AE7F-21AA-45B5-9626-51D4168ADC97}" srcOrd="0" destOrd="0" presId="urn:microsoft.com/office/officeart/2005/8/layout/process3"/>
    <dgm:cxn modelId="{ADB9B6C5-EFFC-417D-A9F3-20EC750CE833}" type="presOf" srcId="{4CC6A34B-8859-47AA-A26A-16DE8E9CD1CE}" destId="{5DCCC56C-82FA-496D-A27C-E92CDD6B587F}" srcOrd="0" destOrd="0" presId="urn:microsoft.com/office/officeart/2005/8/layout/process3"/>
    <dgm:cxn modelId="{2BDA2315-127D-47A5-A6F7-58F5D949FAD8}" type="presOf" srcId="{069719F9-BB75-49A5-A166-10F2795AEF0B}" destId="{48D3CB30-4DA4-4350-B7A4-3E648F2EB227}" srcOrd="1" destOrd="0" presId="urn:microsoft.com/office/officeart/2005/8/layout/process3"/>
    <dgm:cxn modelId="{DBD0F1A5-087C-4BE8-A8BC-2A3B93662CB7}" type="presOf" srcId="{969E90AC-1A9D-4974-BAF5-4A7D733043D9}" destId="{03124F20-BE95-4AF4-BB13-FABF503744E6}" srcOrd="0" destOrd="0" presId="urn:microsoft.com/office/officeart/2005/8/layout/process3"/>
    <dgm:cxn modelId="{334B804A-29FA-4013-B447-8612ABE11DA6}" type="presOf" srcId="{4CC6A34B-8859-47AA-A26A-16DE8E9CD1CE}" destId="{CF028978-9137-4291-926F-A290C98A4E9A}" srcOrd="1" destOrd="0" presId="urn:microsoft.com/office/officeart/2005/8/layout/process3"/>
    <dgm:cxn modelId="{9399D6E6-EC3A-40E7-8D06-30549A77E737}" srcId="{969E90AC-1A9D-4974-BAF5-4A7D733043D9}" destId="{E11C979E-DA7F-44FE-93FF-6B10E1A32EFE}" srcOrd="1" destOrd="0" parTransId="{36C2889A-2DD7-4CC0-830A-FD90DB7DE7A3}" sibTransId="{CBA8F9A7-B3A3-41C3-888D-E1DD4A1C1874}"/>
    <dgm:cxn modelId="{80E6E1B5-08FE-4928-A819-DB9CAC909E65}" type="presOf" srcId="{2AE26EC6-7821-4C66-ACA0-C4C826A60C6F}" destId="{42CEEBA4-1378-4AF5-90B3-23A2D88490E9}" srcOrd="0" destOrd="0" presId="urn:microsoft.com/office/officeart/2005/8/layout/process3"/>
    <dgm:cxn modelId="{4A38A417-58F5-4E64-99F3-9C2551F9B067}" type="presOf" srcId="{2AE26EC6-7821-4C66-ACA0-C4C826A60C6F}" destId="{2F28E15F-C463-4A97-A02E-B468DB006C48}" srcOrd="1" destOrd="0" presId="urn:microsoft.com/office/officeart/2005/8/layout/process3"/>
    <dgm:cxn modelId="{CE9F6066-92E7-45A3-BEAF-12762EEF7AC3}" srcId="{969E90AC-1A9D-4974-BAF5-4A7D733043D9}" destId="{2AE26EC6-7821-4C66-ACA0-C4C826A60C6F}" srcOrd="0" destOrd="0" parTransId="{399CC24F-1863-4927-A03D-9014BC9B1320}" sibTransId="{4CC6A34B-8859-47AA-A26A-16DE8E9CD1CE}"/>
    <dgm:cxn modelId="{F95D89BF-4665-4583-80F2-30197FFAD205}" type="presOf" srcId="{CBA8F9A7-B3A3-41C3-888D-E1DD4A1C1874}" destId="{2375B698-2873-448F-B324-CD4F680EB8CA}" srcOrd="0" destOrd="0" presId="urn:microsoft.com/office/officeart/2005/8/layout/process3"/>
    <dgm:cxn modelId="{0F9DCE36-6678-432F-90D7-F0CDE08CA1AF}" type="presOf" srcId="{1DD63560-39EA-40A5-8D8C-D1F346A7411F}" destId="{65612ED5-8892-45FF-B158-3CE141D796A7}" srcOrd="0" destOrd="0" presId="urn:microsoft.com/office/officeart/2005/8/layout/process3"/>
    <dgm:cxn modelId="{4994D5B8-2488-463B-A1B2-2B1A8272DB1E}" type="presOf" srcId="{069719F9-BB75-49A5-A166-10F2795AEF0B}" destId="{2FBFA388-BE05-44CE-B01B-779EB17B0BF7}" srcOrd="0" destOrd="0" presId="urn:microsoft.com/office/officeart/2005/8/layout/process3"/>
    <dgm:cxn modelId="{CBB670C9-5286-490A-945E-B2BDEB6C2CF3}" srcId="{969E90AC-1A9D-4974-BAF5-4A7D733043D9}" destId="{069719F9-BB75-49A5-A166-10F2795AEF0B}" srcOrd="2" destOrd="0" parTransId="{692A72E2-8E20-4674-8647-F531720BD7AB}" sibTransId="{4FE59848-15AC-4F61-9815-B768F5B4D67A}"/>
    <dgm:cxn modelId="{70DD71B6-9057-4717-BEB6-8D9F43FC6D98}" srcId="{2AE26EC6-7821-4C66-ACA0-C4C826A60C6F}" destId="{1EA94DEB-9F40-4F05-AC41-46C694D6339D}" srcOrd="0" destOrd="0" parTransId="{5776BFE5-B53A-4F74-9EBE-26BBD91CBDBB}" sibTransId="{980D1F3B-6028-4893-9CA9-B72D00BBD16D}"/>
    <dgm:cxn modelId="{6CD97026-52D1-4004-B7F3-B2201E5C1C44}" srcId="{069719F9-BB75-49A5-A166-10F2795AEF0B}" destId="{1DD63560-39EA-40A5-8D8C-D1F346A7411F}" srcOrd="0" destOrd="0" parTransId="{3F7BE854-47EB-45E1-B095-59561E777271}" sibTransId="{0FDFD97D-4660-4EB9-A519-9BA8162C0D45}"/>
    <dgm:cxn modelId="{13D89CF0-3F7E-4312-B1E7-DD186B39D479}" srcId="{2AE26EC6-7821-4C66-ACA0-C4C826A60C6F}" destId="{C64F6326-40AA-4438-91FC-00721E0287A0}" srcOrd="1" destOrd="0" parTransId="{29CA02DC-F699-4B0E-BD2A-F60754D403C9}" sibTransId="{7B355344-C857-4FDF-91D1-D85357A3849D}"/>
    <dgm:cxn modelId="{D5B10F76-5062-4297-9E37-F71590979F0E}" type="presOf" srcId="{C64F6326-40AA-4438-91FC-00721E0287A0}" destId="{ADD3AE7F-21AA-45B5-9626-51D4168ADC97}" srcOrd="0" destOrd="1" presId="urn:microsoft.com/office/officeart/2005/8/layout/process3"/>
    <dgm:cxn modelId="{FFCB8FB3-0F13-4B28-97C9-DF6FA35A9121}" type="presOf" srcId="{CBA8F9A7-B3A3-41C3-888D-E1DD4A1C1874}" destId="{F3862587-3509-442D-A6F0-110B0E5EC7B2}" srcOrd="1" destOrd="0" presId="urn:microsoft.com/office/officeart/2005/8/layout/process3"/>
    <dgm:cxn modelId="{B5464F6E-C175-4BC8-9EB1-DBB0DDACF68E}" type="presParOf" srcId="{03124F20-BE95-4AF4-BB13-FABF503744E6}" destId="{EC6D2FDB-F5EB-4609-8AD8-F3C93B94A9D3}" srcOrd="0" destOrd="0" presId="urn:microsoft.com/office/officeart/2005/8/layout/process3"/>
    <dgm:cxn modelId="{8C6A688D-F313-4B2A-838B-4EEC6B142727}" type="presParOf" srcId="{EC6D2FDB-F5EB-4609-8AD8-F3C93B94A9D3}" destId="{42CEEBA4-1378-4AF5-90B3-23A2D88490E9}" srcOrd="0" destOrd="0" presId="urn:microsoft.com/office/officeart/2005/8/layout/process3"/>
    <dgm:cxn modelId="{58B0B9A7-7CBD-4D83-9380-C1AEDA5CF52A}" type="presParOf" srcId="{EC6D2FDB-F5EB-4609-8AD8-F3C93B94A9D3}" destId="{2F28E15F-C463-4A97-A02E-B468DB006C48}" srcOrd="1" destOrd="0" presId="urn:microsoft.com/office/officeart/2005/8/layout/process3"/>
    <dgm:cxn modelId="{BB3876E3-CFD3-4D50-AC41-1B384B99355C}" type="presParOf" srcId="{EC6D2FDB-F5EB-4609-8AD8-F3C93B94A9D3}" destId="{ADD3AE7F-21AA-45B5-9626-51D4168ADC97}" srcOrd="2" destOrd="0" presId="urn:microsoft.com/office/officeart/2005/8/layout/process3"/>
    <dgm:cxn modelId="{2FC108C4-2B9C-4E01-AB00-674EB398C545}" type="presParOf" srcId="{03124F20-BE95-4AF4-BB13-FABF503744E6}" destId="{5DCCC56C-82FA-496D-A27C-E92CDD6B587F}" srcOrd="1" destOrd="0" presId="urn:microsoft.com/office/officeart/2005/8/layout/process3"/>
    <dgm:cxn modelId="{FE0FBC44-90CB-49D8-ABE3-5F9ADE4950E2}" type="presParOf" srcId="{5DCCC56C-82FA-496D-A27C-E92CDD6B587F}" destId="{CF028978-9137-4291-926F-A290C98A4E9A}" srcOrd="0" destOrd="0" presId="urn:microsoft.com/office/officeart/2005/8/layout/process3"/>
    <dgm:cxn modelId="{95517E44-D426-4DFF-AE5C-E6E9A34022BE}" type="presParOf" srcId="{03124F20-BE95-4AF4-BB13-FABF503744E6}" destId="{D824E52D-6C6F-428E-9EE3-BDBFB3E2FDB7}" srcOrd="2" destOrd="0" presId="urn:microsoft.com/office/officeart/2005/8/layout/process3"/>
    <dgm:cxn modelId="{94175DB4-F164-485B-BCDF-4F5167406DCF}" type="presParOf" srcId="{D824E52D-6C6F-428E-9EE3-BDBFB3E2FDB7}" destId="{D7E26F22-B107-441F-91C8-C2BAF2213382}" srcOrd="0" destOrd="0" presId="urn:microsoft.com/office/officeart/2005/8/layout/process3"/>
    <dgm:cxn modelId="{910F243D-EEA6-46F4-98AD-AB47E8024EC4}" type="presParOf" srcId="{D824E52D-6C6F-428E-9EE3-BDBFB3E2FDB7}" destId="{58A36FA2-C369-4F6B-9E66-F573CE9937C7}" srcOrd="1" destOrd="0" presId="urn:microsoft.com/office/officeart/2005/8/layout/process3"/>
    <dgm:cxn modelId="{93CF0CC5-0A8A-48AA-A4CE-5991A217B62F}" type="presParOf" srcId="{D824E52D-6C6F-428E-9EE3-BDBFB3E2FDB7}" destId="{91B2C4FF-5229-419A-8888-2858F92609F6}" srcOrd="2" destOrd="0" presId="urn:microsoft.com/office/officeart/2005/8/layout/process3"/>
    <dgm:cxn modelId="{DE58D759-8CAB-40FA-870B-7385BDA2C1CD}" type="presParOf" srcId="{03124F20-BE95-4AF4-BB13-FABF503744E6}" destId="{2375B698-2873-448F-B324-CD4F680EB8CA}" srcOrd="3" destOrd="0" presId="urn:microsoft.com/office/officeart/2005/8/layout/process3"/>
    <dgm:cxn modelId="{DE957BDA-A020-4BF3-B86E-21148D9DA1FB}" type="presParOf" srcId="{2375B698-2873-448F-B324-CD4F680EB8CA}" destId="{F3862587-3509-442D-A6F0-110B0E5EC7B2}" srcOrd="0" destOrd="0" presId="urn:microsoft.com/office/officeart/2005/8/layout/process3"/>
    <dgm:cxn modelId="{07F1709C-9024-49B4-8FE9-0891712E8B60}" type="presParOf" srcId="{03124F20-BE95-4AF4-BB13-FABF503744E6}" destId="{E0F15CA8-39A9-45AB-96B7-41954EE0801B}" srcOrd="4" destOrd="0" presId="urn:microsoft.com/office/officeart/2005/8/layout/process3"/>
    <dgm:cxn modelId="{8050325E-CF12-49F6-93EF-E6E1ACA35664}" type="presParOf" srcId="{E0F15CA8-39A9-45AB-96B7-41954EE0801B}" destId="{2FBFA388-BE05-44CE-B01B-779EB17B0BF7}" srcOrd="0" destOrd="0" presId="urn:microsoft.com/office/officeart/2005/8/layout/process3"/>
    <dgm:cxn modelId="{CB045D79-7A9E-4196-B0EA-715D5E6A1BE2}" type="presParOf" srcId="{E0F15CA8-39A9-45AB-96B7-41954EE0801B}" destId="{48D3CB30-4DA4-4350-B7A4-3E648F2EB227}" srcOrd="1" destOrd="0" presId="urn:microsoft.com/office/officeart/2005/8/layout/process3"/>
    <dgm:cxn modelId="{15E0BB28-B38D-4F17-981C-9173E4E7DEB4}" type="presParOf" srcId="{E0F15CA8-39A9-45AB-96B7-41954EE0801B}" destId="{65612ED5-8892-45FF-B158-3CE141D796A7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9E90AC-1A9D-4974-BAF5-4A7D733043D9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E26EC6-7821-4C66-ACA0-C4C826A60C6F}">
      <dgm:prSet phldrT="[Text]"/>
      <dgm:spPr/>
      <dgm:t>
        <a:bodyPr/>
        <a:lstStyle/>
        <a:p>
          <a:r>
            <a:rPr lang="en-US" dirty="0" smtClean="0"/>
            <a:t>Input</a:t>
          </a:r>
          <a:endParaRPr lang="en-US" dirty="0"/>
        </a:p>
      </dgm:t>
    </dgm:pt>
    <dgm:pt modelId="{399CC24F-1863-4927-A03D-9014BC9B1320}" type="parTrans" cxnId="{CE9F6066-92E7-45A3-BEAF-12762EEF7AC3}">
      <dgm:prSet/>
      <dgm:spPr/>
      <dgm:t>
        <a:bodyPr/>
        <a:lstStyle/>
        <a:p>
          <a:endParaRPr lang="en-US"/>
        </a:p>
      </dgm:t>
    </dgm:pt>
    <dgm:pt modelId="{4CC6A34B-8859-47AA-A26A-16DE8E9CD1CE}" type="sibTrans" cxnId="{CE9F6066-92E7-45A3-BEAF-12762EEF7AC3}">
      <dgm:prSet/>
      <dgm:spPr/>
      <dgm:t>
        <a:bodyPr/>
        <a:lstStyle/>
        <a:p>
          <a:endParaRPr lang="en-US"/>
        </a:p>
      </dgm:t>
    </dgm:pt>
    <dgm:pt modelId="{E11C979E-DA7F-44FE-93FF-6B10E1A32EFE}">
      <dgm:prSet phldrT="[Text]"/>
      <dgm:spPr/>
      <dgm:t>
        <a:bodyPr/>
        <a:lstStyle/>
        <a:p>
          <a:r>
            <a:rPr lang="en-US" dirty="0" smtClean="0"/>
            <a:t>Experiment </a:t>
          </a:r>
          <a:endParaRPr lang="en-US" dirty="0"/>
        </a:p>
      </dgm:t>
    </dgm:pt>
    <dgm:pt modelId="{36C2889A-2DD7-4CC0-830A-FD90DB7DE7A3}" type="parTrans" cxnId="{9399D6E6-EC3A-40E7-8D06-30549A77E737}">
      <dgm:prSet/>
      <dgm:spPr/>
      <dgm:t>
        <a:bodyPr/>
        <a:lstStyle/>
        <a:p>
          <a:endParaRPr lang="en-US"/>
        </a:p>
      </dgm:t>
    </dgm:pt>
    <dgm:pt modelId="{CBA8F9A7-B3A3-41C3-888D-E1DD4A1C1874}" type="sibTrans" cxnId="{9399D6E6-EC3A-40E7-8D06-30549A77E737}">
      <dgm:prSet/>
      <dgm:spPr/>
      <dgm:t>
        <a:bodyPr/>
        <a:lstStyle/>
        <a:p>
          <a:endParaRPr lang="en-US"/>
        </a:p>
      </dgm:t>
    </dgm:pt>
    <dgm:pt modelId="{069719F9-BB75-49A5-A166-10F2795AEF0B}">
      <dgm:prSet phldrT="[Text]"/>
      <dgm:spPr/>
      <dgm:t>
        <a:bodyPr/>
        <a:lstStyle/>
        <a:p>
          <a:r>
            <a:rPr lang="en-US" dirty="0" smtClean="0"/>
            <a:t>Output</a:t>
          </a:r>
          <a:endParaRPr lang="en-US" dirty="0"/>
        </a:p>
      </dgm:t>
    </dgm:pt>
    <dgm:pt modelId="{692A72E2-8E20-4674-8647-F531720BD7AB}" type="parTrans" cxnId="{CBB670C9-5286-490A-945E-B2BDEB6C2CF3}">
      <dgm:prSet/>
      <dgm:spPr/>
      <dgm:t>
        <a:bodyPr/>
        <a:lstStyle/>
        <a:p>
          <a:endParaRPr lang="en-US"/>
        </a:p>
      </dgm:t>
    </dgm:pt>
    <dgm:pt modelId="{4FE59848-15AC-4F61-9815-B768F5B4D67A}" type="sibTrans" cxnId="{CBB670C9-5286-490A-945E-B2BDEB6C2CF3}">
      <dgm:prSet/>
      <dgm:spPr/>
      <dgm:t>
        <a:bodyPr/>
        <a:lstStyle/>
        <a:p>
          <a:endParaRPr lang="en-US"/>
        </a:p>
      </dgm:t>
    </dgm:pt>
    <dgm:pt modelId="{1DD63560-39EA-40A5-8D8C-D1F346A7411F}">
      <dgm:prSet phldrT="[Text]"/>
      <dgm:spPr/>
      <dgm:t>
        <a:bodyPr/>
        <a:lstStyle/>
        <a:p>
          <a:r>
            <a:rPr lang="en-US" dirty="0" err="1" smtClean="0"/>
            <a:t>Een</a:t>
          </a:r>
          <a:r>
            <a:rPr lang="en-US" dirty="0" smtClean="0"/>
            <a:t> van de </a:t>
          </a:r>
          <a:r>
            <a:rPr lang="en-US" dirty="0" err="1" smtClean="0"/>
            <a:t>mogelijke</a:t>
          </a:r>
          <a:r>
            <a:rPr lang="en-US" dirty="0" smtClean="0"/>
            <a:t> </a:t>
          </a:r>
          <a:r>
            <a:rPr lang="en-US" dirty="0" err="1" smtClean="0"/>
            <a:t>uitkomsten</a:t>
          </a:r>
          <a:r>
            <a:rPr lang="en-US" dirty="0" smtClean="0"/>
            <a:t> (</a:t>
          </a:r>
          <a:r>
            <a:rPr lang="en-US" b="1" dirty="0" smtClean="0"/>
            <a:t>trekking</a:t>
          </a:r>
          <a:r>
            <a:rPr lang="en-US" dirty="0" smtClean="0"/>
            <a:t>)</a:t>
          </a:r>
          <a:endParaRPr lang="en-US" dirty="0"/>
        </a:p>
      </dgm:t>
    </dgm:pt>
    <dgm:pt modelId="{3F7BE854-47EB-45E1-B095-59561E777271}" type="parTrans" cxnId="{6CD97026-52D1-4004-B7F3-B2201E5C1C44}">
      <dgm:prSet/>
      <dgm:spPr/>
      <dgm:t>
        <a:bodyPr/>
        <a:lstStyle/>
        <a:p>
          <a:endParaRPr lang="en-US"/>
        </a:p>
      </dgm:t>
    </dgm:pt>
    <dgm:pt modelId="{0FDFD97D-4660-4EB9-A519-9BA8162C0D45}" type="sibTrans" cxnId="{6CD97026-52D1-4004-B7F3-B2201E5C1C44}">
      <dgm:prSet/>
      <dgm:spPr/>
      <dgm:t>
        <a:bodyPr/>
        <a:lstStyle/>
        <a:p>
          <a:endParaRPr lang="en-US"/>
        </a:p>
      </dgm:t>
    </dgm:pt>
    <dgm:pt modelId="{1EA94DEB-9F40-4F05-AC41-46C694D6339D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nl-NL">
              <a:noFill/>
            </a:rPr>
            <a:t> </a:t>
          </a:r>
        </a:p>
      </dgm:t>
    </dgm:pt>
    <dgm:pt modelId="{5776BFE5-B53A-4F74-9EBE-26BBD91CBDBB}" type="parTrans" cxnId="{70DD71B6-9057-4717-BEB6-8D9F43FC6D98}">
      <dgm:prSet/>
      <dgm:spPr/>
      <dgm:t>
        <a:bodyPr/>
        <a:lstStyle/>
        <a:p>
          <a:endParaRPr lang="en-US"/>
        </a:p>
      </dgm:t>
    </dgm:pt>
    <dgm:pt modelId="{980D1F3B-6028-4893-9CA9-B72D00BBD16D}" type="sibTrans" cxnId="{70DD71B6-9057-4717-BEB6-8D9F43FC6D98}">
      <dgm:prSet/>
      <dgm:spPr/>
      <dgm:t>
        <a:bodyPr/>
        <a:lstStyle/>
        <a:p>
          <a:endParaRPr lang="en-US"/>
        </a:p>
      </dgm:t>
    </dgm:pt>
    <dgm:pt modelId="{C64F6326-40AA-4438-91FC-00721E0287A0}">
      <dgm:prSet/>
      <dgm:spPr/>
      <dgm:t>
        <a:bodyPr/>
        <a:lstStyle/>
        <a:p>
          <a:r>
            <a:rPr lang="nl-NL">
              <a:noFill/>
            </a:rPr>
            <a:t> </a:t>
          </a:r>
        </a:p>
      </dgm:t>
    </dgm:pt>
    <dgm:pt modelId="{29CA02DC-F699-4B0E-BD2A-F60754D403C9}" type="parTrans" cxnId="{13D89CF0-3F7E-4312-B1E7-DD186B39D479}">
      <dgm:prSet/>
      <dgm:spPr/>
      <dgm:t>
        <a:bodyPr/>
        <a:lstStyle/>
        <a:p>
          <a:endParaRPr lang="en-US"/>
        </a:p>
      </dgm:t>
    </dgm:pt>
    <dgm:pt modelId="{7B355344-C857-4FDF-91D1-D85357A3849D}" type="sibTrans" cxnId="{13D89CF0-3F7E-4312-B1E7-DD186B39D479}">
      <dgm:prSet/>
      <dgm:spPr/>
      <dgm:t>
        <a:bodyPr/>
        <a:lstStyle/>
        <a:p>
          <a:endParaRPr lang="en-US"/>
        </a:p>
      </dgm:t>
    </dgm:pt>
    <dgm:pt modelId="{03124F20-BE95-4AF4-BB13-FABF503744E6}" type="pres">
      <dgm:prSet presAssocID="{969E90AC-1A9D-4974-BAF5-4A7D733043D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6D2FDB-F5EB-4609-8AD8-F3C93B94A9D3}" type="pres">
      <dgm:prSet presAssocID="{2AE26EC6-7821-4C66-ACA0-C4C826A60C6F}" presName="composite" presStyleCnt="0"/>
      <dgm:spPr/>
    </dgm:pt>
    <dgm:pt modelId="{42CEEBA4-1378-4AF5-90B3-23A2D88490E9}" type="pres">
      <dgm:prSet presAssocID="{2AE26EC6-7821-4C66-ACA0-C4C826A60C6F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28E15F-C463-4A97-A02E-B468DB006C48}" type="pres">
      <dgm:prSet presAssocID="{2AE26EC6-7821-4C66-ACA0-C4C826A60C6F}" presName="parSh" presStyleLbl="node1" presStyleIdx="0" presStyleCnt="3"/>
      <dgm:spPr/>
      <dgm:t>
        <a:bodyPr/>
        <a:lstStyle/>
        <a:p>
          <a:endParaRPr lang="en-US"/>
        </a:p>
      </dgm:t>
    </dgm:pt>
    <dgm:pt modelId="{ADD3AE7F-21AA-45B5-9626-51D4168ADC97}" type="pres">
      <dgm:prSet presAssocID="{2AE26EC6-7821-4C66-ACA0-C4C826A60C6F}" presName="desTx" presStyleLbl="fgAcc1" presStyleIdx="0" presStyleCnt="3" custScaleX="105343" custScaleY="860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CCC56C-82FA-496D-A27C-E92CDD6B587F}" type="pres">
      <dgm:prSet presAssocID="{4CC6A34B-8859-47AA-A26A-16DE8E9CD1CE}" presName="sibTrans" presStyleLbl="sibTrans2D1" presStyleIdx="0" presStyleCnt="2"/>
      <dgm:spPr/>
      <dgm:t>
        <a:bodyPr/>
        <a:lstStyle/>
        <a:p>
          <a:endParaRPr lang="en-US"/>
        </a:p>
      </dgm:t>
    </dgm:pt>
    <dgm:pt modelId="{CF028978-9137-4291-926F-A290C98A4E9A}" type="pres">
      <dgm:prSet presAssocID="{4CC6A34B-8859-47AA-A26A-16DE8E9CD1CE}" presName="connTx" presStyleLbl="sibTrans2D1" presStyleIdx="0" presStyleCnt="2"/>
      <dgm:spPr/>
      <dgm:t>
        <a:bodyPr/>
        <a:lstStyle/>
        <a:p>
          <a:endParaRPr lang="en-US"/>
        </a:p>
      </dgm:t>
    </dgm:pt>
    <dgm:pt modelId="{D824E52D-6C6F-428E-9EE3-BDBFB3E2FDB7}" type="pres">
      <dgm:prSet presAssocID="{E11C979E-DA7F-44FE-93FF-6B10E1A32EFE}" presName="composite" presStyleCnt="0"/>
      <dgm:spPr/>
    </dgm:pt>
    <dgm:pt modelId="{D7E26F22-B107-441F-91C8-C2BAF2213382}" type="pres">
      <dgm:prSet presAssocID="{E11C979E-DA7F-44FE-93FF-6B10E1A32EFE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A36FA2-C369-4F6B-9E66-F573CE9937C7}" type="pres">
      <dgm:prSet presAssocID="{E11C979E-DA7F-44FE-93FF-6B10E1A32EFE}" presName="parSh" presStyleLbl="node1" presStyleIdx="1" presStyleCnt="3" custLinFactNeighborX="1912" custLinFactNeighborY="13619"/>
      <dgm:spPr/>
      <dgm:t>
        <a:bodyPr/>
        <a:lstStyle/>
        <a:p>
          <a:endParaRPr lang="en-US"/>
        </a:p>
      </dgm:t>
    </dgm:pt>
    <dgm:pt modelId="{91B2C4FF-5229-419A-8888-2858F92609F6}" type="pres">
      <dgm:prSet presAssocID="{E11C979E-DA7F-44FE-93FF-6B10E1A32EFE}" presName="desTx" presStyleLbl="fgAcc1" presStyleIdx="1" presStyleCnt="3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2375B698-2873-448F-B324-CD4F680EB8CA}" type="pres">
      <dgm:prSet presAssocID="{CBA8F9A7-B3A3-41C3-888D-E1DD4A1C1874}" presName="sibTrans" presStyleLbl="sibTrans2D1" presStyleIdx="1" presStyleCnt="2"/>
      <dgm:spPr/>
      <dgm:t>
        <a:bodyPr/>
        <a:lstStyle/>
        <a:p>
          <a:endParaRPr lang="en-US"/>
        </a:p>
      </dgm:t>
    </dgm:pt>
    <dgm:pt modelId="{F3862587-3509-442D-A6F0-110B0E5EC7B2}" type="pres">
      <dgm:prSet presAssocID="{CBA8F9A7-B3A3-41C3-888D-E1DD4A1C1874}" presName="connTx" presStyleLbl="sibTrans2D1" presStyleIdx="1" presStyleCnt="2"/>
      <dgm:spPr/>
      <dgm:t>
        <a:bodyPr/>
        <a:lstStyle/>
        <a:p>
          <a:endParaRPr lang="en-US"/>
        </a:p>
      </dgm:t>
    </dgm:pt>
    <dgm:pt modelId="{E0F15CA8-39A9-45AB-96B7-41954EE0801B}" type="pres">
      <dgm:prSet presAssocID="{069719F9-BB75-49A5-A166-10F2795AEF0B}" presName="composite" presStyleCnt="0"/>
      <dgm:spPr/>
    </dgm:pt>
    <dgm:pt modelId="{2FBFA388-BE05-44CE-B01B-779EB17B0BF7}" type="pres">
      <dgm:prSet presAssocID="{069719F9-BB75-49A5-A166-10F2795AEF0B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D3CB30-4DA4-4350-B7A4-3E648F2EB227}" type="pres">
      <dgm:prSet presAssocID="{069719F9-BB75-49A5-A166-10F2795AEF0B}" presName="parSh" presStyleLbl="node1" presStyleIdx="2" presStyleCnt="3" custLinFactNeighborX="311" custLinFactNeighborY="9606"/>
      <dgm:spPr/>
      <dgm:t>
        <a:bodyPr/>
        <a:lstStyle/>
        <a:p>
          <a:endParaRPr lang="en-US"/>
        </a:p>
      </dgm:t>
    </dgm:pt>
    <dgm:pt modelId="{65612ED5-8892-45FF-B158-3CE141D796A7}" type="pres">
      <dgm:prSet presAssocID="{069719F9-BB75-49A5-A166-10F2795AEF0B}" presName="desTx" presStyleLbl="fgAcc1" presStyleIdx="2" presStyleCnt="3" custScaleY="910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38BCAD4-931C-44B2-9C85-654167CE9A69}" type="presOf" srcId="{E11C979E-DA7F-44FE-93FF-6B10E1A32EFE}" destId="{D7E26F22-B107-441F-91C8-C2BAF2213382}" srcOrd="0" destOrd="0" presId="urn:microsoft.com/office/officeart/2005/8/layout/process3"/>
    <dgm:cxn modelId="{7CEECCED-4FE1-49B1-9243-BF6CAF418BB8}" type="presOf" srcId="{E11C979E-DA7F-44FE-93FF-6B10E1A32EFE}" destId="{58A36FA2-C369-4F6B-9E66-F573CE9937C7}" srcOrd="1" destOrd="0" presId="urn:microsoft.com/office/officeart/2005/8/layout/process3"/>
    <dgm:cxn modelId="{BCA3C229-E5F6-473A-B341-587A45A44BB4}" type="presOf" srcId="{1EA94DEB-9F40-4F05-AC41-46C694D6339D}" destId="{ADD3AE7F-21AA-45B5-9626-51D4168ADC97}" srcOrd="0" destOrd="0" presId="urn:microsoft.com/office/officeart/2005/8/layout/process3"/>
    <dgm:cxn modelId="{ADB9B6C5-EFFC-417D-A9F3-20EC750CE833}" type="presOf" srcId="{4CC6A34B-8859-47AA-A26A-16DE8E9CD1CE}" destId="{5DCCC56C-82FA-496D-A27C-E92CDD6B587F}" srcOrd="0" destOrd="0" presId="urn:microsoft.com/office/officeart/2005/8/layout/process3"/>
    <dgm:cxn modelId="{2BDA2315-127D-47A5-A6F7-58F5D949FAD8}" type="presOf" srcId="{069719F9-BB75-49A5-A166-10F2795AEF0B}" destId="{48D3CB30-4DA4-4350-B7A4-3E648F2EB227}" srcOrd="1" destOrd="0" presId="urn:microsoft.com/office/officeart/2005/8/layout/process3"/>
    <dgm:cxn modelId="{DBD0F1A5-087C-4BE8-A8BC-2A3B93662CB7}" type="presOf" srcId="{969E90AC-1A9D-4974-BAF5-4A7D733043D9}" destId="{03124F20-BE95-4AF4-BB13-FABF503744E6}" srcOrd="0" destOrd="0" presId="urn:microsoft.com/office/officeart/2005/8/layout/process3"/>
    <dgm:cxn modelId="{334B804A-29FA-4013-B447-8612ABE11DA6}" type="presOf" srcId="{4CC6A34B-8859-47AA-A26A-16DE8E9CD1CE}" destId="{CF028978-9137-4291-926F-A290C98A4E9A}" srcOrd="1" destOrd="0" presId="urn:microsoft.com/office/officeart/2005/8/layout/process3"/>
    <dgm:cxn modelId="{9399D6E6-EC3A-40E7-8D06-30549A77E737}" srcId="{969E90AC-1A9D-4974-BAF5-4A7D733043D9}" destId="{E11C979E-DA7F-44FE-93FF-6B10E1A32EFE}" srcOrd="1" destOrd="0" parTransId="{36C2889A-2DD7-4CC0-830A-FD90DB7DE7A3}" sibTransId="{CBA8F9A7-B3A3-41C3-888D-E1DD4A1C1874}"/>
    <dgm:cxn modelId="{80E6E1B5-08FE-4928-A819-DB9CAC909E65}" type="presOf" srcId="{2AE26EC6-7821-4C66-ACA0-C4C826A60C6F}" destId="{42CEEBA4-1378-4AF5-90B3-23A2D88490E9}" srcOrd="0" destOrd="0" presId="urn:microsoft.com/office/officeart/2005/8/layout/process3"/>
    <dgm:cxn modelId="{4A38A417-58F5-4E64-99F3-9C2551F9B067}" type="presOf" srcId="{2AE26EC6-7821-4C66-ACA0-C4C826A60C6F}" destId="{2F28E15F-C463-4A97-A02E-B468DB006C48}" srcOrd="1" destOrd="0" presId="urn:microsoft.com/office/officeart/2005/8/layout/process3"/>
    <dgm:cxn modelId="{CE9F6066-92E7-45A3-BEAF-12762EEF7AC3}" srcId="{969E90AC-1A9D-4974-BAF5-4A7D733043D9}" destId="{2AE26EC6-7821-4C66-ACA0-C4C826A60C6F}" srcOrd="0" destOrd="0" parTransId="{399CC24F-1863-4927-A03D-9014BC9B1320}" sibTransId="{4CC6A34B-8859-47AA-A26A-16DE8E9CD1CE}"/>
    <dgm:cxn modelId="{F95D89BF-4665-4583-80F2-30197FFAD205}" type="presOf" srcId="{CBA8F9A7-B3A3-41C3-888D-E1DD4A1C1874}" destId="{2375B698-2873-448F-B324-CD4F680EB8CA}" srcOrd="0" destOrd="0" presId="urn:microsoft.com/office/officeart/2005/8/layout/process3"/>
    <dgm:cxn modelId="{0F9DCE36-6678-432F-90D7-F0CDE08CA1AF}" type="presOf" srcId="{1DD63560-39EA-40A5-8D8C-D1F346A7411F}" destId="{65612ED5-8892-45FF-B158-3CE141D796A7}" srcOrd="0" destOrd="0" presId="urn:microsoft.com/office/officeart/2005/8/layout/process3"/>
    <dgm:cxn modelId="{4994D5B8-2488-463B-A1B2-2B1A8272DB1E}" type="presOf" srcId="{069719F9-BB75-49A5-A166-10F2795AEF0B}" destId="{2FBFA388-BE05-44CE-B01B-779EB17B0BF7}" srcOrd="0" destOrd="0" presId="urn:microsoft.com/office/officeart/2005/8/layout/process3"/>
    <dgm:cxn modelId="{CBB670C9-5286-490A-945E-B2BDEB6C2CF3}" srcId="{969E90AC-1A9D-4974-BAF5-4A7D733043D9}" destId="{069719F9-BB75-49A5-A166-10F2795AEF0B}" srcOrd="2" destOrd="0" parTransId="{692A72E2-8E20-4674-8647-F531720BD7AB}" sibTransId="{4FE59848-15AC-4F61-9815-B768F5B4D67A}"/>
    <dgm:cxn modelId="{70DD71B6-9057-4717-BEB6-8D9F43FC6D98}" srcId="{2AE26EC6-7821-4C66-ACA0-C4C826A60C6F}" destId="{1EA94DEB-9F40-4F05-AC41-46C694D6339D}" srcOrd="0" destOrd="0" parTransId="{5776BFE5-B53A-4F74-9EBE-26BBD91CBDBB}" sibTransId="{980D1F3B-6028-4893-9CA9-B72D00BBD16D}"/>
    <dgm:cxn modelId="{6CD97026-52D1-4004-B7F3-B2201E5C1C44}" srcId="{069719F9-BB75-49A5-A166-10F2795AEF0B}" destId="{1DD63560-39EA-40A5-8D8C-D1F346A7411F}" srcOrd="0" destOrd="0" parTransId="{3F7BE854-47EB-45E1-B095-59561E777271}" sibTransId="{0FDFD97D-4660-4EB9-A519-9BA8162C0D45}"/>
    <dgm:cxn modelId="{13D89CF0-3F7E-4312-B1E7-DD186B39D479}" srcId="{2AE26EC6-7821-4C66-ACA0-C4C826A60C6F}" destId="{C64F6326-40AA-4438-91FC-00721E0287A0}" srcOrd="1" destOrd="0" parTransId="{29CA02DC-F699-4B0E-BD2A-F60754D403C9}" sibTransId="{7B355344-C857-4FDF-91D1-D85357A3849D}"/>
    <dgm:cxn modelId="{D5B10F76-5062-4297-9E37-F71590979F0E}" type="presOf" srcId="{C64F6326-40AA-4438-91FC-00721E0287A0}" destId="{ADD3AE7F-21AA-45B5-9626-51D4168ADC97}" srcOrd="0" destOrd="1" presId="urn:microsoft.com/office/officeart/2005/8/layout/process3"/>
    <dgm:cxn modelId="{FFCB8FB3-0F13-4B28-97C9-DF6FA35A9121}" type="presOf" srcId="{CBA8F9A7-B3A3-41C3-888D-E1DD4A1C1874}" destId="{F3862587-3509-442D-A6F0-110B0E5EC7B2}" srcOrd="1" destOrd="0" presId="urn:microsoft.com/office/officeart/2005/8/layout/process3"/>
    <dgm:cxn modelId="{B5464F6E-C175-4BC8-9EB1-DBB0DDACF68E}" type="presParOf" srcId="{03124F20-BE95-4AF4-BB13-FABF503744E6}" destId="{EC6D2FDB-F5EB-4609-8AD8-F3C93B94A9D3}" srcOrd="0" destOrd="0" presId="urn:microsoft.com/office/officeart/2005/8/layout/process3"/>
    <dgm:cxn modelId="{8C6A688D-F313-4B2A-838B-4EEC6B142727}" type="presParOf" srcId="{EC6D2FDB-F5EB-4609-8AD8-F3C93B94A9D3}" destId="{42CEEBA4-1378-4AF5-90B3-23A2D88490E9}" srcOrd="0" destOrd="0" presId="urn:microsoft.com/office/officeart/2005/8/layout/process3"/>
    <dgm:cxn modelId="{58B0B9A7-7CBD-4D83-9380-C1AEDA5CF52A}" type="presParOf" srcId="{EC6D2FDB-F5EB-4609-8AD8-F3C93B94A9D3}" destId="{2F28E15F-C463-4A97-A02E-B468DB006C48}" srcOrd="1" destOrd="0" presId="urn:microsoft.com/office/officeart/2005/8/layout/process3"/>
    <dgm:cxn modelId="{BB3876E3-CFD3-4D50-AC41-1B384B99355C}" type="presParOf" srcId="{EC6D2FDB-F5EB-4609-8AD8-F3C93B94A9D3}" destId="{ADD3AE7F-21AA-45B5-9626-51D4168ADC97}" srcOrd="2" destOrd="0" presId="urn:microsoft.com/office/officeart/2005/8/layout/process3"/>
    <dgm:cxn modelId="{2FC108C4-2B9C-4E01-AB00-674EB398C545}" type="presParOf" srcId="{03124F20-BE95-4AF4-BB13-FABF503744E6}" destId="{5DCCC56C-82FA-496D-A27C-E92CDD6B587F}" srcOrd="1" destOrd="0" presId="urn:microsoft.com/office/officeart/2005/8/layout/process3"/>
    <dgm:cxn modelId="{FE0FBC44-90CB-49D8-ABE3-5F9ADE4950E2}" type="presParOf" srcId="{5DCCC56C-82FA-496D-A27C-E92CDD6B587F}" destId="{CF028978-9137-4291-926F-A290C98A4E9A}" srcOrd="0" destOrd="0" presId="urn:microsoft.com/office/officeart/2005/8/layout/process3"/>
    <dgm:cxn modelId="{95517E44-D426-4DFF-AE5C-E6E9A34022BE}" type="presParOf" srcId="{03124F20-BE95-4AF4-BB13-FABF503744E6}" destId="{D824E52D-6C6F-428E-9EE3-BDBFB3E2FDB7}" srcOrd="2" destOrd="0" presId="urn:microsoft.com/office/officeart/2005/8/layout/process3"/>
    <dgm:cxn modelId="{94175DB4-F164-485B-BCDF-4F5167406DCF}" type="presParOf" srcId="{D824E52D-6C6F-428E-9EE3-BDBFB3E2FDB7}" destId="{D7E26F22-B107-441F-91C8-C2BAF2213382}" srcOrd="0" destOrd="0" presId="urn:microsoft.com/office/officeart/2005/8/layout/process3"/>
    <dgm:cxn modelId="{910F243D-EEA6-46F4-98AD-AB47E8024EC4}" type="presParOf" srcId="{D824E52D-6C6F-428E-9EE3-BDBFB3E2FDB7}" destId="{58A36FA2-C369-4F6B-9E66-F573CE9937C7}" srcOrd="1" destOrd="0" presId="urn:microsoft.com/office/officeart/2005/8/layout/process3"/>
    <dgm:cxn modelId="{93CF0CC5-0A8A-48AA-A4CE-5991A217B62F}" type="presParOf" srcId="{D824E52D-6C6F-428E-9EE3-BDBFB3E2FDB7}" destId="{91B2C4FF-5229-419A-8888-2858F92609F6}" srcOrd="2" destOrd="0" presId="urn:microsoft.com/office/officeart/2005/8/layout/process3"/>
    <dgm:cxn modelId="{DE58D759-8CAB-40FA-870B-7385BDA2C1CD}" type="presParOf" srcId="{03124F20-BE95-4AF4-BB13-FABF503744E6}" destId="{2375B698-2873-448F-B324-CD4F680EB8CA}" srcOrd="3" destOrd="0" presId="urn:microsoft.com/office/officeart/2005/8/layout/process3"/>
    <dgm:cxn modelId="{DE957BDA-A020-4BF3-B86E-21148D9DA1FB}" type="presParOf" srcId="{2375B698-2873-448F-B324-CD4F680EB8CA}" destId="{F3862587-3509-442D-A6F0-110B0E5EC7B2}" srcOrd="0" destOrd="0" presId="urn:microsoft.com/office/officeart/2005/8/layout/process3"/>
    <dgm:cxn modelId="{07F1709C-9024-49B4-8FE9-0891712E8B60}" type="presParOf" srcId="{03124F20-BE95-4AF4-BB13-FABF503744E6}" destId="{E0F15CA8-39A9-45AB-96B7-41954EE0801B}" srcOrd="4" destOrd="0" presId="urn:microsoft.com/office/officeart/2005/8/layout/process3"/>
    <dgm:cxn modelId="{8050325E-CF12-49F6-93EF-E6E1ACA35664}" type="presParOf" srcId="{E0F15CA8-39A9-45AB-96B7-41954EE0801B}" destId="{2FBFA388-BE05-44CE-B01B-779EB17B0BF7}" srcOrd="0" destOrd="0" presId="urn:microsoft.com/office/officeart/2005/8/layout/process3"/>
    <dgm:cxn modelId="{CB045D79-7A9E-4196-B0EA-715D5E6A1BE2}" type="presParOf" srcId="{E0F15CA8-39A9-45AB-96B7-41954EE0801B}" destId="{48D3CB30-4DA4-4350-B7A4-3E648F2EB227}" srcOrd="1" destOrd="0" presId="urn:microsoft.com/office/officeart/2005/8/layout/process3"/>
    <dgm:cxn modelId="{15E0BB28-B38D-4F17-981C-9173E4E7DEB4}" type="presParOf" srcId="{E0F15CA8-39A9-45AB-96B7-41954EE0801B}" destId="{65612ED5-8892-45FF-B158-3CE141D796A7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8E15F-C463-4A97-A02E-B468DB006C48}">
      <dsp:nvSpPr>
        <dsp:cNvPr id="0" name=""/>
        <dsp:cNvSpPr/>
      </dsp:nvSpPr>
      <dsp:spPr>
        <a:xfrm>
          <a:off x="2010" y="1437741"/>
          <a:ext cx="2534703" cy="8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Input</a:t>
          </a:r>
          <a:endParaRPr lang="en-US" sz="1900" kern="1200" dirty="0"/>
        </a:p>
      </dsp:txBody>
      <dsp:txXfrm>
        <a:off x="2010" y="1437741"/>
        <a:ext cx="2534703" cy="576000"/>
      </dsp:txXfrm>
    </dsp:sp>
    <dsp:sp modelId="{ADD3AE7F-21AA-45B5-9626-51D4168ADC97}">
      <dsp:nvSpPr>
        <dsp:cNvPr id="0" name=""/>
        <dsp:cNvSpPr/>
      </dsp:nvSpPr>
      <dsp:spPr>
        <a:xfrm>
          <a:off x="453451" y="2134597"/>
          <a:ext cx="2670132" cy="14862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Uitkomstenruimte </a:t>
          </a:r>
          <a14:m xmlns:a14="http://schemas.microsoft.com/office/drawing/2010/main">
            <m:oMath xmlns:m="http://schemas.openxmlformats.org/officeDocument/2006/math">
              <m:r>
                <a:rPr lang="en-US" sz="1900" b="0" i="1" kern="1200" smtClean="0">
                  <a:latin typeface="Cambria Math" panose="02040503050406030204" pitchFamily="18" charset="0"/>
                </a:rPr>
                <m:t>𝑆</m:t>
              </m:r>
            </m:oMath>
          </a14:m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Onderliggende </a:t>
          </a:r>
          <a:r>
            <a:rPr lang="en-US" sz="1900" kern="1200" dirty="0" err="1" smtClean="0"/>
            <a:t>kansverdeling</a:t>
          </a:r>
          <a:r>
            <a:rPr lang="en-US" sz="1900" kern="1200" dirty="0" smtClean="0"/>
            <a:t> over </a:t>
          </a:r>
          <a14:m xmlns:a14="http://schemas.microsoft.com/office/drawing/2010/main">
            <m:oMath xmlns:m="http://schemas.openxmlformats.org/officeDocument/2006/math">
              <m:r>
                <a:rPr lang="en-US" sz="1900" b="0" i="1" kern="1200" smtClean="0">
                  <a:latin typeface="Cambria Math" panose="02040503050406030204" pitchFamily="18" charset="0"/>
                </a:rPr>
                <m:t>𝑆</m:t>
              </m:r>
            </m:oMath>
          </a14:m>
          <a:endParaRPr lang="en-US" sz="1900" kern="1200" dirty="0"/>
        </a:p>
      </dsp:txBody>
      <dsp:txXfrm>
        <a:off x="496983" y="2178129"/>
        <a:ext cx="2583068" cy="1399223"/>
      </dsp:txXfrm>
    </dsp:sp>
    <dsp:sp modelId="{5DCCC56C-82FA-496D-A27C-E92CDD6B587F}">
      <dsp:nvSpPr>
        <dsp:cNvPr id="0" name=""/>
        <dsp:cNvSpPr/>
      </dsp:nvSpPr>
      <dsp:spPr>
        <a:xfrm rot="46984">
          <a:off x="2949969" y="1439166"/>
          <a:ext cx="876270" cy="631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2949978" y="1564085"/>
        <a:ext cx="686950" cy="378641"/>
      </dsp:txXfrm>
    </dsp:sp>
    <dsp:sp modelId="{58A36FA2-C369-4F6B-9E66-F573CE9937C7}">
      <dsp:nvSpPr>
        <dsp:cNvPr id="0" name=""/>
        <dsp:cNvSpPr/>
      </dsp:nvSpPr>
      <dsp:spPr>
        <a:xfrm>
          <a:off x="4189899" y="1494981"/>
          <a:ext cx="2534703" cy="8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Experiment </a:t>
          </a:r>
          <a:endParaRPr lang="en-US" sz="1900" kern="1200" dirty="0"/>
        </a:p>
      </dsp:txBody>
      <dsp:txXfrm>
        <a:off x="4189899" y="1494981"/>
        <a:ext cx="2534703" cy="576000"/>
      </dsp:txXfrm>
    </dsp:sp>
    <dsp:sp modelId="{91B2C4FF-5229-419A-8888-2858F92609F6}">
      <dsp:nvSpPr>
        <dsp:cNvPr id="0" name=""/>
        <dsp:cNvSpPr/>
      </dsp:nvSpPr>
      <dsp:spPr>
        <a:xfrm>
          <a:off x="4660592" y="1953313"/>
          <a:ext cx="2534703" cy="1728000"/>
        </a:xfrm>
        <a:prstGeom prst="roundRect">
          <a:avLst>
            <a:gd name="adj" fmla="val 10000"/>
          </a:avLst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5B698-2873-448F-B324-CD4F680EB8CA}">
      <dsp:nvSpPr>
        <dsp:cNvPr id="0" name=""/>
        <dsp:cNvSpPr/>
      </dsp:nvSpPr>
      <dsp:spPr>
        <a:xfrm rot="3345">
          <a:off x="7098710" y="1469430"/>
          <a:ext cx="793106" cy="631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7098710" y="1595551"/>
        <a:ext cx="603786" cy="378641"/>
      </dsp:txXfrm>
    </dsp:sp>
    <dsp:sp modelId="{48D3CB30-4DA4-4350-B7A4-3E648F2EB227}">
      <dsp:nvSpPr>
        <dsp:cNvPr id="0" name=""/>
        <dsp:cNvSpPr/>
      </dsp:nvSpPr>
      <dsp:spPr>
        <a:xfrm>
          <a:off x="8221030" y="1498904"/>
          <a:ext cx="2534703" cy="8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Output</a:t>
          </a:r>
          <a:endParaRPr lang="en-US" sz="1900" kern="1200" dirty="0"/>
        </a:p>
      </dsp:txBody>
      <dsp:txXfrm>
        <a:off x="8221030" y="1498904"/>
        <a:ext cx="2534703" cy="576000"/>
      </dsp:txXfrm>
    </dsp:sp>
    <dsp:sp modelId="{65612ED5-8892-45FF-B158-3CE141D796A7}">
      <dsp:nvSpPr>
        <dsp:cNvPr id="0" name=""/>
        <dsp:cNvSpPr/>
      </dsp:nvSpPr>
      <dsp:spPr>
        <a:xfrm>
          <a:off x="8732303" y="2069098"/>
          <a:ext cx="2534703" cy="15736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err="1" smtClean="0"/>
            <a:t>Een</a:t>
          </a:r>
          <a:r>
            <a:rPr lang="en-US" sz="1900" kern="1200" dirty="0" smtClean="0"/>
            <a:t> van de </a:t>
          </a:r>
          <a:r>
            <a:rPr lang="en-US" sz="1900" kern="1200" dirty="0" err="1" smtClean="0"/>
            <a:t>mogelijke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uitkomsten</a:t>
          </a:r>
          <a:r>
            <a:rPr lang="en-US" sz="1900" kern="1200" dirty="0" smtClean="0"/>
            <a:t> (</a:t>
          </a:r>
          <a:r>
            <a:rPr lang="en-US" sz="1900" b="1" kern="1200" dirty="0" smtClean="0"/>
            <a:t>trekking</a:t>
          </a:r>
          <a:r>
            <a:rPr lang="en-US" sz="1900" kern="1200" dirty="0" smtClean="0"/>
            <a:t>)</a:t>
          </a:r>
          <a:endParaRPr lang="en-US" sz="1900" kern="1200" dirty="0"/>
        </a:p>
      </dsp:txBody>
      <dsp:txXfrm>
        <a:off x="8778393" y="2115188"/>
        <a:ext cx="2442523" cy="1481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6088"/>
            <a:ext cx="5867400" cy="414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3400" y="114300"/>
            <a:ext cx="2998788" cy="1460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33400" y="8951913"/>
            <a:ext cx="60198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nl-NL"/>
              <a:t>Eventuele voettekst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613525" y="8951913"/>
            <a:ext cx="2286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E1460D1F-5074-4EB0-BB4F-B8A7850CD942}" type="slidenum">
              <a:rPr lang="nl-NL"/>
              <a:pPr>
                <a:defRPr/>
              </a:pPr>
              <a:t>‹nr.›</a:t>
            </a:fld>
            <a:endParaRPr lang="nl-NL"/>
          </a:p>
        </p:txBody>
      </p:sp>
      <p:sp>
        <p:nvSpPr>
          <p:cNvPr id="32788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>
              <a:latin typeface="Arial" charset="0"/>
            </a:endParaRPr>
          </a:p>
        </p:txBody>
      </p:sp>
      <p:sp>
        <p:nvSpPr>
          <p:cNvPr id="32789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7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7675"/>
            <a:ext cx="5867400" cy="4127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1813" y="114300"/>
            <a:ext cx="2998787" cy="147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50825" y="933450"/>
            <a:ext cx="6280150" cy="3533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648200"/>
            <a:ext cx="4724400" cy="38449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Klik om het opmaakprofiel van de modeltekst te bewerken</a:t>
            </a:r>
          </a:p>
          <a:p>
            <a:pPr lvl="1"/>
            <a:r>
              <a:rPr lang="en-US" noProof="0" smtClean="0"/>
              <a:t>Tweede niveau</a:t>
            </a:r>
          </a:p>
          <a:p>
            <a:pPr lvl="2"/>
            <a:r>
              <a:rPr lang="en-US" noProof="0" smtClean="0"/>
              <a:t>Derde niveau</a:t>
            </a:r>
          </a:p>
          <a:p>
            <a:pPr lvl="3"/>
            <a:r>
              <a:rPr lang="en-US" noProof="0" smtClean="0"/>
              <a:t>Vierde niveau</a:t>
            </a:r>
          </a:p>
          <a:p>
            <a:pPr lvl="4"/>
            <a:r>
              <a:rPr lang="en-US" noProof="0" smtClean="0"/>
              <a:t>Vijfde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31813" y="8951913"/>
            <a:ext cx="60975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Eventuele voettekst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615113" y="8951913"/>
            <a:ext cx="2301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9FC98DC9-4F28-4B39-8B6E-408133FC7853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5139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>
              <a:latin typeface="Arial" charset="0"/>
            </a:endParaRPr>
          </a:p>
        </p:txBody>
      </p:sp>
      <p:sp>
        <p:nvSpPr>
          <p:cNvPr id="5140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627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190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381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571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762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07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Cumulatief</a:t>
            </a:r>
            <a:r>
              <a:rPr lang="nl-NL" baseline="0" dirty="0" smtClean="0"/>
              <a:t> = “vanaf het begin bij elkaar opgeteld”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53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De toegevoegde waarde wordt</a:t>
            </a:r>
            <a:r>
              <a:rPr lang="nl-NL" baseline="0" dirty="0" smtClean="0"/>
              <a:t> helemaal evident zodra het aantal uitkomsten in de uitkomstenruimte steeds groter wordt.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81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Cumulatief</a:t>
            </a:r>
            <a:r>
              <a:rPr lang="nl-NL" baseline="0" dirty="0" smtClean="0"/>
              <a:t> = “vanaf het begin bij elkaar opgeteld”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01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Vraag</a:t>
            </a:r>
            <a:r>
              <a:rPr lang="nl-NL" baseline="0" dirty="0" smtClean="0"/>
              <a:t> aan de klas: is de verwachtingswaarde een waarde die altijd tot de uitkomstenruimte behoort?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78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notiti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 eaLnBrk="1" fontAlgn="t" latinLnBrk="0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u="none" strike="noStrike" kern="12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𝒌</m:t>
                      </m:r>
                    </m:oMath>
                  </m:oMathPara>
                </a14:m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1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2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3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4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5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6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7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8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9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lang="en-US" sz="1000" b="0" i="1" u="none" strike="noStrike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1000" b="0" i="1" u="none" strike="noStrike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e>
                      </m:d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𝑋</m:t>
                      </m:r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𝑘</m:t>
                      </m:r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0.10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0.09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0.12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0.07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0.15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0.09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0.08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0.07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0.10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0.13</a:t>
                </a:r>
              </a:p>
              <a:p>
                <a:pPr rtl="0" eaLnBrk="1" fontAlgn="t" latinLnBrk="0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lang="en-US" sz="1000" b="0" i="1" u="none" strike="noStrike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1000" b="0" i="1" u="none" strike="noStrike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e>
                      </m:d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𝑋</m:t>
                      </m:r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</m:t>
                      </m:r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𝑘</m:t>
                      </m:r>
                      <m:r>
                        <a:rPr lang="en-US" sz="1000" b="0" i="1" u="none" strike="noStrike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0.10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0.19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0.31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0.38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0.53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0.62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0.70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0.77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0.87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1</a:t>
                </a:r>
              </a:p>
            </p:txBody>
          </p:sp>
        </mc:Choice>
        <mc:Fallback xmlns="">
          <p:sp>
            <p:nvSpPr>
              <p:cNvPr id="3" name="Tijdelijke aanduiding voor notiti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 eaLnBrk="1" fontAlgn="t" latinLnBrk="0" hangingPunct="1"/>
                <a:r>
                  <a:rPr lang="en-US" sz="1000" b="1" i="0" u="none" strike="noStrike" kern="1200" smtClean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𝒌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1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2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3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4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5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6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7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8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1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9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0" i="0" u="none" strike="noStrike" kern="120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𝑝(𝑘)=𝑃(𝑋=𝑘)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0.10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0.09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0.12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0.07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0.15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0.09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0.08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0.07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0.10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0.13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𝐹(𝑘)=𝑃(𝑋≤𝑘)</a:t>
                </a:r>
                <a:endParaRPr lang="en-US" sz="1000" b="0" i="0" u="none" strike="noStrike" kern="1200" dirty="0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+mn-cs"/>
                </a:endParaRP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0.10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0.19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0.31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0.38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0.53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0.62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0.70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0.77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0.87</a:t>
                </a:r>
              </a:p>
              <a:p>
                <a:pPr rtl="0" eaLnBrk="1" fontAlgn="t" latinLnBrk="0" hangingPunct="1"/>
                <a:r>
                  <a:rPr lang="en-US" sz="1000" b="0" i="0" u="none" strike="noStrike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1</a:t>
                </a:r>
              </a:p>
            </p:txBody>
          </p:sp>
        </mc:Fallback>
      </mc:AlternateContent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8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Dr. ir. Danny Blom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Nederlandse Defensie Academie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pPr lvl="0"/>
            <a:endParaRPr lang="nl-NL" noProof="0" dirty="0" smtClean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  <a:endParaRPr lang="nl-NL" noProof="0" dirty="0" smtClean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  <p:sp>
        <p:nvSpPr>
          <p:cNvPr id="5" name="Rechthoek 4"/>
          <p:cNvSpPr/>
          <p:nvPr userDrawn="1"/>
        </p:nvSpPr>
        <p:spPr bwMode="auto">
          <a:xfrm>
            <a:off x="5951984" y="6381328"/>
            <a:ext cx="1656184" cy="36004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Nederlandse Defensie Academie</a:t>
            </a: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Dr. ir. D. Blom / Dr. M. van Ee</a:t>
            </a: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1700213"/>
            <a:ext cx="4798484" cy="889000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 smtClean="0"/>
              <a:t>Klik om de stijl te bewerken</a:t>
            </a:r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smtClean="0"/>
              <a:t>Klik om de ondertitelstijl van het model te bewerken</a:t>
            </a:r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 smtClean="0"/>
              <a:t>college 2: datavisualisatie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265751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2: datavisualisatie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22887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RijksoverheidSansText" panose="020B0503040202060203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2: datavisualisatie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008527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2: datavisualisatie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645278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Text" panose="020B05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2: datavisualisatie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76929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2: datavisualisatie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326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2: datavisualisatie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62874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>
                <a:latin typeface="RijksoverheidSansText" panose="020B0503040202060203" pitchFamily="34" charset="0"/>
              </a:defRPr>
            </a:lvl1pPr>
            <a:lvl2pPr>
              <a:defRPr sz="2800">
                <a:latin typeface="RijksoverheidSansText" panose="020B0503040202060203" pitchFamily="34" charset="0"/>
              </a:defRPr>
            </a:lvl2pPr>
            <a:lvl3pPr>
              <a:defRPr sz="2400">
                <a:latin typeface="RijksoverheidSansText" panose="020B0503040202060203" pitchFamily="34" charset="0"/>
              </a:defRPr>
            </a:lvl3pPr>
            <a:lvl4pPr>
              <a:defRPr sz="2000">
                <a:latin typeface="RijksoverheidSansText" panose="020B0503040202060203" pitchFamily="34" charset="0"/>
              </a:defRPr>
            </a:lvl4pPr>
            <a:lvl5pPr>
              <a:defRPr sz="2000">
                <a:latin typeface="RijksoverheidSansText" panose="020B050304020206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2: datavisualisatie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8029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>
                <a:latin typeface="RijksoverheidSansText" panose="020B050304020206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nl-NL" noProof="0" dirty="0" smtClean="0"/>
              <a:t>Klik op het pictogram als u een afbeelding wilt toevoegen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2: datavisualisatie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50992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2: datavisualisatie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12312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579369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College 2: Statistiek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5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 MBW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 smtClean="0"/>
              <a:t>college 2: datavisualisatie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869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1.png"/><Relationship Id="rId4" Type="http://schemas.openxmlformats.org/officeDocument/2006/relationships/image" Target="../media/image1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9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pTitel"/>
          <p:cNvSpPr>
            <a:spLocks noGrp="1" noChangeArrowheads="1"/>
          </p:cNvSpPr>
          <p:nvPr>
            <p:ph type="title"/>
          </p:nvPr>
        </p:nvSpPr>
        <p:spPr>
          <a:xfrm>
            <a:off x="6457951" y="2097087"/>
            <a:ext cx="5040000" cy="492443"/>
          </a:xfrm>
        </p:spPr>
        <p:txBody>
          <a:bodyPr anchor="t" anchorCtr="0"/>
          <a:lstStyle/>
          <a:p>
            <a:r>
              <a:rPr lang="en-US" dirty="0" err="1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Statistiek</a:t>
            </a:r>
            <a:r>
              <a:rPr lang="en-US" dirty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: college </a:t>
            </a:r>
            <a:r>
              <a:rPr lang="en-US" dirty="0" smtClean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2</a:t>
            </a:r>
            <a:endParaRPr lang="nl-NL" dirty="0" smtClean="0">
              <a:solidFill>
                <a:srgbClr val="113652"/>
              </a:solidFill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p:sp>
        <p:nvSpPr>
          <p:cNvPr id="4099" name="shpTekst"/>
          <p:cNvSpPr>
            <a:spLocks noGrp="1" noChangeArrowheads="1"/>
          </p:cNvSpPr>
          <p:nvPr>
            <p:ph type="body" idx="1"/>
          </p:nvPr>
        </p:nvSpPr>
        <p:spPr>
          <a:xfrm>
            <a:off x="6458400" y="3236400"/>
            <a:ext cx="5040000" cy="986400"/>
          </a:xfrm>
        </p:spPr>
        <p:txBody>
          <a:bodyPr/>
          <a:lstStyle/>
          <a:p>
            <a:pPr eaLnBrk="1" hangingPunct="1"/>
            <a:r>
              <a:rPr lang="nl-NL" dirty="0" smtClean="0">
                <a:solidFill>
                  <a:srgbClr val="113652"/>
                </a:solidFill>
                <a:latin typeface="RijksoverheidSansText" panose="020B0503040202060203" pitchFamily="34" charset="0"/>
              </a:rPr>
              <a:t>Discrete </a:t>
            </a:r>
            <a:r>
              <a:rPr lang="nl-NL" dirty="0" err="1" smtClean="0">
                <a:solidFill>
                  <a:srgbClr val="113652"/>
                </a:solidFill>
                <a:latin typeface="RijksoverheidSansText" panose="020B0503040202060203" pitchFamily="34" charset="0"/>
              </a:rPr>
              <a:t>kansvariabelen</a:t>
            </a:r>
            <a:endParaRPr lang="nl-NL" dirty="0" smtClean="0">
              <a:solidFill>
                <a:srgbClr val="113652"/>
              </a:solidFill>
              <a:latin typeface="RijksoverheidSansText" panose="020B0503040202060203" pitchFamily="34" charset="0"/>
            </a:endParaRPr>
          </a:p>
        </p:txBody>
      </p:sp>
      <p:sp>
        <p:nvSpPr>
          <p:cNvPr id="4100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28 april 2026</a:t>
            </a:r>
          </a:p>
        </p:txBody>
      </p:sp>
    </p:spTree>
    <p:extLst>
      <p:ext uri="{BB962C8B-B14F-4D97-AF65-F5344CB8AC3E}">
        <p14:creationId xmlns:p14="http://schemas.microsoft.com/office/powerpoint/2010/main" val="245531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Recap: </a:t>
            </a:r>
            <a:r>
              <a:rPr lang="en-US" b="1" dirty="0" err="1" smtClean="0"/>
              <a:t>vorige</a:t>
            </a:r>
            <a:r>
              <a:rPr lang="en-US" b="1" dirty="0" smtClean="0"/>
              <a:t> week</a:t>
            </a:r>
            <a:endParaRPr lang="nl-NL" b="1" dirty="0" smtClean="0"/>
          </a:p>
        </p:txBody>
      </p:sp>
      <p:sp>
        <p:nvSpPr>
          <p:cNvPr id="5123" name="Rectangle 1027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 anchor="t" anchorCtr="0"/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 err="1" smtClean="0"/>
              <a:t>Inleiding</a:t>
            </a:r>
            <a:r>
              <a:rPr lang="en-US" sz="2400" dirty="0" smtClean="0"/>
              <a:t> </a:t>
            </a:r>
            <a:r>
              <a:rPr lang="en-US" sz="2400" dirty="0" err="1" smtClean="0"/>
              <a:t>statistiek</a:t>
            </a:r>
            <a:r>
              <a:rPr lang="en-US" sz="2400" dirty="0" smtClean="0"/>
              <a:t>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Fundamentele</a:t>
            </a:r>
            <a:r>
              <a:rPr lang="en-US" sz="2000" dirty="0" smtClean="0"/>
              <a:t> </a:t>
            </a:r>
            <a:r>
              <a:rPr lang="en-US" sz="2000" dirty="0" err="1" smtClean="0"/>
              <a:t>begrippen</a:t>
            </a:r>
            <a:r>
              <a:rPr lang="en-US" sz="2000" dirty="0" smtClean="0"/>
              <a:t>: </a:t>
            </a:r>
            <a:r>
              <a:rPr lang="en-US" sz="2000" dirty="0" err="1" smtClean="0"/>
              <a:t>populatie</a:t>
            </a:r>
            <a:r>
              <a:rPr lang="en-US" sz="2000" dirty="0"/>
              <a:t> </a:t>
            </a:r>
            <a:r>
              <a:rPr lang="en-US" sz="2000" dirty="0" smtClean="0"/>
              <a:t>&amp; </a:t>
            </a:r>
            <a:r>
              <a:rPr lang="en-US" sz="2000" dirty="0" err="1" smtClean="0"/>
              <a:t>steekproef</a:t>
            </a:r>
            <a:r>
              <a:rPr lang="en-US" sz="2000" dirty="0" smtClean="0"/>
              <a:t>, </a:t>
            </a:r>
            <a:r>
              <a:rPr lang="en-US" sz="2000" dirty="0" err="1" smtClean="0"/>
              <a:t>representativiteit</a:t>
            </a:r>
            <a:r>
              <a:rPr lang="en-US" sz="2000" dirty="0" smtClean="0"/>
              <a:t>, bias, </a:t>
            </a:r>
            <a:r>
              <a:rPr lang="en-US" sz="2000" dirty="0" err="1" smtClean="0"/>
              <a:t>meetniveaus</a:t>
            </a:r>
            <a:r>
              <a:rPr lang="en-US" sz="2000" dirty="0" smtClean="0"/>
              <a:t>, </a:t>
            </a:r>
            <a:r>
              <a:rPr lang="en-US" sz="2000" dirty="0" err="1" smtClean="0"/>
              <a:t>maten</a:t>
            </a:r>
            <a:r>
              <a:rPr lang="en-US" sz="2000" dirty="0" smtClean="0"/>
              <a:t> van </a:t>
            </a:r>
            <a:r>
              <a:rPr lang="en-US" sz="2000" dirty="0" err="1" smtClean="0"/>
              <a:t>ligging</a:t>
            </a:r>
            <a:r>
              <a:rPr lang="en-US" sz="2000" dirty="0" smtClean="0"/>
              <a:t> </a:t>
            </a:r>
            <a:r>
              <a:rPr lang="en-US" sz="2000" dirty="0" err="1" smtClean="0"/>
              <a:t>en</a:t>
            </a:r>
            <a:r>
              <a:rPr lang="en-US" sz="2000" dirty="0" smtClean="0"/>
              <a:t> </a:t>
            </a:r>
            <a:r>
              <a:rPr lang="en-US" sz="2000" dirty="0" err="1" smtClean="0"/>
              <a:t>spreiding</a:t>
            </a:r>
            <a:endParaRPr lang="en-US" sz="2000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 err="1" smtClean="0"/>
              <a:t>Datavisualisatie</a:t>
            </a:r>
            <a:endParaRPr lang="en-US" sz="2400" dirty="0" smtClean="0"/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nl-NL" sz="2000" dirty="0" smtClean="0"/>
              <a:t>Meest voorkomende datavisualisaties (staafdiagram, histogram, </a:t>
            </a:r>
            <a:r>
              <a:rPr lang="nl-NL" sz="2000" dirty="0" err="1" smtClean="0"/>
              <a:t>boxplot</a:t>
            </a:r>
            <a:r>
              <a:rPr lang="nl-NL" sz="2000" dirty="0" smtClean="0"/>
              <a:t>, spreidingsdiagram)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nl-NL" sz="2000" dirty="0" smtClean="0"/>
              <a:t>Kiezen op basis van meetniveaus en visualisatiedoel</a:t>
            </a:r>
            <a:endParaRPr lang="en-US" sz="2000" dirty="0" smtClean="0"/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nl-NL" sz="2000" dirty="0" smtClean="0"/>
              <a:t>Waar op letten bij misleidende visualisaties?</a:t>
            </a:r>
            <a:endParaRPr lang="en-US" sz="2000" dirty="0" smtClean="0"/>
          </a:p>
        </p:txBody>
      </p:sp>
      <p:sp>
        <p:nvSpPr>
          <p:cNvPr id="5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p:sp>
        <p:nvSpPr>
          <p:cNvPr id="2" name="Rechthoek 1"/>
          <p:cNvSpPr/>
          <p:nvPr/>
        </p:nvSpPr>
        <p:spPr bwMode="auto">
          <a:xfrm>
            <a:off x="5951984" y="6381328"/>
            <a:ext cx="1656184" cy="36004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 </a:t>
            </a:r>
            <a:r>
              <a:rPr lang="en-US" b="1" dirty="0" err="1" smtClean="0"/>
              <a:t>Leerdoelen</a:t>
            </a:r>
            <a:endParaRPr lang="nl-NL" b="1" dirty="0" smtClean="0"/>
          </a:p>
        </p:txBody>
      </p:sp>
      <p:sp>
        <p:nvSpPr>
          <p:cNvPr id="5123" name="Rectangle 1027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 anchor="t" anchorCtr="0"/>
          <a:lstStyle/>
          <a:p>
            <a:pPr eaLnBrk="1" hangingPunct="1">
              <a:spcBef>
                <a:spcPts val="1200"/>
              </a:spcBef>
            </a:pPr>
            <a:r>
              <a:rPr lang="nl-NL" dirty="0" smtClean="0"/>
              <a:t>Aan het einde van dit college kunnen jullie:</a:t>
            </a:r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nl-NL" dirty="0" smtClean="0"/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nl-NL" dirty="0" smtClean="0"/>
              <a:t>De eigenschappen van een discrete </a:t>
            </a:r>
            <a:r>
              <a:rPr lang="nl-NL" dirty="0" err="1" smtClean="0"/>
              <a:t>kansvariabele</a:t>
            </a:r>
            <a:r>
              <a:rPr lang="nl-NL" dirty="0" smtClean="0"/>
              <a:t> </a:t>
            </a:r>
            <a:r>
              <a:rPr lang="nl-NL" i="1" dirty="0" smtClean="0"/>
              <a:t>benoemen </a:t>
            </a:r>
            <a:r>
              <a:rPr lang="nl-NL" dirty="0" smtClean="0"/>
              <a:t>en van een gegeven variabele </a:t>
            </a:r>
            <a:r>
              <a:rPr lang="nl-NL" i="1" dirty="0" smtClean="0"/>
              <a:t>bepalen</a:t>
            </a:r>
            <a:r>
              <a:rPr lang="nl-NL" dirty="0" smtClean="0"/>
              <a:t> of deze discreet is.</a:t>
            </a:r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nl-NL" dirty="0" smtClean="0"/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nl-NL" dirty="0" smtClean="0"/>
              <a:t>Gegeven een </a:t>
            </a:r>
            <a:r>
              <a:rPr lang="nl-NL" dirty="0" err="1" smtClean="0"/>
              <a:t>kansfunctie</a:t>
            </a:r>
            <a:r>
              <a:rPr lang="nl-NL" dirty="0" smtClean="0"/>
              <a:t> of een cumulatieve verdelingsfunctie (CDF) kansen op specifieke uitkomsten en intervallen </a:t>
            </a:r>
            <a:r>
              <a:rPr lang="nl-NL" i="1" dirty="0" smtClean="0"/>
              <a:t>berekenen.</a:t>
            </a:r>
            <a:endParaRPr lang="nl-NL" dirty="0"/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nl-NL" dirty="0" smtClean="0"/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nl-NL" dirty="0" smtClean="0"/>
              <a:t>De verwacht</a:t>
            </a:r>
            <a:r>
              <a:rPr lang="en-US" dirty="0" err="1" smtClean="0"/>
              <a:t>ingswaarde</a:t>
            </a:r>
            <a:r>
              <a:rPr lang="en-US" dirty="0" smtClean="0"/>
              <a:t>, </a:t>
            </a:r>
            <a:r>
              <a:rPr lang="en-US" dirty="0" err="1" smtClean="0"/>
              <a:t>variantie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standaarddeviatie</a:t>
            </a:r>
            <a:r>
              <a:rPr lang="en-US" dirty="0" smtClean="0"/>
              <a:t> van </a:t>
            </a:r>
            <a:r>
              <a:rPr lang="en-US" dirty="0" err="1" smtClean="0"/>
              <a:t>een</a:t>
            </a:r>
            <a:r>
              <a:rPr lang="en-US" dirty="0" smtClean="0"/>
              <a:t> discrete </a:t>
            </a:r>
            <a:r>
              <a:rPr lang="en-US" dirty="0" err="1" smtClean="0"/>
              <a:t>kansvariabele</a:t>
            </a:r>
            <a:r>
              <a:rPr lang="en-US" dirty="0" smtClean="0"/>
              <a:t> </a:t>
            </a:r>
            <a:r>
              <a:rPr lang="en-US" i="1" dirty="0" err="1" smtClean="0"/>
              <a:t>uitrekenen</a:t>
            </a:r>
            <a:r>
              <a:rPr lang="en-US" dirty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de </a:t>
            </a:r>
            <a:r>
              <a:rPr lang="en-US" dirty="0" err="1" smtClean="0"/>
              <a:t>uitkomst</a:t>
            </a:r>
            <a:r>
              <a:rPr lang="en-US" dirty="0" smtClean="0"/>
              <a:t> </a:t>
            </a:r>
            <a:r>
              <a:rPr lang="en-US" dirty="0" err="1" smtClean="0"/>
              <a:t>hiervan</a:t>
            </a:r>
            <a:r>
              <a:rPr lang="en-US" dirty="0" smtClean="0"/>
              <a:t> </a:t>
            </a:r>
            <a:r>
              <a:rPr lang="en-US" dirty="0" err="1" smtClean="0"/>
              <a:t>inhoudelijk</a:t>
            </a:r>
            <a:r>
              <a:rPr lang="en-US" dirty="0" smtClean="0"/>
              <a:t> </a:t>
            </a:r>
            <a:r>
              <a:rPr lang="en-US" i="1" dirty="0" err="1" smtClean="0"/>
              <a:t>interpreteren</a:t>
            </a:r>
            <a:r>
              <a:rPr lang="en-US" i="1" dirty="0" smtClean="0"/>
              <a:t>.</a:t>
            </a:r>
            <a:r>
              <a:rPr lang="en-US" dirty="0" smtClean="0"/>
              <a:t> </a:t>
            </a:r>
            <a:endParaRPr lang="nl-NL" dirty="0" smtClean="0"/>
          </a:p>
        </p:txBody>
      </p:sp>
      <p:sp>
        <p:nvSpPr>
          <p:cNvPr id="6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p:sp>
        <p:nvSpPr>
          <p:cNvPr id="7" name="Rechthoek 6"/>
          <p:cNvSpPr/>
          <p:nvPr/>
        </p:nvSpPr>
        <p:spPr bwMode="auto">
          <a:xfrm>
            <a:off x="5951984" y="6381328"/>
            <a:ext cx="1656184" cy="36004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37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Geschiedenis</a:t>
            </a:r>
            <a:r>
              <a:rPr lang="en-US" b="1" dirty="0" smtClean="0"/>
              <a:t> van de </a:t>
            </a:r>
            <a:r>
              <a:rPr lang="en-US" b="1" dirty="0" err="1" smtClean="0"/>
              <a:t>kansrekening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buNone/>
            </a:pPr>
            <a:r>
              <a:rPr lang="en-US" dirty="0" smtClean="0"/>
              <a:t>De </a:t>
            </a:r>
            <a:r>
              <a:rPr lang="en-US" dirty="0" err="1" smtClean="0"/>
              <a:t>eerste</a:t>
            </a:r>
            <a:r>
              <a:rPr lang="en-US" dirty="0" smtClean="0"/>
              <a:t> </a:t>
            </a:r>
            <a:r>
              <a:rPr lang="en-US" dirty="0" err="1" smtClean="0"/>
              <a:t>mensen</a:t>
            </a:r>
            <a:r>
              <a:rPr lang="en-US" dirty="0" smtClean="0"/>
              <a:t> die </a:t>
            </a:r>
            <a:r>
              <a:rPr lang="en-US" dirty="0" err="1" smtClean="0"/>
              <a:t>nadachten</a:t>
            </a:r>
            <a:r>
              <a:rPr lang="en-US" dirty="0" smtClean="0"/>
              <a:t> over de </a:t>
            </a:r>
            <a:r>
              <a:rPr lang="en-US" dirty="0" err="1" smtClean="0"/>
              <a:t>wiskunde</a:t>
            </a:r>
            <a:r>
              <a:rPr lang="en-US" dirty="0" smtClean="0"/>
              <a:t> van </a:t>
            </a:r>
            <a:r>
              <a:rPr lang="en-US" dirty="0" err="1" smtClean="0"/>
              <a:t>rekenen</a:t>
            </a:r>
            <a:r>
              <a:rPr lang="en-US" dirty="0" smtClean="0"/>
              <a:t> met </a:t>
            </a:r>
            <a:r>
              <a:rPr lang="en-US" dirty="0" err="1" smtClean="0"/>
              <a:t>kansen</a:t>
            </a:r>
            <a:r>
              <a:rPr lang="en-US" dirty="0" smtClean="0"/>
              <a:t>:</a:t>
            </a:r>
          </a:p>
          <a:p>
            <a:pPr lvl="1" indent="0">
              <a:lnSpc>
                <a:spcPct val="150000"/>
              </a:lnSpc>
              <a:buNone/>
            </a:pPr>
            <a:r>
              <a:rPr lang="en-US" i="1" dirty="0" smtClean="0"/>
              <a:t>“Hoe </a:t>
            </a:r>
            <a:r>
              <a:rPr lang="en-US" i="1" dirty="0" err="1" smtClean="0"/>
              <a:t>kan</a:t>
            </a:r>
            <a:r>
              <a:rPr lang="en-US" i="1" dirty="0" smtClean="0"/>
              <a:t> </a:t>
            </a:r>
            <a:r>
              <a:rPr lang="en-US" i="1" dirty="0" err="1" smtClean="0"/>
              <a:t>ik</a:t>
            </a:r>
            <a:r>
              <a:rPr lang="en-US" i="1" dirty="0" smtClean="0"/>
              <a:t> </a:t>
            </a:r>
            <a:r>
              <a:rPr lang="en-US" i="1" dirty="0" err="1" smtClean="0"/>
              <a:t>meer</a:t>
            </a:r>
            <a:r>
              <a:rPr lang="en-US" i="1" dirty="0" smtClean="0"/>
              <a:t> geld </a:t>
            </a:r>
            <a:r>
              <a:rPr lang="en-US" i="1" dirty="0" err="1" smtClean="0"/>
              <a:t>verdienen</a:t>
            </a:r>
            <a:r>
              <a:rPr lang="en-US" i="1" dirty="0" smtClean="0"/>
              <a:t> met </a:t>
            </a:r>
            <a:r>
              <a:rPr lang="en-US" i="1" dirty="0" err="1" smtClean="0"/>
              <a:t>dobbel</a:t>
            </a:r>
            <a:r>
              <a:rPr lang="en-US" i="1" dirty="0" smtClean="0"/>
              <a:t>- </a:t>
            </a:r>
            <a:r>
              <a:rPr lang="en-US" i="1" dirty="0" err="1" smtClean="0"/>
              <a:t>en</a:t>
            </a:r>
            <a:r>
              <a:rPr lang="en-US" i="1" dirty="0" smtClean="0"/>
              <a:t> </a:t>
            </a:r>
            <a:r>
              <a:rPr lang="en-US" i="1" dirty="0" err="1" smtClean="0"/>
              <a:t>kaartspellen</a:t>
            </a:r>
            <a:r>
              <a:rPr lang="en-US" i="1" dirty="0" smtClean="0"/>
              <a:t>?”</a:t>
            </a:r>
          </a:p>
          <a:p>
            <a:pPr lvl="1" indent="0">
              <a:lnSpc>
                <a:spcPct val="150000"/>
              </a:lnSpc>
              <a:buNone/>
            </a:pPr>
            <a:r>
              <a:rPr lang="en-US" b="1" i="1" dirty="0"/>
              <a:t>	</a:t>
            </a:r>
            <a:endParaRPr lang="en-US" b="1" i="1" dirty="0" smtClean="0"/>
          </a:p>
          <a:p>
            <a:pPr lvl="1" indent="0">
              <a:lnSpc>
                <a:spcPct val="150000"/>
              </a:lnSpc>
              <a:buNone/>
            </a:pPr>
            <a:endParaRPr lang="en-US" b="1" i="1" dirty="0"/>
          </a:p>
          <a:p>
            <a:pPr lvl="1" indent="0">
              <a:lnSpc>
                <a:spcPct val="150000"/>
              </a:lnSpc>
              <a:buNone/>
            </a:pPr>
            <a:endParaRPr lang="en-US" b="1" i="1" dirty="0" smtClean="0"/>
          </a:p>
          <a:p>
            <a:pPr lvl="1" indent="0">
              <a:lnSpc>
                <a:spcPct val="150000"/>
              </a:lnSpc>
              <a:buNone/>
            </a:pPr>
            <a:endParaRPr lang="en-US" b="1" i="1" dirty="0"/>
          </a:p>
          <a:p>
            <a:pPr lvl="1" indent="0">
              <a:lnSpc>
                <a:spcPct val="150000"/>
              </a:lnSpc>
              <a:buNone/>
            </a:pPr>
            <a:endParaRPr lang="en-US" b="1" i="1" dirty="0" smtClean="0"/>
          </a:p>
          <a:p>
            <a:pPr lvl="1" indent="0">
              <a:buNone/>
            </a:pPr>
            <a:r>
              <a:rPr lang="en-US" b="1" i="1" dirty="0"/>
              <a:t>	 </a:t>
            </a:r>
            <a:r>
              <a:rPr lang="en-US" b="1" i="1" dirty="0" smtClean="0"/>
              <a:t>      </a:t>
            </a:r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415480" y="335699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240" y="2997752"/>
            <a:ext cx="1554032" cy="2452571"/>
          </a:xfrm>
          <a:prstGeom prst="rect">
            <a:avLst/>
          </a:prstGeom>
        </p:spPr>
      </p:pic>
      <p:sp>
        <p:nvSpPr>
          <p:cNvPr id="3" name="AutoShape 2" descr="https://upload.wikimedia.org/wikipedia/commons/thumb/0/03/Cardano.jpg/260px-Cardano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2997752"/>
            <a:ext cx="2016224" cy="2452571"/>
          </a:xfrm>
          <a:prstGeom prst="rect">
            <a:avLst/>
          </a:prstGeom>
        </p:spPr>
      </p:pic>
      <p:sp>
        <p:nvSpPr>
          <p:cNvPr id="5" name="AutoShape 4" descr="undefine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1884480" y="5535097"/>
            <a:ext cx="23743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latin typeface="+mj-lt"/>
              </a:rPr>
              <a:t>Girolamo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Cardano</a:t>
            </a:r>
            <a:endParaRPr lang="en-US" dirty="0" smtClean="0">
              <a:latin typeface="+mj-lt"/>
            </a:endParaRPr>
          </a:p>
          <a:p>
            <a:pPr algn="ctr"/>
            <a:r>
              <a:rPr lang="en-US" dirty="0" smtClean="0">
                <a:latin typeface="+mj-lt"/>
              </a:rPr>
              <a:t>(1501 – 1576)</a:t>
            </a:r>
            <a:endParaRPr lang="nl-NL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79976" y="5535097"/>
            <a:ext cx="60486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Antoine </a:t>
            </a:r>
            <a:r>
              <a:rPr lang="en-US" dirty="0" err="1" smtClean="0">
                <a:latin typeface="+mj-lt"/>
              </a:rPr>
              <a:t>Gombaud</a:t>
            </a:r>
            <a:r>
              <a:rPr lang="en-US" dirty="0" smtClean="0">
                <a:latin typeface="+mj-lt"/>
              </a:rPr>
              <a:t>, Chevalier de </a:t>
            </a:r>
            <a:r>
              <a:rPr lang="en-US" dirty="0" err="1" smtClean="0">
                <a:latin typeface="+mj-lt"/>
              </a:rPr>
              <a:t>Méré</a:t>
            </a:r>
            <a:endParaRPr lang="en-US" dirty="0" smtClean="0">
              <a:latin typeface="+mj-lt"/>
            </a:endParaRPr>
          </a:p>
          <a:p>
            <a:pPr algn="ctr"/>
            <a:r>
              <a:rPr lang="en-US" dirty="0" smtClean="0">
                <a:latin typeface="+mj-lt"/>
              </a:rPr>
              <a:t>(1607 – 1684)</a:t>
            </a:r>
            <a:endParaRPr lang="nl-NL" dirty="0">
              <a:latin typeface="+mj-lt"/>
            </a:endParaRPr>
          </a:p>
        </p:txBody>
      </p:sp>
      <p:sp>
        <p:nvSpPr>
          <p:cNvPr id="12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2146046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Voorbeeld</a:t>
            </a:r>
            <a:r>
              <a:rPr lang="en-US" b="1" dirty="0" smtClean="0"/>
              <a:t>: </a:t>
            </a:r>
            <a:r>
              <a:rPr lang="en-US" b="1" dirty="0" err="1" smtClean="0"/>
              <a:t>worp</a:t>
            </a:r>
            <a:r>
              <a:rPr lang="en-US" b="1" dirty="0" smtClean="0"/>
              <a:t> met twee </a:t>
            </a:r>
            <a:r>
              <a:rPr lang="en-US" b="1" dirty="0" err="1" smtClean="0"/>
              <a:t>dobbelstenen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2775" y="1773238"/>
                <a:ext cx="11099849" cy="4246562"/>
              </a:xfrm>
            </p:spPr>
            <p:txBody>
              <a:bodyPr/>
              <a:lstStyle/>
              <a:p>
                <a:pPr marL="660400" lvl="1" indent="-285750"/>
                <a:r>
                  <a:rPr lang="en-US" dirty="0" err="1" smtClean="0"/>
                  <a:t>Dubbel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zes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i="1" dirty="0">
                        <a:latin typeface="Cambria Math" panose="02040503050406030204" pitchFamily="18" charset="0"/>
                      </a:rPr>
                      <m:t>(6, 6)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 smtClean="0"/>
                  <a:t>wordt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gerealiseerd</a:t>
                </a:r>
                <a:r>
                  <a:rPr lang="en-US" dirty="0" smtClean="0"/>
                  <a:t> met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en-US" dirty="0" smtClean="0"/>
                  <a:t>.</a:t>
                </a:r>
              </a:p>
              <a:p>
                <a:pPr marL="660400" lvl="1" indent="-285750"/>
                <a:endParaRPr lang="en-US" dirty="0" smtClean="0"/>
              </a:p>
              <a:p>
                <a:pPr marL="660400" lvl="1" indent="-285750"/>
                <a:r>
                  <a:rPr lang="nl-NL" dirty="0" smtClean="0"/>
                  <a:t>Een andere uitkomst wordt gerealiseerd met kans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en-US" dirty="0" smtClean="0"/>
                  <a:t>.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nl-NL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nl-NL" dirty="0" smtClean="0"/>
                  <a:t>Stel nu dat we niet één, maar 24 worpen van twee dobbelstenen nemen</a:t>
                </a:r>
                <a:r>
                  <a:rPr lang="nl-NL" dirty="0"/>
                  <a:t>:</a:t>
                </a:r>
                <a:endParaRPr lang="en-US" b="1" dirty="0" smtClean="0"/>
              </a:p>
              <a:p>
                <a:pPr marL="717550" lvl="1" indent="-342900"/>
                <a:r>
                  <a:rPr lang="en-US" b="1" dirty="0" smtClean="0"/>
                  <a:t>Chevalier de </a:t>
                </a:r>
                <a:r>
                  <a:rPr lang="en-US" b="1" dirty="0" err="1" smtClean="0"/>
                  <a:t>Méré</a:t>
                </a:r>
                <a:r>
                  <a:rPr lang="en-US" b="1" dirty="0"/>
                  <a:t>:</a:t>
                </a:r>
                <a:r>
                  <a:rPr lang="en-US" b="1" dirty="0" smtClean="0"/>
                  <a:t>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op </a:t>
                </a:r>
                <a:r>
                  <a:rPr lang="en-US" dirty="0" err="1" smtClean="0"/>
                  <a:t>minstens</a:t>
                </a:r>
                <a:r>
                  <a:rPr lang="en-US" dirty="0" smtClean="0"/>
                  <a:t> </a:t>
                </a:r>
                <a:r>
                  <a:rPr lang="en-US" dirty="0" err="1"/>
                  <a:t>één</a:t>
                </a:r>
                <a:r>
                  <a:rPr lang="en-US" dirty="0"/>
                  <a:t> </a:t>
                </a:r>
                <a:r>
                  <a:rPr lang="en-US" dirty="0" err="1" smtClean="0"/>
                  <a:t>dubbel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zes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bij</a:t>
                </a:r>
                <a:r>
                  <a:rPr lang="en-US" dirty="0" smtClean="0"/>
                  <a:t> 24 </a:t>
                </a:r>
                <a:r>
                  <a:rPr lang="en-US" dirty="0" err="1" smtClean="0"/>
                  <a:t>pogingen</a:t>
                </a:r>
                <a:r>
                  <a:rPr lang="en-US" dirty="0" smtClean="0"/>
                  <a:t> is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 smtClean="0"/>
                  <a:t>.</a:t>
                </a:r>
              </a:p>
              <a:p>
                <a:pPr marL="717550" lvl="1" indent="-342900"/>
                <a:endParaRPr lang="en-US" b="1" dirty="0" smtClean="0"/>
              </a:p>
              <a:p>
                <a:pPr marL="717550" lvl="1" indent="-342900"/>
                <a:r>
                  <a:rPr lang="en-US" b="1" dirty="0" smtClean="0"/>
                  <a:t>Blaise Pascal (</a:t>
                </a:r>
                <a:r>
                  <a:rPr lang="en-US" b="1" dirty="0" err="1" smtClean="0"/>
                  <a:t>wiskundige</a:t>
                </a:r>
                <a:r>
                  <a:rPr lang="en-US" b="1" dirty="0" smtClean="0"/>
                  <a:t>):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klopt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niet</a:t>
                </a:r>
                <a:r>
                  <a:rPr lang="en-US" dirty="0" smtClean="0"/>
                  <a:t>, de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op </a:t>
                </a:r>
                <a:r>
                  <a:rPr lang="en-US" dirty="0" err="1" smtClean="0"/>
                  <a:t>minstens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één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dubbel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zes</a:t>
                </a:r>
                <a:r>
                  <a:rPr lang="en-US" dirty="0" smtClean="0"/>
                  <a:t> is</a:t>
                </a:r>
                <a:r>
                  <a:rPr lang="en-US" b="1" dirty="0" smtClean="0"/>
                  <a:t> </a:t>
                </a:r>
              </a:p>
              <a:p>
                <a:pPr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≥1 </m:t>
                          </m:r>
                          <m:r>
                            <m:rPr>
                              <m:sty m:val="p"/>
                            </m:rPr>
                            <a:rPr lang="nl-NL" b="0" i="0" smtClean="0">
                              <a:latin typeface="Cambria Math" panose="02040503050406030204" pitchFamily="18" charset="0"/>
                            </a:rPr>
                            <m:t>keer</m:t>
                          </m:r>
                          <m:r>
                            <a:rPr lang="nl-NL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nl-NL" b="0" i="0" smtClean="0">
                              <a:latin typeface="Cambria Math" panose="02040503050406030204" pitchFamily="18" charset="0"/>
                            </a:rPr>
                            <m:t>dubbel</m:t>
                          </m:r>
                          <m:r>
                            <a:rPr lang="nl-NL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nl-NL" b="0" i="0" smtClean="0">
                              <a:latin typeface="Cambria Math" panose="02040503050406030204" pitchFamily="18" charset="0"/>
                            </a:rPr>
                            <m:t>zes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0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m:rPr>
                              <m:sty m:val="p"/>
                            </m:rPr>
                            <a:rPr lang="nl-NL" b="0" i="0" smtClean="0">
                              <a:latin typeface="Cambria Math" panose="02040503050406030204" pitchFamily="18" charset="0"/>
                            </a:rPr>
                            <m:t>keer</m:t>
                          </m:r>
                          <m:r>
                            <a:rPr lang="nl-NL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nl-NL" b="0" i="0" smtClean="0">
                              <a:latin typeface="Cambria Math" panose="02040503050406030204" pitchFamily="18" charset="0"/>
                            </a:rPr>
                            <m:t>dubbel</m:t>
                          </m:r>
                          <m:r>
                            <a:rPr lang="nl-NL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nl-NL" b="0" i="0" smtClean="0">
                              <a:latin typeface="Cambria Math" panose="02040503050406030204" pitchFamily="18" charset="0"/>
                            </a:rPr>
                            <m:t>zes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35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491…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775" y="1773238"/>
                <a:ext cx="11099849" cy="4246562"/>
              </a:xfrm>
              <a:blipFill>
                <a:blip r:embed="rId2"/>
                <a:stretch>
                  <a:fillRect t="-574" b="-3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415480" y="335699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3" name="AutoShape 2" descr="https://upload.wikimedia.org/wikipedia/commons/thumb/0/03/Cardano.jpg/260px-Cardano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5" name="AutoShape 4" descr="undefine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8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46855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Voorbeeld</a:t>
            </a:r>
            <a:r>
              <a:rPr lang="en-US" b="1" dirty="0" smtClean="0"/>
              <a:t>: </a:t>
            </a:r>
            <a:r>
              <a:rPr lang="en-US" b="1" dirty="0" err="1" smtClean="0"/>
              <a:t>worp</a:t>
            </a:r>
            <a:r>
              <a:rPr lang="en-US" b="1" dirty="0" smtClean="0"/>
              <a:t> van twee </a:t>
            </a:r>
            <a:r>
              <a:rPr lang="en-US" b="1" dirty="0" err="1" smtClean="0"/>
              <a:t>dobbelstenen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127448" y="1829103"/>
                <a:ext cx="10897707" cy="4296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+mn-lt"/>
                  </a:rPr>
                  <a:t>Bij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worp</a:t>
                </a:r>
                <a:r>
                  <a:rPr lang="en-US" dirty="0" smtClean="0">
                    <a:latin typeface="+mn-lt"/>
                  </a:rPr>
                  <a:t> van twee </a:t>
                </a:r>
                <a:r>
                  <a:rPr lang="en-US" dirty="0" err="1" smtClean="0">
                    <a:latin typeface="+mn-lt"/>
                  </a:rPr>
                  <a:t>dobbelstenen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spelen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aantal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zaken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rol</a:t>
                </a:r>
                <a:r>
                  <a:rPr lang="en-US" dirty="0" smtClean="0">
                    <a:latin typeface="+mn-lt"/>
                  </a:rPr>
                  <a:t>:</a:t>
                </a:r>
              </a:p>
              <a:p>
                <a:endParaRPr lang="en-US" dirty="0" smtClean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>
                    <a:latin typeface="+mn-lt"/>
                  </a:rPr>
                  <a:t>Er</a:t>
                </a:r>
                <a:r>
                  <a:rPr lang="en-US" dirty="0" smtClean="0">
                    <a:latin typeface="+mn-lt"/>
                  </a:rPr>
                  <a:t> is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  <a:latin typeface="+mn-lt"/>
                  </a:rPr>
                  <a:t>uitkomstenruimte</a:t>
                </a:r>
                <a:r>
                  <a:rPr lang="en-US" dirty="0" smtClean="0">
                    <a:latin typeface="+mn-lt"/>
                  </a:rPr>
                  <a:t>, </a:t>
                </a:r>
                <a:r>
                  <a:rPr lang="en-US" dirty="0" err="1" smtClean="0">
                    <a:latin typeface="+mn-lt"/>
                  </a:rPr>
                  <a:t>namelijk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,…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6,4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6,5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6,6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nl-NL" dirty="0" smtClean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>
                    <a:latin typeface="+mn-lt"/>
                  </a:rPr>
                  <a:t>Er</a:t>
                </a:r>
                <a:r>
                  <a:rPr lang="en-US" dirty="0" smtClean="0">
                    <a:latin typeface="+mn-lt"/>
                  </a:rPr>
                  <a:t> is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onderliggende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  <a:latin typeface="+mn-lt"/>
                  </a:rPr>
                  <a:t>kansverdeling</a:t>
                </a:r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dirty="0" smtClean="0">
                    <a:latin typeface="+mn-lt"/>
                  </a:rPr>
                  <a:t>over </a:t>
                </a:r>
                <a:r>
                  <a:rPr lang="en-US" dirty="0" err="1" smtClean="0">
                    <a:latin typeface="+mn-lt"/>
                  </a:rPr>
                  <a:t>deze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verzameling</a:t>
                </a:r>
                <a:endParaRPr lang="en-US" dirty="0">
                  <a:latin typeface="+mn-lt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+mn-lt"/>
                  </a:rPr>
                  <a:t>Iedere </a:t>
                </a:r>
                <a:r>
                  <a:rPr lang="en-US" dirty="0" err="1" smtClean="0">
                    <a:latin typeface="+mn-lt"/>
                  </a:rPr>
                  <a:t>mogelijke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uitkomst</a:t>
                </a:r>
                <a:r>
                  <a:rPr lang="en-US" dirty="0" smtClean="0">
                    <a:latin typeface="+mn-lt"/>
                  </a:rPr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 smtClean="0">
                    <a:latin typeface="+mn-lt"/>
                  </a:rPr>
                  <a:t> wordt met </a:t>
                </a:r>
                <a:r>
                  <a:rPr lang="en-US" dirty="0" err="1" smtClean="0">
                    <a:latin typeface="+mn-lt"/>
                  </a:rPr>
                  <a:t>kans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en-US" dirty="0" smtClean="0">
                    <a:latin typeface="+mn-lt"/>
                  </a:rPr>
                  <a:t> gerealiseerd (</a:t>
                </a:r>
                <a:r>
                  <a:rPr lang="en-US" b="1" dirty="0" err="1" smtClean="0">
                    <a:latin typeface="+mn-lt"/>
                  </a:rPr>
                  <a:t>uniforme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verdeling</a:t>
                </a:r>
                <a:r>
                  <a:rPr lang="en-US" dirty="0" smtClean="0">
                    <a:latin typeface="+mn-lt"/>
                  </a:rPr>
                  <a:t>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>
                  <a:latin typeface="+mn-lt"/>
                </a:endParaRPr>
              </a:p>
              <a:p>
                <a:r>
                  <a:rPr lang="en-US" b="1" dirty="0" smtClean="0">
                    <a:latin typeface="+mn-lt"/>
                  </a:rPr>
                  <a:t>Van </a:t>
                </a:r>
                <a:r>
                  <a:rPr lang="en-US" b="1" dirty="0" err="1" smtClean="0">
                    <a:latin typeface="+mn-lt"/>
                  </a:rPr>
                  <a:t>tevoren</a:t>
                </a:r>
                <a:endParaRPr lang="en-US" b="1" dirty="0" smtClean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+mn-lt"/>
                  </a:rPr>
                  <a:t>Is </a:t>
                </a:r>
                <a:r>
                  <a:rPr lang="en-US" dirty="0" err="1" smtClean="0">
                    <a:latin typeface="+mn-lt"/>
                  </a:rPr>
                  <a:t>niet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te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voorspellen</a:t>
                </a:r>
                <a:r>
                  <a:rPr lang="en-US" dirty="0" smtClean="0">
                    <a:latin typeface="+mn-lt"/>
                  </a:rPr>
                  <a:t> wat de </a:t>
                </a:r>
                <a:r>
                  <a:rPr lang="en-US" dirty="0" err="1" smtClean="0">
                    <a:latin typeface="+mn-lt"/>
                  </a:rPr>
                  <a:t>uitkomst</a:t>
                </a:r>
                <a:r>
                  <a:rPr lang="en-US" dirty="0" smtClean="0">
                    <a:latin typeface="+mn-lt"/>
                  </a:rPr>
                  <a:t> van de </a:t>
                </a:r>
                <a:r>
                  <a:rPr lang="en-US" dirty="0" err="1" smtClean="0">
                    <a:latin typeface="+mn-lt"/>
                  </a:rPr>
                  <a:t>worp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gaat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zijn</a:t>
                </a:r>
                <a:r>
                  <a:rPr lang="en-US" dirty="0" smtClean="0">
                    <a:latin typeface="+mn-lt"/>
                  </a:rPr>
                  <a:t>!</a:t>
                </a: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r>
                  <a:rPr lang="en-US" b="1" dirty="0" err="1" smtClean="0">
                    <a:latin typeface="+mn-lt"/>
                  </a:rPr>
                  <a:t>Achteraf</a:t>
                </a:r>
                <a:r>
                  <a:rPr lang="en-US" b="1" dirty="0" smtClean="0">
                    <a:latin typeface="+mn-lt"/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>
                    <a:latin typeface="+mn-lt"/>
                  </a:rPr>
                  <a:t>precies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één</a:t>
                </a:r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mogelijke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uitkomst</a:t>
                </a:r>
                <a:r>
                  <a:rPr lang="en-US" dirty="0" smtClean="0">
                    <a:latin typeface="+mn-lt"/>
                  </a:rPr>
                  <a:t> uit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>
                    <a:latin typeface="+mn-lt"/>
                  </a:rPr>
                  <a:t>wordt gerealiseerd, </a:t>
                </a:r>
                <a:r>
                  <a:rPr lang="en-US" dirty="0" err="1" smtClean="0">
                    <a:latin typeface="+mn-lt"/>
                  </a:rPr>
                  <a:t>bv</a:t>
                </a:r>
                <a:r>
                  <a:rPr lang="en-US" dirty="0" smtClean="0">
                    <a:latin typeface="+mn-lt"/>
                  </a:rPr>
                  <a:t>.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(4, 2)</m:t>
                    </m:r>
                  </m:oMath>
                </a14:m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nl-NL" dirty="0" smtClean="0">
                    <a:latin typeface="+mn-lt"/>
                  </a:rPr>
                  <a:t> </a:t>
                </a:r>
                <a:r>
                  <a:rPr lang="nl-NL" b="1" dirty="0" smtClean="0">
                    <a:solidFill>
                      <a:schemeClr val="accent1"/>
                    </a:solidFill>
                    <a:latin typeface="+mn-lt"/>
                  </a:rPr>
                  <a:t>trekking</a:t>
                </a:r>
                <a:endParaRPr lang="nl-NL" b="1" dirty="0">
                  <a:solidFill>
                    <a:schemeClr val="accent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448" y="1829103"/>
                <a:ext cx="10897707" cy="4296625"/>
              </a:xfrm>
              <a:prstGeom prst="rect">
                <a:avLst/>
              </a:prstGeom>
              <a:blipFill>
                <a:blip r:embed="rId2"/>
                <a:stretch>
                  <a:fillRect l="-727" t="-993" b="-1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352" y="4005064"/>
            <a:ext cx="2598245" cy="1730462"/>
          </a:xfrm>
          <a:prstGeom prst="rect">
            <a:avLst/>
          </a:prstGeom>
        </p:spPr>
      </p:pic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375144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Diagram 9"/>
              <p:cNvGraphicFramePr/>
              <p:nvPr>
                <p:extLst>
                  <p:ext uri="{D42A27DB-BD31-4B8C-83A1-F6EECF244321}">
                    <p14:modId xmlns:p14="http://schemas.microsoft.com/office/powerpoint/2010/main" val="4020364875"/>
                  </p:ext>
                </p:extLst>
              </p:nvPr>
            </p:nvGraphicFramePr>
            <p:xfrm>
              <a:off x="539277" y="1265239"/>
              <a:ext cx="11269018" cy="505862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10" name="Diagram 9"/>
              <p:cNvGraphicFramePr/>
              <p:nvPr>
                <p:extLst>
                  <p:ext uri="{D42A27DB-BD31-4B8C-83A1-F6EECF244321}">
                    <p14:modId xmlns:p14="http://schemas.microsoft.com/office/powerpoint/2010/main" val="4020364875"/>
                  </p:ext>
                </p:extLst>
              </p:nvPr>
            </p:nvGraphicFramePr>
            <p:xfrm>
              <a:off x="539277" y="1265239"/>
              <a:ext cx="11269018" cy="505862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Kansexperiment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Rounded Rectangle 6"/>
          <p:cNvSpPr/>
          <p:nvPr/>
        </p:nvSpPr>
        <p:spPr bwMode="auto">
          <a:xfrm>
            <a:off x="2135560" y="4221088"/>
            <a:ext cx="1800200" cy="792088"/>
          </a:xfrm>
          <a:prstGeom prst="round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11824" y="3683175"/>
            <a:ext cx="367240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RijksoverheidSansText" panose="020B0503040202060203" pitchFamily="34" charset="0"/>
              </a:rPr>
              <a:t>Lab-experiment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RijksoverheidSansText" panose="020B0503040202060203" pitchFamily="34" charset="0"/>
              </a:rPr>
              <a:t>Meting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RijksoverheidSansText" panose="020B0503040202060203" pitchFamily="34" charset="0"/>
              </a:rPr>
              <a:t>Afname</a:t>
            </a:r>
            <a:r>
              <a:rPr lang="en-US" dirty="0" smtClean="0">
                <a:latin typeface="RijksoverheidSansText" panose="020B0503040202060203" pitchFamily="34" charset="0"/>
              </a:rPr>
              <a:t> van </a:t>
            </a:r>
            <a:r>
              <a:rPr lang="en-US" dirty="0" err="1" smtClean="0">
                <a:latin typeface="RijksoverheidSansText" panose="020B0503040202060203" pitchFamily="34" charset="0"/>
              </a:rPr>
              <a:t>een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enquête</a:t>
            </a:r>
            <a:endParaRPr lang="en-US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RijksoverheidSansText" panose="020B0503040202060203" pitchFamily="34" charset="0"/>
              </a:rPr>
              <a:t>Simulatie</a:t>
            </a:r>
            <a:endParaRPr lang="en-US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RijksoverheidSansText" panose="020B0503040202060203" pitchFamily="34" charset="0"/>
              </a:rPr>
              <a:t>…</a:t>
            </a:r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5400" y="5819050"/>
            <a:ext cx="118093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latin typeface="+mn-lt"/>
              </a:rPr>
              <a:t>Kansvariabele</a:t>
            </a:r>
            <a:r>
              <a:rPr lang="en-US" b="1" dirty="0" smtClean="0">
                <a:latin typeface="+mn-lt"/>
              </a:rPr>
              <a:t>: </a:t>
            </a:r>
            <a:r>
              <a:rPr lang="en-US" dirty="0" err="1" smtClean="0">
                <a:latin typeface="+mn-lt"/>
              </a:rPr>
              <a:t>aan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toeval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onderhevige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variabele</a:t>
            </a:r>
            <a:r>
              <a:rPr lang="en-US" dirty="0" smtClean="0">
                <a:latin typeface="+mn-lt"/>
              </a:rPr>
              <a:t> die </a:t>
            </a:r>
            <a:r>
              <a:rPr lang="en-US" dirty="0" err="1" smtClean="0">
                <a:latin typeface="+mn-lt"/>
              </a:rPr>
              <a:t>tijdens</a:t>
            </a:r>
            <a:r>
              <a:rPr lang="en-US" dirty="0" smtClean="0">
                <a:latin typeface="+mn-lt"/>
              </a:rPr>
              <a:t> het experiment </a:t>
            </a:r>
            <a:r>
              <a:rPr lang="en-US" dirty="0" err="1" smtClean="0">
                <a:latin typeface="+mn-lt"/>
              </a:rPr>
              <a:t>wordt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gemeten</a:t>
            </a:r>
            <a:r>
              <a:rPr lang="en-US" dirty="0" smtClean="0">
                <a:latin typeface="+mn-lt"/>
              </a:rPr>
              <a:t>.</a:t>
            </a:r>
            <a:endParaRPr lang="nl-NL" b="1" dirty="0">
              <a:latin typeface="+mn-lt"/>
            </a:endParaRPr>
          </a:p>
        </p:txBody>
      </p:sp>
      <p:sp>
        <p:nvSpPr>
          <p:cNvPr id="9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90022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Voorbeeld</a:t>
            </a:r>
            <a:r>
              <a:rPr lang="en-US" b="1" dirty="0" smtClean="0"/>
              <a:t>: </a:t>
            </a:r>
            <a:r>
              <a:rPr lang="en-US" b="1" dirty="0" err="1" smtClean="0"/>
              <a:t>worp</a:t>
            </a:r>
            <a:r>
              <a:rPr lang="en-US" b="1" dirty="0" smtClean="0"/>
              <a:t> van twee </a:t>
            </a:r>
            <a:r>
              <a:rPr lang="en-US" b="1" dirty="0" err="1" smtClean="0"/>
              <a:t>dobbelstenen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14917" y="1772816"/>
                <a:ext cx="10897707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+mn-lt"/>
                  </a:rPr>
                  <a:t>Vaak </a:t>
                </a:r>
                <a:r>
                  <a:rPr lang="en-US" dirty="0" err="1" smtClean="0">
                    <a:latin typeface="+mn-lt"/>
                  </a:rPr>
                  <a:t>bekijken</a:t>
                </a:r>
                <a:r>
                  <a:rPr lang="en-US" dirty="0" smtClean="0">
                    <a:latin typeface="+mn-lt"/>
                  </a:rPr>
                  <a:t> we </a:t>
                </a:r>
                <a:r>
                  <a:rPr lang="en-US" b="1" dirty="0" err="1" smtClean="0">
                    <a:solidFill>
                      <a:schemeClr val="accent1"/>
                    </a:solidFill>
                    <a:latin typeface="+mn-lt"/>
                  </a:rPr>
                  <a:t>gebeurtenissen</a:t>
                </a:r>
                <a:r>
                  <a:rPr lang="en-US" b="1" dirty="0" smtClean="0">
                    <a:solidFill>
                      <a:schemeClr val="accent1"/>
                    </a:solidFill>
                    <a:latin typeface="+mn-lt"/>
                  </a:rPr>
                  <a:t> (</a:t>
                </a:r>
                <a:r>
                  <a:rPr lang="en-US" b="1" i="1" dirty="0" smtClean="0">
                    <a:solidFill>
                      <a:schemeClr val="accent1"/>
                    </a:solidFill>
                    <a:latin typeface="+mn-lt"/>
                  </a:rPr>
                  <a:t>events</a:t>
                </a:r>
                <a:r>
                  <a:rPr lang="en-US" b="1" dirty="0" smtClean="0">
                    <a:solidFill>
                      <a:schemeClr val="accent1"/>
                    </a:solidFill>
                    <a:latin typeface="+mn-lt"/>
                  </a:rPr>
                  <a:t>)</a:t>
                </a:r>
                <a:r>
                  <a:rPr lang="en-US" dirty="0" smtClean="0">
                    <a:latin typeface="+mn-lt"/>
                  </a:rPr>
                  <a:t>: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samenstelling</a:t>
                </a:r>
                <a:r>
                  <a:rPr lang="en-US" dirty="0" smtClean="0">
                    <a:latin typeface="+mn-lt"/>
                  </a:rPr>
                  <a:t> van </a:t>
                </a:r>
                <a:r>
                  <a:rPr lang="en-US" dirty="0" err="1" smtClean="0">
                    <a:latin typeface="+mn-lt"/>
                  </a:rPr>
                  <a:t>meerdere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uitkomsten</a:t>
                </a:r>
                <a:r>
                  <a:rPr lang="en-US" dirty="0" smtClean="0">
                    <a:latin typeface="+mn-lt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>
                    <a:latin typeface="+mn-lt"/>
                  </a:rPr>
                  <a:t>Gebeurtenis</a:t>
                </a:r>
                <a:r>
                  <a:rPr lang="en-US" b="1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 smtClean="0">
                    <a:latin typeface="+mn-lt"/>
                  </a:rPr>
                  <a:t>: </a:t>
                </a:r>
                <a:r>
                  <a:rPr lang="en-US" dirty="0" err="1" smtClean="0">
                    <a:latin typeface="+mn-lt"/>
                  </a:rPr>
                  <a:t>er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wordt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minstens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één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drie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gegooid</a:t>
                </a:r>
                <a:r>
                  <a:rPr lang="en-US" dirty="0" smtClean="0">
                    <a:latin typeface="+mn-lt"/>
                  </a:rPr>
                  <a:t>.</a:t>
                </a:r>
                <a:endParaRPr lang="en-US" b="1" dirty="0" smtClean="0">
                  <a:latin typeface="+mn-lt"/>
                </a:endParaRPr>
              </a:p>
              <a:p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3,1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3,2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3,3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3,5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3,6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4,3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5,3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6,3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 smtClean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 smtClean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>
                    <a:latin typeface="+mn-lt"/>
                  </a:rPr>
                  <a:t>Gebeurtenis</a:t>
                </a:r>
                <a:r>
                  <a:rPr lang="en-US" b="1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 smtClean="0">
                    <a:latin typeface="+mn-lt"/>
                  </a:rPr>
                  <a:t>: </a:t>
                </a:r>
                <a:r>
                  <a:rPr lang="en-US" dirty="0" smtClean="0">
                    <a:latin typeface="+mn-lt"/>
                  </a:rPr>
                  <a:t>de </a:t>
                </a:r>
                <a:r>
                  <a:rPr lang="en-US" dirty="0" err="1" smtClean="0">
                    <a:latin typeface="+mn-lt"/>
                  </a:rPr>
                  <a:t>som</a:t>
                </a:r>
                <a:r>
                  <a:rPr lang="en-US" dirty="0" smtClean="0">
                    <a:latin typeface="+mn-lt"/>
                  </a:rPr>
                  <a:t> van de twee </a:t>
                </a:r>
                <a:r>
                  <a:rPr lang="en-US" dirty="0" err="1" smtClean="0">
                    <a:latin typeface="+mn-lt"/>
                  </a:rPr>
                  <a:t>worpen</a:t>
                </a:r>
                <a:r>
                  <a:rPr lang="en-US" dirty="0" smtClean="0">
                    <a:latin typeface="+mn-lt"/>
                  </a:rPr>
                  <a:t> is </a:t>
                </a:r>
                <a:r>
                  <a:rPr lang="en-US" dirty="0" err="1" smtClean="0">
                    <a:latin typeface="+mn-lt"/>
                  </a:rPr>
                  <a:t>gelijk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aan</a:t>
                </a:r>
                <a:r>
                  <a:rPr lang="en-US" dirty="0" smtClean="0">
                    <a:latin typeface="+mn-lt"/>
                  </a:rPr>
                  <a:t> 7.</a:t>
                </a:r>
              </a:p>
              <a:p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nl-NL" i="1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1,6</m:t>
                          </m:r>
                        </m:e>
                      </m:d>
                      <m:r>
                        <a:rPr lang="nl-NL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2,5</m:t>
                          </m:r>
                        </m:e>
                      </m:d>
                      <m:r>
                        <a:rPr lang="nl-NL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nl-NL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4,3</m:t>
                          </m:r>
                        </m:e>
                      </m:d>
                      <m:r>
                        <a:rPr lang="nl-NL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5,2</m:t>
                          </m:r>
                        </m:e>
                      </m:d>
                      <m:r>
                        <a:rPr lang="nl-NL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(6,1)</m:t>
                      </m:r>
                      <m:r>
                        <a:rPr lang="nl-NL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endParaRPr lang="nl-NL" dirty="0" smtClean="0">
                  <a:latin typeface="+mn-lt"/>
                </a:endParaRPr>
              </a:p>
              <a:p>
                <a:r>
                  <a:rPr lang="en-US" b="1" dirty="0" err="1" smtClean="0">
                    <a:latin typeface="+mn-lt"/>
                  </a:rPr>
                  <a:t>Vragen</a:t>
                </a:r>
                <a:r>
                  <a:rPr lang="en-US" b="1" dirty="0" smtClean="0">
                    <a:latin typeface="+mn-lt"/>
                  </a:rPr>
                  <a:t>: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 smtClean="0">
                    <a:latin typeface="+mn-lt"/>
                  </a:rPr>
                  <a:t>Wat is de </a:t>
                </a:r>
                <a:r>
                  <a:rPr lang="en-US" dirty="0" err="1" smtClean="0">
                    <a:latin typeface="+mn-lt"/>
                  </a:rPr>
                  <a:t>kans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dat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gebeurtenis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niet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plaatsvindt</a:t>
                </a:r>
                <a:r>
                  <a:rPr lang="en-US" dirty="0" smtClean="0">
                    <a:latin typeface="+mn-lt"/>
                  </a:rPr>
                  <a:t>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 smtClean="0">
                    <a:latin typeface="+mn-lt"/>
                  </a:rPr>
                  <a:t>Wat is de </a:t>
                </a:r>
                <a:r>
                  <a:rPr lang="en-US" dirty="0" err="1" smtClean="0">
                    <a:latin typeface="+mn-lt"/>
                  </a:rPr>
                  <a:t>kans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dat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minstens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één</a:t>
                </a:r>
                <a:r>
                  <a:rPr lang="en-US" dirty="0" smtClean="0">
                    <a:latin typeface="+mn-lt"/>
                  </a:rPr>
                  <a:t> van </a:t>
                </a:r>
                <a:r>
                  <a:rPr lang="en-US" dirty="0" err="1" smtClean="0">
                    <a:latin typeface="+mn-lt"/>
                  </a:rPr>
                  <a:t>beide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gebeurtenissen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>
                    <a:latin typeface="+mn-lt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plaatsvindt</a:t>
                </a:r>
                <a:r>
                  <a:rPr lang="en-US" dirty="0" smtClean="0">
                    <a:latin typeface="+mn-lt"/>
                  </a:rPr>
                  <a:t>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nl-NL" dirty="0" smtClean="0">
                    <a:latin typeface="+mn-lt"/>
                  </a:rPr>
                  <a:t>Wat is de kans dat gebeurtenis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plaatsvindt</a:t>
                </a:r>
                <a:r>
                  <a:rPr lang="en-US" dirty="0" smtClean="0">
                    <a:latin typeface="+mn-lt"/>
                  </a:rPr>
                  <a:t>, </a:t>
                </a:r>
                <a:r>
                  <a:rPr lang="en-US" dirty="0" err="1" smtClean="0">
                    <a:latin typeface="+mn-lt"/>
                  </a:rPr>
                  <a:t>gegeven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dat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gebeurtenis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 smtClean="0">
                    <a:latin typeface="+mn-lt"/>
                  </a:rPr>
                  <a:t> plaatsvindt?</a:t>
                </a:r>
              </a:p>
              <a:p>
                <a:endParaRPr lang="en-US" dirty="0" smtClean="0"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17" y="1772816"/>
                <a:ext cx="10897707" cy="4832092"/>
              </a:xfrm>
              <a:prstGeom prst="rect">
                <a:avLst/>
              </a:prstGeom>
              <a:blipFill>
                <a:blip r:embed="rId2"/>
                <a:stretch>
                  <a:fillRect l="-727" t="-1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424970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Voorbeeld</a:t>
            </a:r>
            <a:r>
              <a:rPr lang="en-US" b="1" dirty="0" smtClean="0"/>
              <a:t>: </a:t>
            </a:r>
            <a:r>
              <a:rPr lang="en-US" b="1" dirty="0" err="1" smtClean="0"/>
              <a:t>worp</a:t>
            </a:r>
            <a:r>
              <a:rPr lang="en-US" b="1" dirty="0" smtClean="0"/>
              <a:t> van twee </a:t>
            </a:r>
            <a:r>
              <a:rPr lang="en-US" b="1" dirty="0" err="1" smtClean="0"/>
              <a:t>dobbelstenen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5400" y="1634799"/>
                <a:ext cx="10897707" cy="506664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b="1" dirty="0" smtClean="0">
                    <a:latin typeface="+mn-lt"/>
                  </a:rPr>
                  <a:t>Gebeurtenis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>
                    <a:latin typeface="+mn-lt"/>
                  </a:rPr>
                  <a:t> </a:t>
                </a:r>
                <a:r>
                  <a:rPr lang="en-US" b="1" dirty="0" smtClean="0">
                    <a:latin typeface="+mn-lt"/>
                  </a:rPr>
                  <a:t>vindt </a:t>
                </a:r>
                <a:r>
                  <a:rPr lang="en-US" b="1" u="sng" dirty="0" smtClean="0">
                    <a:latin typeface="+mn-lt"/>
                  </a:rPr>
                  <a:t>niet</a:t>
                </a:r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>
                    <a:latin typeface="+mn-lt"/>
                  </a:rPr>
                  <a:t>plaats</a:t>
                </a:r>
                <a:r>
                  <a:rPr lang="en-US" b="1" dirty="0" smtClean="0">
                    <a:latin typeface="+mn-lt"/>
                  </a:rPr>
                  <a:t>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nl-NL" dirty="0" smtClean="0">
                    <a:latin typeface="+mn-lt"/>
                  </a:rPr>
                  <a:t> bestaat uit 6 uitkomsten, dus bij</a:t>
                </a:r>
                <a:r>
                  <a:rPr lang="en-US" dirty="0" smtClean="0">
                    <a:latin typeface="+mn-lt"/>
                  </a:rPr>
                  <a:t> 36 – 6 = 30 </a:t>
                </a:r>
                <a:r>
                  <a:rPr lang="en-US" dirty="0" err="1" smtClean="0">
                    <a:latin typeface="+mn-lt"/>
                  </a:rPr>
                  <a:t>uitkomsten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vindt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niet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plaats</a:t>
                </a:r>
                <a:r>
                  <a:rPr lang="en-US" dirty="0" smtClean="0">
                    <a:latin typeface="+mn-lt"/>
                  </a:rPr>
                  <a:t>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+mn-lt"/>
                  </a:rPr>
                  <a:t>De </a:t>
                </a:r>
                <a:r>
                  <a:rPr lang="en-US" dirty="0" err="1" smtClean="0">
                    <a:latin typeface="+mn-lt"/>
                  </a:rPr>
                  <a:t>kans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dat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niet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plaatsvindt</a:t>
                </a:r>
                <a:r>
                  <a:rPr lang="en-US" dirty="0" smtClean="0">
                    <a:latin typeface="+mn-lt"/>
                  </a:rPr>
                  <a:t> is </a:t>
                </a:r>
                <a:r>
                  <a:rPr lang="en-US" dirty="0" err="1" smtClean="0">
                    <a:latin typeface="+mn-lt"/>
                  </a:rPr>
                  <a:t>dus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en-US" dirty="0" smtClean="0">
                    <a:latin typeface="+mn-lt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>
                  <a:latin typeface="+mn-lt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nl-NL" b="1" dirty="0" smtClean="0">
                    <a:latin typeface="+mn-lt"/>
                  </a:rPr>
                  <a:t>Minstens één van de gebeurtenissen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en</a:t>
                </a:r>
                <a:r>
                  <a:rPr lang="en-US" b="1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vindt</a:t>
                </a:r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plaats</a:t>
                </a:r>
                <a:r>
                  <a:rPr lang="en-US" b="1" dirty="0" smtClean="0">
                    <a:latin typeface="+mn-lt"/>
                  </a:rPr>
                  <a:t>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nl-NL" dirty="0" smtClean="0">
                    <a:latin typeface="+mn-lt"/>
                  </a:rPr>
                  <a:t> bestaat uit 11 uitkomsten,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nl-NL" dirty="0" smtClean="0">
                    <a:latin typeface="+mn-lt"/>
                  </a:rPr>
                  <a:t> bestaat uit 6 uitkomsten.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nl-NL" dirty="0" smtClean="0">
                    <a:latin typeface="+mn-lt"/>
                  </a:rPr>
                  <a:t>Echter, de overlap tussen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nl-NL" dirty="0" smtClean="0">
                    <a:latin typeface="+mn-lt"/>
                  </a:rPr>
                  <a:t> en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nl-NL" dirty="0" smtClean="0">
                    <a:latin typeface="+mn-lt"/>
                  </a:rPr>
                  <a:t> bestaat uit 2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uitkomsten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</m:oMath>
                </a14:m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en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(4,3)</m:t>
                    </m:r>
                  </m:oMath>
                </a14:m>
                <a:r>
                  <a:rPr lang="en-US" dirty="0" smtClean="0">
                    <a:latin typeface="+mn-lt"/>
                  </a:rPr>
                  <a:t>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>
                    <a:latin typeface="+mn-lt"/>
                  </a:rPr>
                  <a:t>Er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zijn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dus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11+6−2=15</m:t>
                    </m:r>
                  </m:oMath>
                </a14:m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unieke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uitkomsten</a:t>
                </a:r>
                <a:r>
                  <a:rPr lang="en-US" dirty="0" smtClean="0">
                    <a:latin typeface="+mn-lt"/>
                  </a:rPr>
                  <a:t> in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>
                    <a:latin typeface="+mn-lt"/>
                  </a:rPr>
                  <a:t> of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>
                    <a:latin typeface="+mn-lt"/>
                  </a:rPr>
                  <a:t>of </a:t>
                </a:r>
                <a:r>
                  <a:rPr lang="en-US" dirty="0" err="1" smtClean="0">
                    <a:latin typeface="+mn-lt"/>
                  </a:rPr>
                  <a:t>beiden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kans</a:t>
                </a:r>
                <a:r>
                  <a:rPr lang="en-US" dirty="0" smtClean="0">
                    <a:latin typeface="+mn-lt"/>
                  </a:rPr>
                  <a:t> is </a:t>
                </a:r>
                <a:r>
                  <a:rPr lang="en-US" dirty="0" err="1" smtClean="0">
                    <a:latin typeface="+mn-lt"/>
                  </a:rPr>
                  <a:t>dus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en-US" dirty="0" smtClean="0">
                    <a:latin typeface="+mn-lt"/>
                  </a:rPr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b="1" dirty="0" smtClean="0">
                  <a:latin typeface="+mn-lt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nl-NL" b="1" dirty="0" smtClean="0">
                    <a:latin typeface="+mn-lt"/>
                  </a:rPr>
                  <a:t>Gebeurtenis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vindt</a:t>
                </a:r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plaats</a:t>
                </a:r>
                <a:r>
                  <a:rPr lang="en-US" b="1" dirty="0" smtClean="0">
                    <a:latin typeface="+mn-lt"/>
                  </a:rPr>
                  <a:t>, </a:t>
                </a:r>
                <a:r>
                  <a:rPr lang="en-US" b="1" dirty="0" err="1" smtClean="0">
                    <a:latin typeface="+mn-lt"/>
                  </a:rPr>
                  <a:t>gegeven</a:t>
                </a:r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dat</a:t>
                </a:r>
                <a:r>
                  <a:rPr lang="en-US" b="1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plaatsvindt</a:t>
                </a:r>
                <a:r>
                  <a:rPr lang="en-US" b="1" dirty="0" smtClean="0">
                    <a:latin typeface="+mn-lt"/>
                  </a:rPr>
                  <a:t>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nl-NL" dirty="0" smtClean="0">
                    <a:latin typeface="+mn-lt"/>
                  </a:rPr>
                  <a:t>Als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plaatsvindt</a:t>
                </a:r>
                <a:r>
                  <a:rPr lang="en-US" dirty="0" smtClean="0">
                    <a:latin typeface="+mn-lt"/>
                  </a:rPr>
                  <a:t>, </a:t>
                </a:r>
                <a:r>
                  <a:rPr lang="en-US" dirty="0" err="1" smtClean="0">
                    <a:latin typeface="+mn-lt"/>
                  </a:rPr>
                  <a:t>zijn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er</a:t>
                </a:r>
                <a:r>
                  <a:rPr lang="en-US" dirty="0" smtClean="0">
                    <a:latin typeface="+mn-lt"/>
                  </a:rPr>
                  <a:t> nog maar </a:t>
                </a:r>
                <a:r>
                  <a:rPr lang="en-US" dirty="0" err="1" smtClean="0">
                    <a:latin typeface="+mn-lt"/>
                  </a:rPr>
                  <a:t>zes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mogelijke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uitkomsten</a:t>
                </a:r>
                <a:r>
                  <a:rPr lang="en-US" dirty="0" smtClean="0">
                    <a:latin typeface="+mn-lt"/>
                  </a:rPr>
                  <a:t>.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>
                    <a:latin typeface="+mn-lt"/>
                  </a:rPr>
                  <a:t>Hiervan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wordt</a:t>
                </a:r>
                <a:r>
                  <a:rPr lang="en-US" dirty="0" smtClean="0">
                    <a:latin typeface="+mn-lt"/>
                  </a:rPr>
                  <a:t> in 2 </a:t>
                </a:r>
                <a:r>
                  <a:rPr lang="en-US" dirty="0" err="1" smtClean="0">
                    <a:latin typeface="+mn-lt"/>
                  </a:rPr>
                  <a:t>uitkomsten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minimaal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één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drie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gegooid</a:t>
                </a:r>
                <a:r>
                  <a:rPr lang="en-US" dirty="0" smtClean="0">
                    <a:latin typeface="+mn-lt"/>
                  </a:rPr>
                  <a:t> (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>
                    <a:latin typeface="+mn-lt"/>
                  </a:rPr>
                  <a:t>)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kans</a:t>
                </a:r>
                <a:r>
                  <a:rPr lang="en-US" dirty="0" smtClean="0">
                    <a:latin typeface="+mn-lt"/>
                  </a:rPr>
                  <a:t> is </a:t>
                </a:r>
                <a:r>
                  <a:rPr lang="en-US" dirty="0" err="1" smtClean="0">
                    <a:latin typeface="+mn-lt"/>
                  </a:rPr>
                  <a:t>dus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 smtClean="0">
                    <a:latin typeface="+mn-lt"/>
                  </a:rPr>
                  <a:t>. 	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634799"/>
                <a:ext cx="10897707" cy="5066643"/>
              </a:xfrm>
              <a:prstGeom prst="rect">
                <a:avLst/>
              </a:prstGeom>
              <a:blipFill>
                <a:blip r:embed="rId2"/>
                <a:stretch>
                  <a:fillRect l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70572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Voorbeeld</a:t>
            </a:r>
            <a:r>
              <a:rPr lang="en-US" b="1" dirty="0" smtClean="0"/>
              <a:t>: </a:t>
            </a:r>
            <a:r>
              <a:rPr lang="en-US" b="1" dirty="0" err="1" smtClean="0"/>
              <a:t>worp</a:t>
            </a:r>
            <a:r>
              <a:rPr lang="en-US" b="1" dirty="0" smtClean="0"/>
              <a:t> van twee </a:t>
            </a:r>
            <a:r>
              <a:rPr lang="en-US" b="1" dirty="0" err="1" smtClean="0"/>
              <a:t>dobbelstenen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14917" y="1886259"/>
                <a:ext cx="10897707" cy="381642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dirty="0" smtClean="0">
                    <a:latin typeface="+mn-lt"/>
                  </a:rPr>
                  <a:t>We </a:t>
                </a:r>
                <a:r>
                  <a:rPr lang="en-US" dirty="0" err="1" smtClean="0">
                    <a:latin typeface="+mn-lt"/>
                  </a:rPr>
                  <a:t>kunnen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gebeurtenissen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ook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visualiseren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aan</a:t>
                </a:r>
                <a:r>
                  <a:rPr lang="en-US" dirty="0" smtClean="0">
                    <a:latin typeface="+mn-lt"/>
                  </a:rPr>
                  <a:t> de hand van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  <a:latin typeface="+mn-lt"/>
                  </a:rPr>
                  <a:t>Venndiagram</a:t>
                </a:r>
                <a:r>
                  <a:rPr lang="en-US" dirty="0" smtClean="0">
                    <a:latin typeface="+mn-lt"/>
                  </a:rPr>
                  <a:t>.</a:t>
                </a:r>
              </a:p>
              <a:p>
                <a:endParaRPr lang="nl-NL" dirty="0">
                  <a:latin typeface="+mn-lt"/>
                </a:endParaRPr>
              </a:p>
              <a:p>
                <a:endParaRPr lang="nl-NL" i="1" dirty="0" smtClean="0">
                  <a:latin typeface="Cambria Math" panose="02040503050406030204" pitchFamily="18" charset="0"/>
                </a:endParaRPr>
              </a:p>
              <a:p>
                <a:endParaRPr lang="nl-NL" i="1" dirty="0">
                  <a:latin typeface="Cambria Math" panose="02040503050406030204" pitchFamily="18" charset="0"/>
                </a:endParaRPr>
              </a:p>
              <a:p>
                <a:endParaRPr lang="nl-NL" i="1" dirty="0" smtClean="0">
                  <a:latin typeface="Cambria Math" panose="02040503050406030204" pitchFamily="18" charset="0"/>
                </a:endParaRPr>
              </a:p>
              <a:p>
                <a:endParaRPr lang="nl-NL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>
                    <a:latin typeface="+mn-lt"/>
                  </a:rPr>
                  <a:t>: </a:t>
                </a:r>
                <a:r>
                  <a:rPr lang="en-US" dirty="0" err="1" smtClean="0">
                    <a:latin typeface="+mn-lt"/>
                  </a:rPr>
                  <a:t>minstens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één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keer</a:t>
                </a:r>
                <a:r>
                  <a:rPr lang="en-US" dirty="0" smtClean="0">
                    <a:latin typeface="+mn-lt"/>
                  </a:rPr>
                  <a:t> 3</a:t>
                </a:r>
              </a:p>
              <a:p>
                <a:endParaRPr lang="en-US" dirty="0" smtClean="0"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 smtClean="0">
                    <a:latin typeface="+mn-lt"/>
                  </a:rPr>
                  <a:t>: </a:t>
                </a:r>
                <a:r>
                  <a:rPr lang="en-US" dirty="0" err="1" smtClean="0">
                    <a:latin typeface="+mn-lt"/>
                  </a:rPr>
                  <a:t>som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gelijk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aan</a:t>
                </a:r>
                <a:r>
                  <a:rPr lang="en-US" dirty="0" smtClean="0">
                    <a:latin typeface="+mn-lt"/>
                  </a:rPr>
                  <a:t> 7</a:t>
                </a:r>
              </a:p>
              <a:p>
                <a:endParaRPr lang="en-US" b="1" dirty="0" smtClean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17" y="1886259"/>
                <a:ext cx="10897707" cy="3816429"/>
              </a:xfrm>
              <a:prstGeom prst="rect">
                <a:avLst/>
              </a:prstGeom>
              <a:blipFill>
                <a:blip r:embed="rId2"/>
                <a:stretch>
                  <a:fillRect l="-727" t="-7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2"/>
              <p:cNvSpPr txBox="1"/>
              <p:nvPr/>
            </p:nvSpPr>
            <p:spPr>
              <a:xfrm>
                <a:off x="6592856" y="160338"/>
                <a:ext cx="533672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b="1" dirty="0" smtClean="0">
                    <a:latin typeface="+mn-lt"/>
                  </a:rPr>
                  <a:t>Notatie: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∪ =</m:t>
                      </m:r>
                      <m:r>
                        <m:rPr>
                          <m:nor/>
                        </m:rPr>
                        <a:rPr lang="nl-NL" i="0" smtClean="0">
                          <a:latin typeface="+mn-lt"/>
                        </a:rPr>
                        <m:t>"</m:t>
                      </m:r>
                      <m:r>
                        <m:rPr>
                          <m:nor/>
                        </m:rPr>
                        <a:rPr lang="nl-NL" i="0" smtClean="0">
                          <a:latin typeface="+mn-lt"/>
                        </a:rPr>
                        <m:t>of</m:t>
                      </m:r>
                      <m:r>
                        <m:rPr>
                          <m:nor/>
                        </m:rPr>
                        <a:rPr lang="nl-NL" i="0" smtClean="0">
                          <a:latin typeface="+mn-lt"/>
                        </a:rPr>
                        <m:t>", ∩ = "</m:t>
                      </m:r>
                      <m:r>
                        <m:rPr>
                          <m:nor/>
                        </m:rPr>
                        <a:rPr lang="nl-NL" i="0" smtClean="0">
                          <a:latin typeface="+mn-lt"/>
                        </a:rPr>
                        <m:t>en</m:t>
                      </m:r>
                      <m:r>
                        <m:rPr>
                          <m:nor/>
                        </m:rPr>
                        <a:rPr lang="nl-NL" i="0" smtClean="0">
                          <a:latin typeface="+mn-lt"/>
                        </a:rPr>
                        <m:t>", ¬ = "</m:t>
                      </m:r>
                      <m:r>
                        <m:rPr>
                          <m:nor/>
                        </m:rPr>
                        <a:rPr lang="nl-NL" b="0" i="0" smtClean="0">
                          <a:latin typeface="+mn-lt"/>
                        </a:rPr>
                        <m:t>niet</m:t>
                      </m:r>
                      <m:r>
                        <m:rPr>
                          <m:nor/>
                        </m:rPr>
                        <a:rPr lang="nl-NL" b="0" i="0" smtClean="0">
                          <a:latin typeface="+mn-lt"/>
                        </a:rPr>
                        <m:t>"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, |=</m:t>
                      </m:r>
                      <m:r>
                        <m:rPr>
                          <m:nor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gegeven</m:t>
                      </m:r>
                      <m:r>
                        <m:rPr>
                          <m:nor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Tekstvak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856" y="160338"/>
                <a:ext cx="5336722" cy="769441"/>
              </a:xfrm>
              <a:prstGeom prst="rect">
                <a:avLst/>
              </a:prstGeom>
              <a:blipFill>
                <a:blip r:embed="rId3"/>
                <a:stretch>
                  <a:fillRect l="-1486" t="-4724" b="-9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Afbeelding 7"/>
          <p:cNvPicPr>
            <a:picLocks noChangeAspect="1"/>
          </p:cNvPicPr>
          <p:nvPr/>
        </p:nvPicPr>
        <p:blipFill rotWithShape="1">
          <a:blip r:embed="rId4"/>
          <a:srcRect b="5926"/>
          <a:stretch/>
        </p:blipFill>
        <p:spPr>
          <a:xfrm>
            <a:off x="4223792" y="2363575"/>
            <a:ext cx="6840760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1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Voorbeeld</a:t>
            </a:r>
            <a:r>
              <a:rPr lang="en-US" b="1" dirty="0" smtClean="0"/>
              <a:t>: </a:t>
            </a:r>
            <a:r>
              <a:rPr lang="en-US" b="1" dirty="0" err="1" smtClean="0"/>
              <a:t>worp</a:t>
            </a:r>
            <a:r>
              <a:rPr lang="en-US" b="1" dirty="0" smtClean="0"/>
              <a:t> van twee </a:t>
            </a:r>
            <a:r>
              <a:rPr lang="en-US" b="1" dirty="0" err="1" smtClean="0"/>
              <a:t>dobbelstenen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14917" y="1754447"/>
                <a:ext cx="10897707" cy="45096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dirty="0" smtClean="0">
                    <a:latin typeface="+mn-lt"/>
                  </a:rPr>
                  <a:t>Dit </a:t>
                </a:r>
                <a:r>
                  <a:rPr lang="en-US" dirty="0" err="1" smtClean="0">
                    <a:latin typeface="+mn-lt"/>
                  </a:rPr>
                  <a:t>soort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berekeningen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kunnen</a:t>
                </a:r>
                <a:r>
                  <a:rPr lang="en-US" dirty="0" smtClean="0">
                    <a:latin typeface="+mn-lt"/>
                  </a:rPr>
                  <a:t> we in </a:t>
                </a:r>
                <a:r>
                  <a:rPr lang="en-US" dirty="0" err="1" smtClean="0">
                    <a:latin typeface="+mn-lt"/>
                  </a:rPr>
                  <a:t>algemenere</a:t>
                </a:r>
                <a:r>
                  <a:rPr lang="en-US" dirty="0" smtClean="0">
                    <a:latin typeface="+mn-lt"/>
                  </a:rPr>
                  <a:t> zin </a:t>
                </a:r>
                <a:r>
                  <a:rPr lang="en-US" dirty="0" err="1" smtClean="0">
                    <a:latin typeface="+mn-lt"/>
                  </a:rPr>
                  <a:t>uitvoeren</a:t>
                </a:r>
                <a:r>
                  <a:rPr lang="en-US" dirty="0" smtClean="0">
                    <a:latin typeface="+mn-lt"/>
                  </a:rPr>
                  <a:t>:</a:t>
                </a:r>
              </a:p>
              <a:p>
                <a:endParaRPr lang="en-US" b="1" dirty="0" smtClean="0">
                  <a:latin typeface="+mn-lt"/>
                </a:endParaRPr>
              </a:p>
              <a:p>
                <a:r>
                  <a:rPr lang="en-US" b="1" dirty="0" err="1" smtClean="0">
                    <a:latin typeface="+mn-lt"/>
                  </a:rPr>
                  <a:t>Complementregel</a:t>
                </a:r>
                <a:r>
                  <a:rPr lang="en-US" b="1" dirty="0" smtClean="0">
                    <a:latin typeface="+mn-lt"/>
                  </a:rPr>
                  <a:t> (</a:t>
                </a:r>
                <a:r>
                  <a:rPr lang="en-US" b="1" dirty="0" err="1" smtClean="0">
                    <a:latin typeface="+mn-lt"/>
                  </a:rPr>
                  <a:t>kans</a:t>
                </a:r>
                <a:r>
                  <a:rPr lang="en-US" b="1" dirty="0" smtClean="0">
                    <a:latin typeface="+mn-lt"/>
                  </a:rPr>
                  <a:t> op “</a:t>
                </a:r>
                <a:r>
                  <a:rPr lang="en-US" b="1" dirty="0" err="1" smtClean="0">
                    <a:latin typeface="+mn-lt"/>
                  </a:rPr>
                  <a:t>niet</a:t>
                </a:r>
                <a:r>
                  <a:rPr lang="en-US" b="1" dirty="0" smtClean="0">
                    <a:latin typeface="+mn-lt"/>
                  </a:rPr>
                  <a:t>-B”):</a:t>
                </a:r>
                <a:endParaRPr lang="en-US" b="1" dirty="0">
                  <a:latin typeface="+mn-lt"/>
                </a:endParaRPr>
              </a:p>
              <a:p>
                <a:endParaRPr lang="nl-NL" sz="18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¬ 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=1                ⇒      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(¬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 smtClean="0">
                  <a:latin typeface="+mn-lt"/>
                </a:endParaRPr>
              </a:p>
              <a:p>
                <a:endParaRPr lang="en-US" sz="1800" dirty="0">
                  <a:latin typeface="+mn-lt"/>
                </a:endParaRPr>
              </a:p>
              <a:p>
                <a:r>
                  <a:rPr lang="en-US" b="1" dirty="0" err="1" smtClean="0">
                    <a:latin typeface="+mn-lt"/>
                  </a:rPr>
                  <a:t>Algemene</a:t>
                </a:r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optelregel</a:t>
                </a:r>
                <a:r>
                  <a:rPr lang="en-US" b="1" dirty="0" smtClean="0">
                    <a:latin typeface="+mn-lt"/>
                  </a:rPr>
                  <a:t> (</a:t>
                </a:r>
                <a:r>
                  <a:rPr lang="en-US" b="1" dirty="0" err="1" smtClean="0">
                    <a:latin typeface="+mn-lt"/>
                  </a:rPr>
                  <a:t>kans</a:t>
                </a:r>
                <a:r>
                  <a:rPr lang="en-US" b="1" dirty="0" smtClean="0">
                    <a:latin typeface="+mn-lt"/>
                  </a:rPr>
                  <a:t> op “</a:t>
                </a:r>
                <a:r>
                  <a:rPr lang="en-US" b="1" dirty="0" err="1" smtClean="0">
                    <a:latin typeface="+mn-lt"/>
                  </a:rPr>
                  <a:t>minstens</a:t>
                </a:r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één</a:t>
                </a:r>
                <a:r>
                  <a:rPr lang="en-US" b="1" dirty="0" smtClean="0">
                    <a:latin typeface="+mn-lt"/>
                  </a:rPr>
                  <a:t> van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b="1" dirty="0" smtClean="0">
                    <a:latin typeface="+mn-lt"/>
                  </a:rPr>
                  <a:t> of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 smtClean="0">
                    <a:latin typeface="+mn-lt"/>
                  </a:rPr>
                  <a:t>”):</a:t>
                </a:r>
              </a:p>
              <a:p>
                <a:endParaRPr lang="en-US" sz="20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>
                  <a:latin typeface="+mn-lt"/>
                </a:endParaRPr>
              </a:p>
              <a:p>
                <a:r>
                  <a:rPr lang="en-US" dirty="0" smtClean="0">
                    <a:latin typeface="+mn-lt"/>
                  </a:rPr>
                  <a:t>	</a:t>
                </a:r>
              </a:p>
              <a:p>
                <a:r>
                  <a:rPr lang="en-US" b="1" dirty="0" err="1" smtClean="0">
                    <a:latin typeface="+mn-lt"/>
                  </a:rPr>
                  <a:t>Conditionele</a:t>
                </a:r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kansregel</a:t>
                </a:r>
                <a:r>
                  <a:rPr lang="en-US" b="1" dirty="0" smtClean="0">
                    <a:latin typeface="+mn-lt"/>
                  </a:rPr>
                  <a:t> (</a:t>
                </a:r>
                <a:r>
                  <a:rPr lang="en-US" b="1" dirty="0" err="1" smtClean="0">
                    <a:latin typeface="+mn-lt"/>
                  </a:rPr>
                  <a:t>kans</a:t>
                </a:r>
                <a:r>
                  <a:rPr lang="en-US" b="1" dirty="0" smtClean="0">
                    <a:latin typeface="+mn-lt"/>
                  </a:rPr>
                  <a:t> op “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gegeven</a:t>
                </a:r>
                <a:r>
                  <a:rPr lang="en-US" b="1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 smtClean="0">
                    <a:latin typeface="+mn-lt"/>
                  </a:rPr>
                  <a:t>”):</a:t>
                </a:r>
                <a:endParaRPr lang="nl-NL" i="1" dirty="0">
                  <a:latin typeface="Cambria Math" panose="02040503050406030204" pitchFamily="18" charset="0"/>
                </a:endParaRPr>
              </a:p>
              <a:p>
                <a:pPr algn="ctr"/>
                <a:endParaRPr lang="nl-NL" sz="2000" b="0" i="1" dirty="0" smtClean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 smtClean="0">
                    <a:latin typeface="+mn-lt"/>
                  </a:rPr>
                  <a:t>	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17" y="1754447"/>
                <a:ext cx="10897707" cy="4509632"/>
              </a:xfrm>
              <a:prstGeom prst="rect">
                <a:avLst/>
              </a:prstGeom>
              <a:blipFill>
                <a:blip r:embed="rId2"/>
                <a:stretch>
                  <a:fillRect l="-727" t="-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2"/>
              <p:cNvSpPr txBox="1"/>
              <p:nvPr/>
            </p:nvSpPr>
            <p:spPr>
              <a:xfrm>
                <a:off x="6592856" y="160338"/>
                <a:ext cx="5336722" cy="851297"/>
              </a:xfrm>
              <a:prstGeom prst="roundRect">
                <a:avLst/>
              </a:prstGeom>
              <a:solidFill>
                <a:schemeClr val="accent2"/>
              </a:solidFill>
              <a:effectLst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nl-NL" b="1" dirty="0" smtClean="0">
                    <a:latin typeface="+mn-lt"/>
                  </a:rPr>
                  <a:t>Notatie: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∪ =</m:t>
                      </m:r>
                      <m:r>
                        <m:rPr>
                          <m:nor/>
                        </m:rPr>
                        <a:rPr lang="nl-NL" i="0" smtClean="0">
                          <a:latin typeface="+mn-lt"/>
                        </a:rPr>
                        <m:t>"</m:t>
                      </m:r>
                      <m:r>
                        <m:rPr>
                          <m:nor/>
                        </m:rPr>
                        <a:rPr lang="nl-NL" i="0" smtClean="0">
                          <a:latin typeface="+mn-lt"/>
                        </a:rPr>
                        <m:t>of</m:t>
                      </m:r>
                      <m:r>
                        <m:rPr>
                          <m:nor/>
                        </m:rPr>
                        <a:rPr lang="nl-NL" i="0" smtClean="0">
                          <a:latin typeface="+mn-lt"/>
                        </a:rPr>
                        <m:t>", ∩ = "</m:t>
                      </m:r>
                      <m:r>
                        <m:rPr>
                          <m:nor/>
                        </m:rPr>
                        <a:rPr lang="nl-NL" i="0" smtClean="0">
                          <a:latin typeface="+mn-lt"/>
                        </a:rPr>
                        <m:t>en</m:t>
                      </m:r>
                      <m:r>
                        <m:rPr>
                          <m:nor/>
                        </m:rPr>
                        <a:rPr lang="nl-NL" i="0" smtClean="0">
                          <a:latin typeface="+mn-lt"/>
                        </a:rPr>
                        <m:t>", ¬ = "</m:t>
                      </m:r>
                      <m:r>
                        <m:rPr>
                          <m:nor/>
                        </m:rPr>
                        <a:rPr lang="nl-NL" b="0" i="0" smtClean="0">
                          <a:latin typeface="+mn-lt"/>
                        </a:rPr>
                        <m:t>niet</m:t>
                      </m:r>
                      <m:r>
                        <m:rPr>
                          <m:nor/>
                        </m:rPr>
                        <a:rPr lang="nl-NL" b="0" i="0" smtClean="0">
                          <a:latin typeface="+mn-lt"/>
                        </a:rPr>
                        <m:t>"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, |=</m:t>
                      </m:r>
                      <m:r>
                        <m:rPr>
                          <m:nor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gegeven</m:t>
                      </m:r>
                      <m:r>
                        <m:rPr>
                          <m:nor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Tekstvak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856" y="160338"/>
                <a:ext cx="5336722" cy="851297"/>
              </a:xfrm>
              <a:prstGeom prst="roundRect">
                <a:avLst/>
              </a:prstGeom>
              <a:blipFill>
                <a:blip r:embed="rId3"/>
                <a:stretch>
                  <a:fillRect l="-569" b="-277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11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Waarom</a:t>
            </a:r>
            <a:r>
              <a:rPr lang="en-US" b="1" dirty="0" smtClean="0"/>
              <a:t> </a:t>
            </a:r>
            <a:r>
              <a:rPr lang="en-US" b="1" dirty="0" err="1" smtClean="0"/>
              <a:t>leren</a:t>
            </a:r>
            <a:r>
              <a:rPr lang="en-US" b="1" dirty="0" smtClean="0"/>
              <a:t> we over </a:t>
            </a:r>
            <a:r>
              <a:rPr lang="en-US" b="1" dirty="0" err="1" smtClean="0"/>
              <a:t>kansvariabelen</a:t>
            </a:r>
            <a:r>
              <a:rPr lang="en-US" b="1" dirty="0" smtClean="0"/>
              <a:t> </a:t>
            </a:r>
            <a:r>
              <a:rPr lang="en-US" b="1" dirty="0" err="1" smtClean="0"/>
              <a:t>voor</a:t>
            </a:r>
            <a:r>
              <a:rPr lang="en-US" b="1" dirty="0" smtClean="0"/>
              <a:t> </a:t>
            </a:r>
            <a:r>
              <a:rPr lang="en-US" b="1" dirty="0" err="1" smtClean="0"/>
              <a:t>statistiek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827816" cy="4246562"/>
          </a:xfrm>
        </p:spPr>
        <p:txBody>
          <a:bodyPr/>
          <a:lstStyle/>
          <a:p>
            <a:pPr lvl="1" indent="0">
              <a:lnSpc>
                <a:spcPct val="150000"/>
              </a:lnSpc>
              <a:buNone/>
            </a:pPr>
            <a:r>
              <a:rPr lang="en-US" b="1" dirty="0" err="1" smtClean="0"/>
              <a:t>Voorbeeld</a:t>
            </a:r>
            <a:r>
              <a:rPr lang="en-US" b="1" dirty="0" smtClean="0"/>
              <a:t>: </a:t>
            </a:r>
            <a:r>
              <a:rPr lang="en-US" dirty="0" err="1" smtClean="0"/>
              <a:t>beweegredenen</a:t>
            </a:r>
            <a:r>
              <a:rPr lang="en-US" dirty="0" smtClean="0"/>
              <a:t> van </a:t>
            </a:r>
            <a:r>
              <a:rPr lang="en-US" dirty="0" err="1" smtClean="0"/>
              <a:t>jongeren</a:t>
            </a:r>
            <a:r>
              <a:rPr lang="en-US" dirty="0" smtClean="0"/>
              <a:t> om </a:t>
            </a:r>
            <a:r>
              <a:rPr lang="en-US" dirty="0" err="1" smtClean="0"/>
              <a:t>zich</a:t>
            </a:r>
            <a:r>
              <a:rPr lang="en-US" dirty="0" smtClean="0"/>
              <a:t> </a:t>
            </a:r>
            <a:r>
              <a:rPr lang="en-US" dirty="0" err="1" smtClean="0"/>
              <a:t>aan</a:t>
            </a:r>
            <a:r>
              <a:rPr lang="en-US" dirty="0" smtClean="0"/>
              <a:t> </a:t>
            </a:r>
            <a:r>
              <a:rPr lang="en-US" dirty="0" err="1" smtClean="0"/>
              <a:t>te</a:t>
            </a:r>
            <a:r>
              <a:rPr lang="en-US" dirty="0" smtClean="0"/>
              <a:t> </a:t>
            </a:r>
            <a:r>
              <a:rPr lang="en-US" dirty="0" err="1" smtClean="0"/>
              <a:t>melden</a:t>
            </a:r>
            <a:r>
              <a:rPr lang="en-US" dirty="0" smtClean="0"/>
              <a:t> </a:t>
            </a:r>
            <a:r>
              <a:rPr lang="en-US" dirty="0" err="1" smtClean="0"/>
              <a:t>voor</a:t>
            </a:r>
            <a:r>
              <a:rPr lang="en-US" dirty="0" smtClean="0"/>
              <a:t> </a:t>
            </a:r>
            <a:r>
              <a:rPr lang="en-US" dirty="0" err="1" smtClean="0"/>
              <a:t>Dienjaar</a:t>
            </a:r>
            <a:r>
              <a:rPr lang="en-US" dirty="0" smtClean="0"/>
              <a:t> </a:t>
            </a:r>
            <a:r>
              <a:rPr lang="en-US" dirty="0" err="1" smtClean="0"/>
              <a:t>Defensie</a:t>
            </a:r>
            <a:r>
              <a:rPr lang="en-US" dirty="0" smtClean="0"/>
              <a:t>.</a:t>
            </a:r>
          </a:p>
          <a:p>
            <a:pPr marL="717550" lvl="1" indent="-342900">
              <a:lnSpc>
                <a:spcPct val="150000"/>
              </a:lnSpc>
            </a:pPr>
            <a:r>
              <a:rPr lang="en-US" b="1" dirty="0" err="1" smtClean="0"/>
              <a:t>Populatie</a:t>
            </a:r>
            <a:r>
              <a:rPr lang="en-US" b="1" dirty="0"/>
              <a:t>:</a:t>
            </a:r>
            <a:r>
              <a:rPr lang="en-US" dirty="0" smtClean="0"/>
              <a:t> </a:t>
            </a:r>
            <a:r>
              <a:rPr lang="en-US" dirty="0" err="1" smtClean="0"/>
              <a:t>alle</a:t>
            </a:r>
            <a:r>
              <a:rPr lang="en-US" dirty="0" smtClean="0"/>
              <a:t> </a:t>
            </a:r>
            <a:r>
              <a:rPr lang="en-US" dirty="0" err="1" smtClean="0"/>
              <a:t>jongeren</a:t>
            </a:r>
            <a:r>
              <a:rPr lang="en-US" dirty="0" smtClean="0"/>
              <a:t> </a:t>
            </a:r>
            <a:r>
              <a:rPr lang="en-US" dirty="0" err="1" smtClean="0"/>
              <a:t>tussen</a:t>
            </a:r>
            <a:r>
              <a:rPr lang="en-US" dirty="0" smtClean="0"/>
              <a:t> 18 </a:t>
            </a:r>
            <a:r>
              <a:rPr lang="en-US" dirty="0" err="1" smtClean="0"/>
              <a:t>en</a:t>
            </a:r>
            <a:r>
              <a:rPr lang="en-US" dirty="0" smtClean="0"/>
              <a:t> 27 </a:t>
            </a:r>
            <a:r>
              <a:rPr lang="en-US" dirty="0" err="1" smtClean="0"/>
              <a:t>jaar</a:t>
            </a: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b="1" dirty="0" smtClean="0"/>
          </a:p>
          <a:p>
            <a:pPr marL="717550" lvl="1" indent="-342900">
              <a:lnSpc>
                <a:spcPct val="150000"/>
              </a:lnSpc>
            </a:pPr>
            <a:r>
              <a:rPr lang="en-US" b="1" dirty="0" err="1" smtClean="0"/>
              <a:t>Variabelen</a:t>
            </a:r>
            <a:r>
              <a:rPr lang="en-US" b="1" dirty="0" smtClean="0"/>
              <a:t>: </a:t>
            </a:r>
            <a:r>
              <a:rPr lang="en-US" dirty="0" err="1" smtClean="0"/>
              <a:t>opleiding</a:t>
            </a:r>
            <a:r>
              <a:rPr lang="en-US" dirty="0" smtClean="0"/>
              <a:t>, </a:t>
            </a:r>
            <a:r>
              <a:rPr lang="en-US" dirty="0" err="1" smtClean="0"/>
              <a:t>inkomen</a:t>
            </a:r>
            <a:r>
              <a:rPr lang="en-US" dirty="0" smtClean="0"/>
              <a:t>, </a:t>
            </a:r>
            <a:r>
              <a:rPr lang="en-US" dirty="0" err="1" smtClean="0"/>
              <a:t>persoonlijkheid</a:t>
            </a:r>
            <a:r>
              <a:rPr lang="en-US" dirty="0" smtClean="0"/>
              <a:t>, #</a:t>
            </a:r>
            <a:r>
              <a:rPr lang="en-US" dirty="0" err="1" smtClean="0"/>
              <a:t>familieleden</a:t>
            </a:r>
            <a:r>
              <a:rPr lang="en-US" dirty="0" smtClean="0"/>
              <a:t> met </a:t>
            </a:r>
            <a:r>
              <a:rPr lang="en-US" dirty="0" err="1" smtClean="0"/>
              <a:t>Defensie-achtergrond</a:t>
            </a:r>
            <a:r>
              <a:rPr lang="en-US" dirty="0" smtClean="0"/>
              <a:t>, …</a:t>
            </a:r>
            <a:endParaRPr lang="en-US" b="1" dirty="0" smtClean="0"/>
          </a:p>
          <a:p>
            <a:pPr marL="717550" lvl="1" indent="-342900">
              <a:lnSpc>
                <a:spcPct val="150000"/>
              </a:lnSpc>
            </a:pPr>
            <a:endParaRPr lang="en-US" b="1" dirty="0" smtClean="0"/>
          </a:p>
          <a:p>
            <a:pPr marL="717550" lvl="1" indent="-342900">
              <a:lnSpc>
                <a:spcPct val="150000"/>
              </a:lnSpc>
            </a:pPr>
            <a:r>
              <a:rPr lang="en-US" b="1" dirty="0" err="1" smtClean="0"/>
              <a:t>Steekproef</a:t>
            </a:r>
            <a:r>
              <a:rPr lang="en-US" b="1" dirty="0" smtClean="0"/>
              <a:t>: </a:t>
            </a:r>
            <a:r>
              <a:rPr lang="en-US" dirty="0" err="1" smtClean="0"/>
              <a:t>deel</a:t>
            </a:r>
            <a:r>
              <a:rPr lang="en-US" dirty="0" smtClean="0"/>
              <a:t> van de </a:t>
            </a:r>
            <a:r>
              <a:rPr lang="en-US" dirty="0" err="1" smtClean="0"/>
              <a:t>jongeren</a:t>
            </a:r>
            <a:r>
              <a:rPr lang="en-US" dirty="0" smtClean="0"/>
              <a:t> </a:t>
            </a:r>
            <a:r>
              <a:rPr lang="en-US" dirty="0" err="1" smtClean="0"/>
              <a:t>tussen</a:t>
            </a:r>
            <a:r>
              <a:rPr lang="en-US" dirty="0" smtClean="0"/>
              <a:t> 18 </a:t>
            </a:r>
            <a:r>
              <a:rPr lang="en-US" dirty="0" err="1" smtClean="0"/>
              <a:t>en</a:t>
            </a:r>
            <a:r>
              <a:rPr lang="en-US" dirty="0" smtClean="0"/>
              <a:t> 27 </a:t>
            </a:r>
            <a:r>
              <a:rPr lang="en-US" dirty="0" err="1" smtClean="0"/>
              <a:t>jaar</a:t>
            </a:r>
            <a:r>
              <a:rPr lang="en-US" dirty="0" smtClean="0"/>
              <a:t> die we </a:t>
            </a:r>
            <a:r>
              <a:rPr lang="en-US" dirty="0" err="1" smtClean="0"/>
              <a:t>gaan</a:t>
            </a:r>
            <a:r>
              <a:rPr lang="en-US" dirty="0" smtClean="0"/>
              <a:t> </a:t>
            </a:r>
            <a:r>
              <a:rPr lang="en-US" dirty="0" err="1" smtClean="0"/>
              <a:t>interviewen</a:t>
            </a:r>
            <a:endParaRPr lang="en-US" dirty="0" smtClean="0"/>
          </a:p>
          <a:p>
            <a:pPr marL="965200" lvl="2" indent="-342900">
              <a:lnSpc>
                <a:spcPct val="150000"/>
              </a:lnSpc>
            </a:pPr>
            <a:r>
              <a:rPr lang="en-US" dirty="0" err="1" smtClean="0"/>
              <a:t>Ieder</a:t>
            </a:r>
            <a:r>
              <a:rPr lang="en-US" dirty="0" smtClean="0"/>
              <a:t> </a:t>
            </a:r>
            <a:r>
              <a:rPr lang="en-US" dirty="0" err="1" smtClean="0"/>
              <a:t>steekproefelement</a:t>
            </a:r>
            <a:r>
              <a:rPr lang="en-US" dirty="0" smtClean="0"/>
              <a:t>: </a:t>
            </a:r>
            <a:r>
              <a:rPr lang="en-US" dirty="0" err="1" smtClean="0"/>
              <a:t>trekkingen</a:t>
            </a:r>
            <a:r>
              <a:rPr lang="en-US" dirty="0" smtClean="0"/>
              <a:t> van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aantal</a:t>
            </a:r>
            <a:r>
              <a:rPr lang="en-US" dirty="0" smtClean="0"/>
              <a:t> (</a:t>
            </a:r>
            <a:r>
              <a:rPr lang="en-US" dirty="0" err="1" smtClean="0"/>
              <a:t>kans</a:t>
            </a:r>
            <a:r>
              <a:rPr lang="en-US" dirty="0" smtClean="0"/>
              <a:t>)</a:t>
            </a:r>
            <a:r>
              <a:rPr lang="en-US" dirty="0" err="1" smtClean="0"/>
              <a:t>variabelen</a:t>
            </a:r>
            <a:endParaRPr lang="en-US" dirty="0" smtClean="0"/>
          </a:p>
          <a:p>
            <a:pPr lvl="1" indent="0">
              <a:lnSpc>
                <a:spcPct val="150000"/>
              </a:lnSpc>
              <a:buNone/>
            </a:pPr>
            <a:endParaRPr lang="en-US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44341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smtClean="0"/>
              <a:t>Focus: </a:t>
            </a:r>
            <a:r>
              <a:rPr lang="en-US" b="1" dirty="0" err="1" smtClean="0"/>
              <a:t>kwantitatieve</a:t>
            </a:r>
            <a:r>
              <a:rPr lang="en-US" b="1" dirty="0" smtClean="0"/>
              <a:t> </a:t>
            </a:r>
            <a:r>
              <a:rPr lang="en-US" b="1" dirty="0" err="1" smtClean="0"/>
              <a:t>variabelen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827816" cy="4246562"/>
          </a:xfrm>
        </p:spPr>
        <p:txBody>
          <a:bodyPr/>
          <a:lstStyle/>
          <a:p>
            <a:pPr lvl="1" indent="0">
              <a:lnSpc>
                <a:spcPct val="150000"/>
              </a:lnSpc>
              <a:buNone/>
            </a:pPr>
            <a:r>
              <a:rPr lang="en-US" dirty="0" smtClean="0"/>
              <a:t>In college 1 </a:t>
            </a:r>
            <a:r>
              <a:rPr lang="en-US" dirty="0" err="1" smtClean="0"/>
              <a:t>hebben</a:t>
            </a:r>
            <a:r>
              <a:rPr lang="en-US" dirty="0" smtClean="0"/>
              <a:t> we </a:t>
            </a:r>
            <a:r>
              <a:rPr lang="en-US" dirty="0" err="1" smtClean="0"/>
              <a:t>geleerd</a:t>
            </a:r>
            <a:r>
              <a:rPr lang="en-US" dirty="0" smtClean="0"/>
              <a:t> over </a:t>
            </a:r>
            <a:r>
              <a:rPr lang="en-US" dirty="0" err="1" smtClean="0"/>
              <a:t>maten</a:t>
            </a:r>
            <a:r>
              <a:rPr lang="en-US" dirty="0" smtClean="0"/>
              <a:t> </a:t>
            </a:r>
            <a:r>
              <a:rPr lang="en-US" dirty="0" err="1" smtClean="0"/>
              <a:t>voor</a:t>
            </a:r>
            <a:r>
              <a:rPr lang="en-US" dirty="0" smtClean="0"/>
              <a:t> </a:t>
            </a:r>
            <a:r>
              <a:rPr lang="en-US" dirty="0" err="1" smtClean="0"/>
              <a:t>ligging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spreiding</a:t>
            </a: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r>
              <a:rPr lang="en-US" dirty="0" err="1" smtClean="0"/>
              <a:t>gemiddelde</a:t>
            </a:r>
            <a:r>
              <a:rPr lang="en-US" dirty="0" smtClean="0"/>
              <a:t>, modus, </a:t>
            </a:r>
            <a:r>
              <a:rPr lang="en-US" dirty="0" err="1" smtClean="0"/>
              <a:t>mediaan</a:t>
            </a:r>
            <a:r>
              <a:rPr lang="en-US" dirty="0" smtClean="0"/>
              <a:t>, </a:t>
            </a:r>
            <a:r>
              <a:rPr lang="en-US" dirty="0" err="1" smtClean="0"/>
              <a:t>variantie</a:t>
            </a:r>
            <a:r>
              <a:rPr lang="en-US" dirty="0" smtClean="0"/>
              <a:t>, </a:t>
            </a:r>
            <a:r>
              <a:rPr lang="en-US" dirty="0" err="1" smtClean="0"/>
              <a:t>standaardafwijking</a:t>
            </a:r>
            <a:endParaRPr lang="en-US" dirty="0" smtClean="0"/>
          </a:p>
          <a:p>
            <a:pPr lvl="1" indent="0">
              <a:lnSpc>
                <a:spcPct val="150000"/>
              </a:lnSpc>
              <a:buNone/>
            </a:pPr>
            <a:endParaRPr lang="en-US" dirty="0"/>
          </a:p>
          <a:p>
            <a:pPr lvl="1" indent="0">
              <a:lnSpc>
                <a:spcPct val="150000"/>
              </a:lnSpc>
              <a:buNone/>
            </a:pPr>
            <a:r>
              <a:rPr lang="en-US" dirty="0" smtClean="0"/>
              <a:t>In </a:t>
            </a:r>
            <a:r>
              <a:rPr lang="en-US" dirty="0" err="1" smtClean="0"/>
              <a:t>dit</a:t>
            </a:r>
            <a:r>
              <a:rPr lang="en-US" dirty="0" smtClean="0"/>
              <a:t> </a:t>
            </a:r>
            <a:r>
              <a:rPr lang="en-US" dirty="0" err="1" smtClean="0"/>
              <a:t>vak</a:t>
            </a:r>
            <a:r>
              <a:rPr lang="en-US" dirty="0" smtClean="0"/>
              <a:t> </a:t>
            </a:r>
            <a:r>
              <a:rPr lang="en-US" dirty="0" err="1" smtClean="0"/>
              <a:t>ligt</a:t>
            </a:r>
            <a:r>
              <a:rPr lang="en-US" dirty="0" smtClean="0"/>
              <a:t> de focus op </a:t>
            </a:r>
            <a:r>
              <a:rPr lang="en-US" b="1" dirty="0" err="1" smtClean="0">
                <a:solidFill>
                  <a:srgbClr val="0070C0"/>
                </a:solidFill>
              </a:rPr>
              <a:t>kwantitatieve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</a:rPr>
              <a:t>kansvariabelen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smtClean="0"/>
              <a:t>(</a:t>
            </a:r>
            <a:r>
              <a:rPr lang="en-US" dirty="0" err="1" smtClean="0"/>
              <a:t>oftewel</a:t>
            </a:r>
            <a:r>
              <a:rPr lang="en-US" dirty="0" smtClean="0"/>
              <a:t> interval / </a:t>
            </a:r>
            <a:r>
              <a:rPr lang="en-US" dirty="0" err="1" smtClean="0"/>
              <a:t>ratioschaal</a:t>
            </a:r>
            <a:r>
              <a:rPr lang="en-US" dirty="0" smtClean="0"/>
              <a:t>). </a:t>
            </a:r>
            <a:endParaRPr lang="en-US" dirty="0"/>
          </a:p>
          <a:p>
            <a:pPr lvl="1" indent="0">
              <a:lnSpc>
                <a:spcPct val="150000"/>
              </a:lnSpc>
              <a:buNone/>
            </a:pPr>
            <a:endParaRPr lang="en-US" dirty="0" smtClean="0"/>
          </a:p>
          <a:p>
            <a:pPr lvl="1" indent="0">
              <a:lnSpc>
                <a:spcPct val="150000"/>
              </a:lnSpc>
              <a:buNone/>
            </a:pPr>
            <a:r>
              <a:rPr lang="en-US" dirty="0" smtClean="0"/>
              <a:t>De </a:t>
            </a:r>
            <a:r>
              <a:rPr lang="en-US" dirty="0" err="1" smtClean="0"/>
              <a:t>volgende</a:t>
            </a:r>
            <a:r>
              <a:rPr lang="en-US" dirty="0" smtClean="0"/>
              <a:t> </a:t>
            </a:r>
            <a:r>
              <a:rPr lang="en-US" dirty="0" err="1" smtClean="0"/>
              <a:t>vragen</a:t>
            </a:r>
            <a:r>
              <a:rPr lang="en-US" dirty="0" smtClean="0"/>
              <a:t> </a:t>
            </a:r>
            <a:r>
              <a:rPr lang="en-US" dirty="0" err="1" smtClean="0"/>
              <a:t>zijn</a:t>
            </a:r>
            <a:r>
              <a:rPr lang="en-US" dirty="0" smtClean="0"/>
              <a:t> </a:t>
            </a:r>
            <a:r>
              <a:rPr lang="en-US" dirty="0" err="1" smtClean="0"/>
              <a:t>onzinnig</a:t>
            </a:r>
            <a:r>
              <a:rPr lang="en-US" dirty="0" smtClean="0"/>
              <a:t>:</a:t>
            </a:r>
          </a:p>
          <a:p>
            <a:pPr marL="717550" lvl="1" indent="-342900">
              <a:lnSpc>
                <a:spcPct val="150000"/>
              </a:lnSpc>
            </a:pPr>
            <a:r>
              <a:rPr lang="en-US" dirty="0" smtClean="0"/>
              <a:t>Wat is het </a:t>
            </a:r>
            <a:r>
              <a:rPr lang="en-US" dirty="0" err="1" smtClean="0"/>
              <a:t>gemiddelde</a:t>
            </a:r>
            <a:r>
              <a:rPr lang="en-US" dirty="0" smtClean="0"/>
              <a:t> OPCO van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defensiemedewerker</a:t>
            </a:r>
            <a:r>
              <a:rPr lang="en-US" dirty="0" smtClean="0"/>
              <a:t>? 	(</a:t>
            </a:r>
            <a:r>
              <a:rPr lang="en-US" dirty="0" err="1" smtClean="0"/>
              <a:t>nominaal</a:t>
            </a:r>
            <a:r>
              <a:rPr lang="en-US" dirty="0" smtClean="0"/>
              <a:t>)</a:t>
            </a:r>
          </a:p>
          <a:p>
            <a:pPr marL="717550" lvl="1" indent="-342900">
              <a:lnSpc>
                <a:spcPct val="150000"/>
              </a:lnSpc>
            </a:pPr>
            <a:r>
              <a:rPr lang="en-US" dirty="0" smtClean="0"/>
              <a:t>Wat is de </a:t>
            </a:r>
            <a:r>
              <a:rPr lang="en-US" dirty="0" err="1" smtClean="0"/>
              <a:t>standaardafwijking</a:t>
            </a:r>
            <a:r>
              <a:rPr lang="en-US" dirty="0" smtClean="0"/>
              <a:t> in de </a:t>
            </a:r>
            <a:r>
              <a:rPr lang="en-US" dirty="0" err="1" smtClean="0"/>
              <a:t>rangen</a:t>
            </a:r>
            <a:r>
              <a:rPr lang="en-US" dirty="0" smtClean="0"/>
              <a:t> van </a:t>
            </a:r>
            <a:r>
              <a:rPr lang="en-US" dirty="0" err="1" smtClean="0"/>
              <a:t>officieren</a:t>
            </a:r>
            <a:r>
              <a:rPr lang="en-US" dirty="0" smtClean="0"/>
              <a:t>?	 	 (</a:t>
            </a:r>
            <a:r>
              <a:rPr lang="en-US" dirty="0" err="1" smtClean="0"/>
              <a:t>ordinaal</a:t>
            </a:r>
            <a:r>
              <a:rPr lang="en-US" dirty="0" smtClean="0"/>
              <a:t>)</a:t>
            </a:r>
          </a:p>
          <a:p>
            <a:pPr lvl="1" indent="0">
              <a:lnSpc>
                <a:spcPct val="150000"/>
              </a:lnSpc>
              <a:buNone/>
            </a:pPr>
            <a:endParaRPr lang="en-US" dirty="0"/>
          </a:p>
          <a:p>
            <a:pPr lvl="1" indent="0">
              <a:lnSpc>
                <a:spcPct val="150000"/>
              </a:lnSpc>
              <a:buNone/>
            </a:pPr>
            <a:endParaRPr lang="en-US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397809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smtClean="0"/>
              <a:t>Discrete </a:t>
            </a:r>
            <a:r>
              <a:rPr lang="en-US" b="1" dirty="0" err="1" smtClean="0"/>
              <a:t>kansvariabelen</a:t>
            </a:r>
            <a:r>
              <a:rPr lang="en-US" b="1" dirty="0" smtClean="0"/>
              <a:t> (“</a:t>
            </a:r>
            <a:r>
              <a:rPr lang="en-US" b="1" dirty="0" err="1" smtClean="0"/>
              <a:t>tellen</a:t>
            </a:r>
            <a:r>
              <a:rPr lang="en-US" b="1" dirty="0" smtClean="0"/>
              <a:t>”)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12799" y="1773238"/>
            <a:ext cx="11116777" cy="4246562"/>
          </a:xfrm>
        </p:spPr>
        <p:txBody>
          <a:bodyPr/>
          <a:lstStyle/>
          <a:p>
            <a:pPr lvl="1" indent="0">
              <a:lnSpc>
                <a:spcPct val="150000"/>
              </a:lnSpc>
              <a:buNone/>
            </a:pPr>
            <a:r>
              <a:rPr lang="en-US" sz="2000" dirty="0" err="1" smtClean="0"/>
              <a:t>Een</a:t>
            </a:r>
            <a:r>
              <a:rPr lang="en-US" sz="2000" dirty="0" smtClean="0"/>
              <a:t> </a:t>
            </a:r>
            <a:r>
              <a:rPr lang="en-US" sz="2000" b="1" dirty="0" smtClean="0">
                <a:solidFill>
                  <a:schemeClr val="accent1"/>
                </a:solidFill>
              </a:rPr>
              <a:t>discrete </a:t>
            </a:r>
            <a:r>
              <a:rPr lang="en-US" sz="2000" b="1" dirty="0" err="1" smtClean="0">
                <a:solidFill>
                  <a:schemeClr val="accent1"/>
                </a:solidFill>
              </a:rPr>
              <a:t>kansvariabele</a:t>
            </a:r>
            <a:r>
              <a:rPr lang="en-US" sz="2000" b="1" dirty="0" smtClean="0">
                <a:solidFill>
                  <a:schemeClr val="accent1"/>
                </a:solidFill>
              </a:rPr>
              <a:t> </a:t>
            </a:r>
            <a:r>
              <a:rPr lang="en-US" sz="2000" dirty="0" err="1" smtClean="0"/>
              <a:t>heeft</a:t>
            </a:r>
            <a:r>
              <a:rPr lang="en-US" sz="2000" dirty="0" smtClean="0"/>
              <a:t> de </a:t>
            </a:r>
            <a:r>
              <a:rPr lang="en-US" sz="2000" dirty="0" err="1" smtClean="0"/>
              <a:t>volgende</a:t>
            </a:r>
            <a:r>
              <a:rPr lang="en-US" sz="2000" dirty="0" smtClean="0"/>
              <a:t> </a:t>
            </a:r>
            <a:r>
              <a:rPr lang="en-US" sz="2000" dirty="0" err="1" smtClean="0"/>
              <a:t>eigenschappen</a:t>
            </a:r>
            <a:r>
              <a:rPr lang="en-US" sz="2000" dirty="0" smtClean="0"/>
              <a:t>:</a:t>
            </a:r>
            <a:endParaRPr lang="en-US" sz="2000" dirty="0"/>
          </a:p>
          <a:p>
            <a:pPr marL="717550" lvl="1" indent="-342900">
              <a:lnSpc>
                <a:spcPct val="150000"/>
              </a:lnSpc>
            </a:pPr>
            <a:r>
              <a:rPr lang="en-US" sz="2000" dirty="0" smtClean="0"/>
              <a:t>De </a:t>
            </a:r>
            <a:r>
              <a:rPr lang="en-US" sz="2000" b="1" dirty="0" err="1" smtClean="0">
                <a:solidFill>
                  <a:schemeClr val="accent1"/>
                </a:solidFill>
              </a:rPr>
              <a:t>uitkomstenruimte</a:t>
            </a:r>
            <a:r>
              <a:rPr lang="en-US" sz="2000" dirty="0" smtClean="0"/>
              <a:t> </a:t>
            </a:r>
            <a:r>
              <a:rPr lang="en-US" sz="2000" dirty="0" err="1" smtClean="0"/>
              <a:t>bevat</a:t>
            </a:r>
            <a:r>
              <a:rPr lang="en-US" sz="2000" dirty="0" smtClean="0"/>
              <a:t> </a:t>
            </a:r>
            <a:r>
              <a:rPr lang="en-US" sz="2000" dirty="0" err="1" smtClean="0"/>
              <a:t>eindig</a:t>
            </a:r>
            <a:r>
              <a:rPr lang="en-US" sz="2000" dirty="0" smtClean="0"/>
              <a:t> / </a:t>
            </a:r>
            <a:r>
              <a:rPr lang="en-US" sz="2000" i="1" dirty="0" err="1" smtClean="0"/>
              <a:t>aftelbaar</a:t>
            </a:r>
            <a:r>
              <a:rPr lang="en-US" sz="2000" dirty="0" smtClean="0"/>
              <a:t> </a:t>
            </a:r>
            <a:r>
              <a:rPr lang="en-US" sz="2000" i="1" dirty="0" err="1" smtClean="0"/>
              <a:t>oneindig</a:t>
            </a:r>
            <a:r>
              <a:rPr lang="en-US" sz="2000" dirty="0" smtClean="0"/>
              <a:t> </a:t>
            </a:r>
            <a:r>
              <a:rPr lang="en-US" sz="2000" dirty="0" err="1" smtClean="0"/>
              <a:t>veel</a:t>
            </a:r>
            <a:r>
              <a:rPr lang="en-US" sz="2000" dirty="0" smtClean="0"/>
              <a:t> </a:t>
            </a:r>
            <a:r>
              <a:rPr lang="en-US" sz="2000" dirty="0" err="1" smtClean="0"/>
              <a:t>uitkomsten</a:t>
            </a:r>
            <a:r>
              <a:rPr lang="en-US" sz="2000" dirty="0" smtClean="0"/>
              <a:t>.</a:t>
            </a:r>
            <a:endParaRPr lang="en-US" sz="2000" dirty="0" smtClean="0">
              <a:solidFill>
                <a:schemeClr val="accent1"/>
              </a:solidFill>
            </a:endParaRPr>
          </a:p>
          <a:p>
            <a:pPr marL="717550" lvl="1" indent="-342900">
              <a:lnSpc>
                <a:spcPct val="150000"/>
              </a:lnSpc>
            </a:pPr>
            <a:r>
              <a:rPr lang="en-US" sz="2000" dirty="0" err="1" smtClean="0"/>
              <a:t>Opeenvolgende</a:t>
            </a:r>
            <a:r>
              <a:rPr lang="en-US" sz="2000" dirty="0" smtClean="0"/>
              <a:t> </a:t>
            </a:r>
            <a:r>
              <a:rPr lang="en-US" sz="2000" dirty="0" err="1" smtClean="0"/>
              <a:t>waardes</a:t>
            </a:r>
            <a:r>
              <a:rPr lang="en-US" sz="2000" dirty="0" smtClean="0"/>
              <a:t> </a:t>
            </a:r>
            <a:r>
              <a:rPr lang="en-US" sz="2000" dirty="0" err="1" smtClean="0"/>
              <a:t>kunnen</a:t>
            </a:r>
            <a:r>
              <a:rPr lang="en-US" sz="2000" dirty="0" smtClean="0"/>
              <a:t> </a:t>
            </a:r>
            <a:r>
              <a:rPr lang="en-US" sz="2000" dirty="0" err="1" smtClean="0"/>
              <a:t>worden</a:t>
            </a:r>
            <a:r>
              <a:rPr lang="en-US" sz="2000" dirty="0" smtClean="0"/>
              <a:t> </a:t>
            </a:r>
            <a:r>
              <a:rPr lang="en-US" sz="2000" dirty="0" err="1" smtClean="0"/>
              <a:t>onderscheiden</a:t>
            </a:r>
            <a:endParaRPr lang="en-US" sz="2000" dirty="0" smtClean="0"/>
          </a:p>
          <a:p>
            <a:pPr marL="965200" lvl="2" indent="-342900">
              <a:lnSpc>
                <a:spcPct val="150000"/>
              </a:lnSpc>
            </a:pPr>
            <a:r>
              <a:rPr lang="en-US" sz="2000" dirty="0" err="1" smtClean="0"/>
              <a:t>Gehele</a:t>
            </a:r>
            <a:r>
              <a:rPr lang="en-US" sz="2000" dirty="0" smtClean="0"/>
              <a:t> </a:t>
            </a:r>
            <a:r>
              <a:rPr lang="en-US" sz="2000" dirty="0" err="1" smtClean="0"/>
              <a:t>getallen</a:t>
            </a:r>
            <a:r>
              <a:rPr lang="en-US" sz="2000" dirty="0" smtClean="0"/>
              <a:t> (</a:t>
            </a:r>
            <a:r>
              <a:rPr lang="en-US" sz="2000" dirty="0" err="1" smtClean="0"/>
              <a:t>aantallen</a:t>
            </a:r>
            <a:r>
              <a:rPr lang="en-US" sz="2000" dirty="0"/>
              <a:t>)</a:t>
            </a:r>
            <a:r>
              <a:rPr lang="en-US" sz="2000" dirty="0" smtClean="0"/>
              <a:t>, 1-6 (</a:t>
            </a:r>
            <a:r>
              <a:rPr lang="en-US" sz="2000" dirty="0" err="1" smtClean="0"/>
              <a:t>dobbelsteenworp</a:t>
            </a:r>
            <a:r>
              <a:rPr lang="en-US" sz="2000" dirty="0" smtClean="0"/>
              <a:t>), 0/1 (</a:t>
            </a:r>
            <a:r>
              <a:rPr lang="en-US" sz="2000" dirty="0" err="1" smtClean="0"/>
              <a:t>muntworp</a:t>
            </a:r>
            <a:r>
              <a:rPr lang="en-US" sz="2000" dirty="0" smtClean="0"/>
              <a:t>)</a:t>
            </a:r>
          </a:p>
          <a:p>
            <a:pPr marL="717550" lvl="1" indent="-342900">
              <a:lnSpc>
                <a:spcPct val="150000"/>
              </a:lnSpc>
            </a:pPr>
            <a:r>
              <a:rPr lang="en-US" sz="2000" b="1" dirty="0" err="1" smtClean="0">
                <a:solidFill>
                  <a:schemeClr val="accent1"/>
                </a:solidFill>
              </a:rPr>
              <a:t>Kansverdeling</a:t>
            </a:r>
            <a:r>
              <a:rPr lang="en-US" sz="2000" dirty="0" smtClean="0"/>
              <a:t>: </a:t>
            </a:r>
            <a:r>
              <a:rPr lang="en-US" sz="2000" dirty="0" err="1" smtClean="0"/>
              <a:t>elke</a:t>
            </a:r>
            <a:r>
              <a:rPr lang="en-US" sz="2000" dirty="0" smtClean="0"/>
              <a:t> </a:t>
            </a:r>
            <a:r>
              <a:rPr lang="en-US" sz="2000" dirty="0" err="1" smtClean="0"/>
              <a:t>uitkomst</a:t>
            </a:r>
            <a:r>
              <a:rPr lang="en-US" sz="2000" dirty="0" smtClean="0"/>
              <a:t> </a:t>
            </a:r>
            <a:r>
              <a:rPr lang="en-US" sz="2000" dirty="0" err="1" smtClean="0"/>
              <a:t>wordt</a:t>
            </a:r>
            <a:r>
              <a:rPr lang="en-US" sz="2000" dirty="0" smtClean="0"/>
              <a:t> met </a:t>
            </a:r>
            <a:r>
              <a:rPr lang="en-US" sz="2000" dirty="0" err="1" smtClean="0"/>
              <a:t>een</a:t>
            </a:r>
            <a:r>
              <a:rPr lang="en-US" sz="2000" dirty="0" smtClean="0"/>
              <a:t> </a:t>
            </a:r>
            <a:r>
              <a:rPr lang="en-US" sz="2000" dirty="0" err="1" smtClean="0"/>
              <a:t>bepaalde</a:t>
            </a:r>
            <a:r>
              <a:rPr lang="en-US" sz="2000" dirty="0" smtClean="0"/>
              <a:t> </a:t>
            </a:r>
            <a:r>
              <a:rPr lang="en-US" sz="2000" dirty="0" err="1" smtClean="0"/>
              <a:t>kans</a:t>
            </a:r>
            <a:endParaRPr lang="en-US" sz="2000" dirty="0" smtClean="0"/>
          </a:p>
          <a:p>
            <a:pPr lvl="1" indent="0">
              <a:lnSpc>
                <a:spcPct val="150000"/>
              </a:lnSpc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</a:t>
            </a:r>
            <a:r>
              <a:rPr lang="en-US" sz="2000" dirty="0" err="1" smtClean="0"/>
              <a:t>gerealiseerd</a:t>
            </a:r>
            <a:r>
              <a:rPr lang="en-US" sz="2000" dirty="0" smtClean="0"/>
              <a:t>, </a:t>
            </a:r>
            <a:r>
              <a:rPr lang="en-US" sz="2000" dirty="0" err="1" smtClean="0"/>
              <a:t>deze</a:t>
            </a:r>
            <a:r>
              <a:rPr lang="en-US" sz="2000" dirty="0" smtClean="0"/>
              <a:t> </a:t>
            </a:r>
            <a:r>
              <a:rPr lang="en-US" sz="2000" dirty="0" err="1" smtClean="0"/>
              <a:t>kans</a:t>
            </a:r>
            <a:r>
              <a:rPr lang="en-US" sz="2000" dirty="0" smtClean="0"/>
              <a:t> is </a:t>
            </a:r>
            <a:r>
              <a:rPr lang="en-US" sz="2000" dirty="0" err="1" smtClean="0"/>
              <a:t>een</a:t>
            </a:r>
            <a:r>
              <a:rPr lang="en-US" sz="2000" dirty="0" smtClean="0"/>
              <a:t> </a:t>
            </a:r>
            <a:r>
              <a:rPr lang="en-US" sz="2000" dirty="0" err="1" smtClean="0"/>
              <a:t>getal</a:t>
            </a:r>
            <a:r>
              <a:rPr lang="en-US" sz="2000" dirty="0" smtClean="0"/>
              <a:t> </a:t>
            </a:r>
            <a:r>
              <a:rPr lang="en-US" sz="2000" dirty="0" err="1" smtClean="0"/>
              <a:t>tussen</a:t>
            </a:r>
            <a:r>
              <a:rPr lang="en-US" sz="2000" dirty="0" smtClean="0"/>
              <a:t> 0 </a:t>
            </a:r>
            <a:r>
              <a:rPr lang="en-US" sz="2000" dirty="0" err="1" smtClean="0"/>
              <a:t>en</a:t>
            </a:r>
            <a:r>
              <a:rPr lang="en-US" sz="2000" dirty="0" smtClean="0"/>
              <a:t> 1.</a:t>
            </a:r>
            <a:endParaRPr lang="en-US" sz="2000" dirty="0"/>
          </a:p>
          <a:p>
            <a:pPr marL="717550" lvl="1" indent="-342900">
              <a:lnSpc>
                <a:spcPct val="150000"/>
              </a:lnSpc>
            </a:pPr>
            <a:endParaRPr lang="en-US" sz="1100" dirty="0" smtClean="0"/>
          </a:p>
          <a:p>
            <a:pPr lvl="1" indent="0">
              <a:lnSpc>
                <a:spcPct val="150000"/>
              </a:lnSpc>
              <a:buNone/>
            </a:pPr>
            <a:r>
              <a:rPr lang="en-US" sz="2000" b="1" dirty="0" err="1" smtClean="0"/>
              <a:t>Voorbeelden</a:t>
            </a:r>
            <a:r>
              <a:rPr lang="en-US" sz="2000" b="1" dirty="0" smtClean="0"/>
              <a:t>:</a:t>
            </a:r>
          </a:p>
          <a:p>
            <a:pPr marL="717550" lvl="1" indent="-342900">
              <a:lnSpc>
                <a:spcPct val="150000"/>
              </a:lnSpc>
            </a:pPr>
            <a:r>
              <a:rPr lang="en-US" sz="2000" dirty="0" err="1" smtClean="0"/>
              <a:t>Aantal</a:t>
            </a:r>
            <a:r>
              <a:rPr lang="en-US" sz="2000" dirty="0" smtClean="0"/>
              <a:t> </a:t>
            </a:r>
            <a:r>
              <a:rPr lang="en-US" sz="2000" dirty="0" err="1" smtClean="0"/>
              <a:t>onschadelijk</a:t>
            </a:r>
            <a:r>
              <a:rPr lang="en-US" sz="2000" dirty="0" smtClean="0"/>
              <a:t> </a:t>
            </a:r>
            <a:r>
              <a:rPr lang="en-US" sz="2000" dirty="0" err="1" smtClean="0"/>
              <a:t>gemaakte</a:t>
            </a:r>
            <a:r>
              <a:rPr lang="en-US" sz="2000" dirty="0" smtClean="0"/>
              <a:t> </a:t>
            </a:r>
            <a:r>
              <a:rPr lang="en-US" sz="2000" dirty="0" err="1" smtClean="0"/>
              <a:t>explosieven</a:t>
            </a:r>
            <a:r>
              <a:rPr lang="en-US" sz="2000" dirty="0" smtClean="0"/>
              <a:t> door EOD in </a:t>
            </a:r>
            <a:r>
              <a:rPr lang="en-US" sz="2000" dirty="0" err="1" smtClean="0"/>
              <a:t>een</a:t>
            </a:r>
            <a:r>
              <a:rPr lang="en-US" sz="2000" dirty="0" smtClean="0"/>
              <a:t> week</a:t>
            </a:r>
          </a:p>
          <a:p>
            <a:pPr marL="717550" lvl="1" indent="-342900">
              <a:lnSpc>
                <a:spcPct val="150000"/>
              </a:lnSpc>
            </a:pPr>
            <a:r>
              <a:rPr lang="en-US" sz="2000" dirty="0" err="1" smtClean="0"/>
              <a:t>Detectie</a:t>
            </a:r>
            <a:r>
              <a:rPr lang="en-US" sz="2000" dirty="0" smtClean="0"/>
              <a:t> van </a:t>
            </a:r>
            <a:r>
              <a:rPr lang="en-US" sz="2000" dirty="0" err="1" smtClean="0"/>
              <a:t>minstens</a:t>
            </a:r>
            <a:r>
              <a:rPr lang="en-US" sz="2000" dirty="0" smtClean="0"/>
              <a:t> </a:t>
            </a:r>
            <a:r>
              <a:rPr lang="en-US" sz="2000" dirty="0" err="1" smtClean="0"/>
              <a:t>één</a:t>
            </a:r>
            <a:r>
              <a:rPr lang="en-US" sz="2000" dirty="0" smtClean="0"/>
              <a:t> </a:t>
            </a:r>
            <a:r>
              <a:rPr lang="en-US" sz="2000" dirty="0" err="1" smtClean="0"/>
              <a:t>Russisch</a:t>
            </a:r>
            <a:r>
              <a:rPr lang="en-US" sz="2000" dirty="0" smtClean="0"/>
              <a:t> </a:t>
            </a:r>
            <a:r>
              <a:rPr lang="en-US" sz="2000" dirty="0" err="1" smtClean="0"/>
              <a:t>verkenningsschip</a:t>
            </a:r>
            <a:r>
              <a:rPr lang="en-US" sz="2000" dirty="0" smtClean="0"/>
              <a:t> op </a:t>
            </a:r>
            <a:r>
              <a:rPr lang="en-US" sz="2000" dirty="0" err="1" smtClean="0"/>
              <a:t>een</a:t>
            </a:r>
            <a:r>
              <a:rPr lang="en-US" sz="2000" dirty="0" smtClean="0"/>
              <a:t> </a:t>
            </a:r>
            <a:r>
              <a:rPr lang="en-US" sz="2000" dirty="0" err="1" smtClean="0"/>
              <a:t>willekeurige</a:t>
            </a:r>
            <a:r>
              <a:rPr lang="en-US" sz="2000" dirty="0" smtClean="0"/>
              <a:t> dag (0 / 1-variabele)</a:t>
            </a: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8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535" y="3356992"/>
            <a:ext cx="2555042" cy="1702680"/>
          </a:xfrm>
          <a:prstGeom prst="rect">
            <a:avLst/>
          </a:prstGeom>
        </p:spPr>
      </p:pic>
      <p:sp>
        <p:nvSpPr>
          <p:cNvPr id="5" name="Rechthoek 4"/>
          <p:cNvSpPr/>
          <p:nvPr/>
        </p:nvSpPr>
        <p:spPr>
          <a:xfrm>
            <a:off x="9120336" y="5166175"/>
            <a:ext cx="448816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latin typeface="+mn-lt"/>
              </a:rPr>
              <a:t>https://www.defensie.nl/organisatie/landmacht/eenheden/oocl/eod</a:t>
            </a:r>
          </a:p>
        </p:txBody>
      </p:sp>
    </p:spTree>
    <p:extLst>
      <p:ext uri="{BB962C8B-B14F-4D97-AF65-F5344CB8AC3E}">
        <p14:creationId xmlns:p14="http://schemas.microsoft.com/office/powerpoint/2010/main" val="413485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smtClean="0"/>
              <a:t>Discrete </a:t>
            </a:r>
            <a:r>
              <a:rPr lang="en-US" b="1" dirty="0" err="1" smtClean="0"/>
              <a:t>kansvariabelen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4917" y="1772816"/>
                <a:ext cx="10363200" cy="4246562"/>
              </a:xfrm>
            </p:spPr>
            <p:txBody>
              <a:bodyPr anchor="ctr"/>
              <a:lstStyle/>
              <a:p>
                <a:pPr marL="717550" lvl="1" indent="-3429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/>
                  <a:t>is </a:t>
                </a:r>
                <a:r>
                  <a:rPr lang="en-US" sz="2400" dirty="0" err="1" smtClean="0"/>
                  <a:t>een</a:t>
                </a:r>
                <a:r>
                  <a:rPr lang="en-US" sz="2400" dirty="0" smtClean="0"/>
                  <a:t> </a:t>
                </a:r>
                <a:r>
                  <a:rPr lang="en-US" sz="2400" b="1" dirty="0" smtClean="0">
                    <a:solidFill>
                      <a:schemeClr val="accent1"/>
                    </a:solidFill>
                  </a:rPr>
                  <a:t>discrete </a:t>
                </a:r>
                <a:r>
                  <a:rPr lang="en-US" sz="2400" b="1" dirty="0" err="1" smtClean="0">
                    <a:solidFill>
                      <a:schemeClr val="accent1"/>
                    </a:solidFill>
                  </a:rPr>
                  <a:t>kansvariabele</a:t>
                </a:r>
                <a:r>
                  <a:rPr lang="en-US" sz="2400" b="1" dirty="0" smtClean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nl-NL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(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hoofdletter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)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marL="717550" lvl="1" indent="-342900">
                  <a:lnSpc>
                    <a:spcPct val="150000"/>
                  </a:lnSpc>
                </a:pPr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 marL="717550" lvl="1" indent="-3429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 smtClean="0"/>
                  <a:t> is </a:t>
                </a:r>
                <a:r>
                  <a:rPr lang="en-US" sz="2400" dirty="0" err="1" smtClean="0"/>
                  <a:t>een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specifieke</a:t>
                </a:r>
                <a:r>
                  <a:rPr lang="en-US" sz="2400" dirty="0" smtClean="0"/>
                  <a:t> </a:t>
                </a:r>
                <a:r>
                  <a:rPr lang="en-US" sz="2400" b="1" dirty="0" err="1" smtClean="0">
                    <a:solidFill>
                      <a:schemeClr val="accent1"/>
                    </a:solidFill>
                  </a:rPr>
                  <a:t>uitkomst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, </a:t>
                </a:r>
                <a:r>
                  <a:rPr lang="en-US" sz="2400" dirty="0" err="1" smtClean="0"/>
                  <a:t>bijvoorbeeld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0, 1, 2, 3, …</m:t>
                    </m:r>
                  </m:oMath>
                </a14:m>
                <a:r>
                  <a:rPr lang="en-US" sz="2400" b="0" i="1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(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kleine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letter)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 marL="717550" lvl="1" indent="-3429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400" dirty="0" smtClean="0"/>
                  <a:t> is de </a:t>
                </a:r>
                <a:r>
                  <a:rPr lang="en-US" sz="2400" b="1" dirty="0" err="1" smtClean="0">
                    <a:solidFill>
                      <a:schemeClr val="accent1"/>
                    </a:solidFill>
                  </a:rPr>
                  <a:t>kans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dat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variabele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 smtClean="0"/>
                  <a:t> de waarde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/>
                  <a:t>aanneemt</a:t>
                </a:r>
              </a:p>
              <a:p>
                <a:pPr marL="717550" lvl="1" indent="-342900">
                  <a:lnSpc>
                    <a:spcPct val="150000"/>
                  </a:lnSpc>
                </a:pPr>
                <a:endParaRPr lang="en-US" sz="2400" dirty="0" smtClean="0"/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sz="2400" dirty="0" smtClean="0"/>
                  <a:t>De </a:t>
                </a:r>
                <a:r>
                  <a:rPr lang="en-US" sz="2400" dirty="0" err="1" smtClean="0"/>
                  <a:t>functie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nl-NL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 smtClean="0"/>
                  <a:t> met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noemen</a:t>
                </a:r>
                <a:r>
                  <a:rPr lang="en-US" sz="2400" dirty="0" smtClean="0"/>
                  <a:t> we de </a:t>
                </a:r>
                <a:r>
                  <a:rPr lang="en-US" sz="2400" b="1" dirty="0" err="1" smtClean="0">
                    <a:solidFill>
                      <a:schemeClr val="accent1"/>
                    </a:solidFill>
                  </a:rPr>
                  <a:t>kansfunctie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van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400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4917" y="1772816"/>
                <a:ext cx="10363200" cy="424656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3431704" y="292494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307020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7" y="1265239"/>
                <a:ext cx="10363200" cy="400110"/>
              </a:xfrm>
            </p:spPr>
            <p:txBody>
              <a:bodyPr/>
              <a:lstStyle/>
              <a:p>
                <a:pPr eaLnBrk="1" hangingPunct="1"/>
                <a:r>
                  <a:rPr lang="en-US" b="1" dirty="0" smtClean="0"/>
                  <a:t>Twee </a:t>
                </a:r>
                <a:r>
                  <a:rPr lang="en-US" b="1" dirty="0" err="1" smtClean="0"/>
                  <a:t>manieren</a:t>
                </a:r>
                <a:r>
                  <a:rPr lang="en-US" b="1" dirty="0" smtClean="0"/>
                  <a:t> om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kansfunctie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nl-NL" b="1" dirty="0" smtClean="0"/>
                  <a:t> te beschrijven</a:t>
                </a:r>
              </a:p>
            </p:txBody>
          </p:sp>
        </mc:Choice>
        <mc:Fallback xmlns=""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7" y="1265239"/>
                <a:ext cx="10363200" cy="400110"/>
              </a:xfrm>
              <a:blipFill>
                <a:blip r:embed="rId2"/>
                <a:stretch>
                  <a:fillRect l="-1941" t="-26154" b="-5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814916" y="1916832"/>
            <a:ext cx="1118574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+mn-lt"/>
            </a:endParaRPr>
          </a:p>
          <a:p>
            <a:endParaRPr lang="en-US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 smtClean="0">
              <a:latin typeface="+mn-lt"/>
            </a:endParaRPr>
          </a:p>
          <a:p>
            <a:endParaRPr lang="en-US" dirty="0">
              <a:latin typeface="+mj-lt"/>
            </a:endParaRPr>
          </a:p>
          <a:p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8471961"/>
                  </p:ext>
                </p:extLst>
              </p:nvPr>
            </p:nvGraphicFramePr>
            <p:xfrm>
              <a:off x="307974" y="3356992"/>
              <a:ext cx="6220074" cy="11248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699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549292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585012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540032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570460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540032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585012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585012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570460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549292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530771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4878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2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3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4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5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6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7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8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9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0.10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0.09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0.12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0.07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0.15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0.09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0.08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0.07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0.10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0.13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8471961"/>
                  </p:ext>
                </p:extLst>
              </p:nvPr>
            </p:nvGraphicFramePr>
            <p:xfrm>
              <a:off x="307974" y="3356992"/>
              <a:ext cx="6220074" cy="11248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699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549292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585012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540032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570460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540032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585012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585012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570460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549292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530771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487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90" t="-1099" r="-915842" b="-1065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2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3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4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5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6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7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8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9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90" t="-96842" r="-915842" b="-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0.10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0.09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0.12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0.07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0.15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0.09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0.08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0.07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0.10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0.13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" t="5704" r="8163" b="782"/>
          <a:stretch/>
        </p:blipFill>
        <p:spPr>
          <a:xfrm>
            <a:off x="6600056" y="2045572"/>
            <a:ext cx="5328592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93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Eigenschappen</a:t>
            </a:r>
            <a:r>
              <a:rPr lang="en-US" b="1" dirty="0" smtClean="0"/>
              <a:t> van de </a:t>
            </a:r>
            <a:r>
              <a:rPr lang="en-US" b="1" dirty="0" err="1" smtClean="0"/>
              <a:t>kansfunctie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14916" y="1916832"/>
                <a:ext cx="11185740" cy="4472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+mn-lt"/>
                  </a:rPr>
                  <a:t>De </a:t>
                </a:r>
                <a:r>
                  <a:rPr lang="en-US" sz="2400" dirty="0" err="1" smtClean="0">
                    <a:latin typeface="+mn-lt"/>
                  </a:rPr>
                  <a:t>kans</a:t>
                </a:r>
                <a:r>
                  <a:rPr lang="en-US" sz="2400" dirty="0" smtClean="0">
                    <a:latin typeface="+mn-lt"/>
                  </a:rPr>
                  <a:t> op </a:t>
                </a:r>
                <a:r>
                  <a:rPr lang="en-US" sz="2400" dirty="0" err="1" smtClean="0">
                    <a:latin typeface="+mn-lt"/>
                  </a:rPr>
                  <a:t>een</a:t>
                </a:r>
                <a:r>
                  <a:rPr lang="en-US" sz="2400" dirty="0" smtClean="0">
                    <a:latin typeface="+mn-lt"/>
                  </a:rPr>
                  <a:t> </a:t>
                </a:r>
                <a:r>
                  <a:rPr lang="en-US" sz="2400" dirty="0" err="1" smtClean="0">
                    <a:latin typeface="+mn-lt"/>
                  </a:rPr>
                  <a:t>bepaalde</a:t>
                </a:r>
                <a:r>
                  <a:rPr lang="en-US" sz="2400" dirty="0" smtClean="0">
                    <a:latin typeface="+mn-lt"/>
                  </a:rPr>
                  <a:t> </a:t>
                </a:r>
                <a:r>
                  <a:rPr lang="en-US" sz="2400" dirty="0" err="1" smtClean="0">
                    <a:latin typeface="+mn-lt"/>
                  </a:rPr>
                  <a:t>uitkomst</a:t>
                </a:r>
                <a:r>
                  <a:rPr lang="en-US" sz="2400" dirty="0" smtClean="0">
                    <a:latin typeface="+mn-lt"/>
                  </a:rPr>
                  <a:t> is </a:t>
                </a:r>
                <a:r>
                  <a:rPr lang="en-US" sz="2400" dirty="0" err="1" smtClean="0">
                    <a:latin typeface="+mn-lt"/>
                  </a:rPr>
                  <a:t>altijd</a:t>
                </a:r>
                <a:r>
                  <a:rPr lang="en-US" sz="2400" dirty="0" smtClean="0">
                    <a:latin typeface="+mn-lt"/>
                  </a:rPr>
                  <a:t> </a:t>
                </a:r>
                <a:r>
                  <a:rPr lang="en-US" sz="2400" dirty="0" err="1" smtClean="0">
                    <a:latin typeface="+mn-lt"/>
                  </a:rPr>
                  <a:t>een</a:t>
                </a:r>
                <a:r>
                  <a:rPr lang="en-US" sz="2400" dirty="0" smtClean="0">
                    <a:latin typeface="+mn-lt"/>
                  </a:rPr>
                  <a:t> </a:t>
                </a:r>
                <a:r>
                  <a:rPr lang="en-US" sz="2400" dirty="0" err="1" smtClean="0">
                    <a:latin typeface="+mn-lt"/>
                  </a:rPr>
                  <a:t>getal</a:t>
                </a:r>
                <a:r>
                  <a:rPr lang="en-US" sz="2400" dirty="0" smtClean="0">
                    <a:latin typeface="+mn-lt"/>
                  </a:rPr>
                  <a:t> </a:t>
                </a:r>
                <a:r>
                  <a:rPr lang="en-US" sz="2400" dirty="0" err="1" smtClean="0">
                    <a:latin typeface="+mn-lt"/>
                  </a:rPr>
                  <a:t>tussen</a:t>
                </a:r>
                <a:r>
                  <a:rPr lang="en-US" sz="2400" dirty="0" smtClean="0">
                    <a:latin typeface="+mn-lt"/>
                  </a:rPr>
                  <a:t> 0 </a:t>
                </a:r>
                <a:r>
                  <a:rPr lang="en-US" sz="2400" dirty="0" err="1" smtClean="0">
                    <a:latin typeface="+mn-lt"/>
                  </a:rPr>
                  <a:t>en</a:t>
                </a:r>
                <a:r>
                  <a:rPr lang="en-US" sz="2400" dirty="0" smtClean="0">
                    <a:latin typeface="+mn-lt"/>
                  </a:rPr>
                  <a:t> 1: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 smtClean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sz="2400" dirty="0" smtClean="0">
                  <a:latin typeface="+mn-lt"/>
                </a:endParaRPr>
              </a:p>
              <a:p>
                <a:endParaRPr lang="en-US" sz="2400" dirty="0" smtClean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+mn-lt"/>
                  </a:rPr>
                  <a:t>De </a:t>
                </a:r>
                <a:r>
                  <a:rPr lang="en-US" sz="2400" dirty="0" err="1" smtClean="0">
                    <a:latin typeface="+mn-lt"/>
                  </a:rPr>
                  <a:t>som</a:t>
                </a:r>
                <a:r>
                  <a:rPr lang="en-US" sz="2400" dirty="0" smtClean="0">
                    <a:latin typeface="+mn-lt"/>
                  </a:rPr>
                  <a:t> van </a:t>
                </a:r>
                <a:r>
                  <a:rPr lang="en-US" sz="2400" dirty="0" err="1" smtClean="0">
                    <a:latin typeface="+mn-lt"/>
                  </a:rPr>
                  <a:t>alle</a:t>
                </a:r>
                <a:r>
                  <a:rPr lang="en-US" sz="2400" dirty="0" smtClean="0">
                    <a:latin typeface="+mn-lt"/>
                  </a:rPr>
                  <a:t> </a:t>
                </a:r>
                <a:r>
                  <a:rPr lang="en-US" sz="2400" dirty="0" err="1" smtClean="0">
                    <a:latin typeface="+mn-lt"/>
                  </a:rPr>
                  <a:t>kansen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smtClean="0">
                    <a:latin typeface="+mn-lt"/>
                  </a:rPr>
                  <a:t>over </a:t>
                </a:r>
                <a:r>
                  <a:rPr lang="en-US" sz="2400" dirty="0" err="1" smtClean="0">
                    <a:latin typeface="+mn-lt"/>
                  </a:rPr>
                  <a:t>alle</a:t>
                </a:r>
                <a:r>
                  <a:rPr lang="en-US" sz="2400" dirty="0" smtClean="0">
                    <a:latin typeface="+mn-lt"/>
                  </a:rPr>
                  <a:t> </a:t>
                </a:r>
                <a:r>
                  <a:rPr lang="en-US" sz="2400" dirty="0" err="1" smtClean="0">
                    <a:latin typeface="+mn-lt"/>
                  </a:rPr>
                  <a:t>uitkomsten</a:t>
                </a:r>
                <a:r>
                  <a:rPr lang="en-US" sz="2400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 smtClean="0">
                    <a:latin typeface="+mn-lt"/>
                  </a:rPr>
                  <a:t> in de </a:t>
                </a:r>
                <a:r>
                  <a:rPr lang="en-US" sz="2400" dirty="0" err="1" smtClean="0">
                    <a:latin typeface="+mn-lt"/>
                  </a:rPr>
                  <a:t>uitkomstenruimte</a:t>
                </a:r>
                <a:r>
                  <a:rPr lang="en-US" sz="2400" dirty="0" smtClean="0">
                    <a:latin typeface="+mn-lt"/>
                  </a:rPr>
                  <a:t> is </a:t>
                </a:r>
                <a:r>
                  <a:rPr lang="en-US" sz="2400" dirty="0" err="1" smtClean="0">
                    <a:latin typeface="+mn-lt"/>
                  </a:rPr>
                  <a:t>gelijk</a:t>
                </a:r>
                <a:r>
                  <a:rPr lang="en-US" sz="2400" dirty="0" smtClean="0">
                    <a:latin typeface="+mn-lt"/>
                  </a:rPr>
                  <a:t> </a:t>
                </a:r>
                <a:r>
                  <a:rPr lang="en-US" sz="2400" dirty="0" err="1" smtClean="0">
                    <a:latin typeface="+mn-lt"/>
                  </a:rPr>
                  <a:t>aan</a:t>
                </a:r>
                <a:endParaRPr lang="en-US" sz="2400" dirty="0" smtClean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b="0" dirty="0" smtClean="0"/>
              </a:p>
              <a:p>
                <a:endParaRPr lang="nl-NL" b="1" dirty="0" smtClean="0">
                  <a:latin typeface="+mn-lt"/>
                </a:endParaRPr>
              </a:p>
              <a:p>
                <a:r>
                  <a:rPr lang="nl-NL" b="1" dirty="0" smtClean="0">
                    <a:latin typeface="+mn-lt"/>
                  </a:rPr>
                  <a:t>Voorbeeld (dobbelsteen): </a:t>
                </a:r>
                <a:r>
                  <a:rPr lang="nl-NL" dirty="0" smtClean="0">
                    <a:latin typeface="+mn-lt"/>
                  </a:rPr>
                  <a:t>de </a:t>
                </a:r>
                <a:r>
                  <a:rPr lang="nl-NL" dirty="0" err="1" smtClean="0">
                    <a:latin typeface="+mn-lt"/>
                  </a:rPr>
                  <a:t>kansvariabele</a:t>
                </a:r>
                <a:r>
                  <a:rPr lang="nl-NL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nl-NL" dirty="0" smtClean="0">
                    <a:latin typeface="+mn-lt"/>
                  </a:rPr>
                  <a:t> heeft uitkomstenruimte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1,2,3,4,5,6</m:t>
                        </m:r>
                      </m:e>
                    </m:d>
                    <m:r>
                      <a:rPr lang="nl-NL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nl-NL" b="0" dirty="0" smtClean="0">
                  <a:latin typeface="+mn-lt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nl-NL" dirty="0" smtClean="0">
                    <a:latin typeface="+mn-lt"/>
                  </a:rPr>
                  <a:t>Er geldt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=…=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(6)=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nl-N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NL" dirty="0" smtClean="0">
                    <a:latin typeface="+mn-lt"/>
                  </a:rPr>
                  <a:t>voor iedere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nl-NL" dirty="0" smtClean="0">
                    <a:latin typeface="+mn-lt"/>
                  </a:rPr>
                  <a:t> in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nl-NL" dirty="0" smtClean="0">
                    <a:latin typeface="+mn-lt"/>
                  </a:rPr>
                  <a:t>, en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nl-NL" b="0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d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f>
                          <m:f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nl-NL" dirty="0" smtClean="0">
                    <a:latin typeface="+mn-lt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16" y="1916832"/>
                <a:ext cx="11185740" cy="4472699"/>
              </a:xfrm>
              <a:prstGeom prst="rect">
                <a:avLst/>
              </a:prstGeom>
              <a:blipFill>
                <a:blip r:embed="rId2"/>
                <a:stretch>
                  <a:fillRect l="-763" t="-1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23613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Cumulatieve</a:t>
            </a:r>
            <a:r>
              <a:rPr lang="en-US" b="1" dirty="0"/>
              <a:t> </a:t>
            </a:r>
            <a:r>
              <a:rPr lang="en-US" b="1" dirty="0" err="1" smtClean="0"/>
              <a:t>verdelingsfunctie</a:t>
            </a:r>
            <a:r>
              <a:rPr lang="en-US" b="1" dirty="0" smtClean="0"/>
              <a:t> (CDF)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14916" y="1916832"/>
                <a:ext cx="11257748" cy="4976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+mn-lt"/>
                  </a:rPr>
                  <a:t>De </a:t>
                </a:r>
                <a:r>
                  <a:rPr lang="en-US" b="1" dirty="0" err="1" smtClean="0">
                    <a:solidFill>
                      <a:schemeClr val="accent1"/>
                    </a:solidFill>
                    <a:latin typeface="+mj-lt"/>
                  </a:rPr>
                  <a:t>cumulatieve</a:t>
                </a:r>
                <a:r>
                  <a:rPr lang="en-US" b="1" dirty="0" smtClean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b="1" dirty="0" err="1">
                    <a:solidFill>
                      <a:schemeClr val="accent1"/>
                    </a:solidFill>
                    <a:latin typeface="+mj-lt"/>
                  </a:rPr>
                  <a:t>verdelingsfunctie</a:t>
                </a:r>
                <a:r>
                  <a:rPr lang="en-US" b="1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b="1" dirty="0" smtClean="0">
                    <a:solidFill>
                      <a:schemeClr val="accent1"/>
                    </a:solidFill>
                    <a:latin typeface="+mn-lt"/>
                  </a:rPr>
                  <a:t>(</a:t>
                </a:r>
                <a:r>
                  <a:rPr lang="en-US" i="1" dirty="0" smtClean="0">
                    <a:solidFill>
                      <a:schemeClr val="accent1"/>
                    </a:solidFill>
                    <a:latin typeface="+mn-lt"/>
                  </a:rPr>
                  <a:t>“cumulative distribution function”, </a:t>
                </a:r>
                <a:r>
                  <a:rPr lang="en-US" i="1" dirty="0" err="1" smtClean="0">
                    <a:solidFill>
                      <a:schemeClr val="accent1"/>
                    </a:solidFill>
                    <a:latin typeface="+mn-lt"/>
                  </a:rPr>
                  <a:t>oftewel</a:t>
                </a:r>
                <a:r>
                  <a:rPr lang="en-US" i="1" dirty="0" smtClean="0">
                    <a:solidFill>
                      <a:schemeClr val="accent1"/>
                    </a:solidFill>
                    <a:latin typeface="+mn-lt"/>
                  </a:rPr>
                  <a:t> CDF)  </a:t>
                </a:r>
                <a:r>
                  <a:rPr lang="en-US" dirty="0" err="1" smtClean="0">
                    <a:latin typeface="+mn-lt"/>
                  </a:rPr>
                  <a:t>beschrijft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kansen</a:t>
                </a:r>
                <a:r>
                  <a:rPr lang="en-US" dirty="0" smtClean="0">
                    <a:latin typeface="+mn-lt"/>
                  </a:rPr>
                  <a:t> op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waarde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kleiner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dan</a:t>
                </a:r>
                <a:r>
                  <a:rPr lang="en-US" dirty="0" smtClean="0">
                    <a:latin typeface="+mn-lt"/>
                  </a:rPr>
                  <a:t> of </a:t>
                </a:r>
                <a:r>
                  <a:rPr lang="en-US" dirty="0" err="1" smtClean="0">
                    <a:latin typeface="+mn-lt"/>
                  </a:rPr>
                  <a:t>gelijk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aan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 smtClean="0">
                    <a:latin typeface="+mn-lt"/>
                  </a:rPr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ℓ:ℓ≤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=ℓ)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ℓ:ℓ≤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(ℓ)</m:t>
                          </m:r>
                        </m:e>
                      </m:nary>
                    </m:oMath>
                  </m:oMathPara>
                </a14:m>
                <a:endParaRPr lang="en-US" dirty="0" smtClean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endParaRPr lang="nl-NL" dirty="0" smtClean="0">
                  <a:latin typeface="+mn-lt"/>
                </a:endParaRPr>
              </a:p>
              <a:p>
                <a:endParaRPr lang="en-US" dirty="0" smtClean="0">
                  <a:latin typeface="+mn-lt"/>
                </a:endParaRPr>
              </a:p>
              <a:p>
                <a:r>
                  <a:rPr lang="en-US" dirty="0" err="1" smtClean="0">
                    <a:latin typeface="+mn-lt"/>
                  </a:rPr>
                  <a:t>Sommige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berekeningen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kunnen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sneller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gedaan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worden</a:t>
                </a:r>
                <a:r>
                  <a:rPr lang="en-US" dirty="0" smtClean="0">
                    <a:latin typeface="+mn-lt"/>
                  </a:rPr>
                  <a:t> met de CDF in </a:t>
                </a:r>
                <a:r>
                  <a:rPr lang="en-US" dirty="0" err="1" smtClean="0">
                    <a:latin typeface="+mn-lt"/>
                  </a:rPr>
                  <a:t>plaats</a:t>
                </a:r>
                <a:r>
                  <a:rPr lang="en-US" dirty="0" smtClean="0">
                    <a:latin typeface="+mn-lt"/>
                  </a:rPr>
                  <a:t> van de </a:t>
                </a:r>
                <a:r>
                  <a:rPr lang="en-US" dirty="0" err="1" smtClean="0">
                    <a:latin typeface="+mn-lt"/>
                  </a:rPr>
                  <a:t>kansfunctie</a:t>
                </a:r>
                <a:r>
                  <a:rPr lang="en-US" dirty="0" smtClean="0">
                    <a:latin typeface="+mn-lt"/>
                  </a:rPr>
                  <a:t>!</a:t>
                </a:r>
                <a:endParaRPr lang="nl-NL" dirty="0" smtClean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 smtClean="0">
                  <a:latin typeface="+mn-lt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16" y="1916832"/>
                <a:ext cx="11257748" cy="4976491"/>
              </a:xfrm>
              <a:prstGeom prst="rect">
                <a:avLst/>
              </a:prstGeom>
              <a:blipFill>
                <a:blip r:embed="rId3"/>
                <a:stretch>
                  <a:fillRect l="-704" t="-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704170"/>
                  </p:ext>
                </p:extLst>
              </p:nvPr>
            </p:nvGraphicFramePr>
            <p:xfrm>
              <a:off x="470265" y="3645024"/>
              <a:ext cx="11387303" cy="1530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00313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101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4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6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9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0.13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0.53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0.62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0.87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7662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5000594"/>
                  </p:ext>
                </p:extLst>
              </p:nvPr>
            </p:nvGraphicFramePr>
            <p:xfrm>
              <a:off x="470265" y="3645024"/>
              <a:ext cx="11387303" cy="1530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00313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10164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244" t="-7143" r="-356829" b="-2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4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6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9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244" t="-105882" r="-356829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0.13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244" t="-208333" r="-356829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0.53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0.62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0.87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7662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816080" y="160338"/>
                <a:ext cx="5184576" cy="715870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800" dirty="0" smtClean="0">
                    <a:latin typeface="+mn-lt"/>
                  </a:rPr>
                  <a:t>De </a:t>
                </a:r>
                <a:r>
                  <a:rPr lang="en-US" sz="1800" dirty="0" err="1" smtClean="0">
                    <a:latin typeface="+mn-lt"/>
                  </a:rPr>
                  <a:t>notatie</a:t>
                </a:r>
                <a:r>
                  <a:rPr lang="en-US" sz="1800" dirty="0" smtClean="0">
                    <a:latin typeface="+mn-lt"/>
                  </a:rPr>
                  <a:t> “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ℓ:ℓ≤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(ℓ)</m:t>
                        </m:r>
                      </m:e>
                    </m:nary>
                  </m:oMath>
                </a14:m>
                <a:r>
                  <a:rPr lang="en-US" sz="1800" dirty="0" smtClean="0">
                    <a:latin typeface="+mn-lt"/>
                  </a:rPr>
                  <a:t>” </a:t>
                </a:r>
                <a:r>
                  <a:rPr lang="en-US" sz="1800" dirty="0" err="1" smtClean="0">
                    <a:latin typeface="+mn-lt"/>
                  </a:rPr>
                  <a:t>betekent</a:t>
                </a:r>
                <a:r>
                  <a:rPr lang="en-US" sz="1800" dirty="0" smtClean="0">
                    <a:latin typeface="+mn-lt"/>
                  </a:rPr>
                  <a:t>: </a:t>
                </a:r>
                <a:r>
                  <a:rPr lang="en-US" sz="1800" dirty="0" err="1" smtClean="0">
                    <a:latin typeface="+mn-lt"/>
                  </a:rPr>
                  <a:t>som</a:t>
                </a:r>
                <a:r>
                  <a:rPr lang="en-US" sz="1800" dirty="0" smtClean="0">
                    <a:latin typeface="+mn-lt"/>
                  </a:rPr>
                  <a:t> van </a:t>
                </a:r>
                <a:r>
                  <a:rPr lang="en-US" sz="1800" dirty="0" err="1" smtClean="0">
                    <a:latin typeface="+mn-lt"/>
                  </a:rPr>
                  <a:t>kansen</a:t>
                </a:r>
                <a:r>
                  <a:rPr lang="en-US" sz="1800" dirty="0" smtClean="0">
                    <a:latin typeface="+mn-lt"/>
                  </a:rPr>
                  <a:t> op </a:t>
                </a:r>
                <a:r>
                  <a:rPr lang="en-US" sz="1800" dirty="0" err="1" smtClean="0">
                    <a:latin typeface="+mn-lt"/>
                  </a:rPr>
                  <a:t>een</a:t>
                </a:r>
                <a:r>
                  <a:rPr lang="en-US" sz="1800" dirty="0" smtClean="0">
                    <a:latin typeface="+mn-lt"/>
                  </a:rPr>
                  <a:t> </a:t>
                </a:r>
                <a:r>
                  <a:rPr lang="en-US" sz="1800" dirty="0" err="1" smtClean="0">
                    <a:latin typeface="+mn-lt"/>
                  </a:rPr>
                  <a:t>uitkomst</a:t>
                </a:r>
                <a:r>
                  <a:rPr lang="en-US" sz="1800" dirty="0" smtClean="0">
                    <a:latin typeface="+mn-lt"/>
                  </a:rPr>
                  <a:t> </a:t>
                </a:r>
                <a:r>
                  <a:rPr lang="en-US" sz="1800" b="0" dirty="0" err="1" smtClean="0">
                    <a:latin typeface="+mn-lt"/>
                  </a:rPr>
                  <a:t>kleiner</a:t>
                </a:r>
                <a:r>
                  <a:rPr lang="en-US" sz="1800" b="0" dirty="0" smtClean="0">
                    <a:latin typeface="+mn-lt"/>
                  </a:rPr>
                  <a:t> </a:t>
                </a:r>
                <a:r>
                  <a:rPr lang="en-US" sz="1800" b="0" dirty="0" err="1" smtClean="0">
                    <a:latin typeface="+mn-lt"/>
                  </a:rPr>
                  <a:t>dan</a:t>
                </a:r>
                <a:r>
                  <a:rPr lang="en-US" sz="1800" b="0" dirty="0" smtClean="0">
                    <a:latin typeface="+mn-lt"/>
                  </a:rPr>
                  <a:t> of </a:t>
                </a:r>
                <a:r>
                  <a:rPr lang="en-US" sz="1800" b="0" dirty="0" err="1" smtClean="0">
                    <a:latin typeface="+mn-lt"/>
                  </a:rPr>
                  <a:t>gelijk</a:t>
                </a:r>
                <a:r>
                  <a:rPr lang="en-US" sz="1800" b="0" dirty="0" smtClean="0">
                    <a:latin typeface="+mn-lt"/>
                  </a:rPr>
                  <a:t> </a:t>
                </a:r>
                <a:r>
                  <a:rPr lang="en-US" sz="1800" b="0" dirty="0" err="1" smtClean="0">
                    <a:latin typeface="+mn-lt"/>
                  </a:rPr>
                  <a:t>aan</a:t>
                </a:r>
                <a:r>
                  <a:rPr lang="en-US" sz="1800" b="0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nl-NL" sz="1800" dirty="0" smtClean="0">
                    <a:latin typeface="+mn-lt"/>
                  </a:rPr>
                  <a:t>.</a:t>
                </a:r>
                <a:endParaRPr lang="nl-NL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80" y="160338"/>
                <a:ext cx="5184576" cy="715870"/>
              </a:xfrm>
              <a:prstGeom prst="roundRect">
                <a:avLst/>
              </a:prstGeom>
              <a:blipFill>
                <a:blip r:embed="rId5"/>
                <a:stretch>
                  <a:fillRect l="-117" t="-52459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p:sp>
        <p:nvSpPr>
          <p:cNvPr id="3" name="Afgeronde rechthoek 2"/>
          <p:cNvSpPr/>
          <p:nvPr/>
        </p:nvSpPr>
        <p:spPr bwMode="auto">
          <a:xfrm>
            <a:off x="4511824" y="332656"/>
            <a:ext cx="914400" cy="914400"/>
          </a:xfrm>
          <a:prstGeom prst="round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26" name="Groep 25"/>
          <p:cNvGrpSpPr/>
          <p:nvPr/>
        </p:nvGrpSpPr>
        <p:grpSpPr>
          <a:xfrm>
            <a:off x="2999656" y="4221088"/>
            <a:ext cx="1728192" cy="576064"/>
            <a:chOff x="2999656" y="4221088"/>
            <a:chExt cx="1728192" cy="576064"/>
          </a:xfrm>
        </p:grpSpPr>
        <p:sp>
          <p:nvSpPr>
            <p:cNvPr id="4" name="Afgeronde rechthoek 3"/>
            <p:cNvSpPr/>
            <p:nvPr/>
          </p:nvSpPr>
          <p:spPr bwMode="auto">
            <a:xfrm>
              <a:off x="2999656" y="4221088"/>
              <a:ext cx="1728192" cy="360040"/>
            </a:xfrm>
            <a:prstGeom prst="roundRect">
              <a:avLst/>
            </a:prstGeom>
            <a:noFill/>
            <a:ln w="57150">
              <a:solidFill>
                <a:srgbClr val="00B050"/>
              </a:solidFill>
            </a:ln>
            <a:effectLst/>
            <a:extLst/>
          </p:spPr>
          <p:txBody>
            <a:bodyPr vert="horz" wrap="square" lIns="0" tIns="0" rIns="0" bIns="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cxnSp>
          <p:nvCxnSpPr>
            <p:cNvPr id="22" name="Rechte verbindingslijn met pijl 21"/>
            <p:cNvCxnSpPr>
              <a:stCxn id="4" idx="2"/>
            </p:cNvCxnSpPr>
            <p:nvPr/>
          </p:nvCxnSpPr>
          <p:spPr bwMode="auto">
            <a:xfrm>
              <a:off x="3863752" y="4581128"/>
              <a:ext cx="288032" cy="216024"/>
            </a:xfrm>
            <a:prstGeom prst="straightConnector1">
              <a:avLst/>
            </a:prstGeom>
            <a:noFill/>
            <a:ln w="38100" cap="rnd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" name="Groep 27"/>
          <p:cNvGrpSpPr/>
          <p:nvPr/>
        </p:nvGrpSpPr>
        <p:grpSpPr>
          <a:xfrm>
            <a:off x="2972619" y="4221088"/>
            <a:ext cx="2592288" cy="576064"/>
            <a:chOff x="3990504" y="5343831"/>
            <a:chExt cx="1728192" cy="576064"/>
          </a:xfrm>
        </p:grpSpPr>
        <p:sp>
          <p:nvSpPr>
            <p:cNvPr id="29" name="Afgeronde rechthoek 28"/>
            <p:cNvSpPr/>
            <p:nvPr/>
          </p:nvSpPr>
          <p:spPr bwMode="auto">
            <a:xfrm>
              <a:off x="3990504" y="5343831"/>
              <a:ext cx="1728192" cy="360040"/>
            </a:xfrm>
            <a:prstGeom prst="roundRect">
              <a:avLst/>
            </a:prstGeom>
            <a:noFill/>
            <a:ln w="57150">
              <a:solidFill>
                <a:srgbClr val="00B050"/>
              </a:solidFill>
            </a:ln>
            <a:effectLst/>
            <a:extLst/>
          </p:spPr>
          <p:txBody>
            <a:bodyPr vert="horz" wrap="square" lIns="0" tIns="0" rIns="0" bIns="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cxnSp>
          <p:nvCxnSpPr>
            <p:cNvPr id="30" name="Rechte verbindingslijn met pijl 29"/>
            <p:cNvCxnSpPr>
              <a:stCxn id="29" idx="2"/>
            </p:cNvCxnSpPr>
            <p:nvPr/>
          </p:nvCxnSpPr>
          <p:spPr bwMode="auto">
            <a:xfrm>
              <a:off x="4854600" y="5703871"/>
              <a:ext cx="432048" cy="216024"/>
            </a:xfrm>
            <a:prstGeom prst="straightConnector1">
              <a:avLst/>
            </a:prstGeom>
            <a:noFill/>
            <a:ln w="38100" cap="rnd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2" name="Groep 31"/>
          <p:cNvGrpSpPr/>
          <p:nvPr/>
        </p:nvGrpSpPr>
        <p:grpSpPr>
          <a:xfrm>
            <a:off x="2999656" y="4221088"/>
            <a:ext cx="3558852" cy="576064"/>
            <a:chOff x="3990504" y="5343831"/>
            <a:chExt cx="1728192" cy="576064"/>
          </a:xfrm>
        </p:grpSpPr>
        <p:sp>
          <p:nvSpPr>
            <p:cNvPr id="33" name="Afgeronde rechthoek 32"/>
            <p:cNvSpPr/>
            <p:nvPr/>
          </p:nvSpPr>
          <p:spPr bwMode="auto">
            <a:xfrm>
              <a:off x="3990504" y="5343831"/>
              <a:ext cx="1728192" cy="360040"/>
            </a:xfrm>
            <a:prstGeom prst="roundRect">
              <a:avLst/>
            </a:prstGeom>
            <a:noFill/>
            <a:ln w="57150">
              <a:solidFill>
                <a:srgbClr val="00B050"/>
              </a:solidFill>
            </a:ln>
            <a:effectLst/>
            <a:extLst/>
          </p:spPr>
          <p:txBody>
            <a:bodyPr vert="horz" wrap="square" lIns="0" tIns="0" rIns="0" bIns="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cxnSp>
          <p:nvCxnSpPr>
            <p:cNvPr id="34" name="Rechte verbindingslijn met pijl 33"/>
            <p:cNvCxnSpPr>
              <a:stCxn id="33" idx="2"/>
            </p:cNvCxnSpPr>
            <p:nvPr/>
          </p:nvCxnSpPr>
          <p:spPr bwMode="auto">
            <a:xfrm>
              <a:off x="4854600" y="5703871"/>
              <a:ext cx="432048" cy="216024"/>
            </a:xfrm>
            <a:prstGeom prst="straightConnector1">
              <a:avLst/>
            </a:prstGeom>
            <a:noFill/>
            <a:ln w="38100" cap="rnd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47581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Voorbeeld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smtClean="0"/>
                  <a:t>Het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defensiemedewerkers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in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uur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Servicedesk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Defensie</a:t>
                </a:r>
                <a:r>
                  <a:rPr lang="en-US" dirty="0" smtClean="0"/>
                  <a:t> belt </a:t>
                </a:r>
                <a:r>
                  <a:rPr lang="en-US" dirty="0" err="1" smtClean="0"/>
                  <a:t>voor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IT </a:t>
                </a:r>
                <a:r>
                  <a:rPr lang="en-US" dirty="0" err="1" smtClean="0"/>
                  <a:t>probleem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wordt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beschreven</a:t>
                </a:r>
                <a:r>
                  <a:rPr lang="en-US" dirty="0" smtClean="0"/>
                  <a:t> door de discrete </a:t>
                </a:r>
                <a:r>
                  <a:rPr lang="en-US" dirty="0" err="1" smtClean="0"/>
                  <a:t>kansvariabele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, </a:t>
                </a:r>
                <a:r>
                  <a:rPr lang="en-US" dirty="0" err="1" smtClean="0"/>
                  <a:t>waarvoor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831850" lvl="1" indent="-457200">
                  <a:lnSpc>
                    <a:spcPct val="150000"/>
                  </a:lnSpc>
                  <a:buAutoNum type="alphaLcParenR"/>
                </a:pPr>
                <a:endParaRPr lang="en-US" dirty="0" smtClean="0"/>
              </a:p>
              <a:p>
                <a:pPr marL="831850" lvl="1" indent="-457200">
                  <a:lnSpc>
                    <a:spcPct val="150000"/>
                  </a:lnSpc>
                  <a:buAutoNum type="alphaLcParenR"/>
                </a:pPr>
                <a:endParaRPr lang="en-US" dirty="0" smtClean="0"/>
              </a:p>
              <a:p>
                <a:pPr marL="831850" lvl="1" indent="-457200">
                  <a:lnSpc>
                    <a:spcPct val="150000"/>
                  </a:lnSpc>
                  <a:buAutoNum type="alphaLcParenR"/>
                </a:pPr>
                <a:r>
                  <a:rPr lang="en-US" dirty="0" smtClean="0"/>
                  <a:t>Wat </a:t>
                </a:r>
                <a:r>
                  <a:rPr lang="en-US" dirty="0"/>
                  <a:t>is de </a:t>
                </a:r>
                <a:r>
                  <a:rPr lang="en-US" dirty="0" err="1"/>
                  <a:t>kans</a:t>
                </a:r>
                <a:r>
                  <a:rPr lang="en-US" dirty="0"/>
                  <a:t> op </a:t>
                </a:r>
                <a:r>
                  <a:rPr lang="en-US" dirty="0" err="1" smtClean="0"/>
                  <a:t>minimaal</a:t>
                </a:r>
                <a:r>
                  <a:rPr lang="en-US" dirty="0" smtClean="0"/>
                  <a:t> 1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maximaal</a:t>
                </a:r>
                <a:r>
                  <a:rPr lang="en-US" dirty="0" smtClean="0"/>
                  <a:t> 7 </a:t>
                </a:r>
                <a:r>
                  <a:rPr lang="en-US" dirty="0" err="1" smtClean="0"/>
                  <a:t>belletjes</a:t>
                </a:r>
                <a:r>
                  <a:rPr lang="en-US" dirty="0" smtClean="0"/>
                  <a:t> het </a:t>
                </a:r>
                <a:r>
                  <a:rPr lang="en-US" dirty="0" err="1" smtClean="0"/>
                  <a:t>komende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uur</a:t>
                </a:r>
                <a:r>
                  <a:rPr lang="en-US" dirty="0" smtClean="0"/>
                  <a:t>?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2"/>
                <a:stretch>
                  <a:fillRect r="-63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998682"/>
                  </p:ext>
                </p:extLst>
              </p:nvPr>
            </p:nvGraphicFramePr>
            <p:xfrm>
              <a:off x="443489" y="2996952"/>
              <a:ext cx="11387303" cy="1530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00313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101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4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6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9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0.13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0.53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0.62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0.87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7662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998682"/>
                  </p:ext>
                </p:extLst>
              </p:nvPr>
            </p:nvGraphicFramePr>
            <p:xfrm>
              <a:off x="443489" y="2996952"/>
              <a:ext cx="11387303" cy="1530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00313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10164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44" t="-7143" r="-356829" b="-2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4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6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9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44" t="-107143" r="-356829" b="-1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0.13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44" t="-207143" r="-356829" b="-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0.53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0.62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0.87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7662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457253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b="1" dirty="0"/>
              <a:t>Wat is de </a:t>
            </a:r>
            <a:r>
              <a:rPr lang="en-US" b="1" dirty="0" err="1"/>
              <a:t>kans</a:t>
            </a:r>
            <a:r>
              <a:rPr lang="en-US" b="1" dirty="0"/>
              <a:t> op </a:t>
            </a:r>
            <a:r>
              <a:rPr lang="en-US" b="1" dirty="0" err="1"/>
              <a:t>minimaal</a:t>
            </a:r>
            <a:r>
              <a:rPr lang="en-US" b="1" dirty="0"/>
              <a:t> 1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maximaal</a:t>
            </a:r>
            <a:r>
              <a:rPr lang="en-US" b="1" dirty="0"/>
              <a:t> </a:t>
            </a:r>
            <a:r>
              <a:rPr lang="en-US" b="1" dirty="0" smtClean="0"/>
              <a:t>7 </a:t>
            </a:r>
            <a:r>
              <a:rPr lang="en-US" b="1" dirty="0" err="1"/>
              <a:t>belletjes</a:t>
            </a:r>
            <a:r>
              <a:rPr lang="en-US" b="1" dirty="0"/>
              <a:t> het </a:t>
            </a:r>
            <a:r>
              <a:rPr lang="en-US" b="1" dirty="0" err="1"/>
              <a:t>komende</a:t>
            </a:r>
            <a:r>
              <a:rPr lang="en-US" b="1" dirty="0"/>
              <a:t> </a:t>
            </a:r>
            <a:r>
              <a:rPr lang="en-US" b="1" dirty="0" err="1"/>
              <a:t>uur</a:t>
            </a:r>
            <a:r>
              <a:rPr lang="en-US" b="1" dirty="0" smtClean="0"/>
              <a:t>?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044768" cy="1871786"/>
              </a:xfrm>
            </p:spPr>
            <p:txBody>
              <a:bodyPr/>
              <a:lstStyle/>
              <a:p>
                <a:pPr marL="717550" lvl="1" indent="-342900">
                  <a:lnSpc>
                    <a:spcPct val="150000"/>
                  </a:lnSpc>
                </a:pPr>
                <a:r>
                  <a:rPr lang="en-US" b="1" dirty="0" smtClean="0"/>
                  <a:t>Methode 1 (</a:t>
                </a:r>
                <a:r>
                  <a:rPr lang="en-US" b="1" dirty="0" err="1" smtClean="0"/>
                  <a:t>kansen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optellen</a:t>
                </a:r>
                <a:r>
                  <a:rPr lang="en-US" b="1" dirty="0"/>
                  <a:t> </a:t>
                </a:r>
                <a:r>
                  <a:rPr lang="en-US" b="1" dirty="0" smtClean="0"/>
                  <a:t>met </a:t>
                </a:r>
                <a:r>
                  <a:rPr lang="en-US" b="1" dirty="0" err="1" smtClean="0"/>
                  <a:t>behulp</a:t>
                </a:r>
                <a:r>
                  <a:rPr lang="en-US" b="1" dirty="0" smtClean="0"/>
                  <a:t> van de </a:t>
                </a:r>
                <a:r>
                  <a:rPr lang="en-US" b="1" dirty="0" err="1" smtClean="0"/>
                  <a:t>kansfunctie</a:t>
                </a:r>
                <a:r>
                  <a:rPr lang="en-US" b="1" dirty="0" smtClean="0"/>
                  <a:t>):</a:t>
                </a:r>
              </a:p>
              <a:p>
                <a:pPr marL="965200" lvl="2" indent="-342900">
                  <a:lnSpc>
                    <a:spcPct val="150000"/>
                  </a:lnSpc>
                </a:pPr>
                <a:r>
                  <a:rPr lang="en-US" dirty="0" smtClean="0"/>
                  <a:t>Tel </a:t>
                </a:r>
                <a:r>
                  <a:rPr lang="en-US" dirty="0"/>
                  <a:t>de </a:t>
                </a:r>
                <a:r>
                  <a:rPr lang="en-US" dirty="0" err="1"/>
                  <a:t>kansen</a:t>
                </a:r>
                <a:r>
                  <a:rPr lang="en-US" dirty="0"/>
                  <a:t> op die </a:t>
                </a:r>
                <a:r>
                  <a:rPr lang="en-US" dirty="0" err="1"/>
                  <a:t>horen</a:t>
                </a:r>
                <a:r>
                  <a:rPr lang="en-US" dirty="0"/>
                  <a:t> </a:t>
                </a:r>
                <a:r>
                  <a:rPr lang="en-US" dirty="0" err="1"/>
                  <a:t>bij</a:t>
                </a:r>
                <a:r>
                  <a:rPr lang="en-US" dirty="0"/>
                  <a:t> </a:t>
                </a:r>
                <a:r>
                  <a:rPr lang="en-US" dirty="0" err="1"/>
                  <a:t>aantallen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t/m </a:t>
                </a:r>
                <a14:m>
                  <m:oMath xmlns:m="http://schemas.openxmlformats.org/officeDocument/2006/math">
                    <m:r>
                      <a:rPr lang="nl-NL" b="0" i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 smtClean="0"/>
                  <a:t>: </a:t>
                </a:r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=7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09+0.12+…+0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07=0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67</m:t>
                      </m:r>
                    </m:oMath>
                  </m:oMathPara>
                </a14:m>
                <a:endParaRPr lang="en-US" dirty="0"/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b="1" dirty="0" err="1" smtClean="0"/>
                  <a:t>Methode</a:t>
                </a:r>
                <a:r>
                  <a:rPr lang="en-US" b="1" dirty="0" smtClean="0"/>
                  <a:t> </a:t>
                </a:r>
                <a:r>
                  <a:rPr lang="en-US" b="1" dirty="0"/>
                  <a:t>2 (met </a:t>
                </a:r>
                <a:r>
                  <a:rPr lang="en-US" b="1" dirty="0" err="1"/>
                  <a:t>behulp</a:t>
                </a:r>
                <a:r>
                  <a:rPr lang="en-US" b="1" dirty="0"/>
                  <a:t> van CDF</a:t>
                </a:r>
                <a:r>
                  <a:rPr lang="en-US" b="1" dirty="0" smtClean="0"/>
                  <a:t>):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044768" cy="1871786"/>
              </a:xfrm>
              <a:blipFill>
                <a:blip r:embed="rId3"/>
                <a:stretch>
                  <a:fillRect b="-15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11" name="Oval 10"/>
          <p:cNvSpPr/>
          <p:nvPr/>
        </p:nvSpPr>
        <p:spPr bwMode="auto">
          <a:xfrm>
            <a:off x="2423592" y="4077072"/>
            <a:ext cx="5040560" cy="936104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7601046"/>
                  </p:ext>
                </p:extLst>
              </p:nvPr>
            </p:nvGraphicFramePr>
            <p:xfrm>
              <a:off x="6384032" y="28709"/>
              <a:ext cx="5688632" cy="9773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7861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428387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451527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422602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441404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434173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451527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451527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441404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441404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416816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26168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1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2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3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4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5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6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8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9</a:t>
                          </a:r>
                          <a:endParaRPr lang="nl-NL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3578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sz="11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0.10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0.09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0.12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0.07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0.15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0.09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0.08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0.07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0.10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0.13</a:t>
                          </a:r>
                          <a:endParaRPr lang="nl-NL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  <a:tr h="3578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0.10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0.19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0.31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0.38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0.53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0.62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0.70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0.77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0.87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1</a:t>
                          </a:r>
                          <a:endParaRPr lang="nl-NL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7662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7601046"/>
                  </p:ext>
                </p:extLst>
              </p:nvPr>
            </p:nvGraphicFramePr>
            <p:xfrm>
              <a:off x="6384032" y="28709"/>
              <a:ext cx="5688632" cy="9773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7861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428387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451527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422602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441404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434173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451527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451527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441404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441404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416816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2616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65" t="-2326" r="-336279" b="-28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1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2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3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4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5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6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8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9</a:t>
                          </a:r>
                          <a:endParaRPr lang="nl-NL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3578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65" t="-73333" r="-336279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0.10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0.09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0.12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0.07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0.15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0.09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0.08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0.07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0.10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0.13</a:t>
                          </a:r>
                          <a:endParaRPr lang="nl-NL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  <a:tr h="3578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65" t="-176271" r="-336279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0.10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0.19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0.31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0.38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0.53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0.62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0.70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0.77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0.87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1</a:t>
                          </a:r>
                          <a:endParaRPr lang="nl-NL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7662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926190" y="3838689"/>
                <a:ext cx="4189772" cy="2492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 smtClean="0"/>
                  <a:t>0  1  2  3  4  5  6  7  8  9	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0" dirty="0"/>
                  <a:t>	</a:t>
                </a:r>
                <a:r>
                  <a:rPr lang="en-US" sz="2000" b="0" dirty="0" smtClean="0"/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000" b="0" dirty="0" smtClean="0"/>
              </a:p>
              <a:p>
                <a:pPr>
                  <a:lnSpc>
                    <a:spcPct val="150000"/>
                  </a:lnSpc>
                </a:pPr>
                <a:r>
                  <a:rPr lang="en-US" sz="2000" dirty="0" smtClean="0"/>
                  <a:t>0  1  2  3  4  5  6  7  8  9 	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0" dirty="0"/>
                  <a:t>	</a:t>
                </a:r>
                <a:r>
                  <a:rPr lang="en-US" sz="2000" b="0" dirty="0" smtClean="0"/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endParaRPr lang="en-US" sz="2000" b="0" dirty="0" smtClean="0"/>
              </a:p>
              <a:p>
                <a:pPr>
                  <a:lnSpc>
                    <a:spcPct val="150000"/>
                  </a:lnSpc>
                </a:pPr>
                <a:r>
                  <a:rPr lang="en-US" sz="2000" dirty="0" smtClean="0"/>
                  <a:t>0  1  2  3  4  5  6  7  8  9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190" y="3838689"/>
                <a:ext cx="4189772" cy="2492990"/>
              </a:xfrm>
              <a:prstGeom prst="rect">
                <a:avLst/>
              </a:prstGeom>
              <a:blipFill>
                <a:blip r:embed="rId5"/>
                <a:stretch>
                  <a:fillRect l="-1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 bwMode="auto">
          <a:xfrm>
            <a:off x="2279576" y="3780576"/>
            <a:ext cx="2389572" cy="767202"/>
          </a:xfrm>
          <a:prstGeom prst="ellipse">
            <a:avLst/>
          </a:prstGeom>
          <a:solidFill>
            <a:srgbClr val="00CCFF">
              <a:alpha val="25098"/>
            </a:srgbClr>
          </a:solidFill>
          <a:ln>
            <a:solidFill>
              <a:schemeClr val="accent1"/>
            </a:solidFill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794260" y="4696844"/>
            <a:ext cx="2906936" cy="720080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rgbClr val="FF0000"/>
            </a:solidFill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1824795" y="5733256"/>
            <a:ext cx="495535" cy="406740"/>
          </a:xfrm>
          <a:prstGeom prst="ellipse">
            <a:avLst/>
          </a:prstGeom>
          <a:solidFill>
            <a:srgbClr val="33CC33">
              <a:alpha val="25098"/>
            </a:srgbClr>
          </a:solidFill>
          <a:ln>
            <a:solidFill>
              <a:srgbClr val="00B050"/>
            </a:solidFill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61431" y="4531186"/>
                <a:ext cx="4794085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≤0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=0.77−0.10=0.67</m:t>
                      </m:r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431" y="4531186"/>
                <a:ext cx="4794085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379825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smtClean="0"/>
              <a:t>Hoe </a:t>
            </a:r>
            <a:r>
              <a:rPr lang="en-US" b="1" dirty="0" err="1" smtClean="0"/>
              <a:t>ziet</a:t>
            </a:r>
            <a:r>
              <a:rPr lang="en-US" b="1" dirty="0" smtClean="0"/>
              <a:t> </a:t>
            </a:r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cumulatieve</a:t>
            </a:r>
            <a:r>
              <a:rPr lang="en-US" b="1" dirty="0" smtClean="0"/>
              <a:t> </a:t>
            </a:r>
            <a:r>
              <a:rPr lang="en-US" b="1" dirty="0" err="1" smtClean="0"/>
              <a:t>verdelingsfunctie</a:t>
            </a:r>
            <a:r>
              <a:rPr lang="en-US" b="1" dirty="0" smtClean="0"/>
              <a:t> (CDF) </a:t>
            </a:r>
            <a:r>
              <a:rPr lang="en-US" b="1" dirty="0" err="1" smtClean="0"/>
              <a:t>er</a:t>
            </a:r>
            <a:r>
              <a:rPr lang="en-US" b="1" dirty="0" smtClean="0"/>
              <a:t> </a:t>
            </a:r>
            <a:r>
              <a:rPr lang="en-US" b="1" dirty="0" err="1" smtClean="0"/>
              <a:t>visueel</a:t>
            </a:r>
            <a:r>
              <a:rPr lang="en-US" b="1" dirty="0" smtClean="0"/>
              <a:t> </a:t>
            </a:r>
            <a:r>
              <a:rPr lang="en-US" b="1" dirty="0" err="1" smtClean="0"/>
              <a:t>uit</a:t>
            </a:r>
            <a:r>
              <a:rPr lang="en-US" b="1" dirty="0" smtClean="0"/>
              <a:t>?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814916" y="1916832"/>
            <a:ext cx="1125774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 smtClean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nl-NL" dirty="0" smtClean="0">
              <a:latin typeface="+mn-lt"/>
            </a:endParaRPr>
          </a:p>
          <a:p>
            <a:endParaRPr lang="en-US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 smtClean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816080" y="160338"/>
                <a:ext cx="5184576" cy="715870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800" dirty="0" smtClean="0">
                    <a:latin typeface="+mn-lt"/>
                  </a:rPr>
                  <a:t>De </a:t>
                </a:r>
                <a:r>
                  <a:rPr lang="en-US" sz="1800" dirty="0" err="1" smtClean="0">
                    <a:latin typeface="+mn-lt"/>
                  </a:rPr>
                  <a:t>notatie</a:t>
                </a:r>
                <a:r>
                  <a:rPr lang="en-US" sz="1800" dirty="0" smtClean="0">
                    <a:latin typeface="+mn-lt"/>
                  </a:rPr>
                  <a:t> “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ℓ:ℓ≤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(ℓ)</m:t>
                        </m:r>
                      </m:e>
                    </m:nary>
                  </m:oMath>
                </a14:m>
                <a:r>
                  <a:rPr lang="en-US" sz="1800" dirty="0" smtClean="0">
                    <a:latin typeface="+mn-lt"/>
                  </a:rPr>
                  <a:t>” </a:t>
                </a:r>
                <a:r>
                  <a:rPr lang="en-US" sz="1800" dirty="0" err="1" smtClean="0">
                    <a:latin typeface="+mn-lt"/>
                  </a:rPr>
                  <a:t>betekent</a:t>
                </a:r>
                <a:r>
                  <a:rPr lang="en-US" sz="1800" dirty="0" smtClean="0">
                    <a:latin typeface="+mn-lt"/>
                  </a:rPr>
                  <a:t>: </a:t>
                </a:r>
                <a:r>
                  <a:rPr lang="en-US" sz="1800" dirty="0" err="1" smtClean="0">
                    <a:latin typeface="+mn-lt"/>
                  </a:rPr>
                  <a:t>som</a:t>
                </a:r>
                <a:r>
                  <a:rPr lang="en-US" sz="1800" dirty="0" smtClean="0">
                    <a:latin typeface="+mn-lt"/>
                  </a:rPr>
                  <a:t> van </a:t>
                </a:r>
                <a:r>
                  <a:rPr lang="en-US" sz="1800" dirty="0" err="1" smtClean="0">
                    <a:latin typeface="+mn-lt"/>
                  </a:rPr>
                  <a:t>kansen</a:t>
                </a:r>
                <a:r>
                  <a:rPr lang="en-US" sz="1800" dirty="0" smtClean="0">
                    <a:latin typeface="+mn-lt"/>
                  </a:rPr>
                  <a:t> op </a:t>
                </a:r>
                <a:r>
                  <a:rPr lang="en-US" sz="1800" dirty="0" err="1" smtClean="0">
                    <a:latin typeface="+mn-lt"/>
                  </a:rPr>
                  <a:t>een</a:t>
                </a:r>
                <a:r>
                  <a:rPr lang="en-US" sz="1800" dirty="0" smtClean="0">
                    <a:latin typeface="+mn-lt"/>
                  </a:rPr>
                  <a:t> </a:t>
                </a:r>
                <a:r>
                  <a:rPr lang="en-US" sz="1800" dirty="0" err="1" smtClean="0">
                    <a:latin typeface="+mn-lt"/>
                  </a:rPr>
                  <a:t>uitkomst</a:t>
                </a:r>
                <a:r>
                  <a:rPr lang="en-US" sz="1800" dirty="0" smtClean="0">
                    <a:latin typeface="+mn-lt"/>
                  </a:rPr>
                  <a:t> </a:t>
                </a:r>
                <a:r>
                  <a:rPr lang="en-US" sz="1800" b="0" dirty="0" err="1" smtClean="0">
                    <a:latin typeface="+mn-lt"/>
                  </a:rPr>
                  <a:t>kleiner</a:t>
                </a:r>
                <a:r>
                  <a:rPr lang="en-US" sz="1800" b="0" dirty="0" smtClean="0">
                    <a:latin typeface="+mn-lt"/>
                  </a:rPr>
                  <a:t> </a:t>
                </a:r>
                <a:r>
                  <a:rPr lang="en-US" sz="1800" b="0" dirty="0" err="1" smtClean="0">
                    <a:latin typeface="+mn-lt"/>
                  </a:rPr>
                  <a:t>dan</a:t>
                </a:r>
                <a:r>
                  <a:rPr lang="en-US" sz="1800" b="0" dirty="0" smtClean="0">
                    <a:latin typeface="+mn-lt"/>
                  </a:rPr>
                  <a:t> of </a:t>
                </a:r>
                <a:r>
                  <a:rPr lang="en-US" sz="1800" b="0" dirty="0" err="1" smtClean="0">
                    <a:latin typeface="+mn-lt"/>
                  </a:rPr>
                  <a:t>gelijk</a:t>
                </a:r>
                <a:r>
                  <a:rPr lang="en-US" sz="1800" b="0" dirty="0" smtClean="0">
                    <a:latin typeface="+mn-lt"/>
                  </a:rPr>
                  <a:t> </a:t>
                </a:r>
                <a:r>
                  <a:rPr lang="en-US" sz="1800" b="0" dirty="0" err="1" smtClean="0">
                    <a:latin typeface="+mn-lt"/>
                  </a:rPr>
                  <a:t>aan</a:t>
                </a:r>
                <a:r>
                  <a:rPr lang="en-US" sz="1800" b="0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nl-NL" sz="1800" dirty="0" smtClean="0">
                    <a:latin typeface="+mn-lt"/>
                  </a:rPr>
                  <a:t>.</a:t>
                </a:r>
                <a:endParaRPr lang="nl-NL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80" y="160338"/>
                <a:ext cx="5184576" cy="715870"/>
              </a:xfrm>
              <a:prstGeom prst="roundRect">
                <a:avLst/>
              </a:prstGeom>
              <a:blipFill>
                <a:blip r:embed="rId5"/>
                <a:stretch>
                  <a:fillRect l="-117" t="-52459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p:sp>
        <p:nvSpPr>
          <p:cNvPr id="3" name="Afgeronde rechthoek 2"/>
          <p:cNvSpPr/>
          <p:nvPr/>
        </p:nvSpPr>
        <p:spPr bwMode="auto">
          <a:xfrm>
            <a:off x="4511824" y="332656"/>
            <a:ext cx="914400" cy="914400"/>
          </a:xfrm>
          <a:prstGeom prst="round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5698973"/>
                  </p:ext>
                </p:extLst>
              </p:nvPr>
            </p:nvGraphicFramePr>
            <p:xfrm>
              <a:off x="181047" y="3184601"/>
              <a:ext cx="6635033" cy="1530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1563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101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2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3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4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5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6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7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8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9</a:t>
                          </a:r>
                          <a:endParaRPr lang="nl-N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0.10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0.09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0.12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0.07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0.15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0.09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0.08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0.07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0.10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0.13</a:t>
                          </a:r>
                          <a:endParaRPr lang="nl-N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0.10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0.19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0.31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0.38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0.53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0.62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0.70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0.77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0.87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</a:t>
                          </a:r>
                          <a:endParaRPr lang="nl-N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7662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5698973"/>
                  </p:ext>
                </p:extLst>
              </p:nvPr>
            </p:nvGraphicFramePr>
            <p:xfrm>
              <a:off x="181047" y="3184601"/>
              <a:ext cx="6635033" cy="1530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1563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556347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101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568" t="-3571" r="-521591" b="-20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2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3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4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5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6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7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8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9</a:t>
                          </a:r>
                          <a:endParaRPr lang="nl-N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568" t="-103571" r="-521591" b="-10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0.10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0.09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0.12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0.07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0.15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0.09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0.08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0.07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0.10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0.13</a:t>
                          </a:r>
                          <a:endParaRPr lang="nl-N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568" t="-203571" r="-521591" b="-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0.10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0.19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0.31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0.38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0.53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0.62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0.70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0.77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0.87</a:t>
                          </a:r>
                          <a:endParaRPr lang="nl-N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</a:t>
                          </a:r>
                          <a:endParaRPr lang="nl-N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76627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Afbeelding 9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3" t="5704" r="5703" b="782"/>
          <a:stretch/>
        </p:blipFill>
        <p:spPr>
          <a:xfrm>
            <a:off x="6883425" y="1966393"/>
            <a:ext cx="5150021" cy="396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5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Verwachtingswaarde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smtClean="0">
                    <a:solidFill>
                      <a:schemeClr val="tx1"/>
                    </a:solidFill>
                  </a:rPr>
                  <a:t>De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verwachtingswaarde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 (“</a:t>
                </a:r>
                <a:r>
                  <a:rPr lang="en-US" i="1" dirty="0" smtClean="0">
                    <a:solidFill>
                      <a:schemeClr val="accent1"/>
                    </a:solidFill>
                  </a:rPr>
                  <a:t>expected value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”) 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van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een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discrete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kansvariabele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 is de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waarde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die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“</a:t>
                </a:r>
                <a:r>
                  <a:rPr lang="en-US" dirty="0" err="1" smtClean="0"/>
                  <a:t>gemiddeld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genomen</a:t>
                </a:r>
                <a:r>
                  <a:rPr lang="en-US" dirty="0" smtClean="0"/>
                  <a:t>” </a:t>
                </a:r>
                <a:r>
                  <a:rPr lang="en-US" dirty="0" err="1" smtClean="0"/>
                  <a:t>zal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aannemen</a:t>
                </a:r>
                <a:r>
                  <a:rPr lang="en-US" dirty="0" smtClean="0"/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r>
                  <a:rPr lang="en-US" b="0" dirty="0" smtClean="0"/>
                  <a:t/>
                </a:r>
                <a:br>
                  <a:rPr lang="en-US" b="0" dirty="0" smtClean="0"/>
                </a:br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b="1" dirty="0" err="1" smtClean="0"/>
                  <a:t>Intuitie</a:t>
                </a:r>
                <a:r>
                  <a:rPr lang="en-US" b="1" dirty="0" smtClean="0"/>
                  <a:t>: </a:t>
                </a:r>
                <a:r>
                  <a:rPr lang="en-US" dirty="0" err="1" smtClean="0"/>
                  <a:t>gewogen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gemiddelde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alle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mogelijke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uitkomsten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 smtClean="0"/>
                  <a:t>, met </a:t>
                </a:r>
                <a:r>
                  <a:rPr lang="en-US" dirty="0" err="1" smtClean="0"/>
                  <a:t>weging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op </a:t>
                </a:r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uitkomst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 smtClean="0"/>
                  <a:t>.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r="-1353" b="-34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418327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544893"/>
          </a:xfrm>
        </p:spPr>
        <p:txBody>
          <a:bodyPr/>
          <a:lstStyle/>
          <a:p>
            <a:pPr lvl="1" indent="0">
              <a:lnSpc>
                <a:spcPct val="150000"/>
              </a:lnSpc>
              <a:buNone/>
            </a:pPr>
            <a:r>
              <a:rPr lang="en-US" b="1" dirty="0" smtClean="0">
                <a:latin typeface="+mj-lt"/>
              </a:rPr>
              <a:t>Wat </a:t>
            </a:r>
            <a:r>
              <a:rPr lang="en-US" b="1" dirty="0">
                <a:latin typeface="+mj-lt"/>
              </a:rPr>
              <a:t>is de </a:t>
            </a:r>
            <a:r>
              <a:rPr lang="en-US" b="1" dirty="0" err="1">
                <a:latin typeface="+mj-lt"/>
              </a:rPr>
              <a:t>verwachtingswaarde</a:t>
            </a:r>
            <a:r>
              <a:rPr lang="en-US" b="1" dirty="0">
                <a:latin typeface="+mj-lt"/>
              </a:rPr>
              <a:t> van het </a:t>
            </a:r>
            <a:r>
              <a:rPr lang="en-US" b="1" dirty="0" err="1">
                <a:latin typeface="+mj-lt"/>
              </a:rPr>
              <a:t>aantal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belletjes</a:t>
            </a:r>
            <a:r>
              <a:rPr lang="en-US" b="1" dirty="0">
                <a:latin typeface="+mj-lt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799" y="1773238"/>
                <a:ext cx="10963543" cy="4246562"/>
              </a:xfrm>
            </p:spPr>
            <p:txBody>
              <a:bodyPr anchor="ctr"/>
              <a:lstStyle/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nl-NL" sz="2400" dirty="0" smtClean="0"/>
                  <a:t>We kunnen de verwachtingswaarde van het aantal belletjes als volgt berekenen:</a:t>
                </a:r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nl-NL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m:rPr>
                          <m:aln/>
                        </m:rPr>
                        <a:rPr lang="nl-NL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nl-NL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nl-NL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nl-NL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NL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nl-NL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0⋅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+1⋅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+…+9⋅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=9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nl-NL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0⋅0.10+1⋅0.09+…+9⋅0.13=4.53.</m:t>
                      </m:r>
                    </m:oMath>
                  </m:oMathPara>
                </a14:m>
                <a:r>
                  <a:rPr lang="nl-NL" sz="2000" b="0" dirty="0" smtClean="0"/>
                  <a:t/>
                </a:r>
                <a:br>
                  <a:rPr lang="nl-NL" sz="2000" b="0" dirty="0" smtClean="0"/>
                </a:br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nl-NL" sz="2400" b="1" dirty="0" smtClean="0"/>
                  <a:t>Gemiddeld komen er dus 4.53 belletjes per uur binnen!</a:t>
                </a:r>
                <a:endParaRPr lang="en-US" sz="2400" b="1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799" y="1773238"/>
                <a:ext cx="10963543" cy="4246562"/>
              </a:xfrm>
              <a:blipFill>
                <a:blip r:embed="rId2"/>
                <a:stretch>
                  <a:fillRect b="-8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763621"/>
                  </p:ext>
                </p:extLst>
              </p:nvPr>
            </p:nvGraphicFramePr>
            <p:xfrm>
              <a:off x="919634" y="1836618"/>
              <a:ext cx="10153766" cy="1188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9466">
                      <a:extLst>
                        <a:ext uri="{9D8B030D-6E8A-4147-A177-3AD203B41FA5}">
                          <a16:colId xmlns:a16="http://schemas.microsoft.com/office/drawing/2014/main" val="2379219297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1909346455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1671799916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787643769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971450467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628517800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2446016869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370226084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2002700051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153913606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980906142"/>
                        </a:ext>
                      </a:extLst>
                    </a:gridCol>
                  </a:tblGrid>
                  <a:tr h="3360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2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3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4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5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6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8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9</a:t>
                          </a:r>
                          <a:endParaRPr lang="nl-N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3183959"/>
                      </a:ext>
                    </a:extLst>
                  </a:tr>
                  <a:tr h="3360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0.12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0.15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0.08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0.13</a:t>
                          </a:r>
                          <a:endParaRPr lang="nl-N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8207761"/>
                      </a:ext>
                    </a:extLst>
                  </a:tr>
                  <a:tr h="3360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0.19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0.31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0.38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0.53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0.62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0.70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0.77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0.87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nl-N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9640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763621"/>
                  </p:ext>
                </p:extLst>
              </p:nvPr>
            </p:nvGraphicFramePr>
            <p:xfrm>
              <a:off x="919634" y="1836618"/>
              <a:ext cx="10153766" cy="1188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9466">
                      <a:extLst>
                        <a:ext uri="{9D8B030D-6E8A-4147-A177-3AD203B41FA5}">
                          <a16:colId xmlns:a16="http://schemas.microsoft.com/office/drawing/2014/main" val="2379219297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1909346455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1671799916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787643769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971450467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628517800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2446016869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370226084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2002700051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153913606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98090614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73" t="-7692" r="-356557" b="-2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2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3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4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5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6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8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9</a:t>
                          </a:r>
                          <a:endParaRPr lang="nl-N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318395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73" t="-106061" r="-356557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0.12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0.15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0.08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0.13</a:t>
                          </a:r>
                          <a:endParaRPr lang="nl-N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82077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73" t="-209231" r="-356557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0.19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0.31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0.38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0.53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0.62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0.70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0.77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0.87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nl-N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9640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347243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Variantie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1384" y="1773238"/>
                <a:ext cx="11449272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smtClean="0">
                    <a:solidFill>
                      <a:schemeClr val="tx1"/>
                    </a:solidFill>
                  </a:rPr>
                  <a:t>De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variantie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Var</m:t>
                    </m:r>
                    <m:r>
                      <a:rPr lang="nl-N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 van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een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discrete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kansvariabele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 is de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gekwadrateerde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afstand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tot de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verwachtingswaarde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die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“</a:t>
                </a:r>
                <a:r>
                  <a:rPr lang="en-US" dirty="0" err="1" smtClean="0"/>
                  <a:t>gemiddeld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genomen</a:t>
                </a:r>
                <a:r>
                  <a:rPr lang="en-US" dirty="0" smtClean="0"/>
                  <a:t>” </a:t>
                </a:r>
                <a:r>
                  <a:rPr lang="en-US" dirty="0" err="1" smtClean="0"/>
                  <a:t>zal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aannemen</a:t>
                </a:r>
                <a:r>
                  <a:rPr lang="en-US" dirty="0" smtClean="0"/>
                  <a:t>.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b="1" dirty="0" err="1" smtClean="0"/>
                  <a:t>Intuitie</a:t>
                </a:r>
                <a:r>
                  <a:rPr lang="en-US" b="1" dirty="0" smtClean="0"/>
                  <a:t>: </a:t>
                </a:r>
                <a:r>
                  <a:rPr lang="en-US" dirty="0" err="1" smtClean="0"/>
                  <a:t>gewogen</a:t>
                </a:r>
                <a:r>
                  <a:rPr lang="en-US" dirty="0" smtClean="0"/>
                  <a:t> </a:t>
                </a:r>
                <a:r>
                  <a:rPr lang="en-US" dirty="0" err="1"/>
                  <a:t>gemiddelde</a:t>
                </a:r>
                <a:r>
                  <a:rPr lang="en-US" dirty="0"/>
                  <a:t> van </a:t>
                </a:r>
                <a:r>
                  <a:rPr lang="en-US" dirty="0" smtClean="0"/>
                  <a:t>de </a:t>
                </a:r>
                <a:r>
                  <a:rPr lang="en-US" dirty="0" err="1" smtClean="0"/>
                  <a:t>gekwadrateerde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afstanden</a:t>
                </a:r>
                <a:r>
                  <a:rPr lang="en-US" dirty="0" smtClean="0"/>
                  <a:t> tot</a:t>
                </a:r>
                <a14:m>
                  <m:oMath xmlns:m="http://schemas.openxmlformats.org/officeDocument/2006/math">
                    <m:r>
                      <a:rPr lang="nl-NL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over </a:t>
                </a:r>
                <a:r>
                  <a:rPr lang="en-US" dirty="0" err="1" smtClean="0"/>
                  <a:t>alle</a:t>
                </a:r>
                <a:r>
                  <a:rPr lang="en-US" dirty="0" smtClean="0"/>
                  <a:t> </a:t>
                </a:r>
                <a:r>
                  <a:rPr lang="en-US" dirty="0" err="1"/>
                  <a:t>mogelijke</a:t>
                </a:r>
                <a:r>
                  <a:rPr lang="en-US" dirty="0"/>
                  <a:t> </a:t>
                </a:r>
                <a:r>
                  <a:rPr lang="en-US" dirty="0" err="1"/>
                  <a:t>uitkomsten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met </a:t>
                </a:r>
                <a:r>
                  <a:rPr lang="en-US" dirty="0" err="1"/>
                  <a:t>weging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i="1" dirty="0" smtClean="0">
                    <a:latin typeface="Cambria Math" panose="02040503050406030204" pitchFamily="18" charset="0"/>
                  </a:rPr>
                  <a:t>.</a:t>
                </a:r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384" y="1773238"/>
                <a:ext cx="11449272" cy="424656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83620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Standaardafwijking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1384" y="1773238"/>
                <a:ext cx="11449272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De </a:t>
                </a:r>
                <a:r>
                  <a:rPr lang="en-US" sz="2400" b="1" dirty="0" err="1" smtClean="0">
                    <a:solidFill>
                      <a:schemeClr val="accent1"/>
                    </a:solidFill>
                  </a:rPr>
                  <a:t>standaardafwijking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van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een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discrete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kansvariabele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opnieuw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gedefinieerd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als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de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wortel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uit de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variantie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van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nl-NL" sz="24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r>
                                        <a:rPr lang="nl-NL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nl-NL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nl-NL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en-US" sz="2400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sz="2400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384" y="1773238"/>
                <a:ext cx="11449272" cy="424656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307013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800219"/>
          </a:xfrm>
        </p:spPr>
        <p:txBody>
          <a:bodyPr/>
          <a:lstStyle/>
          <a:p>
            <a:r>
              <a:rPr lang="en-US" b="1" dirty="0"/>
              <a:t>c) Wat is de </a:t>
            </a:r>
            <a:r>
              <a:rPr lang="en-US" b="1" dirty="0" err="1"/>
              <a:t>standaardafwijking</a:t>
            </a:r>
            <a:r>
              <a:rPr lang="en-US" b="1" dirty="0"/>
              <a:t> van het </a:t>
            </a:r>
            <a:r>
              <a:rPr lang="en-US" b="1" dirty="0" err="1"/>
              <a:t>aantal</a:t>
            </a:r>
            <a:r>
              <a:rPr lang="en-US" b="1" dirty="0"/>
              <a:t> </a:t>
            </a:r>
            <a:r>
              <a:rPr lang="en-US" b="1" dirty="0" err="1"/>
              <a:t>belletjes</a:t>
            </a:r>
            <a:r>
              <a:rPr lang="en-US" b="1" dirty="0"/>
              <a:t>?</a:t>
            </a:r>
            <a:br>
              <a:rPr lang="en-US" b="1" dirty="0"/>
            </a:b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835928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831850" lvl="1" indent="-457200">
                  <a:spcBef>
                    <a:spcPts val="0"/>
                  </a:spcBef>
                  <a:buFont typeface="+mj-lt"/>
                  <a:buAutoNum type="arabicPeriod"/>
                </a:pPr>
                <a:endParaRPr lang="en-US" b="1" dirty="0" smtClean="0"/>
              </a:p>
              <a:p>
                <a:pPr marL="831850" lvl="1" indent="-457200">
                  <a:spcBef>
                    <a:spcPts val="0"/>
                  </a:spcBef>
                  <a:buFont typeface="+mj-lt"/>
                  <a:buAutoNum type="arabicPeriod"/>
                </a:pPr>
                <a:endParaRPr lang="en-US" b="1" dirty="0" smtClean="0"/>
              </a:p>
              <a:p>
                <a:pPr marL="83185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b="1" dirty="0" err="1" smtClean="0"/>
                  <a:t>Gebruik</a:t>
                </a:r>
                <a:r>
                  <a:rPr lang="en-US" b="1" dirty="0" smtClean="0"/>
                  <a:t> </a:t>
                </a:r>
                <a:r>
                  <a:rPr lang="en-US" b="1" dirty="0"/>
                  <a:t>de </a:t>
                </a:r>
                <a:r>
                  <a:rPr lang="en-US" b="1" dirty="0" err="1" smtClean="0"/>
                  <a:t>formule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voor</a:t>
                </a:r>
                <a:r>
                  <a:rPr lang="en-US" b="1" dirty="0" smtClean="0"/>
                  <a:t> de </a:t>
                </a:r>
                <a:r>
                  <a:rPr lang="en-US" b="1" dirty="0" err="1" smtClean="0"/>
                  <a:t>variantie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𝐕𝐚𝐫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 smtClean="0"/>
                  <a:t> </a:t>
                </a:r>
                <a:r>
                  <a:rPr lang="en-US" b="1" dirty="0" err="1" smtClean="0"/>
                  <a:t>en</a:t>
                </a:r>
                <a:r>
                  <a:rPr lang="en-US" b="1" dirty="0" smtClean="0"/>
                  <a:t> het </a:t>
                </a:r>
                <a:r>
                  <a:rPr lang="en-US" b="1" dirty="0" err="1" smtClean="0"/>
                  <a:t>feit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dat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𝟓𝟑</m:t>
                    </m:r>
                  </m:oMath>
                </a14:m>
                <a:r>
                  <a:rPr lang="en-US" b="1" dirty="0" smtClean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i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m:rPr>
                          <m:aln/>
                        </m:rPr>
                        <a:rPr lang="nl-NL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0−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NL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9−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NL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=9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0−4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53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NL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10+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1−4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53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NL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09+…+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9−4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53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NL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13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5691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r>
                  <a:rPr lang="en-US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b="0" i="1" dirty="0" smtClean="0">
                    <a:latin typeface="Cambria Math" panose="02040503050406030204" pitchFamily="18" charset="0"/>
                  </a:rPr>
                </a:b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831850" lvl="1" indent="-457200">
                  <a:lnSpc>
                    <a:spcPct val="150000"/>
                  </a:lnSpc>
                  <a:buFont typeface="+mj-lt"/>
                  <a:buAutoNum type="arabicPeriod" startAt="2"/>
                </a:pPr>
                <a:r>
                  <a:rPr lang="en-US" b="1" dirty="0" err="1" smtClean="0"/>
                  <a:t>Gebruik</a:t>
                </a:r>
                <a:r>
                  <a:rPr lang="en-US" b="1" dirty="0" smtClean="0"/>
                  <a:t> de </a:t>
                </a:r>
                <a:r>
                  <a:rPr lang="en-US" b="1" dirty="0" err="1" smtClean="0"/>
                  <a:t>formule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Var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8.5691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≈2.9273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835928" cy="4246562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7543943"/>
                  </p:ext>
                </p:extLst>
              </p:nvPr>
            </p:nvGraphicFramePr>
            <p:xfrm>
              <a:off x="677333" y="1705036"/>
              <a:ext cx="11286842" cy="1188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1127">
                      <a:extLst>
                        <a:ext uri="{9D8B030D-6E8A-4147-A177-3AD203B41FA5}">
                          <a16:colId xmlns:a16="http://schemas.microsoft.com/office/drawing/2014/main" val="2379219297"/>
                        </a:ext>
                      </a:extLst>
                    </a:gridCol>
                    <a:gridCol w="964438">
                      <a:extLst>
                        <a:ext uri="{9D8B030D-6E8A-4147-A177-3AD203B41FA5}">
                          <a16:colId xmlns:a16="http://schemas.microsoft.com/office/drawing/2014/main" val="1909346455"/>
                        </a:ext>
                      </a:extLst>
                    </a:gridCol>
                    <a:gridCol w="1019437">
                      <a:extLst>
                        <a:ext uri="{9D8B030D-6E8A-4147-A177-3AD203B41FA5}">
                          <a16:colId xmlns:a16="http://schemas.microsoft.com/office/drawing/2014/main" val="1671799916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787643769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3971450467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3628517800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2446016869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3370226084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2002700051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3153913606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980906142"/>
                        </a:ext>
                      </a:extLst>
                    </a:gridCol>
                  </a:tblGrid>
                  <a:tr h="31395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2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3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4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5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6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8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9</a:t>
                          </a:r>
                          <a:endParaRPr lang="nl-NL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3183959"/>
                      </a:ext>
                    </a:extLst>
                  </a:tr>
                  <a:tr h="31395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0.09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0.12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0.15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0.09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0.08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0.13</a:t>
                          </a:r>
                          <a:endParaRPr lang="nl-NL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8207761"/>
                      </a:ext>
                    </a:extLst>
                  </a:tr>
                  <a:tr h="31395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nl-NL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NL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4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nl-NL" sz="14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nl-NL" sz="1400" b="0" i="1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  <m:d>
                                          <m:dPr>
                                            <m:ctrlPr>
                                              <a:rPr lang="nl-NL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nl-NL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nl-NL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nl-N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  <m:t>0−4.53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nl-NL" sz="1200" b="0" i="1" dirty="0" smtClean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sz="1200" b="0" i="1" smtClean="0">
                                    <a:latin typeface="Cambria Math" panose="02040503050406030204" pitchFamily="18" charset="0"/>
                                  </a:rPr>
                                  <m:t>≈20.5209</m:t>
                                </m:r>
                              </m:oMath>
                            </m:oMathPara>
                          </a14:m>
                          <a:endParaRPr lang="nl-N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  <m:t>1−4.53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nl-NL" sz="1200" b="0" i="1" dirty="0" smtClean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sz="1200" b="0" i="1" smtClean="0">
                                    <a:latin typeface="Cambria Math" panose="02040503050406030204" pitchFamily="18" charset="0"/>
                                  </a:rPr>
                                  <m:t>≈12.4609</m:t>
                                </m:r>
                              </m:oMath>
                            </m:oMathPara>
                          </a14:m>
                          <a:endParaRPr lang="nl-N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  <m:t>2−4.53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nl-NL" sz="1200" b="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sz="1200" b="0" i="1" smtClean="0">
                                    <a:latin typeface="Cambria Math" panose="02040503050406030204" pitchFamily="18" charset="0"/>
                                  </a:rPr>
                                  <m:t>≈6.4009</m:t>
                                </m:r>
                              </m:oMath>
                            </m:oMathPara>
                          </a14:m>
                          <a:endParaRPr lang="nl-N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  <m:t>3−4.53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sz="1200" b="0" i="1" smtClean="0">
                                    <a:latin typeface="Cambria Math" panose="02040503050406030204" pitchFamily="18" charset="0"/>
                                  </a:rPr>
                                  <m:t>≈2.3409</m:t>
                                </m:r>
                              </m:oMath>
                            </m:oMathPara>
                          </a14:m>
                          <a:endParaRPr lang="nl-N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  <m:t>4−4.53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sz="1200" b="0" i="1" smtClean="0">
                                    <a:latin typeface="Cambria Math" panose="02040503050406030204" pitchFamily="18" charset="0"/>
                                  </a:rPr>
                                  <m:t>≈0.2809</m:t>
                                </m:r>
                              </m:oMath>
                            </m:oMathPara>
                          </a14:m>
                          <a:endParaRPr lang="nl-N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  <m:t>5−4.53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sz="1200" b="0" i="1" smtClean="0">
                                    <a:latin typeface="Cambria Math" panose="02040503050406030204" pitchFamily="18" charset="0"/>
                                  </a:rPr>
                                  <m:t>≈0.2209</m:t>
                                </m:r>
                              </m:oMath>
                            </m:oMathPara>
                          </a14:m>
                          <a:endParaRPr lang="nl-N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  <m:t>6−4.53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sz="1200" b="0" i="1" smtClean="0">
                                    <a:latin typeface="Cambria Math" panose="02040503050406030204" pitchFamily="18" charset="0"/>
                                  </a:rPr>
                                  <m:t>≈2.1609</m:t>
                                </m:r>
                              </m:oMath>
                            </m:oMathPara>
                          </a14:m>
                          <a:endParaRPr lang="nl-N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  <m:t>7−4.53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sz="1200" b="0" i="1" smtClean="0">
                                    <a:latin typeface="Cambria Math" panose="02040503050406030204" pitchFamily="18" charset="0"/>
                                  </a:rPr>
                                  <m:t>≈6.1009</m:t>
                                </m:r>
                              </m:oMath>
                            </m:oMathPara>
                          </a14:m>
                          <a:endParaRPr lang="nl-N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  <m:t>8−4.53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sz="1200" b="0" i="1" smtClean="0">
                                    <a:latin typeface="Cambria Math" panose="02040503050406030204" pitchFamily="18" charset="0"/>
                                  </a:rPr>
                                  <m:t>≈12.0409</m:t>
                                </m:r>
                              </m:oMath>
                            </m:oMathPara>
                          </a14:m>
                          <a:endParaRPr lang="nl-N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200" b="0" i="1" smtClean="0">
                                            <a:latin typeface="Cambria Math" panose="02040503050406030204" pitchFamily="18" charset="0"/>
                                          </a:rPr>
                                          <m:t>9−4.53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NL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sz="1200" b="0" i="1" smtClean="0">
                                    <a:latin typeface="Cambria Math" panose="02040503050406030204" pitchFamily="18" charset="0"/>
                                  </a:rPr>
                                  <m:t>≈19.9808</m:t>
                                </m:r>
                              </m:oMath>
                            </m:oMathPara>
                          </a14:m>
                          <a:endParaRPr lang="nl-NL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9640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7543943"/>
                  </p:ext>
                </p:extLst>
              </p:nvPr>
            </p:nvGraphicFramePr>
            <p:xfrm>
              <a:off x="677333" y="1705036"/>
              <a:ext cx="11286842" cy="1188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1127">
                      <a:extLst>
                        <a:ext uri="{9D8B030D-6E8A-4147-A177-3AD203B41FA5}">
                          <a16:colId xmlns:a16="http://schemas.microsoft.com/office/drawing/2014/main" val="2379219297"/>
                        </a:ext>
                      </a:extLst>
                    </a:gridCol>
                    <a:gridCol w="964438">
                      <a:extLst>
                        <a:ext uri="{9D8B030D-6E8A-4147-A177-3AD203B41FA5}">
                          <a16:colId xmlns:a16="http://schemas.microsoft.com/office/drawing/2014/main" val="1909346455"/>
                        </a:ext>
                      </a:extLst>
                    </a:gridCol>
                    <a:gridCol w="1019437">
                      <a:extLst>
                        <a:ext uri="{9D8B030D-6E8A-4147-A177-3AD203B41FA5}">
                          <a16:colId xmlns:a16="http://schemas.microsoft.com/office/drawing/2014/main" val="1671799916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787643769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3971450467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3628517800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2446016869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3370226084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2002700051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3153913606"/>
                        </a:ext>
                      </a:extLst>
                    </a:gridCol>
                    <a:gridCol w="1016480">
                      <a:extLst>
                        <a:ext uri="{9D8B030D-6E8A-4147-A177-3AD203B41FA5}">
                          <a16:colId xmlns:a16="http://schemas.microsoft.com/office/drawing/2014/main" val="98090614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21" t="-8333" r="-866667" b="-2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2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3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4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5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6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8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9</a:t>
                          </a:r>
                          <a:endParaRPr lang="nl-NL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31839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21" t="-106557" r="-866667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0.09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0.12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0.15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0.09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0.08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0.13</a:t>
                          </a:r>
                          <a:endParaRPr lang="nl-NL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820776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21" t="-168000" r="-866667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2152" t="-168000" r="-95316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8929" t="-168000" r="-796429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12651" t="-168000" r="-706024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10180" t="-168000" r="-601796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10180" t="-168000" r="-501796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10180" t="-168000" r="-401796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10180" t="-168000" r="-301796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15060" t="-168000" r="-203614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09581" t="-168000" r="-10239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9581" t="-168000" r="-2395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99640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29540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b="1" dirty="0" err="1" smtClean="0"/>
              <a:t>Toepassingen</a:t>
            </a:r>
            <a:r>
              <a:rPr lang="en-US" b="1" dirty="0" smtClean="0"/>
              <a:t> in de </a:t>
            </a:r>
            <a:r>
              <a:rPr lang="en-US" b="1" dirty="0" err="1" smtClean="0"/>
              <a:t>defensiecontext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72096" y="1772816"/>
            <a:ext cx="11285472" cy="4246562"/>
          </a:xfrm>
        </p:spPr>
        <p:txBody>
          <a:bodyPr/>
          <a:lstStyle/>
          <a:p>
            <a:pPr lvl="1">
              <a:lnSpc>
                <a:spcPct val="150000"/>
              </a:lnSpc>
              <a:buNone/>
            </a:pPr>
            <a:r>
              <a:rPr lang="en-US" sz="2400" b="1" dirty="0" err="1" smtClean="0"/>
              <a:t>Landmacht</a:t>
            </a:r>
            <a:r>
              <a:rPr lang="en-US" sz="2400" b="1" dirty="0" smtClean="0"/>
              <a:t>: </a:t>
            </a:r>
            <a:r>
              <a:rPr lang="en-US" sz="2400" dirty="0" err="1" smtClean="0"/>
              <a:t>aantal</a:t>
            </a:r>
            <a:r>
              <a:rPr lang="en-US" sz="2400" dirty="0" smtClean="0"/>
              <a:t> </a:t>
            </a:r>
            <a:r>
              <a:rPr lang="en-US" sz="2400" dirty="0" err="1" smtClean="0"/>
              <a:t>voertuigen</a:t>
            </a:r>
            <a:r>
              <a:rPr lang="en-US" sz="2400" dirty="0" smtClean="0"/>
              <a:t> met </a:t>
            </a:r>
            <a:r>
              <a:rPr lang="en-US" sz="2400" dirty="0" err="1" smtClean="0"/>
              <a:t>mankementen</a:t>
            </a:r>
            <a:r>
              <a:rPr lang="en-US" sz="2400" dirty="0" smtClean="0"/>
              <a:t> </a:t>
            </a:r>
            <a:r>
              <a:rPr lang="en-US" sz="2400" dirty="0" err="1" smtClean="0"/>
              <a:t>tijdens</a:t>
            </a:r>
            <a:r>
              <a:rPr lang="en-US" sz="2400" dirty="0" smtClean="0"/>
              <a:t> </a:t>
            </a:r>
            <a:r>
              <a:rPr lang="en-US" sz="2400" dirty="0" err="1" smtClean="0"/>
              <a:t>een</a:t>
            </a:r>
            <a:r>
              <a:rPr lang="en-US" sz="2400" dirty="0" smtClean="0"/>
              <a:t> </a:t>
            </a:r>
            <a:r>
              <a:rPr lang="en-US" sz="2400" dirty="0" err="1" smtClean="0"/>
              <a:t>verplaatsing</a:t>
            </a:r>
            <a:r>
              <a:rPr lang="en-US" sz="2400" dirty="0" smtClean="0"/>
              <a:t>.</a:t>
            </a:r>
          </a:p>
          <a:p>
            <a:pPr lvl="1">
              <a:lnSpc>
                <a:spcPct val="150000"/>
              </a:lnSpc>
              <a:buNone/>
            </a:pPr>
            <a:endParaRPr lang="en-US" sz="2400" dirty="0"/>
          </a:p>
          <a:p>
            <a:pPr lvl="1">
              <a:lnSpc>
                <a:spcPct val="150000"/>
              </a:lnSpc>
              <a:buNone/>
            </a:pPr>
            <a:r>
              <a:rPr lang="en-US" sz="2400" b="1" dirty="0" err="1" smtClean="0"/>
              <a:t>Luchtmacht</a:t>
            </a:r>
            <a:r>
              <a:rPr lang="en-US" sz="2400" b="1" dirty="0" smtClean="0"/>
              <a:t>: </a:t>
            </a:r>
            <a:r>
              <a:rPr lang="en-US" sz="2400" dirty="0" err="1" smtClean="0"/>
              <a:t>aantal</a:t>
            </a:r>
            <a:r>
              <a:rPr lang="en-US" sz="2400" dirty="0" smtClean="0"/>
              <a:t> </a:t>
            </a:r>
            <a:r>
              <a:rPr lang="en-US" sz="2400" dirty="0" err="1" smtClean="0"/>
              <a:t>vluchten</a:t>
            </a:r>
            <a:r>
              <a:rPr lang="en-US" sz="2400" dirty="0" smtClean="0"/>
              <a:t> van Apache-</a:t>
            </a:r>
            <a:r>
              <a:rPr lang="en-US" sz="2400" dirty="0" err="1" smtClean="0"/>
              <a:t>gevechtshelikopters</a:t>
            </a:r>
            <a:r>
              <a:rPr lang="en-US" sz="2400" dirty="0" smtClean="0"/>
              <a:t>.</a:t>
            </a:r>
          </a:p>
          <a:p>
            <a:pPr lvl="1">
              <a:lnSpc>
                <a:spcPct val="150000"/>
              </a:lnSpc>
              <a:buNone/>
            </a:pPr>
            <a:endParaRPr lang="en-US" sz="2400" b="1" dirty="0"/>
          </a:p>
          <a:p>
            <a:pPr lvl="1">
              <a:lnSpc>
                <a:spcPct val="150000"/>
              </a:lnSpc>
              <a:buNone/>
            </a:pPr>
            <a:r>
              <a:rPr lang="en-US" sz="2400" b="1" dirty="0" smtClean="0"/>
              <a:t>Marine: </a:t>
            </a:r>
            <a:r>
              <a:rPr lang="en-US" sz="2400" dirty="0" err="1" smtClean="0"/>
              <a:t>aantal</a:t>
            </a:r>
            <a:r>
              <a:rPr lang="en-US" sz="2400" dirty="0" smtClean="0"/>
              <a:t> </a:t>
            </a:r>
            <a:r>
              <a:rPr lang="en-US" sz="2400" dirty="0" err="1" smtClean="0"/>
              <a:t>keren</a:t>
            </a:r>
            <a:r>
              <a:rPr lang="en-US" sz="2400" dirty="0" smtClean="0"/>
              <a:t> </a:t>
            </a:r>
            <a:r>
              <a:rPr lang="en-US" sz="2400" dirty="0" err="1" smtClean="0"/>
              <a:t>dat</a:t>
            </a:r>
            <a:r>
              <a:rPr lang="en-US" sz="2400" dirty="0" smtClean="0"/>
              <a:t> de </a:t>
            </a:r>
            <a:r>
              <a:rPr lang="en-US" sz="2400" dirty="0" err="1" smtClean="0"/>
              <a:t>Kustwacht</a:t>
            </a:r>
            <a:r>
              <a:rPr lang="en-US" sz="2400" dirty="0" smtClean="0"/>
              <a:t> </a:t>
            </a:r>
            <a:r>
              <a:rPr lang="en-US" sz="2400" dirty="0" err="1" smtClean="0"/>
              <a:t>wordt</a:t>
            </a:r>
            <a:r>
              <a:rPr lang="en-US" sz="2400" dirty="0" smtClean="0"/>
              <a:t> </a:t>
            </a:r>
            <a:r>
              <a:rPr lang="en-US" sz="2400" dirty="0" err="1" smtClean="0"/>
              <a:t>ingeschakeld</a:t>
            </a:r>
            <a:r>
              <a:rPr lang="en-US" sz="2400" dirty="0" smtClean="0"/>
              <a:t> </a:t>
            </a:r>
            <a:r>
              <a:rPr lang="en-US" sz="2400" dirty="0" err="1" smtClean="0"/>
              <a:t>voor</a:t>
            </a:r>
            <a:r>
              <a:rPr lang="en-US" sz="2400" dirty="0" smtClean="0"/>
              <a:t> “search-and-rescue”.</a:t>
            </a:r>
          </a:p>
          <a:p>
            <a:pPr lvl="1">
              <a:lnSpc>
                <a:spcPct val="150000"/>
              </a:lnSpc>
              <a:buNone/>
            </a:pPr>
            <a:endParaRPr lang="en-US" sz="2400" b="1" dirty="0"/>
          </a:p>
          <a:p>
            <a:pPr lvl="1">
              <a:lnSpc>
                <a:spcPct val="150000"/>
              </a:lnSpc>
              <a:buNone/>
            </a:pPr>
            <a:r>
              <a:rPr lang="en-US" sz="2400" b="1" dirty="0" err="1" smtClean="0"/>
              <a:t>Marechaussee</a:t>
            </a:r>
            <a:r>
              <a:rPr lang="en-US" sz="2400" b="1" dirty="0" smtClean="0"/>
              <a:t>: </a:t>
            </a:r>
            <a:r>
              <a:rPr lang="en-US" sz="2400" dirty="0" err="1" smtClean="0"/>
              <a:t>aantal</a:t>
            </a:r>
            <a:r>
              <a:rPr lang="en-US" sz="2400" dirty="0" smtClean="0"/>
              <a:t> </a:t>
            </a:r>
            <a:r>
              <a:rPr lang="en-US" sz="2400" dirty="0" err="1" smtClean="0"/>
              <a:t>keren</a:t>
            </a:r>
            <a:r>
              <a:rPr lang="en-US" sz="2400" dirty="0" smtClean="0"/>
              <a:t> </a:t>
            </a:r>
            <a:r>
              <a:rPr lang="en-US" sz="2400" dirty="0" err="1" smtClean="0"/>
              <a:t>dat</a:t>
            </a:r>
            <a:r>
              <a:rPr lang="en-US" sz="2400" dirty="0" smtClean="0"/>
              <a:t> </a:t>
            </a:r>
            <a:r>
              <a:rPr lang="en-US" sz="2400" dirty="0" err="1" smtClean="0"/>
              <a:t>ondersteuning</a:t>
            </a:r>
            <a:r>
              <a:rPr lang="en-US" sz="2400" dirty="0" smtClean="0"/>
              <a:t> </a:t>
            </a:r>
            <a:r>
              <a:rPr lang="en-US" sz="2400" dirty="0" err="1" smtClean="0"/>
              <a:t>wordt</a:t>
            </a:r>
            <a:r>
              <a:rPr lang="en-US" sz="2400" dirty="0" smtClean="0"/>
              <a:t> </a:t>
            </a:r>
            <a:r>
              <a:rPr lang="en-US" sz="2400" dirty="0" err="1" smtClean="0"/>
              <a:t>geboden</a:t>
            </a:r>
            <a:r>
              <a:rPr lang="en-US" sz="2400" dirty="0" smtClean="0"/>
              <a:t> </a:t>
            </a:r>
            <a:r>
              <a:rPr lang="en-US" sz="2400" dirty="0" err="1" smtClean="0"/>
              <a:t>voor</a:t>
            </a:r>
            <a:r>
              <a:rPr lang="en-US" sz="2400" dirty="0" smtClean="0"/>
              <a:t> de </a:t>
            </a:r>
            <a:r>
              <a:rPr lang="en-US" sz="2400" dirty="0" err="1" smtClean="0"/>
              <a:t>openbare</a:t>
            </a:r>
            <a:r>
              <a:rPr lang="en-US" sz="2400" dirty="0" smtClean="0"/>
              <a:t> </a:t>
            </a:r>
            <a:r>
              <a:rPr lang="en-US" sz="2400" dirty="0" err="1" smtClean="0"/>
              <a:t>orde</a:t>
            </a:r>
            <a:r>
              <a:rPr lang="en-US" sz="2400" dirty="0" smtClean="0"/>
              <a:t>.</a:t>
            </a:r>
          </a:p>
          <a:p>
            <a:pPr marL="965200" lvl="2" indent="-342900">
              <a:lnSpc>
                <a:spcPct val="150000"/>
              </a:lnSpc>
            </a:pPr>
            <a:endParaRPr lang="en-US" sz="2400" dirty="0"/>
          </a:p>
          <a:p>
            <a:pPr marL="965200" lvl="2" indent="-342900">
              <a:lnSpc>
                <a:spcPct val="150000"/>
              </a:lnSpc>
            </a:pPr>
            <a:endParaRPr lang="en-US" sz="2400" dirty="0" smtClean="0"/>
          </a:p>
          <a:p>
            <a:pPr marL="965200" lvl="2" indent="-342900">
              <a:lnSpc>
                <a:spcPct val="150000"/>
              </a:lnSpc>
            </a:pPr>
            <a:endParaRPr lang="en-US" sz="2400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287034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Overzicht</a:t>
            </a:r>
            <a:r>
              <a:rPr lang="en-US" b="1" dirty="0" smtClean="0"/>
              <a:t>: </a:t>
            </a:r>
            <a:r>
              <a:rPr lang="en-US" b="1" dirty="0" err="1" smtClean="0"/>
              <a:t>kansvariabelen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7550" lvl="1" indent="-342900">
              <a:lnSpc>
                <a:spcPct val="150000"/>
              </a:lnSpc>
            </a:pP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1439314"/>
                  </p:ext>
                </p:extLst>
              </p:nvPr>
            </p:nvGraphicFramePr>
            <p:xfrm>
              <a:off x="812800" y="1720277"/>
              <a:ext cx="11044767" cy="4591374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3196320">
                      <a:extLst>
                        <a:ext uri="{9D8B030D-6E8A-4147-A177-3AD203B41FA5}">
                          <a16:colId xmlns:a16="http://schemas.microsoft.com/office/drawing/2014/main" val="53111846"/>
                        </a:ext>
                      </a:extLst>
                    </a:gridCol>
                    <a:gridCol w="4166858">
                      <a:extLst>
                        <a:ext uri="{9D8B030D-6E8A-4147-A177-3AD203B41FA5}">
                          <a16:colId xmlns:a16="http://schemas.microsoft.com/office/drawing/2014/main" val="3992352482"/>
                        </a:ext>
                      </a:extLst>
                    </a:gridCol>
                    <a:gridCol w="3681589">
                      <a:extLst>
                        <a:ext uri="{9D8B030D-6E8A-4147-A177-3AD203B41FA5}">
                          <a16:colId xmlns:a16="http://schemas.microsoft.com/office/drawing/2014/main" val="1664887837"/>
                        </a:ext>
                      </a:extLst>
                    </a:gridCol>
                  </a:tblGrid>
                  <a:tr h="371829">
                    <a:tc>
                      <a:txBody>
                        <a:bodyPr/>
                        <a:lstStyle/>
                        <a:p>
                          <a:pPr algn="ctr"/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Discreet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9244383"/>
                      </a:ext>
                    </a:extLst>
                  </a:tr>
                  <a:tr h="6169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Mogelijke</a:t>
                          </a:r>
                          <a:r>
                            <a:rPr lang="en-US" b="1" dirty="0" smtClean="0"/>
                            <a:t> </a:t>
                          </a:r>
                          <a:r>
                            <a:rPr lang="en-US" b="1" dirty="0" err="1" smtClean="0"/>
                            <a:t>uitkomsten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/>
                            <a:t>Eindig</a:t>
                          </a:r>
                          <a:r>
                            <a:rPr lang="en-US" baseline="0" dirty="0" smtClean="0"/>
                            <a:t> / </a:t>
                          </a:r>
                          <a:r>
                            <a:rPr lang="en-US" baseline="0" dirty="0" err="1" smtClean="0"/>
                            <a:t>aftelbaar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baseline="0" dirty="0" err="1" smtClean="0"/>
                            <a:t>aantal</a:t>
                          </a:r>
                          <a:r>
                            <a:rPr lang="en-US" baseline="0" dirty="0" smtClean="0"/>
                            <a:t>, bv. 0, 1, 2, 3, …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6121795"/>
                      </a:ext>
                    </a:extLst>
                  </a:tr>
                  <a:tr h="3718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Toepassingen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err="1" smtClean="0"/>
                            <a:t>Tellen</a:t>
                          </a:r>
                          <a:r>
                            <a:rPr lang="en-US" dirty="0" smtClean="0"/>
                            <a:t> of </a:t>
                          </a:r>
                          <a:r>
                            <a:rPr lang="en-US" dirty="0" err="1" smtClean="0"/>
                            <a:t>categoriseren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73277512"/>
                      </a:ext>
                    </a:extLst>
                  </a:tr>
                  <a:tr h="8813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Kansdefinitie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/>
                            <a:t>Kansfunctie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oMath>
                          </a14:m>
                          <a:endParaRPr lang="nl-NL" dirty="0" smtClean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en-US" b="0" dirty="0" smtClean="0"/>
                            <a:t> </a:t>
                          </a:r>
                          <a:r>
                            <a:rPr lang="en-US" b="0" dirty="0" err="1" smtClean="0"/>
                            <a:t>voor</a:t>
                          </a:r>
                          <a:r>
                            <a:rPr lang="en-US" b="0" dirty="0" smtClean="0"/>
                            <a:t> </a:t>
                          </a:r>
                          <a:r>
                            <a:rPr lang="en-US" b="0" dirty="0" err="1" smtClean="0"/>
                            <a:t>alle</a:t>
                          </a:r>
                          <a:r>
                            <a:rPr lang="en-US" b="0" dirty="0" smtClean="0"/>
                            <a:t> </a:t>
                          </a:r>
                          <a:r>
                            <a:rPr lang="en-US" b="0" dirty="0" err="1" smtClean="0"/>
                            <a:t>uitkomsten</a:t>
                          </a:r>
                          <a:r>
                            <a:rPr lang="en-US" b="0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b="0" dirty="0" smtClean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nl-NL" dirty="0" smtClean="0"/>
                            <a:t> (kansen tellen op tot</a:t>
                          </a:r>
                          <a:r>
                            <a:rPr lang="nl-NL" baseline="0" dirty="0" smtClean="0"/>
                            <a:t> 1)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90217007"/>
                      </a:ext>
                    </a:extLst>
                  </a:tr>
                  <a:tr h="3785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CDF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36806567"/>
                      </a:ext>
                    </a:extLst>
                  </a:tr>
                  <a:tr h="3785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Verwachtingswaarde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8609556"/>
                      </a:ext>
                    </a:extLst>
                  </a:tr>
                  <a:tr h="729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Variantie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nl-NL" i="1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  <m:r>
                                              <a:rPr lang="nl-NL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nl-NL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  <m:r>
                                              <a:rPr lang="nl-NL" b="0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4538043"/>
                      </a:ext>
                    </a:extLst>
                  </a:tr>
                  <a:tr h="3718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Standaardafwijking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Var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rad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584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1439314"/>
                  </p:ext>
                </p:extLst>
              </p:nvPr>
            </p:nvGraphicFramePr>
            <p:xfrm>
              <a:off x="812800" y="1720277"/>
              <a:ext cx="11044767" cy="4591374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3196320">
                      <a:extLst>
                        <a:ext uri="{9D8B030D-6E8A-4147-A177-3AD203B41FA5}">
                          <a16:colId xmlns:a16="http://schemas.microsoft.com/office/drawing/2014/main" val="53111846"/>
                        </a:ext>
                      </a:extLst>
                    </a:gridCol>
                    <a:gridCol w="4166858">
                      <a:extLst>
                        <a:ext uri="{9D8B030D-6E8A-4147-A177-3AD203B41FA5}">
                          <a16:colId xmlns:a16="http://schemas.microsoft.com/office/drawing/2014/main" val="3992352482"/>
                        </a:ext>
                      </a:extLst>
                    </a:gridCol>
                    <a:gridCol w="3681589">
                      <a:extLst>
                        <a:ext uri="{9D8B030D-6E8A-4147-A177-3AD203B41FA5}">
                          <a16:colId xmlns:a16="http://schemas.microsoft.com/office/drawing/2014/main" val="1664887837"/>
                        </a:ext>
                      </a:extLst>
                    </a:gridCol>
                  </a:tblGrid>
                  <a:tr h="371829">
                    <a:tc>
                      <a:txBody>
                        <a:bodyPr/>
                        <a:lstStyle/>
                        <a:p>
                          <a:pPr algn="ctr"/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Discreet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9244383"/>
                      </a:ext>
                    </a:extLst>
                  </a:tr>
                  <a:tr h="6169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Mogelijke</a:t>
                          </a:r>
                          <a:r>
                            <a:rPr lang="en-US" b="1" dirty="0" smtClean="0"/>
                            <a:t> </a:t>
                          </a:r>
                          <a:r>
                            <a:rPr lang="en-US" b="1" dirty="0" err="1" smtClean="0"/>
                            <a:t>uitkomsten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/>
                            <a:t>Eindig</a:t>
                          </a:r>
                          <a:r>
                            <a:rPr lang="en-US" baseline="0" dirty="0" smtClean="0"/>
                            <a:t> / </a:t>
                          </a:r>
                          <a:r>
                            <a:rPr lang="en-US" baseline="0" dirty="0" err="1" smtClean="0"/>
                            <a:t>aftelbaar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baseline="0" dirty="0" err="1" smtClean="0"/>
                            <a:t>aantal</a:t>
                          </a:r>
                          <a:r>
                            <a:rPr lang="en-US" baseline="0" dirty="0" smtClean="0"/>
                            <a:t>, bv. 0, 1, 2, 3, …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6121795"/>
                      </a:ext>
                    </a:extLst>
                  </a:tr>
                  <a:tr h="3718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Toepassingen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err="1" smtClean="0"/>
                            <a:t>Tellen</a:t>
                          </a:r>
                          <a:r>
                            <a:rPr lang="en-US" dirty="0" smtClean="0"/>
                            <a:t> of </a:t>
                          </a:r>
                          <a:r>
                            <a:rPr lang="en-US" dirty="0" err="1" smtClean="0"/>
                            <a:t>categoriseren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7327751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Kansdefinitie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150993" r="-88889" b="-258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90217007"/>
                      </a:ext>
                    </a:extLst>
                  </a:tr>
                  <a:tr h="3785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CDF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611290" r="-88889" b="-5306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36806567"/>
                      </a:ext>
                    </a:extLst>
                  </a:tr>
                  <a:tr h="75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Verwachtingswaarde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355645" r="-88889" b="-165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8609556"/>
                      </a:ext>
                    </a:extLst>
                  </a:tr>
                  <a:tr h="75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Variantie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455645" r="-88889" b="-65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4538043"/>
                      </a:ext>
                    </a:extLst>
                  </a:tr>
                  <a:tr h="4236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Standaardafwijking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984286" r="-88889" b="-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584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61549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Samenvatting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7550" lvl="1" indent="-342900">
              <a:lnSpc>
                <a:spcPct val="150000"/>
              </a:lnSpc>
            </a:pP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12800" y="1836102"/>
                <a:ext cx="11116777" cy="513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1" hangingPunct="1">
                  <a:spcBef>
                    <a:spcPts val="1200"/>
                  </a:spcBef>
                </a:pPr>
                <a:r>
                  <a:rPr lang="nl-NL" sz="2400" b="1" dirty="0" smtClean="0">
                    <a:latin typeface="+mn-lt"/>
                  </a:rPr>
                  <a:t>Identificeren van discrete </a:t>
                </a:r>
                <a:r>
                  <a:rPr lang="nl-NL" sz="2400" b="1" dirty="0" err="1" smtClean="0">
                    <a:latin typeface="+mn-lt"/>
                  </a:rPr>
                  <a:t>kansvariabelen</a:t>
                </a:r>
                <a:endParaRPr lang="nl-NL" sz="2400" b="1" dirty="0">
                  <a:latin typeface="+mn-lt"/>
                </a:endParaRPr>
              </a:p>
              <a:p>
                <a:pPr marL="342900" indent="-342900" eaLnBrk="1" hangingPunct="1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nl-NL" sz="2400" dirty="0" smtClean="0">
                    <a:latin typeface="+mn-lt"/>
                  </a:rPr>
                  <a:t>Discrete </a:t>
                </a:r>
                <a:r>
                  <a:rPr lang="nl-NL" sz="2400" dirty="0" err="1" smtClean="0">
                    <a:latin typeface="+mn-lt"/>
                  </a:rPr>
                  <a:t>kansvariabelen</a:t>
                </a:r>
                <a:r>
                  <a:rPr lang="nl-NL" sz="2400" dirty="0" smtClean="0">
                    <a:latin typeface="+mn-lt"/>
                  </a:rPr>
                  <a:t> hebben eindig / </a:t>
                </a:r>
                <a:r>
                  <a:rPr lang="nl-NL" sz="2400" i="1" dirty="0" smtClean="0">
                    <a:latin typeface="+mn-lt"/>
                  </a:rPr>
                  <a:t>aftelbaar oneindig </a:t>
                </a:r>
                <a:r>
                  <a:rPr lang="nl-NL" sz="2400" dirty="0" smtClean="0">
                    <a:latin typeface="+mn-lt"/>
                  </a:rPr>
                  <a:t>veel mogelijke uitkomsten.</a:t>
                </a:r>
              </a:p>
              <a:p>
                <a:pPr eaLnBrk="1" hangingPunct="1">
                  <a:spcBef>
                    <a:spcPts val="1200"/>
                  </a:spcBef>
                </a:pPr>
                <a:endParaRPr lang="nl-NL" sz="2400" dirty="0" smtClean="0">
                  <a:latin typeface="+mn-lt"/>
                </a:endParaRPr>
              </a:p>
              <a:p>
                <a:pPr eaLnBrk="1" hangingPunct="1">
                  <a:spcBef>
                    <a:spcPts val="1200"/>
                  </a:spcBef>
                </a:pPr>
                <a:r>
                  <a:rPr lang="nl-NL" sz="2400" b="1" dirty="0" smtClean="0">
                    <a:latin typeface="+mn-lt"/>
                  </a:rPr>
                  <a:t>Kansrekening:</a:t>
                </a:r>
              </a:p>
              <a:p>
                <a:pPr marL="342900" indent="-342900" eaLnBrk="1" hangingPunct="1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nl-NL" sz="2400" dirty="0" smtClean="0">
                    <a:latin typeface="+mn-lt"/>
                  </a:rPr>
                  <a:t>Gebruik de </a:t>
                </a:r>
                <a:r>
                  <a:rPr lang="nl-NL" sz="2400" dirty="0" err="1" smtClean="0">
                    <a:latin typeface="+mn-lt"/>
                  </a:rPr>
                  <a:t>kansfunctie</a:t>
                </a:r>
                <a:r>
                  <a:rPr lang="nl-NL" sz="2400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sz="2400" dirty="0" smtClean="0">
                    <a:latin typeface="+mn-lt"/>
                  </a:rPr>
                  <a:t> voor specifieke uitkomsten.</a:t>
                </a:r>
              </a:p>
              <a:p>
                <a:pPr marL="342900" indent="-342900" eaLnBrk="1" hangingPunct="1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nl-NL" sz="2400" dirty="0" smtClean="0">
                    <a:latin typeface="+mn-lt"/>
                  </a:rPr>
                  <a:t>Gebruik de cumulatieve verdelingsfunctie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sz="2400" dirty="0" smtClean="0">
                    <a:latin typeface="+mn-lt"/>
                  </a:rPr>
                  <a:t> voor intervallen.</a:t>
                </a:r>
              </a:p>
              <a:p>
                <a:pPr marL="342900" indent="-342900" eaLnBrk="1" hangingPunct="1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endParaRPr lang="nl-NL" sz="2400" dirty="0">
                  <a:latin typeface="+mn-lt"/>
                </a:endParaRPr>
              </a:p>
              <a:p>
                <a:pPr eaLnBrk="1" hangingPunct="1">
                  <a:spcBef>
                    <a:spcPts val="1200"/>
                  </a:spcBef>
                </a:pPr>
                <a:r>
                  <a:rPr lang="nl-NL" sz="2400" b="1" dirty="0" smtClean="0">
                    <a:latin typeface="+mn-lt"/>
                  </a:rPr>
                  <a:t>Maten van ligging en spreiding: </a:t>
                </a:r>
                <a:r>
                  <a:rPr lang="nl-NL" sz="2400" dirty="0" smtClean="0">
                    <a:latin typeface="+mn-lt"/>
                  </a:rPr>
                  <a:t>verwachtingswaarde – variantie – standaardafwijking</a:t>
                </a:r>
                <a:r>
                  <a:rPr lang="nl-NL" sz="2400" b="1" dirty="0" smtClean="0">
                    <a:latin typeface="+mn-lt"/>
                  </a:rPr>
                  <a:t> </a:t>
                </a:r>
              </a:p>
              <a:p>
                <a:endParaRPr lang="en-US" dirty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836102"/>
                <a:ext cx="11116777" cy="5139869"/>
              </a:xfrm>
              <a:prstGeom prst="rect">
                <a:avLst/>
              </a:prstGeom>
              <a:blipFill>
                <a:blip r:embed="rId2"/>
                <a:stretch>
                  <a:fillRect l="-822" t="-10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50727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Volgend</a:t>
            </a:r>
            <a:r>
              <a:rPr lang="en-US" b="1" dirty="0" smtClean="0"/>
              <a:t> college</a:t>
            </a:r>
            <a:endParaRPr lang="nl-NL" b="1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Continue </a:t>
                </a:r>
                <a:r>
                  <a:rPr lang="en-US" sz="2400" dirty="0" err="1" smtClean="0"/>
                  <a:t>kansvariabelen</a:t>
                </a: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Huiswerk</a:t>
                </a:r>
                <a:r>
                  <a:rPr lang="en-US" sz="2400" b="1" dirty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err="1">
                    <a:latin typeface="RijksoverheidSansText" panose="020B0503040202060203" pitchFamily="34" charset="0"/>
                  </a:rPr>
                  <a:t>Lezen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van A. Buijs: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hoofdstuk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3.2, 4.1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, 4.2, 4.3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RijksoverheidSansText" panose="020B0503040202060203" pitchFamily="34" charset="0"/>
                  </a:rPr>
                  <a:t>Let op: </a:t>
                </a:r>
                <a:r>
                  <a:rPr lang="en-US" sz="2000" dirty="0" err="1" smtClean="0">
                    <a:latin typeface="RijksoverheidSansText" panose="020B0503040202060203" pitchFamily="34" charset="0"/>
                  </a:rPr>
                  <a:t>Buijs</a:t>
                </a:r>
                <a:r>
                  <a:rPr lang="en-US" sz="20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000" dirty="0" err="1" smtClean="0">
                    <a:latin typeface="RijksoverheidSansText" panose="020B0503040202060203" pitchFamily="34" charset="0"/>
                  </a:rPr>
                  <a:t>gebruikt</a:t>
                </a:r>
                <a:r>
                  <a:rPr lang="en-US" sz="2000" dirty="0" smtClean="0">
                    <a:latin typeface="RijksoverheidSansText" panose="020B0503040202060203" pitchFamily="34" charset="0"/>
                  </a:rPr>
                  <a:t> in </a:t>
                </a:r>
                <a:r>
                  <a:rPr lang="en-US" sz="2000" dirty="0" err="1" smtClean="0">
                    <a:latin typeface="RijksoverheidSansText" panose="020B0503040202060203" pitchFamily="34" charset="0"/>
                  </a:rPr>
                  <a:t>plaats</a:t>
                </a:r>
                <a:r>
                  <a:rPr lang="en-US" sz="2000" dirty="0" smtClean="0">
                    <a:latin typeface="RijksoverheidSansText" panose="020B0503040202060203" pitchFamily="34" charset="0"/>
                  </a:rPr>
                  <a:t> van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000" dirty="0" err="1" smtClean="0">
                    <a:latin typeface="RijksoverheidSansText" panose="020B0503040202060203" pitchFamily="34" charset="0"/>
                  </a:rPr>
                  <a:t>notatie</a:t>
                </a:r>
                <a:r>
                  <a:rPr lang="en-US" sz="20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US" sz="20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000" dirty="0" err="1" smtClean="0">
                    <a:latin typeface="RijksoverheidSansText" panose="020B0503040202060203" pitchFamily="34" charset="0"/>
                  </a:rPr>
                  <a:t>voor</a:t>
                </a:r>
                <a:r>
                  <a:rPr lang="en-US" sz="20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000" dirty="0" err="1" smtClean="0">
                    <a:latin typeface="RijksoverheidSansText" panose="020B0503040202060203" pitchFamily="34" charset="0"/>
                  </a:rPr>
                  <a:t>kansvariabelen</a:t>
                </a:r>
                <a:r>
                  <a:rPr lang="en-US" sz="20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000" dirty="0" smtClean="0">
                    <a:latin typeface="RijksoverheidSansText" panose="020B0503040202060203" pitchFamily="34" charset="0"/>
                  </a:rPr>
                  <a:t>(</a:t>
                </a:r>
                <a:r>
                  <a:rPr lang="en-US" sz="2000" dirty="0" err="1" smtClean="0">
                    <a:latin typeface="RijksoverheidSansText" panose="020B0503040202060203" pitchFamily="34" charset="0"/>
                  </a:rPr>
                  <a:t>onderstreept</a:t>
                </a:r>
                <a:r>
                  <a:rPr lang="en-US" sz="2000" dirty="0" smtClean="0">
                    <a:latin typeface="RijksoverheidSansText" panose="020B0503040202060203" pitchFamily="34" charset="0"/>
                  </a:rPr>
                  <a:t>)</a:t>
                </a:r>
              </a:p>
              <a:p>
                <a:pPr lvl="1" indent="0">
                  <a:buNone/>
                </a:pPr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Opdrachten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uit</a:t>
                </a:r>
                <a:r>
                  <a:rPr lang="en-US" sz="2400" dirty="0"/>
                  <a:t> </a:t>
                </a:r>
                <a:r>
                  <a:rPr lang="en-US" sz="2400" i="1" dirty="0"/>
                  <a:t>“</a:t>
                </a:r>
                <a:r>
                  <a:rPr lang="en-US" sz="2400" i="1" dirty="0" err="1"/>
                  <a:t>Statistiek</a:t>
                </a:r>
                <a:r>
                  <a:rPr lang="en-US" sz="2400" i="1" dirty="0"/>
                  <a:t> om </a:t>
                </a:r>
                <a:r>
                  <a:rPr lang="en-US" sz="2400" i="1" dirty="0" err="1"/>
                  <a:t>mee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te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werken</a:t>
                </a:r>
                <a:r>
                  <a:rPr lang="en-US" sz="2400" i="1" dirty="0"/>
                  <a:t>: </a:t>
                </a:r>
                <a:r>
                  <a:rPr lang="en-US" sz="2400" i="1" dirty="0" err="1"/>
                  <a:t>opgaven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en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uitwerkingen</a:t>
                </a:r>
                <a:r>
                  <a:rPr lang="en-US" sz="2400" i="1" dirty="0"/>
                  <a:t>”</a:t>
                </a:r>
                <a:r>
                  <a:rPr lang="en-US" sz="2400" dirty="0"/>
                  <a:t>:</a:t>
                </a:r>
                <a:r>
                  <a:rPr lang="en-US" sz="2400" i="1" dirty="0"/>
                  <a:t> 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endParaRPr lang="en-US" sz="2400" dirty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RijksoverheidSansText" panose="020B0503040202060203" pitchFamily="34" charset="0"/>
                  </a:rPr>
                  <a:t>H3: 11, 24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RijksoverheidSansText" panose="020B0503040202060203" pitchFamily="34" charset="0"/>
                  </a:rPr>
                  <a:t>H4: m1-m5, 1, 3, 4, 6, 7, 9, 12, 13abcde</a:t>
                </a:r>
                <a:endParaRPr lang="en-US" sz="2400" dirty="0">
                  <a:latin typeface="RijksoverheidSansText" panose="020B0503040202060203" pitchFamily="34" charset="0"/>
                </a:endParaRPr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65" t="-2296" b="-8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24400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Custom 1">
      <a:majorFont>
        <a:latin typeface="RijksoverheidSansWebText Bold"/>
        <a:ea typeface=""/>
        <a:cs typeface=""/>
      </a:majorFont>
      <a:minorFont>
        <a:latin typeface="RijksoverheidSans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17000"/>
        </a:solidFill>
        <a:ln>
          <a:noFill/>
        </a:ln>
        <a:effectLst/>
        <a:extLst/>
      </a:spPr>
      <a:bodyPr vert="horz" wrap="square" lIns="0" tIns="0" rIns="0" bIns="0" numCol="1" rtlCol="0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2.xml><?xml version="1.0" encoding="utf-8"?>
<a:theme xmlns:a="http://schemas.openxmlformats.org/drawingml/2006/main" name="1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Aangepast 1">
      <a:majorFont>
        <a:latin typeface="RijksoverheidSansWebText Bold"/>
        <a:ea typeface=""/>
        <a:cs typeface=""/>
      </a:majorFont>
      <a:minorFont>
        <a:latin typeface="RijksoverheidSansWebText Regul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Tijdelijk_bestand_Presentatie_DOSCO_16-9</Template>
  <TotalTime>0</TotalTime>
  <Words>3340</Words>
  <Application>Microsoft Office PowerPoint</Application>
  <PresentationFormat>Breedbeeld</PresentationFormat>
  <Paragraphs>609</Paragraphs>
  <Slides>30</Slides>
  <Notes>6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2</vt:i4>
      </vt:variant>
      <vt:variant>
        <vt:lpstr>Diatitels</vt:lpstr>
      </vt:variant>
      <vt:variant>
        <vt:i4>30</vt:i4>
      </vt:variant>
    </vt:vector>
  </HeadingPairs>
  <TitlesOfParts>
    <vt:vector size="39" baseType="lpstr">
      <vt:lpstr>Arial</vt:lpstr>
      <vt:lpstr>Cambria Math</vt:lpstr>
      <vt:lpstr>RijksoverheidSansHeadingTT</vt:lpstr>
      <vt:lpstr>RijksoverheidSansText</vt:lpstr>
      <vt:lpstr>RijksoverheidSansWebText Bold</vt:lpstr>
      <vt:lpstr>RijksoverheidSansWebText Regula</vt:lpstr>
      <vt:lpstr>Verdana</vt:lpstr>
      <vt:lpstr>Presentatie</vt:lpstr>
      <vt:lpstr>1_Presentatie</vt:lpstr>
      <vt:lpstr>Statistiek: college 2</vt:lpstr>
      <vt:lpstr>Recap: vorige week</vt:lpstr>
      <vt:lpstr> Leerdoelen</vt:lpstr>
      <vt:lpstr>Geschiedenis van de kansrekening</vt:lpstr>
      <vt:lpstr>Voorbeeld: worp met twee dobbelstenen</vt:lpstr>
      <vt:lpstr>Voorbeeld: worp van twee dobbelstenen</vt:lpstr>
      <vt:lpstr>Kansexperiment</vt:lpstr>
      <vt:lpstr>Voorbeeld: worp van twee dobbelstenen</vt:lpstr>
      <vt:lpstr>Voorbeeld: worp van twee dobbelstenen</vt:lpstr>
      <vt:lpstr>Voorbeeld: worp van twee dobbelstenen</vt:lpstr>
      <vt:lpstr>Voorbeeld: worp van twee dobbelstenen</vt:lpstr>
      <vt:lpstr>Waarom leren we over kansvariabelen voor statistiek</vt:lpstr>
      <vt:lpstr>Focus: kwantitatieve variabelen</vt:lpstr>
      <vt:lpstr>Discrete kansvariabelen (“tellen”)</vt:lpstr>
      <vt:lpstr>Discrete kansvariabelen</vt:lpstr>
      <vt:lpstr>Twee manieren om een kansfunctie p(k)=P(X=k) te beschrijven</vt:lpstr>
      <vt:lpstr>Eigenschappen van de kansfunctie</vt:lpstr>
      <vt:lpstr>Cumulatieve verdelingsfunctie (CDF)</vt:lpstr>
      <vt:lpstr>Voorbeeld</vt:lpstr>
      <vt:lpstr>Wat is de kans op minimaal 1 en maximaal 7 belletjes het komende uur?</vt:lpstr>
      <vt:lpstr>Hoe ziet een cumulatieve verdelingsfunctie (CDF) er visueel uit?</vt:lpstr>
      <vt:lpstr>Verwachtingswaarde</vt:lpstr>
      <vt:lpstr>Wat is de verwachtingswaarde van het aantal belletjes?</vt:lpstr>
      <vt:lpstr>Variantie</vt:lpstr>
      <vt:lpstr>Standaardafwijking</vt:lpstr>
      <vt:lpstr>c) Wat is de standaardafwijking van het aantal belletjes? </vt:lpstr>
      <vt:lpstr>Toepassingen in de defensiecontext</vt:lpstr>
      <vt:lpstr>Overzicht: kansvariabelen</vt:lpstr>
      <vt:lpstr>Samenvatting</vt:lpstr>
      <vt:lpstr>Volgend college</vt:lpstr>
    </vt:vector>
  </TitlesOfParts>
  <Company>Ministerie van Defensie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2: Statistiek</dc:title>
  <dc:creator>Blom, DAMP, Dr. ir., DOSCO/NLDA/FMW/CG MTW</dc:creator>
  <cp:lastModifiedBy>Gebruiker</cp:lastModifiedBy>
  <cp:revision>262</cp:revision>
  <cp:lastPrinted>2011-09-21T07:52:24Z</cp:lastPrinted>
  <dcterms:created xsi:type="dcterms:W3CDTF">2024-10-30T14:05:14Z</dcterms:created>
  <dcterms:modified xsi:type="dcterms:W3CDTF">2026-04-02T14:13:29Z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eur">
    <vt:lpwstr>Auteur</vt:lpwstr>
  </property>
  <property fmtid="{D5CDD505-2E9C-101B-9397-08002B2CF9AE}" pid="3" name="Functie">
    <vt:lpwstr>Functie</vt:lpwstr>
  </property>
  <property fmtid="{D5CDD505-2E9C-101B-9397-08002B2CF9AE}" pid="4" name="Titel">
    <vt:lpwstr>Titel</vt:lpwstr>
  </property>
  <property fmtid="{D5CDD505-2E9C-101B-9397-08002B2CF9AE}" pid="5" name="Subtitel">
    <vt:lpwstr>Subtitel</vt:lpwstr>
  </property>
  <property fmtid="{D5CDD505-2E9C-101B-9397-08002B2CF9AE}" pid="6" name="Afdeling">
    <vt:lpwstr>Afdeling</vt:lpwstr>
  </property>
  <property fmtid="{D5CDD505-2E9C-101B-9397-08002B2CF9AE}" pid="7" name="Merking">
    <vt:lpwstr>Merking</vt:lpwstr>
  </property>
  <property fmtid="{D5CDD505-2E9C-101B-9397-08002B2CF9AE}" pid="8" name="Rubricering">
    <vt:lpwstr>Rubricering</vt:lpwstr>
  </property>
  <property fmtid="{D5CDD505-2E9C-101B-9397-08002B2CF9AE}" pid="9" name="Datum">
    <vt:filetime>1999-12-31T22:00:00Z</vt:filetime>
  </property>
</Properties>
</file>