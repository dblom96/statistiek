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86" r:id="rId2"/>
  </p:sldMasterIdLst>
  <p:notesMasterIdLst>
    <p:notesMasterId r:id="rId27"/>
  </p:notesMasterIdLst>
  <p:handoutMasterIdLst>
    <p:handoutMasterId r:id="rId28"/>
  </p:handoutMasterIdLst>
  <p:sldIdLst>
    <p:sldId id="291" r:id="rId3"/>
    <p:sldId id="257" r:id="rId4"/>
    <p:sldId id="258" r:id="rId5"/>
    <p:sldId id="260" r:id="rId6"/>
    <p:sldId id="293" r:id="rId7"/>
    <p:sldId id="294" r:id="rId8"/>
    <p:sldId id="295" r:id="rId9"/>
    <p:sldId id="259" r:id="rId10"/>
    <p:sldId id="261" r:id="rId11"/>
    <p:sldId id="277" r:id="rId12"/>
    <p:sldId id="278" r:id="rId13"/>
    <p:sldId id="286" r:id="rId14"/>
    <p:sldId id="271" r:id="rId15"/>
    <p:sldId id="287" r:id="rId16"/>
    <p:sldId id="272" r:id="rId17"/>
    <p:sldId id="288" r:id="rId18"/>
    <p:sldId id="273" r:id="rId19"/>
    <p:sldId id="289" r:id="rId20"/>
    <p:sldId id="281" r:id="rId21"/>
    <p:sldId id="282" r:id="rId22"/>
    <p:sldId id="283" r:id="rId23"/>
    <p:sldId id="285" r:id="rId24"/>
    <p:sldId id="292" r:id="rId25"/>
    <p:sldId id="290" r:id="rId26"/>
  </p:sldIdLst>
  <p:sldSz cx="12192000" cy="6858000"/>
  <p:notesSz cx="6921500" cy="9423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68">
          <p15:clr>
            <a:srgbClr val="A4A3A4"/>
          </p15:clr>
        </p15:guide>
        <p15:guide id="2" pos="21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0047"/>
    <a:srgbClr val="000000"/>
    <a:srgbClr val="55286E"/>
    <a:srgbClr val="FFFFFF"/>
    <a:srgbClr val="0E3B6E"/>
    <a:srgbClr val="005187"/>
    <a:srgbClr val="00423C"/>
    <a:srgbClr val="0E61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00"/>
  </p:normalViewPr>
  <p:slideViewPr>
    <p:cSldViewPr>
      <p:cViewPr varScale="1">
        <p:scale>
          <a:sx n="109" d="100"/>
          <a:sy n="109" d="100"/>
        </p:scale>
        <p:origin x="612" y="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5" d="100"/>
          <a:sy n="75" d="100"/>
        </p:scale>
        <p:origin x="-2118" y="-90"/>
      </p:cViewPr>
      <p:guideLst>
        <p:guide orient="horz" pos="2968"/>
        <p:guide pos="21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6088"/>
            <a:ext cx="5867400" cy="414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33400" y="114300"/>
            <a:ext cx="2998788" cy="146050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Arial" charset="0"/>
              </a:defRPr>
            </a:lvl1pPr>
          </a:lstStyle>
          <a:p>
            <a:pPr>
              <a:defRPr/>
            </a:pP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533400" y="8951913"/>
            <a:ext cx="6019800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r>
              <a:rPr lang="nl-NL" dirty="0">
                <a:latin typeface="RijksoverheidSansText" panose="020B0503040202060203" pitchFamily="34" charset="0"/>
              </a:rPr>
              <a:t>Eventuele voettekst</a:t>
            </a:r>
          </a:p>
        </p:txBody>
      </p:sp>
      <p:sp>
        <p:nvSpPr>
          <p:cNvPr id="327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6613525" y="8951913"/>
            <a:ext cx="228600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fld id="{E1460D1F-5074-4EB0-BB4F-B8A7850CD942}" type="slidenum">
              <a:rPr lang="nl-NL">
                <a:latin typeface="RijksoverheidSansText" panose="020B0503040202060203" pitchFamily="34" charset="0"/>
              </a:rPr>
              <a:pPr>
                <a:defRPr/>
              </a:pPr>
              <a:t>‹nr.›</a:t>
            </a:fld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88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  <p:sp>
        <p:nvSpPr>
          <p:cNvPr id="32789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24733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7675"/>
            <a:ext cx="5867400" cy="412750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31813" y="114300"/>
            <a:ext cx="2998787" cy="1476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50825" y="933450"/>
            <a:ext cx="6280150" cy="35337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533400" y="4648200"/>
            <a:ext cx="4724400" cy="384492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Klik</a:t>
            </a:r>
            <a:r>
              <a:rPr lang="en-US" noProof="0" dirty="0" smtClean="0"/>
              <a:t> om het </a:t>
            </a:r>
            <a:r>
              <a:rPr lang="en-US" noProof="0" dirty="0" err="1" smtClean="0"/>
              <a:t>opmaakprofiel</a:t>
            </a:r>
            <a:r>
              <a:rPr lang="en-US" noProof="0" dirty="0" smtClean="0"/>
              <a:t> van de </a:t>
            </a:r>
            <a:r>
              <a:rPr lang="en-US" noProof="0" dirty="0" err="1" smtClean="0"/>
              <a:t>modeltekst</a:t>
            </a:r>
            <a:r>
              <a:rPr lang="en-US" noProof="0" dirty="0" smtClean="0"/>
              <a:t> </a:t>
            </a:r>
            <a:r>
              <a:rPr lang="en-US" noProof="0" dirty="0" err="1" smtClean="0"/>
              <a:t>te</a:t>
            </a:r>
            <a:r>
              <a:rPr lang="en-US" noProof="0" dirty="0" smtClean="0"/>
              <a:t> </a:t>
            </a:r>
            <a:r>
              <a:rPr lang="en-US" noProof="0" dirty="0" err="1" smtClean="0"/>
              <a:t>bewerken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Tweede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Derde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Vijfde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531813" y="8951913"/>
            <a:ext cx="6097587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r>
              <a:rPr lang="en-US" dirty="0" err="1" smtClean="0"/>
              <a:t>Eventuele</a:t>
            </a:r>
            <a:r>
              <a:rPr lang="en-US" dirty="0" smtClean="0"/>
              <a:t> </a:t>
            </a:r>
            <a:r>
              <a:rPr lang="en-US" dirty="0" err="1" smtClean="0"/>
              <a:t>voettekst</a:t>
            </a:r>
            <a:endParaRPr lang="en-US" dirty="0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615113" y="8951913"/>
            <a:ext cx="230187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  <p:sp>
        <p:nvSpPr>
          <p:cNvPr id="5139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  <p:sp>
        <p:nvSpPr>
          <p:cNvPr id="5140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56278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1pPr>
    <a:lvl2pPr marL="190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2pPr>
    <a:lvl3pPr marL="381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3pPr>
    <a:lvl4pPr marL="571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4pPr>
    <a:lvl5pPr marL="762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De vraag is bewust vaag gesteld, omdat het meer vragen zou moeten oproepen (met normale</a:t>
            </a:r>
            <a:r>
              <a:rPr lang="nl-NL" baseline="0" dirty="0" smtClean="0"/>
              <a:t> verdelingen kun je nooit 100% zekerheid krijgt dat het genoeg is.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985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De vraag is bewust vaag gesteld, omdat het meer vragen zou moeten oproepen (met normale</a:t>
            </a:r>
            <a:r>
              <a:rPr lang="nl-NL" baseline="0" dirty="0" smtClean="0"/>
              <a:t> verdelingen kun je nooit 100% zekerheid krijgt dat het genoeg is.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506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Hier beoog ik in de les</a:t>
            </a:r>
            <a:r>
              <a:rPr lang="nl-NL" baseline="0" dirty="0" smtClean="0"/>
              <a:t> interactie te </a:t>
            </a:r>
            <a:r>
              <a:rPr lang="nl-NL" baseline="0" dirty="0" err="1" smtClean="0"/>
              <a:t>creeren</a:t>
            </a:r>
            <a:r>
              <a:rPr lang="nl-NL" baseline="0" dirty="0" smtClean="0"/>
              <a:t> en daarbij als doel dat de studenten gaan zeggen dat het waarschijnlijk uit gaat middelen zodra het aantal Boxers groter wordt.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7914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De vraag is bewust vaag gesteld, omdat het meer vragen zou moeten oproepen (met normale</a:t>
            </a:r>
            <a:r>
              <a:rPr lang="nl-NL" baseline="0" dirty="0" smtClean="0"/>
              <a:t> verdelingen kun je nooit 100% zekerheid krijgt dat het genoeg is.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561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2" y="2474916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2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6" y="5386391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4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3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+mn-lt"/>
              </a:rPr>
              <a:t>Dr. ir. Danny Blom</a:t>
            </a:r>
            <a:endParaRPr lang="nl-NL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3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+mn-lt"/>
              </a:rPr>
              <a:t>Nederlandse</a:t>
            </a:r>
            <a:r>
              <a:rPr lang="nl-NL" sz="1200" baseline="0" dirty="0" smtClean="0">
                <a:solidFill>
                  <a:schemeClr val="bg1"/>
                </a:solidFill>
                <a:latin typeface="+mn-lt"/>
              </a:rPr>
              <a:t> Defensie Academie</a:t>
            </a:r>
            <a:endParaRPr lang="nl-NL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6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Faculteit</a:t>
            </a:r>
            <a:r>
              <a:rPr lang="en-US" sz="1200" b="0" dirty="0" smtClean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Militaire</a:t>
            </a:r>
            <a:r>
              <a:rPr lang="en-US" sz="1200" b="0" dirty="0" smtClean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Wetenschappen</a:t>
            </a:r>
            <a:endParaRPr sz="1200" b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2" y="2096771"/>
            <a:ext cx="4798484" cy="492443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smtClean="0"/>
              <a:t>Click to edit Master title style</a:t>
            </a:r>
            <a:endParaRPr lang="nl-NL" noProof="0" dirty="0" smtClean="0"/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2" y="2781303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smtClean="0"/>
              <a:t>Click to edit Master subtitle style</a:t>
            </a:r>
            <a:endParaRPr lang="nl-NL" noProof="0" smtClean="0"/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6"/>
            <a:ext cx="2218267" cy="365125"/>
          </a:xfrm>
        </p:spPr>
        <p:txBody>
          <a:bodyPr/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8976320" y="6520261"/>
            <a:ext cx="2881249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dirty="0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615553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1127324"/>
            <a:ext cx="4011084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7"/>
            <a:ext cx="6815667" cy="500141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3"/>
            <a:ext cx="7315200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6"/>
            <a:ext cx="7315200" cy="36028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smtClean="0"/>
              <a:t>Click icon to add picture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1" y="2474914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1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5" y="5386389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Nederlandse Defensie Academie</a:t>
            </a: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Dr. ir. D. Blom / Dr. M. van Ee</a:t>
            </a: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4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Faculteit Militaire Wetenschappen</a:t>
            </a: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1" y="1700213"/>
            <a:ext cx="4798484" cy="889000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 smtClean="0"/>
              <a:t>Klik om de stijl te bewerken</a:t>
            </a:r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1" y="2781301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smtClean="0"/>
              <a:t>Klik om de ondertitelstijl van het model te bewerken</a:t>
            </a:r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4"/>
            <a:ext cx="2218267" cy="365125"/>
          </a:xfrm>
        </p:spPr>
        <p:txBody>
          <a:bodyPr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052798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9601897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615553"/>
          </a:xfrm>
        </p:spPr>
        <p:txBody>
          <a:bodyPr/>
          <a:lstStyle>
            <a:lvl1pPr algn="l">
              <a:defRPr sz="4000" b="1" cap="all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latin typeface="RijksoverheidSansText" panose="020B0503040202060203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436726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544930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Text" panose="020B05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35747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14024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382236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124744"/>
            <a:ext cx="4011084" cy="3103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 smtClean="0"/>
              <a:t>Klik om de stijl te bewerken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5"/>
            <a:ext cx="6815667" cy="5001419"/>
          </a:xfrm>
        </p:spPr>
        <p:txBody>
          <a:bodyPr/>
          <a:lstStyle>
            <a:lvl1pPr>
              <a:defRPr sz="3200">
                <a:latin typeface="RijksoverheidSansText" panose="020B0503040202060203" pitchFamily="34" charset="0"/>
              </a:defRPr>
            </a:lvl1pPr>
            <a:lvl2pPr>
              <a:defRPr sz="2800">
                <a:latin typeface="RijksoverheidSansText" panose="020B0503040202060203" pitchFamily="34" charset="0"/>
              </a:defRPr>
            </a:lvl2pPr>
            <a:lvl3pPr>
              <a:defRPr sz="2400">
                <a:latin typeface="RijksoverheidSansText" panose="020B0503040202060203" pitchFamily="34" charset="0"/>
              </a:defRPr>
            </a:lvl3pPr>
            <a:lvl4pPr>
              <a:defRPr sz="2000">
                <a:latin typeface="RijksoverheidSansText" panose="020B0503040202060203" pitchFamily="34" charset="0"/>
              </a:defRPr>
            </a:lvl4pPr>
            <a:lvl5pPr>
              <a:defRPr sz="2000">
                <a:latin typeface="RijksoverheidSansText" panose="020B0503040202060203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6497796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 anchor="b"/>
          <a:lstStyle>
            <a:lvl1pPr algn="l">
              <a:defRPr sz="20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4"/>
            <a:ext cx="7315200" cy="3602831"/>
          </a:xfrm>
        </p:spPr>
        <p:txBody>
          <a:bodyPr/>
          <a:lstStyle>
            <a:lvl1pPr marL="0" indent="0">
              <a:buNone/>
              <a:defRPr sz="3200">
                <a:latin typeface="RijksoverheidSansText" panose="020B0503040202060203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nl-NL" noProof="0" dirty="0" smtClean="0"/>
              <a:t>Klik op het pictogram als u een afbeelding wilt toevoegen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205024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286369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375017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3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41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 dirty="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endParaRPr sz="2200"/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4" y="3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6" y="6520261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5" r:id="rId11"/>
  </p:sldLayoutIdLst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39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Statistiek MBW</a:t>
            </a:r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3" y="1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5" y="6520259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95928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iming>
    <p:tnLst>
      <p:par>
        <p:cTn id="1" dur="indefinite" restart="never" nodeType="tmRoot"/>
      </p:par>
    </p:tnLst>
  </p:timing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interactive-cls.streamlit.app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hpTitel"/>
          <p:cNvSpPr>
            <a:spLocks noGrp="1" noChangeArrowheads="1"/>
          </p:cNvSpPr>
          <p:nvPr>
            <p:ph type="title"/>
          </p:nvPr>
        </p:nvSpPr>
        <p:spPr>
          <a:xfrm>
            <a:off x="6457951" y="2097087"/>
            <a:ext cx="5040000" cy="492443"/>
          </a:xfrm>
        </p:spPr>
        <p:txBody>
          <a:bodyPr anchor="t" anchorCtr="0"/>
          <a:lstStyle/>
          <a:p>
            <a:r>
              <a:rPr lang="en-US" dirty="0" err="1">
                <a:solidFill>
                  <a:srgbClr val="113652"/>
                </a:solidFill>
              </a:rPr>
              <a:t>Statistiek</a:t>
            </a:r>
            <a:r>
              <a:rPr lang="en-US" dirty="0">
                <a:solidFill>
                  <a:srgbClr val="113652"/>
                </a:solidFill>
              </a:rPr>
              <a:t>: college </a:t>
            </a:r>
            <a:r>
              <a:rPr lang="en-US" dirty="0" smtClean="0">
                <a:solidFill>
                  <a:srgbClr val="113652"/>
                </a:solidFill>
              </a:rPr>
              <a:t>5b</a:t>
            </a:r>
            <a:endParaRPr lang="nl-NL" dirty="0" smtClean="0">
              <a:solidFill>
                <a:srgbClr val="113652"/>
              </a:solidFill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p:sp>
        <p:nvSpPr>
          <p:cNvPr id="4099" name="shpTekst"/>
          <p:cNvSpPr>
            <a:spLocks noGrp="1" noChangeArrowheads="1"/>
          </p:cNvSpPr>
          <p:nvPr>
            <p:ph type="body" idx="1"/>
          </p:nvPr>
        </p:nvSpPr>
        <p:spPr>
          <a:xfrm>
            <a:off x="6458400" y="3236400"/>
            <a:ext cx="5040000" cy="986400"/>
          </a:xfrm>
        </p:spPr>
        <p:txBody>
          <a:bodyPr/>
          <a:lstStyle/>
          <a:p>
            <a:r>
              <a:rPr lang="en-US" dirty="0" smtClean="0">
                <a:solidFill>
                  <a:srgbClr val="113652"/>
                </a:solidFill>
              </a:rPr>
              <a:t>De </a:t>
            </a:r>
            <a:r>
              <a:rPr lang="en-US" dirty="0" err="1" smtClean="0">
                <a:solidFill>
                  <a:srgbClr val="113652"/>
                </a:solidFill>
              </a:rPr>
              <a:t>centrale</a:t>
            </a:r>
            <a:r>
              <a:rPr lang="en-US" dirty="0" smtClean="0">
                <a:solidFill>
                  <a:srgbClr val="113652"/>
                </a:solidFill>
              </a:rPr>
              <a:t> </a:t>
            </a:r>
            <a:r>
              <a:rPr lang="en-US" dirty="0" err="1" smtClean="0">
                <a:solidFill>
                  <a:srgbClr val="113652"/>
                </a:solidFill>
              </a:rPr>
              <a:t>limietstelling</a:t>
            </a:r>
            <a:endParaRPr lang="nl-NL" dirty="0">
              <a:solidFill>
                <a:srgbClr val="113652"/>
              </a:solidFill>
            </a:endParaRPr>
          </a:p>
        </p:txBody>
      </p:sp>
      <p:sp>
        <p:nvSpPr>
          <p:cNvPr id="4100" name="Date Placeholder 2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21 mei 2026</a:t>
            </a:r>
          </a:p>
        </p:txBody>
      </p:sp>
    </p:spTree>
    <p:extLst>
      <p:ext uri="{BB962C8B-B14F-4D97-AF65-F5344CB8AC3E}">
        <p14:creationId xmlns:p14="http://schemas.microsoft.com/office/powerpoint/2010/main" val="1636585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Recap</a:t>
            </a:r>
            <a:endParaRPr lang="nl-NL" dirty="0" smtClean="0"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p:sp>
        <p:nvSpPr>
          <p:cNvPr id="5124" name="Date Placeholder 1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dirty="0" smtClean="0"/>
              <a:t>College 5b: de centrale limietstelling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1644010"/>
                  </p:ext>
                </p:extLst>
              </p:nvPr>
            </p:nvGraphicFramePr>
            <p:xfrm>
              <a:off x="335361" y="1628800"/>
              <a:ext cx="11521279" cy="4598858"/>
            </p:xfrm>
            <a:graphic>
              <a:graphicData uri="http://schemas.openxmlformats.org/drawingml/2006/table">
                <a:tbl>
                  <a:tblPr firstRow="1">
                    <a:effectLst/>
                    <a:tableStyleId>{5C22544A-7EE6-4342-B048-85BDC9FD1C3A}</a:tableStyleId>
                  </a:tblPr>
                  <a:tblGrid>
                    <a:gridCol w="3334220">
                      <a:extLst>
                        <a:ext uri="{9D8B030D-6E8A-4147-A177-3AD203B41FA5}">
                          <a16:colId xmlns:a16="http://schemas.microsoft.com/office/drawing/2014/main" val="3287744071"/>
                        </a:ext>
                      </a:extLst>
                    </a:gridCol>
                    <a:gridCol w="4346632">
                      <a:extLst>
                        <a:ext uri="{9D8B030D-6E8A-4147-A177-3AD203B41FA5}">
                          <a16:colId xmlns:a16="http://schemas.microsoft.com/office/drawing/2014/main" val="2165204108"/>
                        </a:ext>
                      </a:extLst>
                    </a:gridCol>
                    <a:gridCol w="3840427">
                      <a:extLst>
                        <a:ext uri="{9D8B030D-6E8A-4147-A177-3AD203B41FA5}">
                          <a16:colId xmlns:a16="http://schemas.microsoft.com/office/drawing/2014/main" val="2009276062"/>
                        </a:ext>
                      </a:extLst>
                    </a:gridCol>
                  </a:tblGrid>
                  <a:tr h="334931">
                    <a:tc>
                      <a:txBody>
                        <a:bodyPr/>
                        <a:lstStyle/>
                        <a:p>
                          <a:pPr algn="ctr"/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smtClean="0"/>
                            <a:t>Discreet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Continu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18041864"/>
                      </a:ext>
                    </a:extLst>
                  </a:tr>
                  <a:tr h="4732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Aantal</a:t>
                          </a:r>
                          <a:r>
                            <a:rPr lang="en-US" sz="1600" b="1" dirty="0" smtClean="0"/>
                            <a:t> </a:t>
                          </a:r>
                          <a:r>
                            <a:rPr lang="en-US" sz="1600" b="1" dirty="0" err="1" smtClean="0"/>
                            <a:t>mogelijke</a:t>
                          </a:r>
                          <a:r>
                            <a:rPr lang="en-US" sz="1600" b="1" dirty="0" smtClean="0"/>
                            <a:t> </a:t>
                          </a:r>
                          <a:r>
                            <a:rPr lang="en-US" sz="1600" b="1" dirty="0" err="1" smtClean="0"/>
                            <a:t>uitkomsten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smtClean="0"/>
                            <a:t>Eindig</a:t>
                          </a:r>
                          <a:r>
                            <a:rPr lang="en-US" sz="1600" baseline="0" dirty="0" smtClean="0"/>
                            <a:t> / </a:t>
                          </a:r>
                          <a:r>
                            <a:rPr lang="en-US" sz="1600" baseline="0" dirty="0" err="1" smtClean="0"/>
                            <a:t>aftelbaar</a:t>
                          </a:r>
                          <a:r>
                            <a:rPr lang="en-US" sz="1600" baseline="0" dirty="0" smtClean="0"/>
                            <a:t> </a:t>
                          </a:r>
                          <a:r>
                            <a:rPr lang="en-US" sz="1600" baseline="0" dirty="0" err="1" smtClean="0"/>
                            <a:t>aantal</a:t>
                          </a:r>
                          <a:r>
                            <a:rPr lang="en-US" sz="1600" baseline="0" dirty="0" smtClean="0"/>
                            <a:t>, </a:t>
                          </a:r>
                          <a:r>
                            <a:rPr lang="en-US" sz="1600" baseline="0" dirty="0" err="1" smtClean="0"/>
                            <a:t>bijv</a:t>
                          </a:r>
                          <a:r>
                            <a:rPr lang="en-US" sz="1600" baseline="0" dirty="0" smtClean="0"/>
                            <a:t>. 0, 1, 2, 3, …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Overaftelbaar</a:t>
                          </a:r>
                          <a:r>
                            <a:rPr lang="en-US" sz="1600" dirty="0" smtClean="0"/>
                            <a:t> </a:t>
                          </a:r>
                          <a:r>
                            <a:rPr lang="en-US" sz="1600" dirty="0" err="1" smtClean="0"/>
                            <a:t>oneindig</a:t>
                          </a:r>
                          <a:r>
                            <a:rPr lang="en-US" sz="1600" dirty="0" smtClean="0"/>
                            <a:t>, </a:t>
                          </a:r>
                        </a:p>
                        <a:p>
                          <a:pPr algn="ctr"/>
                          <a:r>
                            <a:rPr lang="en-US" sz="1600" dirty="0" err="1" smtClean="0"/>
                            <a:t>bijv</a:t>
                          </a:r>
                          <a:r>
                            <a:rPr lang="en-US" sz="1600" dirty="0" smtClean="0"/>
                            <a:t>. </a:t>
                          </a:r>
                          <a:r>
                            <a:rPr lang="en-US" sz="1600" dirty="0" err="1" smtClean="0"/>
                            <a:t>alles</a:t>
                          </a:r>
                          <a:r>
                            <a:rPr lang="en-US" sz="1600" dirty="0" smtClean="0"/>
                            <a:t> </a:t>
                          </a:r>
                          <a:r>
                            <a:rPr lang="en-US" sz="1600" dirty="0" err="1" smtClean="0"/>
                            <a:t>tussen</a:t>
                          </a:r>
                          <a:r>
                            <a:rPr lang="en-US" sz="1600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nl-NL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r>
                            <a:rPr lang="en-US" sz="1600" dirty="0" smtClean="0"/>
                            <a:t> </a:t>
                          </a:r>
                          <a:r>
                            <a:rPr lang="en-US" sz="1600" dirty="0" err="1" smtClean="0"/>
                            <a:t>en</a:t>
                          </a:r>
                          <a:r>
                            <a:rPr lang="en-US" sz="1600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nl-NL" sz="16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9919172"/>
                      </a:ext>
                    </a:extLst>
                  </a:tr>
                  <a:tr h="343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Toepassingen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Tellen</a:t>
                          </a:r>
                          <a:r>
                            <a:rPr lang="en-US" sz="1600" dirty="0" smtClean="0"/>
                            <a:t> of </a:t>
                          </a:r>
                          <a:r>
                            <a:rPr lang="en-US" sz="1600" dirty="0" err="1" smtClean="0"/>
                            <a:t>categoriseren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Meten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63667885"/>
                      </a:ext>
                    </a:extLst>
                  </a:tr>
                  <a:tr h="9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Kansdefinitie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600" dirty="0" smtClean="0"/>
                            <a:t>Kansfunctie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oMath>
                          </a14:m>
                          <a:endParaRPr lang="nl-NL" sz="1600" dirty="0" smtClean="0"/>
                        </a:p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oMath>
                          </a14:m>
                          <a:r>
                            <a:rPr lang="en-US" sz="1600" b="0" dirty="0" smtClean="0"/>
                            <a:t> </a:t>
                          </a:r>
                          <a:r>
                            <a:rPr lang="en-US" sz="1600" b="0" dirty="0" err="1" smtClean="0"/>
                            <a:t>voor</a:t>
                          </a:r>
                          <a:r>
                            <a:rPr lang="en-US" sz="1600" b="0" dirty="0" smtClean="0"/>
                            <a:t> </a:t>
                          </a:r>
                          <a:r>
                            <a:rPr lang="en-US" sz="1600" b="0" dirty="0" err="1" smtClean="0"/>
                            <a:t>alle</a:t>
                          </a:r>
                          <a:r>
                            <a:rPr lang="en-US" sz="1600" b="0" dirty="0" smtClean="0"/>
                            <a:t> </a:t>
                          </a:r>
                          <a:r>
                            <a:rPr lang="en-US" sz="1600" b="0" dirty="0" err="1" smtClean="0"/>
                            <a:t>uitkomsten</a:t>
                          </a:r>
                          <a:r>
                            <a:rPr lang="en-US" sz="1600" b="0" baseline="0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 baseline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600" b="0" dirty="0" smtClean="0"/>
                        </a:p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/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r>
                            <a:rPr lang="nl-NL" sz="1600" dirty="0" smtClean="0"/>
                            <a:t> (kansen tellen op tot</a:t>
                          </a:r>
                          <a:r>
                            <a:rPr lang="nl-NL" sz="1600" baseline="0" dirty="0" smtClean="0"/>
                            <a:t> 1)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 smtClean="0"/>
                            <a:t>Kansdichtheidsfunctie</a:t>
                          </a:r>
                          <a:r>
                            <a:rPr lang="en-US" sz="1600" baseline="0" dirty="0" smtClean="0"/>
                            <a:t> (PDF)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 baseline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600" b="0" i="1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baseline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endParaRPr lang="en-US" sz="1600" b="0" baseline="0" dirty="0" smtClean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≥0 </m:t>
                              </m:r>
                            </m:oMath>
                          </a14:m>
                          <a:endParaRPr lang="en-US" sz="1600" b="0" dirty="0" smtClean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nary>
                                <m:naryPr>
                                  <m:ctrlP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−∞</m:t>
                                  </m:r>
                                </m:sub>
                                <m:sup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r>
                            <a:rPr lang="nl-NL" sz="1600" dirty="0" smtClean="0"/>
                            <a:t> (totale oppervlakte is 1)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9771469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smtClean="0"/>
                            <a:t>CDF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≤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−∞</m:t>
                                    </m:r>
                                  </m:sub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798749"/>
                      </a:ext>
                    </a:extLst>
                  </a:tr>
                  <a:tr h="7116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Verwachtingswaarde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/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trlP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−∞</m:t>
                                    </m:r>
                                  </m:sub>
                                  <m:sup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∞</m:t>
                                    </m:r>
                                  </m:sup>
                                  <m:e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nl-NL" sz="16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76854382"/>
                      </a:ext>
                    </a:extLst>
                  </a:tr>
                  <a:tr h="7116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Variantie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/>
                                  <m:e>
                                    <m:sSup>
                                      <m:sSup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nl-NL" sz="16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nl-NL" sz="16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trlP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−∞</m:t>
                                    </m:r>
                                  </m:sub>
                                  <m:sup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∞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nl-NL" sz="16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nl-NL" sz="16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  <m:r>
                                      <a:rPr lang="nl-NL" sz="16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nl-NL" sz="16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45682294"/>
                      </a:ext>
                    </a:extLst>
                  </a:tr>
                  <a:tr h="398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Standaardafwijking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 b="0" i="0" smtClean="0">
                                        <a:latin typeface="Cambria Math" panose="02040503050406030204" pitchFamily="18" charset="0"/>
                                      </a:rPr>
                                      <m:t>Var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</m:e>
                                </m:rad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 b="0" i="0" smtClean="0">
                                        <a:latin typeface="Cambria Math" panose="02040503050406030204" pitchFamily="18" charset="0"/>
                                      </a:rPr>
                                      <m:t>Var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</m:e>
                                </m:rad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098442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1644010"/>
                  </p:ext>
                </p:extLst>
              </p:nvPr>
            </p:nvGraphicFramePr>
            <p:xfrm>
              <a:off x="335361" y="1628800"/>
              <a:ext cx="11521279" cy="4598858"/>
            </p:xfrm>
            <a:graphic>
              <a:graphicData uri="http://schemas.openxmlformats.org/drawingml/2006/table">
                <a:tbl>
                  <a:tblPr firstRow="1">
                    <a:effectLst/>
                    <a:tableStyleId>{5C22544A-7EE6-4342-B048-85BDC9FD1C3A}</a:tableStyleId>
                  </a:tblPr>
                  <a:tblGrid>
                    <a:gridCol w="3334220">
                      <a:extLst>
                        <a:ext uri="{9D8B030D-6E8A-4147-A177-3AD203B41FA5}">
                          <a16:colId xmlns:a16="http://schemas.microsoft.com/office/drawing/2014/main" val="3287744071"/>
                        </a:ext>
                      </a:extLst>
                    </a:gridCol>
                    <a:gridCol w="4346632">
                      <a:extLst>
                        <a:ext uri="{9D8B030D-6E8A-4147-A177-3AD203B41FA5}">
                          <a16:colId xmlns:a16="http://schemas.microsoft.com/office/drawing/2014/main" val="2165204108"/>
                        </a:ext>
                      </a:extLst>
                    </a:gridCol>
                    <a:gridCol w="3840427">
                      <a:extLst>
                        <a:ext uri="{9D8B030D-6E8A-4147-A177-3AD203B41FA5}">
                          <a16:colId xmlns:a16="http://schemas.microsoft.com/office/drawing/2014/main" val="2009276062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pPr algn="ctr"/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smtClean="0"/>
                            <a:t>Discreet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Continu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18041864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Aantal</a:t>
                          </a:r>
                          <a:r>
                            <a:rPr lang="en-US" sz="1600" b="1" dirty="0" smtClean="0"/>
                            <a:t> </a:t>
                          </a:r>
                          <a:r>
                            <a:rPr lang="en-US" sz="1600" b="1" dirty="0" err="1" smtClean="0"/>
                            <a:t>mogelijke</a:t>
                          </a:r>
                          <a:r>
                            <a:rPr lang="en-US" sz="1600" b="1" dirty="0" smtClean="0"/>
                            <a:t> </a:t>
                          </a:r>
                          <a:r>
                            <a:rPr lang="en-US" sz="1600" b="1" dirty="0" err="1" smtClean="0"/>
                            <a:t>uitkomsten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smtClean="0"/>
                            <a:t>Eindig</a:t>
                          </a:r>
                          <a:r>
                            <a:rPr lang="en-US" sz="1600" baseline="0" dirty="0" smtClean="0"/>
                            <a:t> / </a:t>
                          </a:r>
                          <a:r>
                            <a:rPr lang="en-US" sz="1600" baseline="0" dirty="0" err="1" smtClean="0"/>
                            <a:t>aftelbaar</a:t>
                          </a:r>
                          <a:r>
                            <a:rPr lang="en-US" sz="1600" baseline="0" dirty="0" smtClean="0"/>
                            <a:t> </a:t>
                          </a:r>
                          <a:r>
                            <a:rPr lang="en-US" sz="1600" baseline="0" dirty="0" err="1" smtClean="0"/>
                            <a:t>aantal</a:t>
                          </a:r>
                          <a:r>
                            <a:rPr lang="en-US" sz="1600" baseline="0" dirty="0" smtClean="0"/>
                            <a:t>, </a:t>
                          </a:r>
                          <a:r>
                            <a:rPr lang="en-US" sz="1600" baseline="0" dirty="0" err="1" smtClean="0"/>
                            <a:t>bijv</a:t>
                          </a:r>
                          <a:r>
                            <a:rPr lang="en-US" sz="1600" baseline="0" dirty="0" smtClean="0"/>
                            <a:t>. 0, 1, 2, 3, …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61053" r="-794" b="-64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9919172"/>
                      </a:ext>
                    </a:extLst>
                  </a:tr>
                  <a:tr h="343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Toepassingen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Tellen</a:t>
                          </a:r>
                          <a:r>
                            <a:rPr lang="en-US" sz="1600" dirty="0" smtClean="0"/>
                            <a:t> of </a:t>
                          </a:r>
                          <a:r>
                            <a:rPr lang="en-US" sz="1600" dirty="0" err="1" smtClean="0"/>
                            <a:t>categoriseren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Meten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63667885"/>
                      </a:ext>
                    </a:extLst>
                  </a:tr>
                  <a:tr h="9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Kansdefinitie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142857" r="-89060" b="-2775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142857" r="-794" b="-2775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9771469"/>
                      </a:ext>
                    </a:extLst>
                  </a:tr>
                  <a:tr h="6183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smtClean="0"/>
                            <a:t>CDF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350000" r="-8906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350000" r="-79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798749"/>
                      </a:ext>
                    </a:extLst>
                  </a:tr>
                  <a:tr h="7116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Verwachtingswaarde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392308" r="-89060" b="-16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392308" r="-794" b="-1615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6854382"/>
                      </a:ext>
                    </a:extLst>
                  </a:tr>
                  <a:tr h="7116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Variantie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492308" r="-89060" b="-6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492308" r="-794" b="-615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5682294"/>
                      </a:ext>
                    </a:extLst>
                  </a:tr>
                  <a:tr h="398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Standaardafwijking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1066154" r="-89060" b="-1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1066154" r="-794" b="-1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984428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Leerdoelen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539784" cy="4246562"/>
          </a:xfrm>
        </p:spPr>
        <p:txBody>
          <a:bodyPr/>
          <a:lstStyle/>
          <a:p>
            <a:pPr eaLnBrk="1" hangingPunct="1"/>
            <a:r>
              <a:rPr lang="en-US" dirty="0" err="1" smtClean="0"/>
              <a:t>Aan</a:t>
            </a:r>
            <a:r>
              <a:rPr lang="en-US" dirty="0" smtClean="0"/>
              <a:t> het </a:t>
            </a:r>
            <a:r>
              <a:rPr lang="en-US" dirty="0" err="1" smtClean="0"/>
              <a:t>eind</a:t>
            </a:r>
            <a:r>
              <a:rPr lang="en-US" dirty="0" smtClean="0"/>
              <a:t> van </a:t>
            </a:r>
            <a:r>
              <a:rPr lang="en-US" dirty="0" err="1" smtClean="0"/>
              <a:t>dit</a:t>
            </a:r>
            <a:r>
              <a:rPr lang="en-US" dirty="0" smtClean="0"/>
              <a:t> college </a:t>
            </a:r>
            <a:r>
              <a:rPr lang="en-US" dirty="0" err="1" smtClean="0"/>
              <a:t>kan</a:t>
            </a:r>
            <a:r>
              <a:rPr lang="en-US" dirty="0" smtClean="0"/>
              <a:t> de student:</a:t>
            </a:r>
          </a:p>
          <a:p>
            <a:pPr eaLnBrk="1" hangingPunct="1"/>
            <a:endParaRPr lang="en-US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i="1" dirty="0" err="1" smtClean="0"/>
              <a:t>Beoordelen</a:t>
            </a:r>
            <a:r>
              <a:rPr lang="en-US" dirty="0" smtClean="0"/>
              <a:t> of de </a:t>
            </a:r>
            <a:r>
              <a:rPr lang="en-US" dirty="0" err="1" smtClean="0"/>
              <a:t>centrale</a:t>
            </a:r>
            <a:r>
              <a:rPr lang="en-US" dirty="0" smtClean="0"/>
              <a:t> </a:t>
            </a:r>
            <a:r>
              <a:rPr lang="en-US" dirty="0" err="1" smtClean="0"/>
              <a:t>limietstelling</a:t>
            </a:r>
            <a:r>
              <a:rPr lang="en-US" dirty="0" smtClean="0"/>
              <a:t> van </a:t>
            </a:r>
            <a:r>
              <a:rPr lang="en-US" dirty="0" err="1" smtClean="0"/>
              <a:t>toepassing</a:t>
            </a:r>
            <a:r>
              <a:rPr lang="en-US" dirty="0" smtClean="0"/>
              <a:t> is in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gegeven</a:t>
            </a:r>
            <a:r>
              <a:rPr lang="en-US" dirty="0" smtClean="0"/>
              <a:t> </a:t>
            </a:r>
            <a:r>
              <a:rPr lang="en-US" dirty="0" err="1" smtClean="0"/>
              <a:t>situatie</a:t>
            </a:r>
            <a:r>
              <a:rPr lang="en-US" dirty="0" smtClean="0"/>
              <a:t>, </a:t>
            </a:r>
            <a:r>
              <a:rPr lang="en-US" dirty="0" err="1" smtClean="0"/>
              <a:t>en</a:t>
            </a:r>
            <a:r>
              <a:rPr lang="en-US" dirty="0" smtClean="0"/>
              <a:t> de </a:t>
            </a:r>
            <a:r>
              <a:rPr lang="en-US" dirty="0" err="1" smtClean="0"/>
              <a:t>voorwaarden</a:t>
            </a:r>
            <a:r>
              <a:rPr lang="en-US" dirty="0" smtClean="0"/>
              <a:t> </a:t>
            </a:r>
            <a:r>
              <a:rPr lang="en-US" i="1" dirty="0" err="1" smtClean="0"/>
              <a:t>benoemen</a:t>
            </a:r>
            <a:r>
              <a:rPr lang="en-US" i="1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i="1" dirty="0" err="1" smtClean="0"/>
              <a:t>controleren</a:t>
            </a:r>
            <a:r>
              <a:rPr lang="en-US" i="1" dirty="0" smtClean="0"/>
              <a:t>.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i="1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i="1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dirty="0" err="1" smtClean="0"/>
              <a:t>Voor</a:t>
            </a:r>
            <a:r>
              <a:rPr lang="en-US" dirty="0" smtClean="0"/>
              <a:t>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gegeven</a:t>
            </a:r>
            <a:r>
              <a:rPr lang="en-US" dirty="0" smtClean="0"/>
              <a:t> </a:t>
            </a:r>
            <a:r>
              <a:rPr lang="en-US" dirty="0" err="1" smtClean="0"/>
              <a:t>praktijkprobleem</a:t>
            </a:r>
            <a:r>
              <a:rPr lang="en-US" dirty="0" smtClean="0"/>
              <a:t> de </a:t>
            </a:r>
            <a:r>
              <a:rPr lang="en-US" dirty="0" err="1" smtClean="0"/>
              <a:t>juiste</a:t>
            </a:r>
            <a:r>
              <a:rPr lang="en-US" dirty="0" smtClean="0"/>
              <a:t> </a:t>
            </a:r>
            <a:r>
              <a:rPr lang="en-US" dirty="0" err="1" smtClean="0"/>
              <a:t>kansverdeling</a:t>
            </a:r>
            <a:r>
              <a:rPr lang="en-US" dirty="0" smtClean="0"/>
              <a:t> </a:t>
            </a:r>
            <a:r>
              <a:rPr lang="en-US" i="1" dirty="0" err="1" smtClean="0"/>
              <a:t>afleiden</a:t>
            </a:r>
            <a:r>
              <a:rPr lang="en-US" dirty="0" smtClean="0"/>
              <a:t> </a:t>
            </a:r>
            <a:r>
              <a:rPr lang="en-US" dirty="0" err="1" smtClean="0"/>
              <a:t>voor</a:t>
            </a:r>
            <a:r>
              <a:rPr lang="en-US" dirty="0" smtClean="0"/>
              <a:t> </a:t>
            </a:r>
            <a:r>
              <a:rPr lang="en-US" dirty="0" err="1" smtClean="0"/>
              <a:t>sommen</a:t>
            </a:r>
            <a:r>
              <a:rPr lang="en-US" dirty="0" smtClean="0"/>
              <a:t>, </a:t>
            </a:r>
            <a:r>
              <a:rPr lang="en-US" dirty="0" err="1" smtClean="0"/>
              <a:t>gemiddeldes</a:t>
            </a:r>
            <a:r>
              <a:rPr lang="en-US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verschillen</a:t>
            </a:r>
            <a:r>
              <a:rPr lang="en-US" dirty="0" smtClean="0"/>
              <a:t> van </a:t>
            </a:r>
            <a:r>
              <a:rPr lang="en-US" dirty="0" err="1" smtClean="0"/>
              <a:t>onafhankelijke</a:t>
            </a:r>
            <a:r>
              <a:rPr lang="en-US" dirty="0" smtClean="0"/>
              <a:t> </a:t>
            </a:r>
            <a:r>
              <a:rPr lang="en-US" dirty="0" err="1" smtClean="0"/>
              <a:t>kansvariabelen</a:t>
            </a:r>
            <a:r>
              <a:rPr lang="en-US" dirty="0" smtClean="0"/>
              <a:t>,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hiermee</a:t>
            </a:r>
            <a:r>
              <a:rPr lang="en-US" dirty="0" smtClean="0"/>
              <a:t> </a:t>
            </a:r>
            <a:r>
              <a:rPr lang="en-US" dirty="0" err="1" smtClean="0"/>
              <a:t>kansen</a:t>
            </a:r>
            <a:r>
              <a:rPr lang="en-US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grenswaarden</a:t>
            </a:r>
            <a:r>
              <a:rPr lang="en-US" dirty="0" smtClean="0"/>
              <a:t> </a:t>
            </a:r>
            <a:r>
              <a:rPr lang="en-US" i="1" dirty="0" err="1" smtClean="0"/>
              <a:t>uitrekenen</a:t>
            </a:r>
            <a:r>
              <a:rPr lang="en-US" i="1" dirty="0" smtClean="0"/>
              <a:t>.</a:t>
            </a:r>
            <a:endParaRPr lang="en-US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In eigen woorden </a:t>
            </a:r>
            <a:r>
              <a:rPr lang="nl-NL" i="1" dirty="0" smtClean="0"/>
              <a:t>beargumenteren</a:t>
            </a:r>
            <a:r>
              <a:rPr lang="nl-NL" dirty="0" smtClean="0"/>
              <a:t> </a:t>
            </a:r>
            <a:r>
              <a:rPr lang="nl-NL" dirty="0"/>
              <a:t>waarom de centrale limietstelling krachtig is, en dit </a:t>
            </a:r>
            <a:r>
              <a:rPr lang="nl-NL" i="1" dirty="0"/>
              <a:t>illustreren</a:t>
            </a:r>
            <a:r>
              <a:rPr lang="nl-NL" dirty="0"/>
              <a:t> met een concreet voorbeeld.</a:t>
            </a:r>
            <a:endParaRPr lang="en-US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dirty="0" smtClean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</p:spPr>
            <p:txBody>
              <a:bodyPr/>
              <a:lstStyle/>
              <a:p>
                <a:pPr eaLnBrk="1" hangingPunct="1"/>
                <a:r>
                  <a:rPr lang="en-US" dirty="0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logistiek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officier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bereidt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NAVO-</a:t>
                </a:r>
                <a:r>
                  <a:rPr lang="en-US" dirty="0" err="1" smtClean="0"/>
                  <a:t>konvooi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voor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dirty="0" smtClean="0"/>
                  <a:t> Boxer </a:t>
                </a:r>
                <a:r>
                  <a:rPr lang="en-US" dirty="0" err="1" smtClean="0"/>
                  <a:t>pantservoertuigen</a:t>
                </a:r>
                <a:r>
                  <a:rPr lang="en-US" dirty="0" smtClean="0"/>
                  <a:t> die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missie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uitvoeren</a:t>
                </a:r>
                <a:r>
                  <a:rPr lang="en-US" dirty="0" smtClean="0"/>
                  <a:t> over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traject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00</m:t>
                    </m:r>
                  </m:oMath>
                </a14:m>
                <a:r>
                  <a:rPr lang="en-US" dirty="0" smtClean="0"/>
                  <a:t> km door </a:t>
                </a:r>
                <a:r>
                  <a:rPr lang="en-US" dirty="0" err="1" smtClean="0"/>
                  <a:t>gevarieerd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terrein</a:t>
                </a:r>
                <a:r>
                  <a:rPr lang="en-US" dirty="0" smtClean="0"/>
                  <a:t> in </a:t>
                </a:r>
                <a:r>
                  <a:rPr lang="en-US" dirty="0" err="1" smtClean="0"/>
                  <a:t>Litouwen</a:t>
                </a:r>
                <a:r>
                  <a:rPr lang="en-US" dirty="0" smtClean="0"/>
                  <a:t>.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 dirty="0" smtClean="0"/>
                  <a:t>Op basis van </a:t>
                </a:r>
                <a:r>
                  <a:rPr lang="en-US" dirty="0" err="1" smtClean="0"/>
                  <a:t>eerdere</a:t>
                </a:r>
                <a:r>
                  <a:rPr lang="en-US" dirty="0" smtClean="0"/>
                  <a:t> missies is </a:t>
                </a:r>
                <a:r>
                  <a:rPr lang="en-US" dirty="0" err="1" smtClean="0"/>
                  <a:t>bekend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per </a:t>
                </a:r>
                <a:r>
                  <a:rPr lang="en-US" dirty="0" err="1" smtClean="0"/>
                  <a:t>voertuig</a:t>
                </a:r>
                <a:r>
                  <a:rPr lang="en-US" dirty="0" smtClean="0"/>
                  <a:t> per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 smtClean="0"/>
                  <a:t> km </a:t>
                </a:r>
                <a:r>
                  <a:rPr lang="en-US" dirty="0" err="1" smtClean="0"/>
                  <a:t>gemiddeld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85</m:t>
                    </m:r>
                  </m:oMath>
                </a14:m>
                <a:r>
                  <a:rPr lang="en-US" dirty="0" smtClean="0"/>
                  <a:t> liter </a:t>
                </a:r>
                <a:r>
                  <a:rPr lang="en-US" dirty="0" err="1" smtClean="0"/>
                  <a:t>bedraagt</a:t>
                </a:r>
                <a:r>
                  <a:rPr lang="en-US" dirty="0" smtClean="0"/>
                  <a:t>, met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standaardafwijking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lang="en-US" dirty="0" smtClean="0"/>
                  <a:t> liter. Het </a:t>
                </a:r>
                <a:r>
                  <a:rPr lang="en-US" dirty="0" err="1" smtClean="0"/>
                  <a:t>verbruik</a:t>
                </a:r>
                <a:r>
                  <a:rPr lang="en-US" dirty="0" smtClean="0"/>
                  <a:t> per </a:t>
                </a:r>
                <a:r>
                  <a:rPr lang="en-US" dirty="0" err="1" smtClean="0"/>
                  <a:t>voertuig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onafhankelijk</a:t>
                </a:r>
                <a:r>
                  <a:rPr lang="en-US" dirty="0" smtClean="0"/>
                  <a:t> van </a:t>
                </a:r>
                <a:r>
                  <a:rPr lang="en-US" dirty="0" err="1" smtClean="0"/>
                  <a:t>andere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voertuigen</a:t>
                </a:r>
                <a:r>
                  <a:rPr lang="en-US" dirty="0" smtClean="0"/>
                  <a:t>.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 dirty="0" smtClean="0"/>
                  <a:t>De </a:t>
                </a:r>
                <a:r>
                  <a:rPr lang="en-US" dirty="0" err="1" smtClean="0"/>
                  <a:t>officier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moet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beslissen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hoeveel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brandstof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er</a:t>
                </a:r>
                <a:r>
                  <a:rPr lang="en-US" dirty="0" smtClean="0"/>
                  <a:t> </a:t>
                </a:r>
              </a:p>
              <a:p>
                <a:pPr eaLnBrk="1" hangingPunct="1"/>
                <a:r>
                  <a:rPr lang="en-US" dirty="0" err="1" smtClean="0"/>
                  <a:t>wordt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meegenomen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zodat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konvooi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niet</a:t>
                </a:r>
                <a:r>
                  <a:rPr lang="en-US" dirty="0" smtClean="0"/>
                  <a:t> met</a:t>
                </a:r>
              </a:p>
              <a:p>
                <a:pPr eaLnBrk="1" hangingPunct="1"/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tekort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brandstof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komt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zitten</a:t>
                </a:r>
                <a:r>
                  <a:rPr lang="en-US" dirty="0" smtClean="0"/>
                  <a:t>.</a:t>
                </a: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eaLnBrk="1" hangingPunct="1"/>
                <a:r>
                  <a:rPr lang="en-US" b="1" dirty="0" err="1" smtClean="0"/>
                  <a:t>Hoeveel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brandstof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dient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konvooi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te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nemen</a:t>
                </a:r>
                <a:r>
                  <a:rPr lang="en-US" b="1" dirty="0" smtClean="0"/>
                  <a:t>?</a:t>
                </a:r>
                <a:endParaRPr lang="en-US" b="1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  <a:blipFill>
                <a:blip r:embed="rId3"/>
                <a:stretch>
                  <a:fillRect l="-1586" t="-2009" r="-283" b="-186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  <p:sp>
        <p:nvSpPr>
          <p:cNvPr id="2" name="AutoShape 2" descr="https://www.defensie.nl/_next/image?url=https%3A%2F%2Fwww.defensie.nl%2Fsite%2Fbinaries%2Fcontent%2Fgallery%2Fsite-content%2Fhero-afbeeldingen%2Fmaterieel%2Fvoertuigen%2Fd180306sh1068---boxer&amp;w=2560&amp;q=85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4" name="Tekstvak 3"/>
          <p:cNvSpPr txBox="1"/>
          <p:nvPr/>
        </p:nvSpPr>
        <p:spPr>
          <a:xfrm>
            <a:off x="7536160" y="5889666"/>
            <a:ext cx="3552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dirty="0" smtClean="0"/>
              <a:t>https://www.defensie.nl/onderwerpen/m/materieel/voertuigen/boxer</a:t>
            </a:r>
            <a:endParaRPr lang="nl-NL" sz="1200" dirty="0"/>
          </a:p>
        </p:txBody>
      </p:sp>
      <p:pic>
        <p:nvPicPr>
          <p:cNvPr id="5" name="Afbeelding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60" y="3645024"/>
            <a:ext cx="3375761" cy="2249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543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</p:spPr>
            <p:txBody>
              <a:bodyPr/>
              <a:lstStyle/>
              <a:p>
                <a:pPr eaLnBrk="1" hangingPunct="1"/>
                <a:r>
                  <a:rPr lang="en-US" b="1" dirty="0" smtClean="0"/>
                  <a:t>Poging 1:</a:t>
                </a:r>
                <a:r>
                  <a:rPr lang="en-US" dirty="0"/>
                  <a:t> </a:t>
                </a:r>
                <a:r>
                  <a:rPr lang="en-US" dirty="0" smtClean="0"/>
                  <a:t>We </a:t>
                </a:r>
                <a:r>
                  <a:rPr lang="en-US" dirty="0" err="1" smtClean="0"/>
                  <a:t>hebben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maken</a:t>
                </a:r>
                <a:r>
                  <a:rPr lang="en-US" dirty="0" smtClean="0"/>
                  <a:t> met 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 smtClean="0"/>
                  <a:t> Boxer-</a:t>
                </a:r>
                <a:r>
                  <a:rPr lang="en-US" dirty="0" err="1" smtClean="0"/>
                  <a:t>pantservoertuigen</a:t>
                </a: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Afstand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 smtClean="0"/>
                  <a:t> km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Gemiddelde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85</m:t>
                    </m:r>
                  </m:oMath>
                </a14:m>
                <a:r>
                  <a:rPr lang="en-US" dirty="0" smtClean="0"/>
                  <a:t> liter per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 smtClean="0"/>
                  <a:t> km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eaLnBrk="1" hangingPunct="1"/>
                <a:r>
                  <a:rPr lang="en-US" dirty="0" err="1" smtClean="0"/>
                  <a:t>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naar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verwachting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dus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50×85×</m:t>
                    </m:r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500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nl-NL" b="0" i="1" smtClean="0">
                        <a:latin typeface="Cambria Math" panose="02040503050406030204" pitchFamily="18" charset="0"/>
                      </a:rPr>
                      <m:t>=21250</m:t>
                    </m:r>
                  </m:oMath>
                </a14:m>
                <a:r>
                  <a:rPr lang="en-US" dirty="0" smtClean="0"/>
                  <a:t> liter </a:t>
                </a:r>
                <a:r>
                  <a:rPr lang="en-US" dirty="0" err="1" smtClean="0"/>
                  <a:t>brandstof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nodig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zijn</a:t>
                </a:r>
                <a:r>
                  <a:rPr lang="en-US" dirty="0" smtClean="0"/>
                  <a:t>.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endParaRPr lang="en-US" dirty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r>
                  <a:rPr lang="en-US" b="1" dirty="0" smtClean="0"/>
                  <a:t>Maar </a:t>
                </a:r>
                <a:r>
                  <a:rPr lang="en-US" b="1" dirty="0" err="1" smtClean="0"/>
                  <a:t>dit</a:t>
                </a:r>
                <a:r>
                  <a:rPr lang="en-US" b="1" dirty="0" smtClean="0"/>
                  <a:t> is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verwachtingswaarde</a:t>
                </a:r>
                <a:r>
                  <a:rPr lang="en-US" b="1" dirty="0" smtClean="0"/>
                  <a:t>, </a:t>
                </a:r>
                <a:r>
                  <a:rPr lang="en-US" b="1" dirty="0" err="1" smtClean="0"/>
                  <a:t>niet</a:t>
                </a:r>
                <a:r>
                  <a:rPr lang="en-US" b="1" dirty="0" smtClean="0"/>
                  <a:t> wat </a:t>
                </a:r>
                <a:r>
                  <a:rPr lang="en-US" b="1" dirty="0" err="1" smtClean="0"/>
                  <a:t>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daadwerkelijk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nodig</a:t>
                </a:r>
                <a:r>
                  <a:rPr lang="en-US" b="1" dirty="0" smtClean="0"/>
                  <a:t> is!</a:t>
                </a:r>
              </a:p>
              <a:p>
                <a:pPr eaLnBrk="1" hangingPunct="1"/>
                <a:r>
                  <a:rPr lang="en-US" b="1" dirty="0" smtClean="0"/>
                  <a:t>Wat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𝟖𝟓𝟎𝟎</m:t>
                    </m:r>
                  </m:oMath>
                </a14:m>
                <a:r>
                  <a:rPr lang="en-US" b="1" dirty="0" smtClean="0"/>
                  <a:t> liter </a:t>
                </a:r>
                <a:r>
                  <a:rPr lang="en-US" b="1" dirty="0" err="1" smtClean="0"/>
                  <a:t>niet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genoeg</a:t>
                </a:r>
                <a:r>
                  <a:rPr lang="en-US" b="1" dirty="0" smtClean="0"/>
                  <a:t> is?</a:t>
                </a:r>
                <a:endParaRPr lang="en-US" b="1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  <a:blipFill>
                <a:blip r:embed="rId3"/>
                <a:stretch>
                  <a:fillRect l="-1586" t="-2296" b="-660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726309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</p:spPr>
            <p:txBody>
              <a:bodyPr/>
              <a:lstStyle/>
              <a:p>
                <a:pPr eaLnBrk="1" hangingPunct="1"/>
                <a:r>
                  <a:rPr lang="nl-NL" dirty="0" smtClean="0"/>
                  <a:t>De </a:t>
                </a:r>
                <a:r>
                  <a:rPr lang="nl-NL" dirty="0" err="1" smtClean="0"/>
                  <a:t>kansvariabele</a:t>
                </a:r>
                <a:r>
                  <a:rPr lang="nl-NL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 smtClean="0"/>
                  <a:t> meet het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van Boxer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 smtClean="0"/>
                  <a:t>, </a:t>
                </a:r>
                <a:r>
                  <a:rPr lang="en-US" dirty="0" err="1" smtClean="0"/>
                  <a:t>waarbij</a:t>
                </a: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=1, 2, …, 50</m:t>
                    </m:r>
                  </m:oMath>
                </a14:m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Verwachtingswaarde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=85</m:t>
                    </m:r>
                  </m:oMath>
                </a14:m>
                <a:r>
                  <a:rPr lang="en-US" dirty="0" smtClean="0"/>
                  <a:t> liter.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Standaardafwijking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lang="en-US" dirty="0" smtClean="0"/>
                  <a:t>.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endParaRPr lang="en-US" dirty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 b="1" dirty="0" smtClean="0"/>
                  <a:t>We </a:t>
                </a:r>
                <a:r>
                  <a:rPr lang="en-US" b="1" dirty="0" err="1" smtClean="0"/>
                  <a:t>kennen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kansverdeling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één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enkele</a:t>
                </a:r>
                <a:r>
                  <a:rPr lang="en-US" b="1" dirty="0" smtClean="0"/>
                  <a:t> Boxer </a:t>
                </a:r>
                <a:r>
                  <a:rPr lang="en-US" b="1" dirty="0" err="1" smtClean="0"/>
                  <a:t>niet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precies</a:t>
                </a:r>
                <a:r>
                  <a:rPr lang="en-US" b="1" dirty="0" smtClean="0"/>
                  <a:t>. </a:t>
                </a:r>
              </a:p>
              <a:p>
                <a:pPr eaLnBrk="1" hangingPunct="1"/>
                <a:r>
                  <a:rPr lang="en-US" b="1" dirty="0" err="1" smtClean="0"/>
                  <a:t>Kunnen</a:t>
                </a:r>
                <a:r>
                  <a:rPr lang="en-US" b="1" dirty="0" smtClean="0"/>
                  <a:t> we </a:t>
                </a:r>
                <a:r>
                  <a:rPr lang="en-US" b="1" dirty="0" err="1" smtClean="0"/>
                  <a:t>toch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iets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zinnigs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zeggen</a:t>
                </a:r>
                <a:r>
                  <a:rPr lang="en-US" b="1" dirty="0" smtClean="0"/>
                  <a:t> over het </a:t>
                </a:r>
                <a:r>
                  <a:rPr lang="en-US" b="1" dirty="0" err="1" smtClean="0"/>
                  <a:t>totale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verbruik</a:t>
                </a:r>
                <a:r>
                  <a:rPr lang="en-US" b="1" dirty="0" smtClean="0"/>
                  <a:t> van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𝟓𝟎</m:t>
                    </m:r>
                  </m:oMath>
                </a14:m>
                <a:r>
                  <a:rPr lang="en-US" b="1" dirty="0" smtClean="0"/>
                  <a:t> Boxers?</a:t>
                </a:r>
                <a:endParaRPr lang="en-US" b="1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  <a:blipFill>
                <a:blip r:embed="rId3"/>
                <a:stretch>
                  <a:fillRect l="-1586" t="-2009" b="-30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7361936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De </a:t>
            </a:r>
            <a:r>
              <a:rPr lang="en-US" dirty="0" err="1" smtClean="0"/>
              <a:t>centrale</a:t>
            </a:r>
            <a:r>
              <a:rPr lang="en-US" dirty="0" smtClean="0"/>
              <a:t> </a:t>
            </a:r>
            <a:r>
              <a:rPr lang="en-US" dirty="0" err="1" smtClean="0"/>
              <a:t>limietstelling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</p:spPr>
            <p:txBody>
              <a:bodyPr/>
              <a:lstStyle/>
              <a:p>
                <a:pPr eaLnBrk="1" hangingPunct="1"/>
                <a:r>
                  <a:rPr lang="nl-NL" dirty="0" smtClean="0"/>
                  <a:t>De centrale limietstelling geeft ons een verrassend krachtig antwoord op precies deze vraag.</a:t>
                </a:r>
              </a:p>
              <a:p>
                <a:pPr eaLnBrk="1" hangingPunct="1"/>
                <a:endParaRPr lang="nl-NL" dirty="0" smtClean="0"/>
              </a:p>
              <a:p>
                <a:pPr marL="457200" indent="-457200" eaLnBrk="1" hangingPunct="1">
                  <a:buFont typeface="+mj-lt"/>
                  <a:buAutoNum type="arabicPeriod"/>
                </a:pPr>
                <a:r>
                  <a:rPr lang="nl-NL" b="1" dirty="0" err="1" smtClean="0"/>
                  <a:t>Kansvariabelen</a:t>
                </a:r>
                <a:r>
                  <a:rPr lang="nl-NL" b="1" dirty="0" smtClean="0"/>
                  <a:t> zijn onafhankelijk: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nl-NL" sz="2000" dirty="0" smtClean="0"/>
                  <a:t>Het brandstofverbruik van Boxer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nl-NL" sz="2000" b="1" dirty="0" smtClean="0"/>
                  <a:t> </a:t>
                </a:r>
                <a:r>
                  <a:rPr lang="nl-NL" sz="2000" dirty="0" smtClean="0"/>
                  <a:t>heeft geen invloed op het verbruik van Boxer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nl-NL" sz="2000" b="1" dirty="0" smtClean="0"/>
                  <a:t>.</a:t>
                </a:r>
                <a:endParaRPr lang="nl-NL" sz="2000" b="1" dirty="0"/>
              </a:p>
              <a:p>
                <a:pPr marL="457200" indent="-457200" eaLnBrk="1" hangingPunct="1">
                  <a:buFont typeface="+mj-lt"/>
                  <a:buAutoNum type="arabicPeriod" startAt="2"/>
                </a:pPr>
                <a:r>
                  <a:rPr lang="nl-NL" b="1" dirty="0" err="1" smtClean="0"/>
                  <a:t>Kansvariabelen</a:t>
                </a:r>
                <a:r>
                  <a:rPr lang="nl-NL" b="1" dirty="0" smtClean="0"/>
                  <a:t> volgen dezelfde kansverdeling: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nl-NL" sz="2000" dirty="0" smtClean="0"/>
                  <a:t>Het gemiddelde brandstofverbruik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nl-NL" sz="2000" dirty="0" smtClean="0"/>
                  <a:t> en de standaardafwijking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nl-NL" sz="2000" dirty="0" smtClean="0"/>
                  <a:t> zijn hetzelfde voor iedere Boxer.</a:t>
                </a:r>
              </a:p>
              <a:p>
                <a:pPr eaLnBrk="1" hangingPunct="1"/>
                <a:endParaRPr lang="nl-NL" dirty="0"/>
              </a:p>
              <a:p>
                <a:pPr eaLnBrk="1" hangingPunct="1"/>
                <a:r>
                  <a:rPr lang="nl-NL" b="1" dirty="0" smtClean="0">
                    <a:solidFill>
                      <a:srgbClr val="0070C0"/>
                    </a:solidFill>
                  </a:rPr>
                  <a:t>Centrale limietstelling:</a:t>
                </a:r>
                <a:r>
                  <a:rPr lang="nl-NL" dirty="0" smtClean="0">
                    <a:solidFill>
                      <a:srgbClr val="0070C0"/>
                    </a:solidFill>
                  </a:rPr>
                  <a:t> </a:t>
                </a:r>
              </a:p>
              <a:p>
                <a:r>
                  <a:rPr lang="nl-NL" dirty="0" smtClean="0">
                    <a:solidFill>
                      <a:schemeClr val="tx1"/>
                    </a:solidFill>
                  </a:rPr>
                  <a:t>Voor onafhankelijke en gelijk verdeelde </a:t>
                </a:r>
                <a:r>
                  <a:rPr lang="nl-NL" dirty="0" err="1" smtClean="0">
                    <a:solidFill>
                      <a:schemeClr val="tx1"/>
                    </a:solidFill>
                  </a:rPr>
                  <a:t>kansvariabelen</a:t>
                </a:r>
                <a:r>
                  <a:rPr lang="nl-NL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nl-NL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…</m:t>
                    </m:r>
                    <m:sSub>
                      <m:sSubPr>
                        <m:ctrlPr>
                          <a:rPr lang="nl-NL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nl-NL" dirty="0" smtClean="0">
                    <a:solidFill>
                      <a:schemeClr val="tx1"/>
                    </a:solidFill>
                  </a:rPr>
                  <a:t> geldt </a:t>
                </a:r>
                <a:r>
                  <a:rPr lang="nl-NL" i="1" dirty="0">
                    <a:solidFill>
                      <a:schemeClr val="tx1"/>
                    </a:solidFill>
                  </a:rPr>
                  <a:t>(bij benadering) </a:t>
                </a:r>
                <a:r>
                  <a:rPr lang="nl-NL" dirty="0" smtClean="0">
                    <a:solidFill>
                      <a:schemeClr val="tx1"/>
                    </a:solidFill>
                  </a:rPr>
                  <a:t>dat: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nl-NL" dirty="0" smtClean="0">
                    <a:solidFill>
                      <a:schemeClr val="tx1"/>
                    </a:solidFill>
                  </a:rPr>
                  <a:t>De som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nl-NL" dirty="0" smtClean="0">
                    <a:solidFill>
                      <a:schemeClr val="tx1"/>
                    </a:solidFill>
                  </a:rPr>
                  <a:t> </a:t>
                </a:r>
                <a:r>
                  <a:rPr lang="nl-NL" i="1" dirty="0" smtClean="0">
                    <a:solidFill>
                      <a:schemeClr val="tx1"/>
                    </a:solidFill>
                  </a:rPr>
                  <a:t>(bij benadering) </a:t>
                </a:r>
                <a:r>
                  <a:rPr lang="nl-NL" dirty="0" smtClean="0">
                    <a:solidFill>
                      <a:schemeClr val="tx1"/>
                    </a:solidFill>
                  </a:rPr>
                  <a:t>normaal verdeeld is met parameters </a:t>
                </a:r>
                <a14:m>
                  <m:oMath xmlns:m="http://schemas.openxmlformats.org/officeDocument/2006/math">
                    <m:r>
                      <a:rPr lang="nl-NL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nl-NL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nl-NL" i="1" dirty="0" smtClean="0">
                    <a:solidFill>
                      <a:schemeClr val="tx1"/>
                    </a:solidFill>
                  </a:rPr>
                  <a:t> </a:t>
                </a:r>
                <a:r>
                  <a:rPr lang="nl-NL" dirty="0" smtClean="0">
                    <a:solidFill>
                      <a:schemeClr val="tx1"/>
                    </a:solidFill>
                  </a:rPr>
                  <a:t>en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nl-NL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nl-NL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nl-NL" i="1" dirty="0" smtClean="0">
                    <a:solidFill>
                      <a:schemeClr val="tx1"/>
                    </a:solidFill>
                  </a:rPr>
                  <a:t>.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nl-NL" i="1" dirty="0">
                  <a:solidFill>
                    <a:schemeClr val="tx1"/>
                  </a:solidFill>
                </a:endParaRP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nl-NL" dirty="0" smtClean="0">
                    <a:solidFill>
                      <a:schemeClr val="tx1"/>
                    </a:solidFill>
                  </a:rPr>
                  <a:t>Het gemiddelde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  <m:r>
                      <a:rPr lang="nl-NL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nl-NL" i="1" dirty="0" smtClean="0">
                    <a:solidFill>
                      <a:schemeClr val="tx1"/>
                    </a:solidFill>
                  </a:rPr>
                  <a:t> </a:t>
                </a:r>
                <a:r>
                  <a:rPr lang="nl-NL" dirty="0" smtClean="0">
                    <a:solidFill>
                      <a:schemeClr val="tx1"/>
                    </a:solidFill>
                  </a:rPr>
                  <a:t>normaal verdeeld is met parameters </a:t>
                </a:r>
                <a14:m>
                  <m:oMath xmlns:m="http://schemas.openxmlformats.org/officeDocument/2006/math">
                    <m:r>
                      <a:rPr lang="nl-NL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nl-NL" i="1" dirty="0" smtClean="0">
                    <a:solidFill>
                      <a:schemeClr val="tx1"/>
                    </a:solidFill>
                  </a:rPr>
                  <a:t>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NL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nl-NL" i="1" dirty="0" smtClean="0">
                    <a:solidFill>
                      <a:schemeClr val="tx1"/>
                    </a:solidFill>
                  </a:rPr>
                  <a:t>.</a:t>
                </a:r>
              </a:p>
              <a:p>
                <a:pPr eaLnBrk="1" hangingPunct="1"/>
                <a:endParaRPr lang="nl-NL" b="1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b="1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  <a:blipFill>
                <a:blip r:embed="rId3"/>
                <a:stretch>
                  <a:fillRect l="-1597" t="-2009" b="-2726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98134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dirty="0" smtClean="0"/>
                  <a:t>Stel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 smtClean="0"/>
                  <a:t> de </a:t>
                </a:r>
                <a:r>
                  <a:rPr lang="en-US" dirty="0" err="1" smtClean="0"/>
                  <a:t>kansvariabele</a:t>
                </a:r>
                <a:r>
                  <a:rPr lang="en-US" dirty="0" smtClean="0"/>
                  <a:t> is die het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meet van </a:t>
                </a:r>
                <a:r>
                  <a:rPr lang="en-US" dirty="0" err="1" smtClean="0"/>
                  <a:t>voertuig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 2,…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,100</m:t>
                    </m:r>
                  </m:oMath>
                </a14:m>
                <a:endParaRPr lang="en-US" b="0" dirty="0" smtClean="0"/>
              </a:p>
              <a:p>
                <a:pPr eaLnBrk="1" hangingPunct="1"/>
                <a:endParaRPr lang="en-US" b="1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b="1" dirty="0" smtClean="0"/>
                  <a:t>Wat is de </a:t>
                </a:r>
                <a:r>
                  <a:rPr lang="en-US" b="1" dirty="0" err="1" smtClean="0"/>
                  <a:t>kansverdeling</a:t>
                </a:r>
                <a:r>
                  <a:rPr lang="en-US" b="1" dirty="0" smtClean="0"/>
                  <a:t> van het </a:t>
                </a:r>
                <a:r>
                  <a:rPr lang="en-US" b="1" dirty="0" err="1" smtClean="0"/>
                  <a:t>gemiddelde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ba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𝟏𝟎𝟎</m:t>
                            </m:r>
                          </m:sub>
                        </m:sSub>
                      </m:num>
                      <m:den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𝟏𝟎𝟎</m:t>
                        </m:r>
                      </m:den>
                    </m:f>
                  </m:oMath>
                </a14:m>
                <a:endParaRPr lang="en-US" b="1" dirty="0" smtClean="0"/>
              </a:p>
              <a:p>
                <a:pPr algn="ctr" eaLnBrk="1" hangingPunct="1"/>
                <a:endParaRPr lang="en-US" b="1" dirty="0" smtClean="0"/>
              </a:p>
              <a:p>
                <a:pPr algn="ctr" eaLnBrk="1" hangingPunct="1"/>
                <a:endParaRPr lang="en-US" b="1" dirty="0"/>
              </a:p>
              <a:p>
                <a:pPr algn="ctr" eaLnBrk="1" hangingPunct="1"/>
                <a:endParaRPr lang="en-US" b="1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b="1" dirty="0" smtClean="0"/>
                  <a:t>Wat is de </a:t>
                </a:r>
                <a:r>
                  <a:rPr lang="en-US" b="1" dirty="0" err="1" smtClean="0"/>
                  <a:t>kansverdeling</a:t>
                </a:r>
                <a:r>
                  <a:rPr lang="en-US" b="1" dirty="0" smtClean="0"/>
                  <a:t> van de </a:t>
                </a:r>
                <a:r>
                  <a:rPr lang="en-US" b="1" dirty="0" err="1" smtClean="0"/>
                  <a:t>som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𝟏𝟎𝟎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en-US" b="1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3609559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Centrale </a:t>
            </a:r>
            <a:r>
              <a:rPr lang="en-US" dirty="0" err="1" smtClean="0"/>
              <a:t>limietstelling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</p:spPr>
            <p:txBody>
              <a:bodyPr/>
              <a:lstStyle/>
              <a:p>
                <a:pPr eaLnBrk="1" hangingPunct="1"/>
                <a:r>
                  <a:rPr lang="en-US" dirty="0" smtClean="0"/>
                  <a:t>Als de </a:t>
                </a:r>
                <a:r>
                  <a:rPr lang="en-US" dirty="0" err="1" smtClean="0"/>
                  <a:t>kansvariabelen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dezelfde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kansverdeling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hebben</a:t>
                </a:r>
                <a:r>
                  <a:rPr lang="en-US" dirty="0" smtClean="0"/>
                  <a:t> met </a:t>
                </a:r>
                <a:r>
                  <a:rPr lang="en-US" dirty="0" err="1" smtClean="0"/>
                  <a:t>gemiddelde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standaardafwijking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 smtClean="0"/>
                  <a:t>, </a:t>
                </a:r>
                <a:r>
                  <a:rPr lang="en-US" dirty="0" err="1" smtClean="0"/>
                  <a:t>dan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 (</a:t>
                </a:r>
                <a:r>
                  <a:rPr lang="en-US" dirty="0" err="1" smtClean="0"/>
                  <a:t>bij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benadering</a:t>
                </a:r>
                <a:r>
                  <a:rPr lang="en-US" dirty="0" smtClean="0"/>
                  <a:t>)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:</a:t>
                </a:r>
              </a:p>
              <a:p>
                <a:pPr eaLnBrk="1" hangingPunct="1"/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het </a:t>
                </a:r>
                <a:r>
                  <a:rPr lang="en-US" dirty="0" err="1" smtClean="0"/>
                  <a:t>gemiddelde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normaal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verdeeld</a:t>
                </a:r>
                <a:r>
                  <a:rPr lang="en-US" dirty="0" smtClean="0"/>
                  <a:t> is met </a:t>
                </a:r>
                <a:r>
                  <a:rPr lang="en-US" dirty="0" err="1" smtClean="0"/>
                  <a:t>gemiddelde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standaardafwijking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dirty="0" smtClean="0"/>
                  <a:t> </a:t>
                </a:r>
              </a:p>
              <a:p>
                <a:pPr algn="ctr"/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en-US" b="0" dirty="0" smtClean="0"/>
              </a:p>
              <a:p>
                <a:pPr lvl="1" indent="0">
                  <a:buNone/>
                </a:pPr>
                <a:endParaRPr lang="en-US" b="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de </a:t>
                </a:r>
                <a:r>
                  <a:rPr lang="en-US" dirty="0" err="1" smtClean="0"/>
                  <a:t>som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 </a:t>
                </a:r>
                <a:r>
                  <a:rPr lang="en-US" dirty="0" smtClean="0"/>
                  <a:t>normaal verdeeld is met gemiddelde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smtClean="0"/>
                  <a:t>en standaardafwijking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nl-N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nl-NL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ra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 smtClean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r>
                  <a:rPr lang="en-US" b="1" dirty="0" err="1" smtClean="0"/>
                  <a:t>Merk</a:t>
                </a:r>
                <a:r>
                  <a:rPr lang="en-US" b="1" dirty="0" smtClean="0"/>
                  <a:t> </a:t>
                </a:r>
                <a:r>
                  <a:rPr lang="en-US" b="1" dirty="0" smtClean="0"/>
                  <a:t>op: </a:t>
                </a:r>
                <a:r>
                  <a:rPr lang="en-US" dirty="0" smtClean="0"/>
                  <a:t>we </a:t>
                </a:r>
                <a:r>
                  <a:rPr lang="en-US" dirty="0" err="1" smtClean="0"/>
                  <a:t>gebruiken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alleen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 smtClean="0"/>
                  <a:t>!</a:t>
                </a:r>
                <a:endParaRPr lang="en-US" b="1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  <a:blipFill>
                <a:blip r:embed="rId2"/>
                <a:stretch>
                  <a:fillRect l="-1597" t="-2009" b="-774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368740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dirty="0" smtClean="0"/>
                  <a:t>Stel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 smtClean="0"/>
                  <a:t> de </a:t>
                </a:r>
                <a:r>
                  <a:rPr lang="en-US" dirty="0" err="1" smtClean="0"/>
                  <a:t>kansvariabele</a:t>
                </a:r>
                <a:r>
                  <a:rPr lang="en-US" dirty="0" smtClean="0"/>
                  <a:t> is die het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meet van </a:t>
                </a:r>
                <a:r>
                  <a:rPr lang="en-US" dirty="0" err="1" smtClean="0"/>
                  <a:t>voertuig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 2,…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,100</m:t>
                    </m:r>
                  </m:oMath>
                </a14:m>
                <a:endParaRPr lang="en-US" b="0" dirty="0" smtClean="0"/>
              </a:p>
              <a:p>
                <a:pPr eaLnBrk="1" hangingPunct="1"/>
                <a:endParaRPr lang="en-US" b="1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Wat is de </a:t>
                </a:r>
                <a:r>
                  <a:rPr lang="en-US" dirty="0" err="1" smtClean="0"/>
                  <a:t>kansverdeling</a:t>
                </a:r>
                <a:r>
                  <a:rPr lang="en-US" dirty="0" smtClean="0"/>
                  <a:t> van het </a:t>
                </a:r>
                <a:r>
                  <a:rPr lang="en-US" dirty="0" err="1" smtClean="0"/>
                  <a:t>gemiddelde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endParaRPr lang="en-US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en-US" b="1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b="1" dirty="0" smtClean="0"/>
                  <a:t>Centrale </a:t>
                </a:r>
                <a:r>
                  <a:rPr lang="en-US" b="1" dirty="0" err="1" smtClean="0"/>
                  <a:t>limietstelling</a:t>
                </a:r>
                <a:r>
                  <a:rPr lang="en-US" b="1" dirty="0" smtClean="0"/>
                  <a:t>: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</m:oMath>
                </a14:m>
                <a:endParaRPr lang="en-US" b="1" dirty="0" smtClean="0"/>
              </a:p>
              <a:p>
                <a:pPr algn="ctr" eaLnBrk="1" hangingPunct="1"/>
                <a:endParaRPr lang="en-US" b="1" dirty="0"/>
              </a:p>
              <a:p>
                <a:pPr algn="ctr" eaLnBrk="1" hangingPunct="1"/>
                <a:endParaRPr lang="en-US" b="1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Wat is de </a:t>
                </a:r>
                <a:r>
                  <a:rPr lang="en-US" dirty="0" err="1" smtClean="0"/>
                  <a:t>kansverdeling</a:t>
                </a:r>
                <a:r>
                  <a:rPr lang="en-US" dirty="0" smtClean="0"/>
                  <a:t> van het </a:t>
                </a:r>
                <a:r>
                  <a:rPr lang="en-US" dirty="0" err="1" smtClean="0"/>
                  <a:t>totale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nl-NL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Centrale </a:t>
                </a:r>
                <a:r>
                  <a:rPr lang="en-US" b="1" dirty="0" err="1"/>
                  <a:t>limietstelling</a:t>
                </a:r>
                <a:r>
                  <a:rPr lang="en-US" b="1" dirty="0" smtClean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nl-NL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e>
                    </m:d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  <m:r>
                      <a:rPr lang="en-US" b="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 indent="0">
                  <a:buNone/>
                </a:pPr>
                <a:endParaRPr lang="en-US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 r="-636" b="-1133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3748308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Interactieve</a:t>
            </a:r>
            <a:r>
              <a:rPr lang="en-US" dirty="0" smtClean="0"/>
              <a:t> </a:t>
            </a:r>
            <a:r>
              <a:rPr lang="en-US" dirty="0" err="1" smtClean="0"/>
              <a:t>simulatie</a:t>
            </a:r>
            <a:r>
              <a:rPr lang="en-US" dirty="0"/>
              <a:t> </a:t>
            </a:r>
            <a:r>
              <a:rPr lang="en-US" dirty="0" smtClean="0"/>
              <a:t>van de </a:t>
            </a:r>
            <a:r>
              <a:rPr lang="en-US" dirty="0" err="1" smtClean="0"/>
              <a:t>centrale</a:t>
            </a:r>
            <a:r>
              <a:rPr lang="en-US" dirty="0" smtClean="0"/>
              <a:t> </a:t>
            </a:r>
            <a:r>
              <a:rPr lang="en-US" dirty="0" err="1" smtClean="0"/>
              <a:t>limietstelling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539784" cy="4246562"/>
          </a:xfrm>
        </p:spPr>
        <p:txBody>
          <a:bodyPr/>
          <a:lstStyle/>
          <a:p>
            <a:pPr lvl="1" indent="0" algn="ctr">
              <a:buNone/>
            </a:pPr>
            <a:endParaRPr lang="en-US" dirty="0" smtClean="0">
              <a:hlinkClick r:id="rId2" tooltip="https://interactive-cls.streamlit.app"/>
            </a:endParaRPr>
          </a:p>
          <a:p>
            <a:pPr lvl="1" indent="0" algn="ctr">
              <a:buNone/>
            </a:pPr>
            <a:endParaRPr lang="en-US" dirty="0" smtClean="0">
              <a:hlinkClick r:id="rId2" tooltip="https://interactive-cls.streamlit.app"/>
            </a:endParaRPr>
          </a:p>
          <a:p>
            <a:pPr lvl="1" indent="0" algn="ctr">
              <a:buNone/>
            </a:pPr>
            <a:endParaRPr lang="en-US" dirty="0">
              <a:hlinkClick r:id="rId2" tooltip="https://interactive-cls.streamlit.app"/>
            </a:endParaRPr>
          </a:p>
          <a:p>
            <a:pPr lvl="1" indent="0" algn="ctr">
              <a:buNone/>
            </a:pPr>
            <a:endParaRPr lang="en-US" dirty="0" smtClean="0">
              <a:hlinkClick r:id="rId2" tooltip="https://interactive-cls.streamlit.app"/>
            </a:endParaRPr>
          </a:p>
          <a:p>
            <a:pPr lvl="1" indent="0" algn="ctr">
              <a:buNone/>
            </a:pPr>
            <a:endParaRPr lang="en-US" dirty="0">
              <a:hlinkClick r:id="rId2" tooltip="https://interactive-cls.streamlit.app"/>
            </a:endParaRPr>
          </a:p>
          <a:p>
            <a:pPr lvl="1" indent="0" algn="ctr">
              <a:buNone/>
            </a:pPr>
            <a:r>
              <a:rPr lang="en-US" dirty="0" smtClean="0">
                <a:hlinkClick r:id="rId2" tooltip="https://interactive-cls.streamlit.app"/>
              </a:rPr>
              <a:t>https</a:t>
            </a:r>
            <a:r>
              <a:rPr lang="en-US" dirty="0" smtClean="0">
                <a:hlinkClick r:id="rId2" tooltip="https://interactive-cls.streamlit.app"/>
              </a:rPr>
              <a:t>://interactive-cls.streamlit.app</a:t>
            </a:r>
            <a:endParaRPr lang="en-US" dirty="0" smtClean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2263666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Consequenties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</p:spPr>
            <p:txBody>
              <a:bodyPr/>
              <a:lstStyle/>
              <a:p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Vaak</a:t>
                </a:r>
                <a:r>
                  <a:rPr lang="en-US" dirty="0" smtClean="0"/>
                  <a:t> </a:t>
                </a:r>
                <a:r>
                  <a:rPr lang="en-US" dirty="0" smtClean="0"/>
                  <a:t>heel complex</a:t>
                </a:r>
                <a:r>
                  <a:rPr lang="en-US" dirty="0" smtClean="0"/>
                  <a:t> om de </a:t>
                </a:r>
                <a:r>
                  <a:rPr lang="en-US" dirty="0" err="1" smtClean="0"/>
                  <a:t>kansverdeling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nl-NL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 smtClean="0"/>
                  <a:t> te </a:t>
                </a:r>
                <a:r>
                  <a:rPr lang="en-US" dirty="0" err="1" smtClean="0"/>
                  <a:t>bepalen</a:t>
                </a:r>
                <a:r>
                  <a:rPr lang="en-US" dirty="0" smtClean="0"/>
                  <a:t>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 smtClean="0"/>
                  <a:t>voudige </a:t>
                </a:r>
                <a:r>
                  <a:rPr lang="en-US" dirty="0" err="1" smtClean="0"/>
                  <a:t>integralen</a:t>
                </a:r>
                <a:r>
                  <a:rPr lang="en-US" dirty="0" smtClean="0"/>
                  <a:t>)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b="1" dirty="0" smtClean="0"/>
                  <a:t>Centrale </a:t>
                </a:r>
                <a:r>
                  <a:rPr lang="en-US" b="1" dirty="0" err="1" smtClean="0"/>
                  <a:t>limietstelling</a:t>
                </a:r>
                <a:r>
                  <a:rPr lang="en-US" b="1" dirty="0" smtClean="0"/>
                  <a:t>: </a:t>
                </a:r>
                <a:r>
                  <a:rPr lang="en-US" dirty="0" err="1" smtClean="0"/>
                  <a:t>kansverdeling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goed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benaderen</a:t>
                </a:r>
                <a:r>
                  <a:rPr lang="en-US" dirty="0" smtClean="0"/>
                  <a:t> met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normale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</a:t>
                </a:r>
                <a:endParaRPr lang="en-US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en-US" b="1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Maakt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analyse</a:t>
                </a:r>
                <a:r>
                  <a:rPr lang="en-US" dirty="0" smtClean="0"/>
                  <a:t> van </a:t>
                </a:r>
                <a:r>
                  <a:rPr lang="en-US" dirty="0" err="1" smtClean="0"/>
                  <a:t>complexe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kansexperimenten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veel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gemakkelijker</a:t>
                </a: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 smtClean="0"/>
                  <a:t>Later </a:t>
                </a:r>
                <a:r>
                  <a:rPr lang="en-US" b="1" dirty="0" err="1" smtClean="0"/>
                  <a:t>dit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vak</a:t>
                </a:r>
                <a:r>
                  <a:rPr lang="en-US" b="1" dirty="0" smtClean="0"/>
                  <a:t>: </a:t>
                </a:r>
                <a:r>
                  <a:rPr lang="en-US" dirty="0" err="1" smtClean="0"/>
                  <a:t>betrouwbaarheidsintervallen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hypothesetoetsen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m.b.v</a:t>
                </a:r>
                <a:r>
                  <a:rPr lang="en-US" dirty="0" smtClean="0"/>
                  <a:t>. </a:t>
                </a:r>
                <a:r>
                  <a:rPr lang="en-US" dirty="0" err="1" smtClean="0"/>
                  <a:t>normale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</a:t>
                </a:r>
                <a:endParaRPr lang="en-US" b="1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  <a:blipFill>
                <a:blip r:embed="rId2"/>
                <a:stretch>
                  <a:fillRect l="-1483" t="-5595" r="-9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3500499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opgave</a:t>
            </a:r>
            <a:r>
              <a:rPr lang="en-US" dirty="0" smtClean="0"/>
              <a:t> 5.12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b="1" dirty="0" smtClean="0"/>
                  <a:t>De </a:t>
                </a:r>
                <a:r>
                  <a:rPr lang="en-US" b="1" dirty="0" err="1" smtClean="0"/>
                  <a:t>tijd</a:t>
                </a:r>
                <a:r>
                  <a:rPr lang="en-US" b="1" dirty="0"/>
                  <a:t> </a:t>
                </a:r>
                <a:r>
                  <a:rPr lang="en-US" b="1" dirty="0" smtClean="0"/>
                  <a:t>die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vertegenwoordiger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nodig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heeft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voor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klant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wordt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weergegeven</a:t>
                </a:r>
                <a:r>
                  <a:rPr lang="en-US" b="1" dirty="0" smtClean="0"/>
                  <a:t> door de </a:t>
                </a:r>
                <a:r>
                  <a:rPr lang="en-US" b="1" dirty="0" err="1" smtClean="0"/>
                  <a:t>kansvariabele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1" dirty="0" smtClean="0"/>
                  <a:t> Op </a:t>
                </a:r>
                <a:r>
                  <a:rPr lang="en-US" b="1" dirty="0" err="1" smtClean="0"/>
                  <a:t>grond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ervaring</a:t>
                </a:r>
                <a:r>
                  <a:rPr lang="en-US" b="1" dirty="0" smtClean="0"/>
                  <a:t> is </a:t>
                </a:r>
                <a:r>
                  <a:rPr lang="en-US" b="1" dirty="0" err="1" smtClean="0"/>
                  <a:t>bekend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 smtClean="0"/>
                  <a:t> normaal </a:t>
                </a:r>
                <a:r>
                  <a:rPr lang="en-US" b="1" dirty="0" err="1" smtClean="0"/>
                  <a:t>verdeeld</a:t>
                </a:r>
                <a:r>
                  <a:rPr lang="en-US" b="1" dirty="0" smtClean="0"/>
                  <a:t> is met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𝟒𝟓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(in de </a:t>
                </a:r>
                <a:r>
                  <a:rPr lang="en-US" b="1" dirty="0" err="1" smtClean="0"/>
                  <a:t>tijdsduur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 smtClean="0"/>
                  <a:t> is </a:t>
                </a:r>
                <a:r>
                  <a:rPr lang="en-US" b="1" dirty="0" err="1" smtClean="0"/>
                  <a:t>ook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reistijd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opgenomen</a:t>
                </a:r>
                <a:r>
                  <a:rPr lang="en-US" b="1" dirty="0" smtClean="0"/>
                  <a:t>)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1" dirty="0" smtClean="0"/>
                  <a:t> De </a:t>
                </a:r>
                <a:r>
                  <a:rPr lang="en-US" b="1" dirty="0" err="1" smtClean="0"/>
                  <a:t>tijdsduren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zijn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onderling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onafhankelijk</a:t>
                </a:r>
                <a:r>
                  <a:rPr lang="en-US" b="1" dirty="0" smtClean="0"/>
                  <a:t>.</a:t>
                </a:r>
              </a:p>
              <a:p>
                <a:pPr marL="457200" indent="-457200" eaLnBrk="1" hangingPunct="1">
                  <a:buAutoNum type="alphaLcParenR"/>
                </a:pPr>
                <a:r>
                  <a:rPr lang="en-US" b="1" dirty="0" smtClean="0"/>
                  <a:t>Hoe </a:t>
                </a:r>
                <a:r>
                  <a:rPr lang="en-US" b="1" dirty="0" err="1" smtClean="0"/>
                  <a:t>groot</a:t>
                </a:r>
                <a:r>
                  <a:rPr lang="en-US" b="1" dirty="0" smtClean="0"/>
                  <a:t>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willekeurig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bezoek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𝟔𝟎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vergt</a:t>
                </a:r>
                <a:r>
                  <a:rPr lang="en-US" b="1" dirty="0" smtClean="0"/>
                  <a:t>?</a:t>
                </a:r>
              </a:p>
              <a:p>
                <a:pPr eaLnBrk="1" hangingPunct="1"/>
                <a:endParaRPr lang="en-US" b="1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796914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opgave</a:t>
            </a:r>
            <a:r>
              <a:rPr lang="en-US" dirty="0" smtClean="0"/>
              <a:t> 5.12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marL="457200" indent="-457200" eaLnBrk="1" hangingPunct="1">
                  <a:buAutoNum type="alphaLcParenR"/>
                </a:pPr>
                <a:r>
                  <a:rPr lang="en-US" b="1" dirty="0" smtClean="0"/>
                  <a:t>Hoe </a:t>
                </a:r>
                <a:r>
                  <a:rPr lang="en-US" b="1" dirty="0" err="1" smtClean="0"/>
                  <a:t>groot</a:t>
                </a:r>
                <a:r>
                  <a:rPr lang="en-US" b="1" dirty="0" smtClean="0"/>
                  <a:t>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willekeurig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bezoek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𝟔𝟎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vergt</a:t>
                </a:r>
                <a:r>
                  <a:rPr lang="en-US" b="1" dirty="0" smtClean="0"/>
                  <a:t>?</a:t>
                </a:r>
              </a:p>
              <a:p>
                <a:pPr marL="457200" indent="-457200" eaLnBrk="1" hangingPunct="1">
                  <a:buAutoNum type="alphaLcParenR"/>
                </a:pPr>
                <a:endParaRPr lang="en-US" b="1" dirty="0"/>
              </a:p>
              <a:p>
                <a:pPr eaLnBrk="1" hangingPunct="1"/>
                <a:r>
                  <a:rPr lang="en-US" dirty="0" err="1" smtClean="0"/>
                  <a:t>Gegeven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=45,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=10)</m:t>
                    </m:r>
                  </m:oMath>
                </a14:m>
                <a:r>
                  <a:rPr lang="en-US" dirty="0" smtClean="0"/>
                  <a:t>.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willekeurig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bezoek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meer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60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minuten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vergt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dus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&gt;60</m:t>
                        </m:r>
                      </m:e>
                    </m:d>
                  </m:oMath>
                </a14:m>
                <a:r>
                  <a:rPr lang="en-US" b="0" dirty="0" smtClean="0"/>
                  <a:t>.</a:t>
                </a:r>
              </a:p>
              <a:p>
                <a:pPr eaLnBrk="1" hangingPunct="1"/>
                <a:endParaRPr lang="en-US" dirty="0"/>
              </a:p>
              <a:p>
                <a:r>
                  <a:rPr lang="en-US" dirty="0" smtClean="0"/>
                  <a:t>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b="0" dirty="0" smtClean="0"/>
                  <a:t>-score van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=60</m:t>
                    </m:r>
                  </m:oMath>
                </a14:m>
                <a:r>
                  <a:rPr lang="en-US" b="0" dirty="0" smtClean="0"/>
                  <a:t> </a:t>
                </a:r>
                <a:r>
                  <a:rPr lang="en-US" b="0" dirty="0" err="1" smtClean="0"/>
                  <a:t>gegeven</a:t>
                </a:r>
                <a:r>
                  <a:rPr lang="en-US" b="0" dirty="0" smtClean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=45,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=10)</m:t>
                    </m:r>
                  </m:oMath>
                </a14:m>
                <a:r>
                  <a:rPr lang="en-US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dirty="0" smtClean="0"/>
                  <a:t>is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endParaRPr lang="en-US" dirty="0" smtClean="0"/>
              </a:p>
              <a:p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60−45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eaLnBrk="1" hangingPunct="1"/>
                <a:r>
                  <a:rPr lang="en-US" dirty="0" err="1" smtClean="0"/>
                  <a:t>Hierdoor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dus</a:t>
                </a:r>
                <a:endParaRPr lang="en-US" b="0" dirty="0" smtClean="0"/>
              </a:p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&gt;60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&gt;1.5)=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normalcdf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=1.5,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99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0668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 smtClean="0"/>
              </a:p>
              <a:p>
                <a:pPr eaLnBrk="1" hangingPunct="1"/>
                <a:endParaRPr lang="en-US" dirty="0" smtClean="0"/>
              </a:p>
              <a:p>
                <a:pPr algn="ctr" eaLnBrk="1" hangingPunct="1"/>
                <a:r>
                  <a:rPr lang="en-US" b="1" dirty="0" smtClean="0"/>
                  <a:t>Met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𝟔</m:t>
                    </m:r>
                    <m:r>
                      <a:rPr lang="nl-NL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nl-NL" b="1" i="1" dirty="0" smtClean="0">
                        <a:latin typeface="Cambria Math" panose="02040503050406030204" pitchFamily="18" charset="0"/>
                      </a:rPr>
                      <m:t>𝟔𝟖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vergt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willekeurig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bezoek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𝟔𝟎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.</a:t>
                </a: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 b="-889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08057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opgave</a:t>
            </a:r>
            <a:r>
              <a:rPr lang="en-US" dirty="0" smtClean="0"/>
              <a:t> 5.12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b="1" dirty="0" smtClean="0"/>
                  <a:t>De </a:t>
                </a:r>
                <a:r>
                  <a:rPr lang="en-US" b="1" dirty="0" err="1" smtClean="0"/>
                  <a:t>tijd</a:t>
                </a:r>
                <a:r>
                  <a:rPr lang="en-US" b="1" dirty="0"/>
                  <a:t> </a:t>
                </a:r>
                <a:r>
                  <a:rPr lang="en-US" b="1" dirty="0" smtClean="0"/>
                  <a:t>die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vertegenwoordiger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nodig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heeft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voor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klant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wordt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weergegeven</a:t>
                </a:r>
                <a:r>
                  <a:rPr lang="en-US" b="1" dirty="0" smtClean="0"/>
                  <a:t> door de </a:t>
                </a:r>
                <a:r>
                  <a:rPr lang="en-US" b="1" dirty="0" err="1" smtClean="0"/>
                  <a:t>kansvariabele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1" dirty="0" smtClean="0"/>
                  <a:t> Op </a:t>
                </a:r>
                <a:r>
                  <a:rPr lang="en-US" b="1" dirty="0" err="1" smtClean="0"/>
                  <a:t>grond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ervaring</a:t>
                </a:r>
                <a:r>
                  <a:rPr lang="en-US" b="1" dirty="0" smtClean="0"/>
                  <a:t> is </a:t>
                </a:r>
                <a:r>
                  <a:rPr lang="en-US" b="1" dirty="0" err="1" smtClean="0"/>
                  <a:t>bekend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 smtClean="0"/>
                  <a:t> normaal </a:t>
                </a:r>
                <a:r>
                  <a:rPr lang="en-US" b="1" dirty="0" err="1" smtClean="0"/>
                  <a:t>verdeeld</a:t>
                </a:r>
                <a:r>
                  <a:rPr lang="en-US" b="1" dirty="0" smtClean="0"/>
                  <a:t> is met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𝟒𝟓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(in de </a:t>
                </a:r>
                <a:r>
                  <a:rPr lang="en-US" b="1" dirty="0" err="1" smtClean="0"/>
                  <a:t>tijdsduur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 smtClean="0"/>
                  <a:t> is </a:t>
                </a:r>
                <a:r>
                  <a:rPr lang="en-US" b="1" dirty="0" err="1" smtClean="0"/>
                  <a:t>ook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reistijd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opgenomen</a:t>
                </a:r>
                <a:r>
                  <a:rPr lang="en-US" b="1" dirty="0" smtClean="0"/>
                  <a:t>)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1" dirty="0" smtClean="0"/>
                  <a:t> De </a:t>
                </a:r>
                <a:r>
                  <a:rPr lang="en-US" b="1" dirty="0" err="1" smtClean="0"/>
                  <a:t>tijdsduren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zijn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onderling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onafhankelijk</a:t>
                </a:r>
                <a:r>
                  <a:rPr lang="en-US" b="1" dirty="0" smtClean="0"/>
                  <a:t>.</a:t>
                </a:r>
              </a:p>
              <a:p>
                <a:pPr marL="457200" indent="-457200" eaLnBrk="1" hangingPunct="1">
                  <a:buFont typeface="+mj-lt"/>
                  <a:buAutoNum type="alphaLcParenR" startAt="2"/>
                </a:pPr>
                <a:r>
                  <a:rPr lang="en-US" b="1" dirty="0" smtClean="0"/>
                  <a:t>Hoe </a:t>
                </a:r>
                <a:r>
                  <a:rPr lang="en-US" b="1" dirty="0" err="1" smtClean="0"/>
                  <a:t>groot</a:t>
                </a:r>
                <a:r>
                  <a:rPr lang="en-US" b="1" dirty="0" smtClean="0"/>
                  <a:t>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acht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𝟔</m:t>
                    </m:r>
                    <m:f>
                      <m:f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uur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vergen</a:t>
                </a:r>
                <a:r>
                  <a:rPr lang="en-US" b="1" dirty="0" smtClean="0"/>
                  <a:t>? </a:t>
                </a: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550090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41"/>
                <a:ext cx="10363200" cy="576055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lphaLcParenR" startAt="2"/>
                </a:pPr>
                <a:r>
                  <a:rPr lang="en-US" b="1" dirty="0"/>
                  <a:t>Hoe </a:t>
                </a:r>
                <a:r>
                  <a:rPr lang="en-US" b="1" dirty="0" err="1"/>
                  <a:t>groot</a:t>
                </a:r>
                <a:r>
                  <a:rPr lang="en-US" b="1" dirty="0"/>
                  <a:t> is de </a:t>
                </a:r>
                <a:r>
                  <a:rPr lang="en-US" b="1" dirty="0" err="1"/>
                  <a:t>kans</a:t>
                </a:r>
                <a:r>
                  <a:rPr lang="en-US" b="1" dirty="0"/>
                  <a:t> </a:t>
                </a:r>
                <a:r>
                  <a:rPr lang="en-US" b="1" dirty="0" err="1"/>
                  <a:t>dat</a:t>
                </a:r>
                <a:r>
                  <a:rPr lang="en-US" b="1" dirty="0"/>
                  <a:t> </a:t>
                </a:r>
                <a:r>
                  <a:rPr lang="en-US" b="1" dirty="0" err="1"/>
                  <a:t>acht</a:t>
                </a:r>
                <a:r>
                  <a:rPr lang="en-US" b="1" dirty="0"/>
                  <a:t> </a:t>
                </a:r>
                <a:r>
                  <a:rPr lang="en-US" b="1" dirty="0" err="1"/>
                  <a:t>bezoeken</a:t>
                </a:r>
                <a:r>
                  <a:rPr lang="en-US" b="1" dirty="0"/>
                  <a:t> </a:t>
                </a:r>
                <a:r>
                  <a:rPr lang="en-US" b="1" dirty="0" err="1"/>
                  <a:t>meer</a:t>
                </a:r>
                <a:r>
                  <a:rPr lang="en-US" b="1" dirty="0"/>
                  <a:t> </a:t>
                </a:r>
                <a:r>
                  <a:rPr lang="en-US" b="1" dirty="0" err="1"/>
                  <a:t>dan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𝟔</m:t>
                    </m:r>
                    <m:f>
                      <m:f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uur</a:t>
                </a:r>
                <a:r>
                  <a:rPr lang="en-US" b="1" dirty="0"/>
                  <a:t> </a:t>
                </a:r>
                <a:r>
                  <a:rPr lang="en-US" b="1" dirty="0" err="1"/>
                  <a:t>vergen</a:t>
                </a:r>
                <a:r>
                  <a:rPr lang="en-US" b="1" dirty="0"/>
                  <a:t>? </a:t>
                </a:r>
              </a:p>
            </p:txBody>
          </p:sp>
        </mc:Choice>
        <mc:Fallback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41"/>
                <a:ext cx="10363200" cy="576055"/>
              </a:xfrm>
              <a:blipFill>
                <a:blip r:embed="rId2"/>
                <a:stretch>
                  <a:fillRect l="-1941" t="-1064" b="-2127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sz="2000" dirty="0" smtClean="0"/>
                  <a:t>De </a:t>
                </a:r>
                <a:r>
                  <a:rPr lang="en-US" sz="2000" dirty="0" err="1" smtClean="0"/>
                  <a:t>kansvariabele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smtClean="0"/>
                  <a:t>meet de </a:t>
                </a:r>
                <a:r>
                  <a:rPr lang="en-US" sz="2000" dirty="0" err="1" smtClean="0"/>
                  <a:t>bezoektijd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aan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klant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,</a:t>
                </a:r>
                <a:r>
                  <a:rPr lang="en-US" sz="2000" dirty="0" smtClean="0"/>
                  <a:t> waarbij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=1,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2,…,8</m:t>
                    </m:r>
                  </m:oMath>
                </a14:m>
                <a:r>
                  <a:rPr lang="en-US" sz="2000" dirty="0" smtClean="0"/>
                  <a:t>.</a:t>
                </a:r>
              </a:p>
              <a:p>
                <a:endParaRPr lang="en-US" sz="2000" dirty="0"/>
              </a:p>
              <a:p>
                <a:r>
                  <a:rPr lang="en-US" sz="2000" b="1" dirty="0" smtClean="0"/>
                  <a:t>Centrale </a:t>
                </a:r>
                <a:r>
                  <a:rPr lang="en-US" sz="2000" b="1" dirty="0" err="1" smtClean="0"/>
                  <a:t>limietstelling</a:t>
                </a:r>
                <a:r>
                  <a:rPr lang="en-US" sz="2000" b="1" dirty="0" smtClean="0"/>
                  <a:t>:</a:t>
                </a:r>
                <a:r>
                  <a:rPr lang="en-US" sz="2000" dirty="0" smtClean="0"/>
                  <a:t> </a:t>
                </a:r>
                <a:r>
                  <a:rPr lang="en-US" sz="2000" dirty="0" smtClean="0"/>
                  <a:t>de </a:t>
                </a:r>
                <a:r>
                  <a:rPr lang="en-US" sz="2000" dirty="0" err="1" smtClean="0"/>
                  <a:t>som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  <m:e>
                        <m:sSub>
                          <m:sSubPr>
                            <m:ctrlPr>
                              <a:rPr lang="nl-NL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smtClean="0"/>
                  <a:t>is </a:t>
                </a:r>
                <a:r>
                  <a:rPr lang="en-US" sz="2000" dirty="0" err="1" smtClean="0"/>
                  <a:t>normaal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verdeeld</a:t>
                </a:r>
                <a:r>
                  <a:rPr lang="en-US" sz="2000" dirty="0" smtClean="0"/>
                  <a:t> is </a:t>
                </a:r>
                <a:r>
                  <a:rPr lang="en-US" sz="2000" dirty="0" smtClean="0"/>
                  <a:t>met: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G</a:t>
                </a:r>
                <a:r>
                  <a:rPr lang="en-US" sz="2000" dirty="0" err="1" smtClean="0"/>
                  <a:t>emiddelde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=8⋅45=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360.</m:t>
                    </m:r>
                  </m:oMath>
                </a14:m>
                <a:endParaRPr lang="nl-NL" sz="2000" b="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Standaardafwijking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rad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10≈28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2843</m:t>
                    </m:r>
                  </m:oMath>
                </a14:m>
                <a:r>
                  <a:rPr lang="en-US" sz="2000" b="0" i="1" dirty="0" smtClean="0">
                    <a:latin typeface="Cambria Math" panose="02040503050406030204" pitchFamily="18" charset="0"/>
                  </a:rPr>
                  <a:t>. </a:t>
                </a:r>
                <a:endParaRPr lang="en-US" sz="2000" b="0" i="1" dirty="0" smtClean="0">
                  <a:latin typeface="Cambria Math" panose="02040503050406030204" pitchFamily="18" charset="0"/>
                </a:endParaRPr>
              </a:p>
              <a:p>
                <a:endParaRPr lang="en-US" sz="2000" dirty="0" smtClean="0"/>
              </a:p>
              <a:p>
                <a:r>
                  <a:rPr lang="en-US" sz="2000" dirty="0" smtClean="0"/>
                  <a:t>De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000" dirty="0" smtClean="0"/>
                  <a:t>-score </a:t>
                </a:r>
                <a:r>
                  <a:rPr lang="en-US" sz="2000" dirty="0" err="1" smtClean="0"/>
                  <a:t>behorende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bij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=390</m:t>
                    </m:r>
                  </m:oMath>
                </a14:m>
                <a:r>
                  <a:rPr lang="en-US" sz="2000" dirty="0" smtClean="0"/>
                  <a:t> (</a:t>
                </a:r>
                <a14:m>
                  <m:oMath xmlns:m="http://schemas.openxmlformats.org/officeDocument/2006/math">
                    <m:r>
                      <a:rPr lang="nl-NL" sz="2000" b="0" i="0" dirty="0" smtClean="0">
                        <a:latin typeface="Cambria Math" panose="02040503050406030204" pitchFamily="18" charset="0"/>
                      </a:rPr>
                      <m:t>6</m:t>
                    </m:r>
                    <m:f>
                      <m:fPr>
                        <m:ctrlPr>
                          <a:rPr lang="nl-NL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uur</a:t>
                </a:r>
                <a:r>
                  <a:rPr lang="en-US" sz="2000" dirty="0" smtClean="0"/>
                  <a:t> =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390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minuten</a:t>
                </a:r>
                <a:r>
                  <a:rPr lang="en-US" sz="2000" dirty="0" smtClean="0"/>
                  <a:t>) </a:t>
                </a:r>
                <a:r>
                  <a:rPr lang="en-US" sz="2000" dirty="0" smtClean="0"/>
                  <a:t>met </a:t>
                </a:r>
                <a:r>
                  <a:rPr lang="en-US" sz="2000" dirty="0" err="1" smtClean="0"/>
                  <a:t>deze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normale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verdeling</a:t>
                </a:r>
                <a:r>
                  <a:rPr lang="en-US" sz="2000" dirty="0" smtClean="0"/>
                  <a:t> is </a:t>
                </a:r>
                <a:r>
                  <a:rPr lang="en-US" sz="2000" dirty="0" err="1" smtClean="0"/>
                  <a:t>gelijk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aan</a:t>
                </a:r>
                <a:endParaRPr lang="en-US" sz="2000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390−360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28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2843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≈1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06</m:t>
                      </m:r>
                      <m:r>
                        <a:rPr lang="nl-NL" sz="20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b="0" dirty="0" smtClean="0"/>
                  <a:t>De </a:t>
                </a:r>
                <a:r>
                  <a:rPr lang="en-US" sz="2000" b="0" dirty="0" err="1" smtClean="0"/>
                  <a:t>kans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dat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acht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bezoeken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meer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dan</a:t>
                </a:r>
                <a:r>
                  <a:rPr lang="en-US" sz="2000" b="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6</m:t>
                    </m:r>
                    <m:f>
                      <m:fPr>
                        <m:ctrlPr>
                          <a:rPr lang="nl-NL" sz="2000" b="0" i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20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 smtClean="0"/>
                  <a:t> uur vergen is dan gelijk aan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nl-NL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nl-NL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nl-NL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sz="20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nl-NL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&gt;390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≥1.06…</m:t>
                          </m:r>
                        </m:e>
                      </m:d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normalcdf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=1.06…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99</m:t>
                              </m:r>
                            </m:sup>
                          </m:sSup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≈0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1444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000" b="0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3"/>
                <a:stretch>
                  <a:fillRect l="-1446" t="-1722" b="-516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2255741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opgave</a:t>
            </a:r>
            <a:r>
              <a:rPr lang="en-US" dirty="0" smtClean="0"/>
              <a:t> 5.12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r>
                  <a:rPr lang="en-US" sz="2000" b="1" dirty="0" smtClean="0"/>
                  <a:t>De </a:t>
                </a:r>
                <a:r>
                  <a:rPr lang="en-US" sz="2000" b="1" dirty="0" err="1"/>
                  <a:t>tijd</a:t>
                </a:r>
                <a:r>
                  <a:rPr lang="en-US" sz="2000" b="1" dirty="0"/>
                  <a:t> die </a:t>
                </a:r>
                <a:r>
                  <a:rPr lang="en-US" sz="2000" b="1" dirty="0" err="1"/>
                  <a:t>een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vertegenwoordiger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nodig</a:t>
                </a:r>
                <a:r>
                  <a:rPr lang="en-US" sz="2000" b="1" dirty="0"/>
                  <a:t> heft </a:t>
                </a:r>
                <a:r>
                  <a:rPr lang="en-US" sz="2000" b="1" dirty="0" err="1"/>
                  <a:t>voor</a:t>
                </a:r>
                <a:r>
                  <a:rPr lang="en-US" sz="2000" b="1" dirty="0"/>
                  <a:t> het </a:t>
                </a:r>
                <a:r>
                  <a:rPr lang="en-US" sz="2000" b="1" dirty="0" err="1"/>
                  <a:t>bezoeken</a:t>
                </a:r>
                <a:r>
                  <a:rPr lang="en-US" sz="2000" b="1" dirty="0"/>
                  <a:t> van </a:t>
                </a:r>
                <a:r>
                  <a:rPr lang="en-US" sz="2000" b="1" dirty="0" err="1"/>
                  <a:t>een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klant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wordt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weergegeven</a:t>
                </a:r>
                <a:r>
                  <a:rPr lang="en-US" sz="2000" b="1" dirty="0"/>
                  <a:t> door de </a:t>
                </a:r>
                <a:r>
                  <a:rPr lang="en-US" sz="2000" b="1" dirty="0" err="1"/>
                  <a:t>kansvariabele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b="1" dirty="0"/>
                  <a:t> Op </a:t>
                </a:r>
                <a:r>
                  <a:rPr lang="en-US" sz="2000" b="1" dirty="0" err="1"/>
                  <a:t>grond</a:t>
                </a:r>
                <a:r>
                  <a:rPr lang="en-US" sz="2000" b="1" dirty="0"/>
                  <a:t> van </a:t>
                </a:r>
                <a:r>
                  <a:rPr lang="en-US" sz="2000" b="1" dirty="0" err="1"/>
                  <a:t>ervaring</a:t>
                </a:r>
                <a:r>
                  <a:rPr lang="en-US" sz="2000" b="1" dirty="0"/>
                  <a:t> is </a:t>
                </a:r>
                <a:r>
                  <a:rPr lang="en-US" sz="2000" b="1" dirty="0" err="1"/>
                  <a:t>bekend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dat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000" b="1" dirty="0"/>
                  <a:t> normaal </a:t>
                </a:r>
                <a:r>
                  <a:rPr lang="en-US" sz="2000" b="1" dirty="0" err="1"/>
                  <a:t>verdeeld</a:t>
                </a:r>
                <a:r>
                  <a:rPr lang="en-US" sz="2000" b="1" dirty="0"/>
                  <a:t> is met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𝟒𝟓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minuten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en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minuten</a:t>
                </a:r>
                <a:r>
                  <a:rPr lang="en-US" sz="2000" b="1" dirty="0"/>
                  <a:t> (in de </a:t>
                </a:r>
                <a:r>
                  <a:rPr lang="en-US" sz="2000" b="1" dirty="0" err="1"/>
                  <a:t>tijdsduur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nl-NL" sz="20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000" b="1" dirty="0"/>
                  <a:t> is </a:t>
                </a:r>
                <a:r>
                  <a:rPr lang="en-US" sz="2000" b="1" dirty="0" err="1"/>
                  <a:t>ook</a:t>
                </a:r>
                <a:r>
                  <a:rPr lang="en-US" sz="2000" b="1" dirty="0"/>
                  <a:t> de </a:t>
                </a:r>
                <a:r>
                  <a:rPr lang="en-US" sz="2000" b="1" dirty="0" err="1"/>
                  <a:t>reistijd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opgenomen</a:t>
                </a:r>
                <a:r>
                  <a:rPr lang="en-US" sz="2000" b="1" dirty="0"/>
                  <a:t>)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b="1" dirty="0"/>
                  <a:t> De </a:t>
                </a:r>
                <a:r>
                  <a:rPr lang="en-US" sz="2000" b="1" dirty="0" err="1"/>
                  <a:t>tijdsduren</a:t>
                </a:r>
                <a:r>
                  <a:rPr lang="en-US" sz="2000" b="1" dirty="0"/>
                  <a:t> van </a:t>
                </a:r>
                <a:r>
                  <a:rPr lang="en-US" sz="2000" b="1" dirty="0" err="1"/>
                  <a:t>bezoeken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zijn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onderling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onafhankelijk</a:t>
                </a:r>
                <a:r>
                  <a:rPr lang="en-US" sz="2000" b="1" dirty="0"/>
                  <a:t>.</a:t>
                </a:r>
              </a:p>
              <a:p>
                <a:pPr marL="457200" indent="-457200" eaLnBrk="1" hangingPunct="1">
                  <a:buFont typeface="+mj-lt"/>
                  <a:buAutoNum type="alphaLcParenR" startAt="3"/>
                </a:pPr>
                <a:r>
                  <a:rPr lang="en-US" sz="2000" b="1" dirty="0" smtClean="0"/>
                  <a:t>De </a:t>
                </a:r>
                <a:r>
                  <a:rPr lang="en-US" sz="2000" b="1" dirty="0" err="1" smtClean="0"/>
                  <a:t>vertegenwoordiger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moet</a:t>
                </a:r>
                <a:r>
                  <a:rPr lang="en-US" sz="2000" b="1" dirty="0" smtClean="0"/>
                  <a:t> op </a:t>
                </a:r>
                <a:r>
                  <a:rPr lang="en-US" sz="2000" b="1" dirty="0" err="1" smtClean="0"/>
                  <a:t>zekere</a:t>
                </a:r>
                <a:r>
                  <a:rPr lang="en-US" sz="2000" b="1" dirty="0" smtClean="0"/>
                  <a:t> dag </a:t>
                </a:r>
                <a:r>
                  <a:rPr lang="en-US" sz="2000" b="1" dirty="0" err="1" smtClean="0"/>
                  <a:t>tien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klanten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bezoeken</a:t>
                </a:r>
                <a:r>
                  <a:rPr lang="en-US" sz="2000" b="1" dirty="0" smtClean="0"/>
                  <a:t>. </a:t>
                </a:r>
                <a:r>
                  <a:rPr lang="en-US" sz="2000" b="1" dirty="0" err="1" smtClean="0"/>
                  <a:t>Hoeveel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tijd</a:t>
                </a:r>
                <a:r>
                  <a:rPr lang="en-US" sz="20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moet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hij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reserveren</a:t>
                </a:r>
                <a:r>
                  <a:rPr lang="en-US" sz="2000" b="1" dirty="0" smtClean="0"/>
                  <a:t> om met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kans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tien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bezoeken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binnen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tijdsduur</a:t>
                </a:r>
                <a:r>
                  <a:rPr lang="en-US" sz="20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te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kunnen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afhandelen</a:t>
                </a:r>
                <a:r>
                  <a:rPr lang="en-US" sz="2000" b="1" dirty="0" smtClean="0"/>
                  <a:t>.</a:t>
                </a:r>
              </a:p>
              <a:p>
                <a:pPr marL="457200" indent="-457200" eaLnBrk="1" hangingPunct="1">
                  <a:buFont typeface="+mj-lt"/>
                  <a:buAutoNum type="alphaLcParenR" startAt="3"/>
                </a:pPr>
                <a:endParaRPr lang="en-US" sz="2000" b="1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446" t="-1865" r="-19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3703868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41"/>
                <a:ext cx="10363200" cy="400110"/>
              </a:xfrm>
            </p:spPr>
            <p:txBody>
              <a:bodyPr/>
              <a:lstStyle/>
              <a:p>
                <a:r>
                  <a:rPr lang="en-US" b="1" dirty="0" err="1" smtClean="0"/>
                  <a:t>Binnen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hoeveel</a:t>
                </a:r>
                <a:r>
                  <a:rPr lang="en-US" b="1" dirty="0" smtClean="0"/>
                  <a:t> </a:t>
                </a:r>
                <a:r>
                  <a:rPr lang="en-US" b="1" dirty="0" err="1"/>
                  <a:t>tijd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smtClean="0"/>
                  <a:t>zijn met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kans</a:t>
                </a:r>
                <a:r>
                  <a:rPr lang="en-US" b="1" dirty="0"/>
                  <a:t> de </a:t>
                </a:r>
                <a:r>
                  <a:rPr lang="en-US" b="1" dirty="0" err="1"/>
                  <a:t>tien</a:t>
                </a:r>
                <a:r>
                  <a:rPr lang="en-US" b="1" dirty="0"/>
                  <a:t> </a:t>
                </a:r>
                <a:r>
                  <a:rPr lang="en-US" b="1" dirty="0" err="1"/>
                  <a:t>bezoeken</a:t>
                </a:r>
                <a:r>
                  <a:rPr lang="en-US" b="1" dirty="0"/>
                  <a:t> </a:t>
                </a:r>
                <a:r>
                  <a:rPr lang="en-US" b="1" dirty="0" err="1" smtClean="0"/>
                  <a:t>afgehandeld</a:t>
                </a:r>
                <a:r>
                  <a:rPr lang="en-US" b="1" dirty="0" smtClean="0"/>
                  <a:t>?</a:t>
                </a:r>
                <a:endParaRPr lang="nl-NL" dirty="0" smtClean="0"/>
              </a:p>
            </p:txBody>
          </p:sp>
        </mc:Choice>
        <mc:Fallback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41"/>
                <a:ext cx="10363200" cy="400110"/>
              </a:xfrm>
              <a:blipFill>
                <a:blip r:embed="rId2"/>
                <a:stretch>
                  <a:fillRect l="-1941" t="-26154" b="-5076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</p:spPr>
            <p:txBody>
              <a:bodyPr/>
              <a:lstStyle/>
              <a:p>
                <a:r>
                  <a:rPr lang="en-US" sz="2000" dirty="0" smtClean="0"/>
                  <a:t>De </a:t>
                </a:r>
                <a:r>
                  <a:rPr lang="en-US" sz="2000" dirty="0" err="1" smtClean="0"/>
                  <a:t>kansvariabele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meet </a:t>
                </a:r>
                <a:r>
                  <a:rPr lang="en-US" sz="2000" dirty="0"/>
                  <a:t>de </a:t>
                </a:r>
                <a:r>
                  <a:rPr lang="en-US" sz="2000" dirty="0" err="1" smtClean="0"/>
                  <a:t>bezoektijd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aan</a:t>
                </a:r>
                <a:r>
                  <a:rPr lang="en-US" sz="2000" dirty="0" smtClean="0"/>
                  <a:t> </a:t>
                </a:r>
                <a:r>
                  <a:rPr lang="en-US" sz="2000" dirty="0" err="1"/>
                  <a:t>klant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,</a:t>
                </a:r>
                <a:r>
                  <a:rPr lang="en-US" sz="2000" dirty="0" smtClean="0"/>
                  <a:t> waarbij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=1,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2,…,10</m:t>
                    </m:r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nl-NL" sz="2000" b="0" dirty="0" smtClean="0"/>
              </a:p>
              <a:p>
                <a:endParaRPr lang="en-US" sz="2000" b="1" dirty="0" smtClean="0"/>
              </a:p>
              <a:p>
                <a:r>
                  <a:rPr lang="en-US" sz="2000" b="1" dirty="0" smtClean="0"/>
                  <a:t>Centrale </a:t>
                </a:r>
                <a:r>
                  <a:rPr lang="en-US" sz="2000" b="1" dirty="0" err="1" smtClean="0"/>
                  <a:t>limietstelling</a:t>
                </a:r>
                <a:r>
                  <a:rPr lang="en-US" sz="2000" b="1" dirty="0" smtClean="0"/>
                  <a:t>: </a:t>
                </a:r>
                <a:r>
                  <a:rPr lang="en-US" sz="2000" dirty="0" smtClean="0"/>
                  <a:t>de </a:t>
                </a:r>
                <a:r>
                  <a:rPr lang="en-US" sz="2000" dirty="0" err="1"/>
                  <a:t>som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  <m:e>
                        <m:sSub>
                          <m:sSubPr>
                            <m:ctrlPr>
                              <a:rPr lang="nl-NL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sz="2000" dirty="0"/>
                  <a:t> is </a:t>
                </a:r>
                <a:r>
                  <a:rPr lang="en-US" sz="2000" dirty="0" err="1"/>
                  <a:t>normaal</a:t>
                </a:r>
                <a:r>
                  <a:rPr lang="en-US" sz="2000" dirty="0"/>
                  <a:t> </a:t>
                </a:r>
                <a:r>
                  <a:rPr lang="en-US" sz="2000" dirty="0" err="1"/>
                  <a:t>verdeeld</a:t>
                </a:r>
                <a:r>
                  <a:rPr lang="en-US" sz="2000" dirty="0"/>
                  <a:t> is met: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/>
                  <a:t>Gemiddelde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=10⋅4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5=450.</m:t>
                    </m:r>
                  </m:oMath>
                </a14:m>
                <a:endParaRPr lang="nl-NL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/>
                  <a:t>Standaardafwijking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nl-NL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nl-NL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rad>
                    <m:r>
                      <a:rPr lang="nl-NL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10≈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31.6228</m:t>
                    </m:r>
                  </m:oMath>
                </a14:m>
                <a:r>
                  <a:rPr lang="en-US" sz="2000" i="1" dirty="0">
                    <a:latin typeface="Cambria Math" panose="02040503050406030204" pitchFamily="18" charset="0"/>
                  </a:rPr>
                  <a:t>. </a:t>
                </a:r>
              </a:p>
              <a:p>
                <a:endParaRPr lang="en-US" sz="2000" b="1" dirty="0" smtClean="0"/>
              </a:p>
              <a:p>
                <a:r>
                  <a:rPr lang="en-US" sz="2000" dirty="0" smtClean="0"/>
                  <a:t>We </a:t>
                </a:r>
                <a:r>
                  <a:rPr lang="en-US" sz="2000" dirty="0" err="1"/>
                  <a:t>willen</a:t>
                </a:r>
                <a:r>
                  <a:rPr lang="en-US" sz="2000" dirty="0"/>
                  <a:t> nu de </a:t>
                </a:r>
                <a:r>
                  <a:rPr lang="en-US" sz="2000" dirty="0" err="1"/>
                  <a:t>grens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berekenen</a:t>
                </a:r>
                <a:r>
                  <a:rPr lang="en-US" sz="2000" dirty="0"/>
                  <a:t> </a:t>
                </a:r>
                <a:r>
                  <a:rPr lang="en-US" sz="2000" dirty="0" err="1"/>
                  <a:t>waarvoor</a:t>
                </a:r>
                <a:r>
                  <a:rPr lang="en-US" sz="2000" dirty="0"/>
                  <a:t> </a:t>
                </a:r>
                <a:r>
                  <a:rPr lang="en-US" sz="2000" dirty="0" err="1"/>
                  <a:t>geldt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p>
                          <m:e>
                            <m:sSub>
                              <m:sSubPr>
                                <m:ctrlPr>
                                  <a:rPr lang="nl-NL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NL" sz="20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nl-NL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95</m:t>
                    </m:r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smtClean="0"/>
                  <a:t> </a:t>
                </a:r>
              </a:p>
              <a:p>
                <a:r>
                  <a:rPr lang="en-US" sz="2000" dirty="0" smtClean="0"/>
                  <a:t>De </a:t>
                </a:r>
                <a:r>
                  <a:rPr lang="en-US" sz="2000" dirty="0" err="1" smtClean="0"/>
                  <a:t>bijbehorende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000" dirty="0" smtClean="0"/>
                  <a:t>-score </a:t>
                </a:r>
                <a:r>
                  <a:rPr lang="en-US" sz="2000" dirty="0" err="1" smtClean="0"/>
                  <a:t>waarvoor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geldt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95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vinden we als volgt: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InvNorm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nl-NL" sz="2000" b="0" i="0" smtClean="0">
                              <a:latin typeface="Cambria Math" panose="02040503050406030204" pitchFamily="18" charset="0"/>
                            </a:rPr>
                            <m:t>area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95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≈1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6449</m:t>
                      </m:r>
                      <m:r>
                        <a:rPr lang="nl-NL" sz="20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000" dirty="0" smtClean="0"/>
              </a:p>
              <a:p>
                <a:r>
                  <a:rPr lang="en-US" sz="2000" dirty="0" smtClean="0"/>
                  <a:t>De </a:t>
                </a:r>
                <a:r>
                  <a:rPr lang="en-US" sz="2000" dirty="0" err="1" smtClean="0"/>
                  <a:t>tijdsduur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vinden</a:t>
                </a:r>
                <a:r>
                  <a:rPr lang="en-US" sz="2000" dirty="0" smtClean="0"/>
                  <a:t> we door om </a:t>
                </a:r>
                <a:r>
                  <a:rPr lang="en-US" sz="2000" dirty="0" err="1" smtClean="0"/>
                  <a:t>te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rekenen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naar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originele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verdeling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450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6228</m:t>
                        </m:r>
                      </m:e>
                    </m:d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van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  <m:e>
                        <m:sSub>
                          <m:sSubPr>
                            <m:ctrlPr>
                              <a:rPr lang="nl-NL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 smtClean="0"/>
                  <a:t>: </a:t>
                </a:r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=450+1</m:t>
                      </m:r>
                      <m:r>
                        <a:rPr lang="nl-NL" sz="20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6449</m:t>
                      </m:r>
                      <m:r>
                        <a:rPr lang="nl-NL" sz="2000" i="1">
                          <a:latin typeface="Cambria Math" panose="02040503050406030204" pitchFamily="18" charset="0"/>
                        </a:rPr>
                        <m:t>⋅31.6228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≈502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63.</m:t>
                      </m:r>
                    </m:oMath>
                  </m:oMathPara>
                </a14:m>
                <a:endParaRPr lang="en-US" sz="2000" i="1" dirty="0"/>
              </a:p>
              <a:p>
                <a:pPr algn="ctr"/>
                <a:endParaRPr lang="en-US" sz="2000" dirty="0"/>
              </a:p>
              <a:p>
                <a:pPr algn="ctr"/>
                <a:r>
                  <a:rPr lang="en-US" sz="2000" b="1" dirty="0" smtClean="0"/>
                  <a:t>De </a:t>
                </a:r>
                <a:r>
                  <a:rPr lang="en-US" sz="2000" b="1" dirty="0" err="1"/>
                  <a:t>vertegenwoordiger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moet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𝟖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uur</a:t>
                </a:r>
                <a:r>
                  <a:rPr lang="en-US" sz="2000" b="1" dirty="0"/>
                  <a:t> </a:t>
                </a:r>
                <a:r>
                  <a:rPr lang="en-US" sz="2000" b="1" dirty="0" err="1" smtClean="0"/>
                  <a:t>en</a:t>
                </a:r>
                <a:r>
                  <a:rPr lang="en-US" sz="20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𝟐𝟐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minuten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reserveren</a:t>
                </a:r>
                <a:r>
                  <a:rPr lang="en-US" sz="2000" b="1" dirty="0"/>
                  <a:t> om de </a:t>
                </a:r>
                <a:r>
                  <a:rPr lang="en-US" sz="2000" b="1" dirty="0" err="1"/>
                  <a:t>tien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bezoeken</a:t>
                </a:r>
                <a:r>
                  <a:rPr lang="en-US" sz="2000" b="1" dirty="0"/>
                  <a:t> met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kans</a:t>
                </a:r>
                <a:r>
                  <a:rPr lang="en-US" sz="2000" b="1" dirty="0"/>
                  <a:t> </a:t>
                </a:r>
                <a:r>
                  <a:rPr lang="en-US" sz="2000" b="1" dirty="0" err="1" smtClean="0"/>
                  <a:t>binnen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tijd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af</a:t>
                </a:r>
                <a:r>
                  <a:rPr lang="en-US" sz="2000" b="1" dirty="0" smtClean="0"/>
                  <a:t> </a:t>
                </a:r>
                <a:r>
                  <a:rPr lang="en-US" sz="2000" b="1" dirty="0" err="1"/>
                  <a:t>te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kunnen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handelen</a:t>
                </a:r>
                <a:r>
                  <a:rPr lang="en-US" sz="2000" b="1" dirty="0"/>
                  <a:t>.</a:t>
                </a:r>
              </a:p>
              <a:p>
                <a:pPr eaLnBrk="1" hangingPunct="1"/>
                <a:endParaRPr lang="en-US" sz="2000" b="1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  <a:blipFill>
                <a:blip r:embed="rId3"/>
                <a:stretch>
                  <a:fillRect l="-1407" t="-1722" r="-1238" b="-1018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816245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Verschil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twee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</p:spPr>
            <p:txBody>
              <a:bodyPr/>
              <a:lstStyle/>
              <a:p>
                <a:r>
                  <a:rPr lang="en-US" dirty="0" smtClean="0"/>
                  <a:t>Een </a:t>
                </a:r>
                <a:r>
                  <a:rPr lang="en-US" dirty="0" err="1" smtClean="0"/>
                  <a:t>militaire</a:t>
                </a:r>
                <a:r>
                  <a:rPr lang="en-US" dirty="0"/>
                  <a:t> </a:t>
                </a:r>
                <a:r>
                  <a:rPr lang="en-US" dirty="0" err="1" smtClean="0"/>
                  <a:t>eenheid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wil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evalueren</a:t>
                </a:r>
                <a:r>
                  <a:rPr lang="en-US" dirty="0" smtClean="0"/>
                  <a:t> of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nieuw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noodprotocol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leidt</a:t>
                </a:r>
                <a:r>
                  <a:rPr lang="en-US" dirty="0" smtClean="0"/>
                  <a:t> tot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snellere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respons</a:t>
                </a:r>
                <a:r>
                  <a:rPr lang="en-US" dirty="0" smtClean="0"/>
                  <a:t> in </a:t>
                </a:r>
                <a:r>
                  <a:rPr lang="en-US" dirty="0" err="1" smtClean="0"/>
                  <a:t>crisissituaties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zoals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natuurrampen</a:t>
                </a:r>
                <a:r>
                  <a:rPr lang="en-US" dirty="0" smtClean="0"/>
                  <a:t> of </a:t>
                </a:r>
                <a:r>
                  <a:rPr lang="en-US" dirty="0" err="1" smtClean="0"/>
                  <a:t>terroristische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dreigingen</a:t>
                </a:r>
                <a:r>
                  <a:rPr lang="en-US" dirty="0" smtClean="0"/>
                  <a:t>. </a:t>
                </a:r>
              </a:p>
              <a:p>
                <a:pPr marL="342900" indent="-342900"/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 smtClean="0"/>
                  <a:t>: </a:t>
                </a:r>
                <a:r>
                  <a:rPr lang="en-US" dirty="0" err="1" smtClean="0"/>
                  <a:t>reactietijd</a:t>
                </a:r>
                <a:r>
                  <a:rPr lang="en-US" dirty="0" smtClean="0"/>
                  <a:t> van crisis response teams </a:t>
                </a:r>
                <a:r>
                  <a:rPr lang="en-US" dirty="0" err="1" smtClean="0"/>
                  <a:t>volgens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bestaande</a:t>
                </a:r>
                <a:r>
                  <a:rPr lang="en-US" dirty="0" smtClean="0"/>
                  <a:t> protocol (in </a:t>
                </a:r>
                <a:r>
                  <a:rPr lang="en-US" dirty="0" err="1" smtClean="0"/>
                  <a:t>minuten</a:t>
                </a:r>
                <a:r>
                  <a:rPr lang="en-US" dirty="0" smtClean="0"/>
                  <a:t>)</a:t>
                </a:r>
                <a:endParaRPr lang="en-US" b="0" dirty="0" smtClean="0"/>
              </a:p>
              <a:p>
                <a:pPr marL="342900" indent="-342900"/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reactietijd</a:t>
                </a:r>
                <a:r>
                  <a:rPr lang="en-US" dirty="0" smtClean="0"/>
                  <a:t> </a:t>
                </a:r>
                <a:r>
                  <a:rPr lang="en-US" dirty="0"/>
                  <a:t>van crisis response teams </a:t>
                </a:r>
                <a:r>
                  <a:rPr lang="en-US" dirty="0" err="1" smtClean="0"/>
                  <a:t>volgens</a:t>
                </a:r>
                <a:r>
                  <a:rPr lang="en-US" dirty="0" smtClean="0"/>
                  <a:t> </a:t>
                </a:r>
                <a:r>
                  <a:rPr lang="en-US" dirty="0"/>
                  <a:t>het </a:t>
                </a:r>
                <a:r>
                  <a:rPr lang="en-US" dirty="0" err="1" smtClean="0"/>
                  <a:t>nieuwe</a:t>
                </a:r>
                <a:r>
                  <a:rPr lang="en-US" dirty="0" smtClean="0"/>
                  <a:t> </a:t>
                </a:r>
                <a:r>
                  <a:rPr lang="en-US" dirty="0"/>
                  <a:t>protocol </a:t>
                </a:r>
                <a:r>
                  <a:rPr lang="en-US" dirty="0" smtClean="0"/>
                  <a:t>(in </a:t>
                </a:r>
                <a:r>
                  <a:rPr lang="en-US" dirty="0" err="1" smtClean="0"/>
                  <a:t>minuten</a:t>
                </a:r>
                <a:r>
                  <a:rPr lang="en-US" dirty="0" smtClean="0"/>
                  <a:t>)</a:t>
                </a:r>
                <a:endParaRPr lang="en-US" dirty="0"/>
              </a:p>
              <a:p>
                <a:pPr marL="342900" indent="-342900"/>
                <a:endParaRPr lang="en-US" dirty="0" smtClean="0"/>
              </a:p>
              <a:p>
                <a:pPr marL="342900" indent="-342900"/>
                <a:endParaRPr lang="en-US" dirty="0"/>
              </a:p>
              <a:p>
                <a:r>
                  <a:rPr lang="en-US" dirty="0" err="1" smtClean="0"/>
                  <a:t>Stel</a:t>
                </a:r>
                <a:r>
                  <a:rPr lang="en-US" dirty="0" smtClean="0"/>
                  <a:t> nu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we </a:t>
                </a:r>
                <a:r>
                  <a:rPr lang="en-US" dirty="0" err="1" smtClean="0"/>
                  <a:t>weten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=5)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=47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 smtClean="0"/>
              </a:p>
              <a:p>
                <a:pPr algn="ctr"/>
                <a:r>
                  <a:rPr lang="en-US" b="1" dirty="0" err="1" smtClean="0"/>
                  <a:t>Welke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uitspraken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kunnen</a:t>
                </a:r>
                <a:r>
                  <a:rPr lang="en-US" b="1" dirty="0" smtClean="0"/>
                  <a:t> we </a:t>
                </a:r>
                <a:r>
                  <a:rPr lang="en-US" b="1" dirty="0" err="1" smtClean="0"/>
                  <a:t>doen</a:t>
                </a:r>
                <a:r>
                  <a:rPr lang="en-US" b="1" dirty="0" smtClean="0"/>
                  <a:t> over </a:t>
                </a:r>
                <a:r>
                  <a:rPr lang="en-US" b="1" dirty="0" err="1" smtClean="0"/>
                  <a:t>welk</a:t>
                </a:r>
                <a:r>
                  <a:rPr lang="en-US" b="1" dirty="0" smtClean="0"/>
                  <a:t> protocol het </a:t>
                </a:r>
                <a:r>
                  <a:rPr lang="en-US" b="1" dirty="0" err="1" smtClean="0"/>
                  <a:t>meest</a:t>
                </a:r>
                <a:r>
                  <a:rPr lang="en-US" b="1" dirty="0" smtClean="0"/>
                  <a:t> efficient is?</a:t>
                </a: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  <a:blipFill>
                <a:blip r:embed="rId2"/>
                <a:stretch>
                  <a:fillRect l="-1525" t="-2009" b="-258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760505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Verschil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twee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</p:spPr>
            <p:txBody>
              <a:bodyPr/>
              <a:lstStyle/>
              <a:p>
                <a:r>
                  <a:rPr lang="en-US" dirty="0" smtClean="0"/>
                  <a:t>Er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=5)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=47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endParaRPr lang="en-US" dirty="0"/>
              </a:p>
              <a:p>
                <a:endParaRPr lang="en-US" dirty="0" smtClean="0"/>
              </a:p>
              <a:p>
                <a:r>
                  <a:rPr lang="en-US" dirty="0" smtClean="0"/>
                  <a:t>We </a:t>
                </a:r>
                <a:r>
                  <a:rPr lang="en-US" dirty="0" err="1" smtClean="0"/>
                  <a:t>bekijken</a:t>
                </a:r>
                <a:r>
                  <a:rPr lang="en-US" dirty="0" smtClean="0"/>
                  <a:t> de </a:t>
                </a:r>
                <a:r>
                  <a:rPr lang="en-US" b="1" dirty="0" err="1" smtClean="0">
                    <a:solidFill>
                      <a:schemeClr val="accent1"/>
                    </a:solidFill>
                  </a:rPr>
                  <a:t>verschilvariabele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 smtClean="0"/>
                  <a:t>, </a:t>
                </a:r>
                <a:r>
                  <a:rPr lang="en-US" dirty="0" err="1" smtClean="0"/>
                  <a:t>waarvoor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0" dirty="0" err="1" smtClean="0"/>
                  <a:t>Kansverdeling</a:t>
                </a:r>
                <a:r>
                  <a:rPr lang="en-US" b="0" dirty="0" smtClean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 smtClean="0"/>
                  <a:t> is </a:t>
                </a:r>
                <a:r>
                  <a:rPr lang="en-US" dirty="0" err="1" smtClean="0"/>
                  <a:t>ook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normaal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verdeeld</a:t>
                </a: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b="0" dirty="0" smtClean="0"/>
                  <a:t>Gemiddelde: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=50−47=3</m:t>
                    </m:r>
                  </m:oMath>
                </a14:m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0" dirty="0" err="1" smtClean="0"/>
                  <a:t>Standaardafwijking</a:t>
                </a:r>
                <a:r>
                  <a:rPr lang="en-US" b="0" dirty="0" smtClean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sup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e>
                    </m:rad>
                  </m:oMath>
                </a14:m>
                <a:endParaRPr lang="en-US" b="0" dirty="0" smtClean="0"/>
              </a:p>
              <a:p>
                <a:pPr marL="342900" indent="-342900"/>
                <a:endParaRPr lang="en-US" dirty="0"/>
              </a:p>
              <a:p>
                <a:r>
                  <a:rPr lang="nl-NL" b="1" dirty="0" smtClean="0"/>
                  <a:t>Wat </a:t>
                </a:r>
                <a:r>
                  <a:rPr lang="nl-NL" b="1" dirty="0" smtClean="0"/>
                  <a:t>kunnen we met</a:t>
                </a:r>
                <a:r>
                  <a:rPr lang="nl-NL" b="1" dirty="0" smtClean="0"/>
                  <a:t> de uitkomst van de variabele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dirty="0" smtClean="0"/>
                  <a:t>?</a:t>
                </a:r>
                <a:endParaRPr lang="en-US" dirty="0" smtClean="0"/>
              </a:p>
              <a:p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&lt;0:</m:t>
                    </m:r>
                  </m:oMath>
                </a14:m>
                <a:r>
                  <a:rPr lang="en-US" dirty="0" smtClean="0"/>
                  <a:t> het </a:t>
                </a:r>
                <a:r>
                  <a:rPr lang="en-US" dirty="0" err="1" smtClean="0"/>
                  <a:t>oude</a:t>
                </a:r>
                <a:r>
                  <a:rPr lang="en-US" dirty="0" smtClean="0"/>
                  <a:t> protocol is </a:t>
                </a:r>
                <a:r>
                  <a:rPr lang="en-US" dirty="0" err="1" smtClean="0"/>
                  <a:t>efficiënter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dan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nieuwe</a:t>
                </a:r>
                <a:r>
                  <a:rPr lang="en-US" dirty="0" smtClean="0"/>
                  <a:t> protocol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&gt;0:</m:t>
                    </m:r>
                  </m:oMath>
                </a14:m>
                <a:r>
                  <a:rPr lang="en-US" dirty="0" smtClean="0"/>
                  <a:t> het </a:t>
                </a:r>
                <a:r>
                  <a:rPr lang="en-US" dirty="0" err="1" smtClean="0"/>
                  <a:t>nieuwe</a:t>
                </a:r>
                <a:r>
                  <a:rPr lang="en-US" dirty="0" smtClean="0"/>
                  <a:t> protocol </a:t>
                </a:r>
                <a:r>
                  <a:rPr lang="en-US" dirty="0"/>
                  <a:t>is </a:t>
                </a:r>
                <a:r>
                  <a:rPr lang="en-US" dirty="0" err="1"/>
                  <a:t>efficiënter</a:t>
                </a:r>
                <a:r>
                  <a:rPr lang="en-US" dirty="0"/>
                  <a:t> </a:t>
                </a:r>
                <a:r>
                  <a:rPr lang="en-US" dirty="0" err="1"/>
                  <a:t>dan</a:t>
                </a:r>
                <a:r>
                  <a:rPr lang="en-US" dirty="0"/>
                  <a:t> het </a:t>
                </a:r>
                <a:r>
                  <a:rPr lang="en-US" dirty="0" err="1" smtClean="0"/>
                  <a:t>oude</a:t>
                </a:r>
                <a:r>
                  <a:rPr lang="en-US" dirty="0" smtClean="0"/>
                  <a:t> </a:t>
                </a:r>
                <a:r>
                  <a:rPr lang="en-US" dirty="0"/>
                  <a:t>protocol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beide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protocollen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zijn</a:t>
                </a:r>
                <a:r>
                  <a:rPr lang="en-US" dirty="0" smtClean="0"/>
                  <a:t> even </a:t>
                </a:r>
                <a:r>
                  <a:rPr lang="en-US" dirty="0" err="1" smtClean="0"/>
                  <a:t>effici</a:t>
                </a:r>
                <a:r>
                  <a:rPr lang="en-US" dirty="0" err="1"/>
                  <a:t>ë</a:t>
                </a:r>
                <a:r>
                  <a:rPr lang="en-US" dirty="0" err="1" smtClean="0"/>
                  <a:t>nt</a:t>
                </a:r>
                <a:endParaRPr lang="en-US" dirty="0"/>
              </a:p>
              <a:p>
                <a:pPr marL="717550" lvl="1" indent="-342900"/>
                <a:endParaRPr lang="en-US" dirty="0" smtClean="0"/>
              </a:p>
              <a:p>
                <a:pPr lvl="1" indent="0">
                  <a:buNone/>
                </a:pPr>
                <a:endParaRPr lang="en-US" dirty="0"/>
              </a:p>
              <a:p>
                <a:pPr lvl="1" indent="0">
                  <a:buNone/>
                </a:pPr>
                <a:endParaRPr lang="en-US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  <a:blipFill>
                <a:blip r:embed="rId2"/>
                <a:stretch>
                  <a:fillRect l="-1525" t="-2009" b="-473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730960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Verschil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twee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</p:spPr>
            <p:txBody>
              <a:bodyPr/>
              <a:lstStyle/>
              <a:p>
                <a:r>
                  <a:rPr lang="en-US" dirty="0" smtClean="0"/>
                  <a:t>De </a:t>
                </a:r>
                <a:r>
                  <a:rPr lang="en-US" dirty="0" err="1" smtClean="0"/>
                  <a:t>verschilvariabele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smtClean="0"/>
                  <a:t>is </a:t>
                </a:r>
                <a:r>
                  <a:rPr lang="en-US" dirty="0" err="1" smtClean="0"/>
                  <a:t>normaal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verdeeld</a:t>
                </a:r>
                <a:r>
                  <a:rPr lang="en-US" dirty="0" smtClean="0"/>
                  <a:t> met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e>
                    </m:rad>
                  </m:oMath>
                </a14:m>
                <a:r>
                  <a:rPr lang="en-US" dirty="0" smtClean="0"/>
                  <a:t>.</a:t>
                </a:r>
                <a:endParaRPr lang="en-US" dirty="0" smtClean="0"/>
              </a:p>
              <a:p>
                <a:endParaRPr lang="en-US" dirty="0" smtClean="0"/>
              </a:p>
              <a:p>
                <a:r>
                  <a:rPr lang="en-US" b="1" dirty="0" smtClean="0"/>
                  <a:t>Wat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nieuwe</a:t>
                </a:r>
                <a:r>
                  <a:rPr lang="en-US" b="1" dirty="0" smtClean="0"/>
                  <a:t> protocol </a:t>
                </a:r>
                <a:r>
                  <a:rPr lang="en-US" b="1" dirty="0" err="1" smtClean="0"/>
                  <a:t>effici</a:t>
                </a:r>
                <a:r>
                  <a:rPr lang="en-US" b="1" dirty="0" err="1"/>
                  <a:t>ë</a:t>
                </a:r>
                <a:r>
                  <a:rPr lang="en-US" b="1" dirty="0" err="1" smtClean="0"/>
                  <a:t>nter</a:t>
                </a:r>
                <a:r>
                  <a:rPr lang="en-US" b="1" dirty="0" smtClean="0"/>
                  <a:t> is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oude</a:t>
                </a:r>
                <a:r>
                  <a:rPr lang="en-US" b="1" dirty="0" smtClean="0"/>
                  <a:t> protocol?</a:t>
                </a:r>
              </a:p>
              <a:p>
                <a:r>
                  <a:rPr lang="en-US" dirty="0" smtClean="0"/>
                  <a:t>We </a:t>
                </a:r>
                <a:r>
                  <a:rPr lang="en-US" dirty="0" err="1" smtClean="0"/>
                  <a:t>willen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dus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&gt;0)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bepalen</a:t>
                </a:r>
                <a:r>
                  <a:rPr lang="en-US" dirty="0" smtClean="0"/>
                  <a:t>. De </a:t>
                </a:r>
                <a:r>
                  <a:rPr lang="en-US" dirty="0" err="1" smtClean="0"/>
                  <a:t>bijbehorende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 smtClean="0"/>
                  <a:t>-</a:t>
                </a:r>
                <a:r>
                  <a:rPr lang="en-US" dirty="0" err="1" smtClean="0"/>
                  <a:t>waarde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endParaRPr lang="en-US" dirty="0" smtClean="0"/>
              </a:p>
              <a:p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0−3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29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−0</m:t>
                      </m:r>
                      <m:r>
                        <a:rPr lang="nl-NL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5571</m:t>
                      </m:r>
                      <m:r>
                        <a:rPr lang="nl-NL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 smtClean="0"/>
              </a:p>
              <a:p>
                <a:r>
                  <a:rPr lang="en-US" dirty="0" err="1" smtClean="0"/>
                  <a:t>En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r>
                  <a:rPr lang="en-US" dirty="0" smtClean="0"/>
                  <a:t> is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r>
                  <a:rPr lang="en-US" dirty="0" smtClean="0"/>
                  <a:t>:</a:t>
                </a:r>
              </a:p>
              <a:p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&gt;−0.557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normalcdf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=−0.5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571,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99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≈0,7113</m:t>
                      </m:r>
                    </m:oMath>
                  </m:oMathPara>
                </a14:m>
                <a:endParaRPr lang="en-US" dirty="0" smtClean="0"/>
              </a:p>
              <a:p>
                <a:pPr algn="ctr"/>
                <a:endParaRPr lang="en-US" b="1" dirty="0" smtClean="0"/>
              </a:p>
              <a:p>
                <a:pPr algn="ctr"/>
                <a:r>
                  <a:rPr lang="en-US" b="1" dirty="0" smtClean="0"/>
                  <a:t>Met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𝟕𝟏</m:t>
                    </m:r>
                    <m:r>
                      <a:rPr lang="nl-NL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𝟏𝟑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en-US" b="1" dirty="0" err="1" smtClean="0"/>
                  <a:t>kans</a:t>
                </a:r>
                <a:r>
                  <a:rPr lang="en-US" b="1" dirty="0" smtClean="0"/>
                  <a:t> is het </a:t>
                </a:r>
                <a:r>
                  <a:rPr lang="en-US" b="1" dirty="0" err="1" smtClean="0"/>
                  <a:t>nieuwe</a:t>
                </a:r>
                <a:r>
                  <a:rPr lang="en-US" b="1" dirty="0" smtClean="0"/>
                  <a:t> protocol </a:t>
                </a:r>
                <a:r>
                  <a:rPr lang="en-US" b="1" dirty="0" err="1" smtClean="0"/>
                  <a:t>efficiënter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oude</a:t>
                </a:r>
                <a:r>
                  <a:rPr lang="en-US" b="1" dirty="0" smtClean="0"/>
                  <a:t> protocol.</a:t>
                </a:r>
                <a:endParaRPr lang="en-US" b="1" dirty="0"/>
              </a:p>
              <a:p>
                <a:pPr lvl="1" indent="0">
                  <a:buNone/>
                </a:pPr>
                <a:endParaRPr lang="en-US" dirty="0" smtClean="0"/>
              </a:p>
              <a:p>
                <a:pPr lvl="1" indent="0">
                  <a:buNone/>
                </a:pPr>
                <a:endParaRPr lang="en-US" dirty="0"/>
              </a:p>
              <a:p>
                <a:pPr lvl="1" indent="0">
                  <a:buNone/>
                </a:pPr>
                <a:endParaRPr lang="en-US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  <a:blipFill>
                <a:blip r:embed="rId2"/>
                <a:stretch>
                  <a:fillRect l="-1525" t="-1291" b="-3156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3850508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Verschil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twee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</p:spPr>
            <p:txBody>
              <a:bodyPr/>
              <a:lstStyle/>
              <a:p>
                <a:r>
                  <a:rPr lang="en-US" sz="2000" b="1" dirty="0" smtClean="0"/>
                  <a:t>Door </a:t>
                </a:r>
                <a:r>
                  <a:rPr lang="en-US" sz="2000" b="1" dirty="0" err="1" smtClean="0"/>
                  <a:t>verbeterde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communicatietraining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kan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gemiddelde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reactietijd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voor</a:t>
                </a:r>
                <a:r>
                  <a:rPr lang="en-US" sz="2000" b="1" dirty="0" smtClean="0"/>
                  <a:t> het </a:t>
                </a:r>
                <a:r>
                  <a:rPr lang="en-US" sz="2000" b="1" dirty="0" err="1" smtClean="0"/>
                  <a:t>nieuwe</a:t>
                </a:r>
                <a:r>
                  <a:rPr lang="en-US" sz="2000" b="1" dirty="0" smtClean="0"/>
                  <a:t> protocol nog </a:t>
                </a:r>
                <a:r>
                  <a:rPr lang="en-US" sz="2000" b="1" dirty="0" err="1" smtClean="0"/>
                  <a:t>verder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worden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verminderd</a:t>
                </a:r>
                <a:r>
                  <a:rPr lang="en-US" sz="2000" b="1" dirty="0" smtClean="0"/>
                  <a:t>. Hoe </a:t>
                </a:r>
                <a:r>
                  <a:rPr lang="en-US" sz="2000" b="1" dirty="0" err="1" smtClean="0"/>
                  <a:t>groot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moet</a:t>
                </a:r>
                <a:r>
                  <a:rPr lang="en-US" sz="2000" b="1" dirty="0" smtClean="0"/>
                  <a:t> </a:t>
                </a:r>
                <a:r>
                  <a:rPr lang="en-US" sz="2000" b="1" dirty="0" smtClean="0"/>
                  <a:t>de </a:t>
                </a:r>
                <a:r>
                  <a:rPr lang="en-US" sz="2000" b="1" dirty="0" err="1" smtClean="0"/>
                  <a:t>gemiddelde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reactietijd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maximaal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zijn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zodat</a:t>
                </a:r>
                <a:r>
                  <a:rPr lang="en-US" sz="2000" b="1" dirty="0" smtClean="0"/>
                  <a:t> het </a:t>
                </a:r>
                <a:r>
                  <a:rPr lang="en-US" sz="2000" b="1" dirty="0" err="1" smtClean="0"/>
                  <a:t>nieuwe</a:t>
                </a:r>
                <a:r>
                  <a:rPr lang="en-US" sz="2000" b="1" dirty="0" smtClean="0"/>
                  <a:t> protocol met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kans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efficiënter</a:t>
                </a:r>
                <a:r>
                  <a:rPr lang="en-US" sz="2000" b="1" dirty="0" smtClean="0"/>
                  <a:t> </a:t>
                </a:r>
                <a:r>
                  <a:rPr lang="en-US" sz="2000" b="1" dirty="0" smtClean="0"/>
                  <a:t>is </a:t>
                </a:r>
                <a:r>
                  <a:rPr lang="en-US" sz="2000" b="1" dirty="0" err="1" smtClean="0"/>
                  <a:t>dan</a:t>
                </a:r>
                <a:r>
                  <a:rPr lang="en-US" sz="2000" b="1" dirty="0" smtClean="0"/>
                  <a:t> het </a:t>
                </a:r>
                <a:r>
                  <a:rPr lang="en-US" sz="2000" b="1" dirty="0" err="1" smtClean="0"/>
                  <a:t>oude</a:t>
                </a:r>
                <a:r>
                  <a:rPr lang="en-US" sz="2000" b="1" dirty="0" smtClean="0"/>
                  <a:t> </a:t>
                </a:r>
                <a:r>
                  <a:rPr lang="en-US" sz="2000" b="1" dirty="0" smtClean="0"/>
                  <a:t>protocol?</a:t>
                </a:r>
                <a:endParaRPr lang="en-US" sz="2000" b="1" dirty="0" smtClean="0"/>
              </a:p>
              <a:p>
                <a:endParaRPr lang="en-US" sz="1000" dirty="0"/>
              </a:p>
              <a:p>
                <a:r>
                  <a:rPr lang="en-US" sz="2000" dirty="0" smtClean="0"/>
                  <a:t>In </a:t>
                </a:r>
                <a:r>
                  <a:rPr lang="en-US" sz="2000" dirty="0" err="1" smtClean="0"/>
                  <a:t>dit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geval</a:t>
                </a:r>
                <a:r>
                  <a:rPr lang="en-US" sz="2000" dirty="0" smtClean="0"/>
                  <a:t> is de </a:t>
                </a:r>
                <a:r>
                  <a:rPr lang="en-US" sz="2000" dirty="0" err="1" smtClean="0"/>
                  <a:t>verschilvariabele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2000" dirty="0" smtClean="0"/>
                  <a:t> normaal verdeeld met: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Gemiddelde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=50 −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en-US" sz="200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Standaardafwijking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nl-NL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en-US" sz="2000" dirty="0"/>
                          <m:t> </m:t>
                        </m:r>
                      </m:e>
                    </m:rad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e>
                    </m:rad>
                  </m:oMath>
                </a14:m>
                <a:r>
                  <a:rPr lang="en-US" sz="2000" i="1" dirty="0" smtClean="0">
                    <a:latin typeface="Cambria Math" panose="02040503050406030204" pitchFamily="18" charset="0"/>
                  </a:rPr>
                  <a:t>.</a:t>
                </a:r>
              </a:p>
              <a:p>
                <a:endParaRPr lang="en-US" sz="1000" i="1" dirty="0" smtClean="0">
                  <a:latin typeface="Cambria Math" panose="02040503050406030204" pitchFamily="18" charset="0"/>
                </a:endParaRPr>
              </a:p>
              <a:p>
                <a:r>
                  <a:rPr lang="en-US" sz="2000" dirty="0" smtClean="0"/>
                  <a:t>We </a:t>
                </a:r>
                <a:r>
                  <a:rPr lang="en-US" sz="2000" dirty="0" err="1" smtClean="0"/>
                  <a:t>willen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waarde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voor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bepalen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dusdanig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dat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95</m:t>
                    </m:r>
                  </m:oMath>
                </a14:m>
                <a:r>
                  <a:rPr lang="en-US" sz="2000" dirty="0" smtClean="0"/>
                  <a:t>. </a:t>
                </a:r>
                <a:r>
                  <a:rPr lang="en-US" sz="2000" dirty="0" smtClean="0"/>
                  <a:t>De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000" dirty="0" smtClean="0"/>
                  <a:t>-</a:t>
                </a:r>
                <a:r>
                  <a:rPr lang="en-US" sz="2000" dirty="0" err="1" smtClean="0"/>
                  <a:t>waarde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waarvoor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geldt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dat</a:t>
                </a:r>
                <a14:m>
                  <m:oMath xmlns:m="http://schemas.openxmlformats.org/officeDocument/2006/math">
                    <m:r>
                      <a:rPr lang="nl-NL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95</m:t>
                    </m:r>
                  </m:oMath>
                </a14:m>
                <a:r>
                  <a:rPr lang="en-US" sz="2000" dirty="0" smtClean="0"/>
                  <a:t> is </a:t>
                </a:r>
                <a:r>
                  <a:rPr lang="en-US" sz="2000" dirty="0" err="1" smtClean="0"/>
                  <a:t>gelijk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aan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InvNorm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=0.05,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=0,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≈−1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6449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 smtClean="0"/>
              </a:p>
              <a:p>
                <a:endParaRPr lang="en-US" sz="2000" dirty="0" smtClean="0"/>
              </a:p>
              <a:p>
                <a:r>
                  <a:rPr lang="en-US" sz="2000" dirty="0" err="1" smtClean="0"/>
                  <a:t>Terugrekenen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naar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normale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verdeling</a:t>
                </a:r>
                <a:r>
                  <a:rPr lang="en-US" sz="2000" dirty="0" smtClean="0"/>
                  <a:t> van de </a:t>
                </a:r>
                <a:r>
                  <a:rPr lang="en-US" sz="2000" dirty="0" err="1" smtClean="0"/>
                  <a:t>verschilvariabele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b="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sz="2000" b="0" dirty="0" smtClean="0"/>
                  <a:t>geeft:</a:t>
                </a:r>
                <a:endParaRPr lang="en-US" sz="2000" b="0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→0=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1.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6449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</m:e>
                      </m:ra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≈41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1422</m:t>
                      </m:r>
                    </m:oMath>
                  </m:oMathPara>
                </a14:m>
                <a:endParaRPr lang="en-US" sz="2000" dirty="0" smtClean="0"/>
              </a:p>
              <a:p>
                <a:pPr algn="ctr"/>
                <a:endParaRPr lang="en-US" sz="1000" b="1" dirty="0" smtClean="0"/>
              </a:p>
              <a:p>
                <a:pPr algn="ctr"/>
                <a:r>
                  <a:rPr lang="en-US" sz="2000" b="1" dirty="0" smtClean="0"/>
                  <a:t>De </a:t>
                </a:r>
                <a:r>
                  <a:rPr lang="en-US" sz="2000" b="1" dirty="0" err="1" smtClean="0"/>
                  <a:t>gemiddelde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reactietijd</a:t>
                </a:r>
                <a:r>
                  <a:rPr lang="en-US" sz="2000" b="1" dirty="0" smtClean="0"/>
                  <a:t> van het </a:t>
                </a:r>
                <a:r>
                  <a:rPr lang="en-US" sz="2000" b="1" dirty="0" err="1" smtClean="0"/>
                  <a:t>nieuwe</a:t>
                </a:r>
                <a:r>
                  <a:rPr lang="en-US" sz="2000" b="1" dirty="0" smtClean="0"/>
                  <a:t> protocol mag </a:t>
                </a:r>
                <a:r>
                  <a:rPr lang="en-US" sz="2000" b="1" dirty="0" err="1" smtClean="0"/>
                  <a:t>maximaal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iets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meer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dan</a:t>
                </a:r>
                <a:r>
                  <a:rPr lang="en-US" sz="2000" b="1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1" i="1" smtClean="0">
                        <a:latin typeface="Cambria Math" panose="02040503050406030204" pitchFamily="18" charset="0"/>
                      </a:rPr>
                      <m:t>𝟒𝟏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minuten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zijn</a:t>
                </a:r>
                <a:r>
                  <a:rPr lang="en-US" sz="2000" b="1" dirty="0" smtClean="0"/>
                  <a:t>.</a:t>
                </a:r>
                <a:endParaRPr lang="en-US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  <a:blipFill>
                <a:blip r:embed="rId2"/>
                <a:stretch>
                  <a:fillRect l="-1362" t="-1865" b="-588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25169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Samenvatting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</p:spPr>
            <p:txBody>
              <a:bodyPr/>
              <a:lstStyle/>
              <a:p>
                <a:pPr eaLnBrk="1" hangingPunct="1"/>
                <a:r>
                  <a:rPr lang="en-US" b="1" dirty="0" smtClean="0"/>
                  <a:t>Waarom is de </a:t>
                </a:r>
                <a:r>
                  <a:rPr lang="en-US" b="1" dirty="0" err="1" smtClean="0"/>
                  <a:t>centrale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limietstelling</a:t>
                </a:r>
                <a:r>
                  <a:rPr lang="en-US" b="1" dirty="0" smtClean="0"/>
                  <a:t> (CLS) zo </a:t>
                </a:r>
                <a:r>
                  <a:rPr lang="en-US" b="1" dirty="0" err="1" smtClean="0"/>
                  <a:t>krachtig</a:t>
                </a:r>
                <a:r>
                  <a:rPr lang="en-US" b="1" dirty="0" smtClean="0"/>
                  <a:t>?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Kansverdeling</a:t>
                </a:r>
                <a:r>
                  <a:rPr lang="en-US" sz="2400" dirty="0" smtClean="0"/>
                  <a:t> van </a:t>
                </a:r>
                <a:r>
                  <a:rPr lang="en-US" sz="2400" dirty="0" err="1" smtClean="0"/>
                  <a:t>sommen</a:t>
                </a:r>
                <a:r>
                  <a:rPr lang="en-US" sz="2400" dirty="0" smtClean="0"/>
                  <a:t>/</a:t>
                </a:r>
                <a:r>
                  <a:rPr lang="en-US" sz="2400" dirty="0" err="1" smtClean="0"/>
                  <a:t>gemiddelden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bepalen</a:t>
                </a:r>
                <a:r>
                  <a:rPr lang="en-US" sz="2400" dirty="0" smtClean="0"/>
                  <a:t> is </a:t>
                </a:r>
                <a:r>
                  <a:rPr lang="en-US" sz="2400" dirty="0" err="1" smtClean="0"/>
                  <a:t>zeer</a:t>
                </a:r>
                <a:r>
                  <a:rPr lang="en-US" sz="2400" dirty="0" smtClean="0"/>
                  <a:t> complex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sz="2000" b="0" dirty="0" smtClean="0"/>
                  <a:t>Vereist het </a:t>
                </a:r>
                <a:r>
                  <a:rPr lang="nl-NL" sz="2000" dirty="0"/>
                  <a:t>d</a:t>
                </a:r>
                <a:r>
                  <a:rPr lang="nl-NL" sz="2000" dirty="0" smtClean="0"/>
                  <a:t>oorrekenen van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 smtClean="0"/>
                  <a:t>-</a:t>
                </a:r>
                <a:r>
                  <a:rPr lang="en-US" sz="2000" dirty="0" err="1" smtClean="0"/>
                  <a:t>voudige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integralen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nl-NL" sz="2000" b="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De </a:t>
                </a:r>
                <a:r>
                  <a:rPr lang="en-US" sz="2000" dirty="0" err="1" smtClean="0"/>
                  <a:t>centrale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limietstelling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biedt</a:t>
                </a:r>
                <a:r>
                  <a:rPr lang="en-US" sz="2000" dirty="0" smtClean="0"/>
                  <a:t> in </a:t>
                </a:r>
                <a:r>
                  <a:rPr lang="en-US" sz="2000" dirty="0" err="1" smtClean="0"/>
                  <a:t>veel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gevallen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een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goede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benadering</a:t>
                </a:r>
                <a:endParaRPr lang="en-US" sz="20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/>
                  <a:t>De </a:t>
                </a:r>
                <a:r>
                  <a:rPr lang="en-US" sz="2400" dirty="0" err="1" smtClean="0"/>
                  <a:t>centrale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limietstelling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brengt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orde</a:t>
                </a:r>
                <a:r>
                  <a:rPr lang="en-US" sz="2400" i="1" dirty="0" smtClean="0"/>
                  <a:t> </a:t>
                </a:r>
                <a:r>
                  <a:rPr lang="en-US" sz="2400" dirty="0" smtClean="0"/>
                  <a:t>in de chaos</a:t>
                </a:r>
                <a:endParaRPr lang="en-US" sz="2400" i="1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Chaos: </a:t>
                </a:r>
                <a:r>
                  <a:rPr lang="en-US" sz="2000" dirty="0" err="1" smtClean="0"/>
                  <a:t>verschillende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kansvariabelen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volgen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allerlei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verschillende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kansverdelingen</a:t>
                </a:r>
                <a:endParaRPr lang="en-US" sz="20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Orde</a:t>
                </a:r>
                <a:r>
                  <a:rPr lang="en-US" sz="2000" dirty="0" smtClean="0"/>
                  <a:t>: </a:t>
                </a:r>
                <a:r>
                  <a:rPr lang="en-US" sz="2000" b="1" dirty="0" err="1" smtClean="0"/>
                  <a:t>gemiddeld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volgen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alle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kansvariabelen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hetzelfde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voorspelbare</a:t>
                </a:r>
                <a:r>
                  <a:rPr lang="en-US" sz="2000" dirty="0" smtClean="0"/>
                  <a:t> patroon (</a:t>
                </a:r>
                <a:r>
                  <a:rPr lang="en-US" sz="2000" dirty="0" err="1" smtClean="0"/>
                  <a:t>normale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verdeling</a:t>
                </a:r>
                <a:r>
                  <a:rPr lang="en-US" sz="2000" dirty="0" smtClean="0"/>
                  <a:t>)</a:t>
                </a:r>
                <a:endParaRPr lang="en-US" dirty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en-US" sz="200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/>
                  <a:t>De </a:t>
                </a:r>
                <a:r>
                  <a:rPr lang="en-US" sz="2400" dirty="0" err="1" smtClean="0"/>
                  <a:t>meeste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statistische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methoden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leunen</a:t>
                </a:r>
                <a:r>
                  <a:rPr lang="en-US" sz="2400" dirty="0" smtClean="0"/>
                  <a:t> op de </a:t>
                </a:r>
                <a:r>
                  <a:rPr lang="en-US" sz="2400" dirty="0" err="1" smtClean="0"/>
                  <a:t>schouders</a:t>
                </a:r>
                <a:r>
                  <a:rPr lang="en-US" sz="2400" dirty="0" smtClean="0"/>
                  <a:t> van de CLS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Betrouwbaarheidsintervallen</a:t>
                </a:r>
                <a:r>
                  <a:rPr lang="en-US" sz="2000" dirty="0" smtClean="0"/>
                  <a:t>, </a:t>
                </a:r>
                <a:r>
                  <a:rPr lang="en-US" sz="2000" dirty="0" err="1" smtClean="0"/>
                  <a:t>hypothesetoetsen</a:t>
                </a:r>
                <a:r>
                  <a:rPr lang="en-US" sz="2000" dirty="0" smtClean="0"/>
                  <a:t>, </a:t>
                </a:r>
                <a:r>
                  <a:rPr lang="en-US" sz="2000" dirty="0" err="1" smtClean="0"/>
                  <a:t>voorspellingen</a:t>
                </a:r>
                <a:r>
                  <a:rPr lang="en-US" sz="2000" dirty="0" smtClean="0"/>
                  <a:t> op basis van data (</a:t>
                </a:r>
                <a:r>
                  <a:rPr lang="en-US" sz="2000" dirty="0" err="1" smtClean="0"/>
                  <a:t>Statistiek</a:t>
                </a:r>
                <a:r>
                  <a:rPr lang="en-US" sz="2000" dirty="0" smtClean="0"/>
                  <a:t> 2)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  <a:blipFill>
                <a:blip r:embed="rId2"/>
                <a:stretch>
                  <a:fillRect l="-1576" t="-2009" r="-338" b="-1148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298405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Volgende</a:t>
            </a:r>
            <a:r>
              <a:rPr lang="en-US" dirty="0" smtClean="0"/>
              <a:t> week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755808" cy="4246562"/>
          </a:xfrm>
        </p:spPr>
        <p:txBody>
          <a:bodyPr/>
          <a:lstStyle/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smtClean="0"/>
              <a:t>De </a:t>
            </a:r>
            <a:r>
              <a:rPr lang="en-US" sz="2400" dirty="0" err="1"/>
              <a:t>Poissonverdeling</a:t>
            </a:r>
            <a:endParaRPr lang="en-US" sz="2400" b="1" dirty="0"/>
          </a:p>
          <a:p>
            <a:pPr eaLnBrk="1" hangingPunct="1"/>
            <a:endParaRPr lang="en-US" sz="2400" dirty="0" smtClean="0"/>
          </a:p>
          <a:p>
            <a:pPr eaLnBrk="1" hangingPunct="1"/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b="1" dirty="0" err="1" smtClean="0">
                <a:latin typeface="RijksoverheidSansText" panose="020B0503040202060203" pitchFamily="34" charset="0"/>
              </a:rPr>
              <a:t>Huiswerk</a:t>
            </a:r>
            <a:r>
              <a:rPr lang="en-US" sz="2400" b="1" dirty="0">
                <a:latin typeface="RijksoverheidSansText" panose="020B0503040202060203" pitchFamily="34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RijksoverheidSansText" panose="020B0503040202060203" pitchFamily="34" charset="0"/>
              </a:rPr>
              <a:t>Lezen</a:t>
            </a:r>
            <a:r>
              <a:rPr lang="en-US" sz="2400" dirty="0">
                <a:latin typeface="RijksoverheidSansText" panose="020B0503040202060203" pitchFamily="34" charset="0"/>
              </a:rPr>
              <a:t> van A. Buijs: </a:t>
            </a:r>
            <a:r>
              <a:rPr lang="en-US" sz="2400" dirty="0" err="1">
                <a:latin typeface="RijksoverheidSansText" panose="020B0503040202060203" pitchFamily="34" charset="0"/>
              </a:rPr>
              <a:t>hoofdstuk</a:t>
            </a:r>
            <a:r>
              <a:rPr lang="en-US" sz="2400" dirty="0">
                <a:latin typeface="RijksoverheidSansText" panose="020B0503040202060203" pitchFamily="34" charset="0"/>
              </a:rPr>
              <a:t> </a:t>
            </a:r>
            <a:r>
              <a:rPr lang="en-US" sz="2400" dirty="0" smtClean="0">
                <a:latin typeface="RijksoverheidSansText" panose="020B0503040202060203" pitchFamily="34" charset="0"/>
              </a:rPr>
              <a:t>5.3 </a:t>
            </a:r>
            <a:r>
              <a:rPr lang="en-US" sz="2400" dirty="0">
                <a:latin typeface="RijksoverheidSansText" panose="020B0503040202060203" pitchFamily="34" charset="0"/>
              </a:rPr>
              <a:t>(</a:t>
            </a:r>
            <a:r>
              <a:rPr lang="en-US" sz="2400" dirty="0" err="1">
                <a:latin typeface="RijksoverheidSansText" panose="020B0503040202060203" pitchFamily="34" charset="0"/>
              </a:rPr>
              <a:t>blz</a:t>
            </a:r>
            <a:r>
              <a:rPr lang="en-US" sz="2400" dirty="0">
                <a:latin typeface="RijksoverheidSansText" panose="020B0503040202060203" pitchFamily="34" charset="0"/>
              </a:rPr>
              <a:t>. </a:t>
            </a:r>
            <a:r>
              <a:rPr lang="en-US" sz="2400" dirty="0" smtClean="0">
                <a:latin typeface="RijksoverheidSansText" panose="020B0503040202060203" pitchFamily="34" charset="0"/>
              </a:rPr>
              <a:t>180-183), 5.4.3 (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blz</a:t>
            </a:r>
            <a:r>
              <a:rPr lang="en-US" sz="2400" dirty="0" smtClean="0">
                <a:latin typeface="RijksoverheidSansText" panose="020B0503040202060203" pitchFamily="34" charset="0"/>
              </a:rPr>
              <a:t>. 188-189), 5.5 (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blz</a:t>
            </a:r>
            <a:r>
              <a:rPr lang="en-US" sz="2400" dirty="0" smtClean="0">
                <a:latin typeface="RijksoverheidSansText" panose="020B0503040202060203" pitchFamily="34" charset="0"/>
              </a:rPr>
              <a:t>. 190-193)</a:t>
            </a:r>
            <a:endParaRPr lang="en-US" sz="2400" dirty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RijksoverheidSansText" panose="020B0503040202060203" pitchFamily="34" charset="0"/>
              </a:rPr>
              <a:t>Opdrachten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uit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smtClean="0">
                <a:latin typeface="RijksoverheidSansText" panose="020B0503040202060203" pitchFamily="34" charset="0"/>
              </a:rPr>
              <a:t>“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Statistiek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om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mee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te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werken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: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opgaven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uitwerkingen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”</a:t>
            </a:r>
            <a:r>
              <a:rPr lang="en-US" sz="2400" dirty="0" smtClean="0">
                <a:latin typeface="RijksoverheidSansText" panose="020B0503040202060203" pitchFamily="34" charset="0"/>
              </a:rPr>
              <a:t>: </a:t>
            </a:r>
            <a:endParaRPr lang="en-US" sz="2400" dirty="0">
              <a:latin typeface="RijksoverheidSansText" panose="020B0503040202060203" pitchFamily="34" charset="0"/>
            </a:endParaRP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RijksoverheidSansText" panose="020B0503040202060203" pitchFamily="34" charset="0"/>
              </a:rPr>
              <a:t>H5</a:t>
            </a:r>
            <a:r>
              <a:rPr lang="en-US" sz="2000" dirty="0" smtClean="0">
                <a:latin typeface="RijksoverheidSansText" panose="020B0503040202060203" pitchFamily="34" charset="0"/>
              </a:rPr>
              <a:t>: 5.10, 5.12</a:t>
            </a:r>
            <a:endParaRPr lang="en-US" sz="2000" dirty="0">
              <a:latin typeface="RijksoverheidSansText" panose="020B0503040202060203" pitchFamily="34" charset="0"/>
            </a:endParaRPr>
          </a:p>
          <a:p>
            <a:pPr eaLnBrk="1" hangingPunct="1"/>
            <a:endParaRPr lang="en-US" sz="2400" dirty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5b: de centrale limietstelling</a:t>
            </a:r>
            <a:endParaRPr kumimoji="0" lang="nl-NL" sz="1100" b="0" i="0" u="none" strike="noStrike" kern="1200" cap="none" spc="0" normalizeH="0" baseline="0" noProof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6105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Custom 1">
      <a:majorFont>
        <a:latin typeface="RijksoverheidSansWebText Bold"/>
        <a:ea typeface=""/>
        <a:cs typeface=""/>
      </a:majorFont>
      <a:minorFont>
        <a:latin typeface="RijksoverheidSans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2.xml><?xml version="1.0" encoding="utf-8"?>
<a:theme xmlns:a="http://schemas.openxmlformats.org/drawingml/2006/main" name="2_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Aangepast 1">
      <a:majorFont>
        <a:latin typeface="RijksoverheidSansWebText Bold"/>
        <a:ea typeface=""/>
        <a:cs typeface=""/>
      </a:majorFont>
      <a:minorFont>
        <a:latin typeface="RijksoverheidSansWebText Regul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Tijdelijk_bestand_Presentatie_DOSCO_16-9</Template>
  <TotalTime>0</TotalTime>
  <Words>3436</Words>
  <Application>Microsoft Office PowerPoint</Application>
  <PresentationFormat>Breedbeeld</PresentationFormat>
  <Paragraphs>298</Paragraphs>
  <Slides>24</Slides>
  <Notes>4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7</vt:i4>
      </vt:variant>
      <vt:variant>
        <vt:lpstr>Thema</vt:lpstr>
      </vt:variant>
      <vt:variant>
        <vt:i4>2</vt:i4>
      </vt:variant>
      <vt:variant>
        <vt:lpstr>Diatitels</vt:lpstr>
      </vt:variant>
      <vt:variant>
        <vt:i4>24</vt:i4>
      </vt:variant>
    </vt:vector>
  </HeadingPairs>
  <TitlesOfParts>
    <vt:vector size="33" baseType="lpstr">
      <vt:lpstr>Arial</vt:lpstr>
      <vt:lpstr>Cambria Math</vt:lpstr>
      <vt:lpstr>RijksoverheidSansHeadingTT</vt:lpstr>
      <vt:lpstr>RijksoverheidSansText</vt:lpstr>
      <vt:lpstr>RijksoverheidSansWebText Bold</vt:lpstr>
      <vt:lpstr>RijksoverheidSansWebText Regula</vt:lpstr>
      <vt:lpstr>Verdana</vt:lpstr>
      <vt:lpstr>Presentatie</vt:lpstr>
      <vt:lpstr>2_Presentatie</vt:lpstr>
      <vt:lpstr>Statistiek: college 5b</vt:lpstr>
      <vt:lpstr>Recap</vt:lpstr>
      <vt:lpstr>Leerdoelen</vt:lpstr>
      <vt:lpstr>Voorbeeld</vt:lpstr>
      <vt:lpstr>Voorbeeld</vt:lpstr>
      <vt:lpstr>Voorbeeld</vt:lpstr>
      <vt:lpstr>De centrale limietstelling</vt:lpstr>
      <vt:lpstr>Voorbeeld</vt:lpstr>
      <vt:lpstr>Centrale limietstelling</vt:lpstr>
      <vt:lpstr>Voorbeeld</vt:lpstr>
      <vt:lpstr>Interactieve simulatie van de centrale limietstelling</vt:lpstr>
      <vt:lpstr>Consequenties</vt:lpstr>
      <vt:lpstr>Buijs: opgave 5.12</vt:lpstr>
      <vt:lpstr>Buijs: opgave 5.12</vt:lpstr>
      <vt:lpstr>Buijs: opgave 5.12</vt:lpstr>
      <vt:lpstr>Hoe groot is de kans dat acht bezoeken meer dan 6 1/2 uur vergen? </vt:lpstr>
      <vt:lpstr>Buijs: opgave 5.12</vt:lpstr>
      <vt:lpstr>Binnen hoeveel tijd T zijn met 95% kans de tien bezoeken afgehandeld?</vt:lpstr>
      <vt:lpstr>Verschil tussen twee kansvariabelen</vt:lpstr>
      <vt:lpstr>Verschil tussen twee kansvariabelen</vt:lpstr>
      <vt:lpstr>Verschil tussen twee kansvariabelen</vt:lpstr>
      <vt:lpstr>Verschil tussen twee kansvariabelen</vt:lpstr>
      <vt:lpstr>Samenvatting</vt:lpstr>
      <vt:lpstr>Volgende week</vt:lpstr>
    </vt:vector>
  </TitlesOfParts>
  <Company>Ministerie van Defensie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Blom, DAMP, Dr. ir., DOSCO/NLDA/FMW/CG MTW</dc:creator>
  <cp:lastModifiedBy>Gebruiker</cp:lastModifiedBy>
  <cp:revision>87</cp:revision>
  <cp:lastPrinted>2011-09-21T07:52:24Z</cp:lastPrinted>
  <dcterms:created xsi:type="dcterms:W3CDTF">2025-01-22T12:46:18Z</dcterms:created>
  <dcterms:modified xsi:type="dcterms:W3CDTF">2026-04-08T11:23:57Z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eur">
    <vt:lpwstr>Auteur</vt:lpwstr>
  </property>
  <property fmtid="{D5CDD505-2E9C-101B-9397-08002B2CF9AE}" pid="3" name="Functie">
    <vt:lpwstr>Functie</vt:lpwstr>
  </property>
  <property fmtid="{D5CDD505-2E9C-101B-9397-08002B2CF9AE}" pid="4" name="Titel">
    <vt:lpwstr>Titel</vt:lpwstr>
  </property>
  <property fmtid="{D5CDD505-2E9C-101B-9397-08002B2CF9AE}" pid="5" name="Subtitel">
    <vt:lpwstr>Subtitel</vt:lpwstr>
  </property>
  <property fmtid="{D5CDD505-2E9C-101B-9397-08002B2CF9AE}" pid="6" name="Afdeling">
    <vt:lpwstr>Afdeling</vt:lpwstr>
  </property>
  <property fmtid="{D5CDD505-2E9C-101B-9397-08002B2CF9AE}" pid="7" name="Merking">
    <vt:lpwstr>Merking</vt:lpwstr>
  </property>
  <property fmtid="{D5CDD505-2E9C-101B-9397-08002B2CF9AE}" pid="8" name="Rubricering">
    <vt:lpwstr>Rubricering</vt:lpwstr>
  </property>
  <property fmtid="{D5CDD505-2E9C-101B-9397-08002B2CF9AE}" pid="9" name="Datum">
    <vt:filetime>1999-12-31T22:00:00Z</vt:filetime>
  </property>
</Properties>
</file>