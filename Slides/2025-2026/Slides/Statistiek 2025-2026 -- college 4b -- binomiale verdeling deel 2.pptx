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86" r:id="rId2"/>
    <p:sldMasterId id="2147483698" r:id="rId3"/>
    <p:sldMasterId id="2147483710" r:id="rId4"/>
  </p:sldMasterIdLst>
  <p:notesMasterIdLst>
    <p:notesMasterId r:id="rId27"/>
  </p:notesMasterIdLst>
  <p:handoutMasterIdLst>
    <p:handoutMasterId r:id="rId28"/>
  </p:handoutMasterIdLst>
  <p:sldIdLst>
    <p:sldId id="288" r:id="rId5"/>
    <p:sldId id="257" r:id="rId6"/>
    <p:sldId id="260" r:id="rId7"/>
    <p:sldId id="262" r:id="rId8"/>
    <p:sldId id="264" r:id="rId9"/>
    <p:sldId id="263" r:id="rId10"/>
    <p:sldId id="261" r:id="rId11"/>
    <p:sldId id="265" r:id="rId12"/>
    <p:sldId id="289" r:id="rId13"/>
    <p:sldId id="267" r:id="rId14"/>
    <p:sldId id="286" r:id="rId15"/>
    <p:sldId id="271" r:id="rId16"/>
    <p:sldId id="272" r:id="rId17"/>
    <p:sldId id="275" r:id="rId18"/>
    <p:sldId id="276" r:id="rId19"/>
    <p:sldId id="285" r:id="rId20"/>
    <p:sldId id="287" r:id="rId21"/>
    <p:sldId id="279" r:id="rId22"/>
    <p:sldId id="280" r:id="rId23"/>
    <p:sldId id="290" r:id="rId24"/>
    <p:sldId id="283" r:id="rId25"/>
    <p:sldId id="284" r:id="rId26"/>
  </p:sldIdLst>
  <p:sldSz cx="12192000" cy="6858000"/>
  <p:notesSz cx="6921500" cy="9423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68">
          <p15:clr>
            <a:srgbClr val="A4A3A4"/>
          </p15:clr>
        </p15:guide>
        <p15:guide id="2" pos="21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0047"/>
    <a:srgbClr val="000000"/>
    <a:srgbClr val="55286E"/>
    <a:srgbClr val="FFFFFF"/>
    <a:srgbClr val="0E3B6E"/>
    <a:srgbClr val="005187"/>
    <a:srgbClr val="00423C"/>
    <a:srgbClr val="0E61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00"/>
  </p:normalViewPr>
  <p:slideViewPr>
    <p:cSldViewPr>
      <p:cViewPr varScale="1">
        <p:scale>
          <a:sx n="115" d="100"/>
          <a:sy n="115" d="100"/>
        </p:scale>
        <p:origin x="372" y="10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5" d="100"/>
          <a:sy n="75" d="100"/>
        </p:scale>
        <p:origin x="-2118" y="-90"/>
      </p:cViewPr>
      <p:guideLst>
        <p:guide orient="horz" pos="2968"/>
        <p:guide pos="21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6088"/>
            <a:ext cx="5867400" cy="4143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14300"/>
            <a:ext cx="2998788" cy="1460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Arial" charset="0"/>
              </a:defRPr>
            </a:lvl1pPr>
          </a:lstStyle>
          <a:p>
            <a:pPr>
              <a:defRPr/>
            </a:pPr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533400" y="8951913"/>
            <a:ext cx="601980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r>
              <a:rPr lang="nl-NL" dirty="0">
                <a:latin typeface="RijksoverheidSansText" panose="020B0503040202060203" pitchFamily="34" charset="0"/>
              </a:rPr>
              <a:t>Eventuele voettekst</a:t>
            </a:r>
          </a:p>
        </p:txBody>
      </p:sp>
      <p:sp>
        <p:nvSpPr>
          <p:cNvPr id="32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6613525" y="8951913"/>
            <a:ext cx="22860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Arial" charset="0"/>
              </a:defRPr>
            </a:lvl1pPr>
          </a:lstStyle>
          <a:p>
            <a:pPr>
              <a:defRPr/>
            </a:pPr>
            <a:fld id="{E1460D1F-5074-4EB0-BB4F-B8A7850CD942}" type="slidenum">
              <a:rPr lang="nl-NL">
                <a:latin typeface="RijksoverheidSansText" panose="020B0503040202060203" pitchFamily="34" charset="0"/>
              </a:rPr>
              <a:pPr>
                <a:defRPr/>
              </a:pPr>
              <a:t>‹nr.›</a:t>
            </a:fld>
            <a:endParaRPr lang="nl-NL" dirty="0">
              <a:latin typeface="RijksoverheidSansText" panose="020B0503040202060203" pitchFamily="34" charset="0"/>
            </a:endParaRPr>
          </a:p>
        </p:txBody>
      </p:sp>
      <p:sp>
        <p:nvSpPr>
          <p:cNvPr id="32788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  <p:sp>
        <p:nvSpPr>
          <p:cNvPr id="32789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4733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533400" y="447675"/>
            <a:ext cx="5867400" cy="4127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31813" y="114300"/>
            <a:ext cx="2998787" cy="1476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8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-250825" y="933450"/>
            <a:ext cx="6280150" cy="35337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33400" y="4648200"/>
            <a:ext cx="4724400" cy="38449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 err="1"/>
              <a:t>Klik</a:t>
            </a:r>
            <a:r>
              <a:rPr lang="en-US" noProof="0" dirty="0"/>
              <a:t> om het </a:t>
            </a:r>
            <a:r>
              <a:rPr lang="en-US" noProof="0" dirty="0" err="1"/>
              <a:t>opmaakprofiel</a:t>
            </a:r>
            <a:r>
              <a:rPr lang="en-US" noProof="0" dirty="0"/>
              <a:t> van de </a:t>
            </a:r>
            <a:r>
              <a:rPr lang="en-US" noProof="0" dirty="0" err="1"/>
              <a:t>modeltekst</a:t>
            </a:r>
            <a:r>
              <a:rPr lang="en-US" noProof="0" dirty="0"/>
              <a:t> </a:t>
            </a:r>
            <a:r>
              <a:rPr lang="en-US" noProof="0" dirty="0" err="1"/>
              <a:t>te</a:t>
            </a:r>
            <a:r>
              <a:rPr lang="en-US" noProof="0" dirty="0"/>
              <a:t> </a:t>
            </a:r>
            <a:r>
              <a:rPr lang="en-US" noProof="0" dirty="0" err="1"/>
              <a:t>bewerken</a:t>
            </a:r>
            <a:endParaRPr lang="en-US" noProof="0" dirty="0"/>
          </a:p>
          <a:p>
            <a:pPr lvl="1"/>
            <a:r>
              <a:rPr lang="en-US" noProof="0" dirty="0" err="1"/>
              <a:t>Tweede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2"/>
            <a:r>
              <a:rPr lang="en-US" noProof="0" dirty="0" err="1"/>
              <a:t>Derde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3"/>
            <a:r>
              <a:rPr lang="en-US" noProof="0" dirty="0" err="1"/>
              <a:t>Vierde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  <a:p>
            <a:pPr lvl="4"/>
            <a:r>
              <a:rPr lang="en-US" noProof="0" dirty="0" err="1"/>
              <a:t>Vijfde</a:t>
            </a:r>
            <a:r>
              <a:rPr lang="en-US" noProof="0" dirty="0"/>
              <a:t> </a:t>
            </a:r>
            <a:r>
              <a:rPr lang="en-US" noProof="0" dirty="0" err="1"/>
              <a:t>niveau</a:t>
            </a:r>
            <a:endParaRPr lang="en-US" noProof="0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31813" y="8951913"/>
            <a:ext cx="6097587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r>
              <a:rPr lang="en-US" dirty="0" err="1"/>
              <a:t>Eventuele</a:t>
            </a:r>
            <a:r>
              <a:rPr lang="en-US" dirty="0"/>
              <a:t> </a:t>
            </a:r>
            <a:r>
              <a:rPr lang="en-US" dirty="0" err="1"/>
              <a:t>voettekst</a:t>
            </a:r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615113" y="8951913"/>
            <a:ext cx="230187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ctr" defTabSz="933450" eaLnBrk="0" hangingPunct="0">
              <a:spcBef>
                <a:spcPct val="0"/>
              </a:spcBef>
              <a:defRPr sz="1000">
                <a:latin typeface="RijksoverheidSansText" panose="020B0503040202060203" pitchFamily="34" charset="0"/>
              </a:defRPr>
            </a:lvl1pPr>
          </a:lstStyle>
          <a:p>
            <a:pPr>
              <a:defRPr/>
            </a:pPr>
            <a:fld id="{9FC98DC9-4F28-4B39-8B6E-408133FC7853}" type="slidenum">
              <a:rPr lang="en-US" smtClean="0"/>
              <a:pPr>
                <a:defRPr/>
              </a:pPr>
              <a:t>‹nr.›</a:t>
            </a:fld>
            <a:endParaRPr lang="en-US" dirty="0"/>
          </a:p>
        </p:txBody>
      </p:sp>
      <p:sp>
        <p:nvSpPr>
          <p:cNvPr id="5139" name="RubriceringEnMerking2"/>
          <p:cNvSpPr txBox="1">
            <a:spLocks noChangeArrowheads="1"/>
          </p:cNvSpPr>
          <p:nvPr/>
        </p:nvSpPr>
        <p:spPr bwMode="auto">
          <a:xfrm rot="-5400000">
            <a:off x="4827587" y="2786063"/>
            <a:ext cx="3808413" cy="12223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algn="r"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  <p:sp>
        <p:nvSpPr>
          <p:cNvPr id="5140" name="RubriceringEnMerking"/>
          <p:cNvSpPr txBox="1">
            <a:spLocks noChangeArrowheads="1"/>
          </p:cNvSpPr>
          <p:nvPr/>
        </p:nvSpPr>
        <p:spPr bwMode="auto">
          <a:xfrm rot="-5400000">
            <a:off x="4826001" y="6527800"/>
            <a:ext cx="3808412" cy="122237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>
            <a:spAutoFit/>
          </a:bodyPr>
          <a:lstStyle/>
          <a:p>
            <a:pPr eaLnBrk="0" hangingPunct="0">
              <a:defRPr/>
            </a:pPr>
            <a:endParaRPr lang="nl-NL" sz="800" dirty="0">
              <a:latin typeface="RijksoverheidSansText" panose="020B050304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25627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1pPr>
    <a:lvl2pPr marL="190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2pPr>
    <a:lvl3pPr marL="381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3pPr>
    <a:lvl4pPr marL="5715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4pPr>
    <a:lvl5pPr marL="762000" algn="l" rtl="0" eaLnBrk="0" fontAlgn="base" hangingPunct="0">
      <a:lnSpc>
        <a:spcPct val="110000"/>
      </a:lnSpc>
      <a:spcBef>
        <a:spcPct val="0"/>
      </a:spcBef>
      <a:spcAft>
        <a:spcPct val="0"/>
      </a:spcAft>
      <a:defRPr sz="1000" kern="1200">
        <a:solidFill>
          <a:schemeClr val="tx1"/>
        </a:solidFill>
        <a:latin typeface="RijksoverheidSansText" panose="020B050304020206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latin typeface="RijksoverheidSansText" panose="020B0503040202060203" pitchFamily="34" charset="0"/>
              </a:rPr>
              <a:t>Tien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van Mountain Leaders,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vanuit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verschillende</a:t>
            </a:r>
            <a:r>
              <a:rPr lang="en-US" sz="1000" dirty="0" smtClean="0">
                <a:latin typeface="RijksoverheidSansText" panose="020B0503040202060203" pitchFamily="34" charset="0"/>
              </a:rPr>
              <a:t> NAVO-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landen</a:t>
            </a:r>
            <a:r>
              <a:rPr lang="en-US" sz="1000" dirty="0" smtClean="0">
                <a:latin typeface="RijksoverheidSansText" panose="020B0503040202060203" pitchFamily="34" charset="0"/>
              </a:rPr>
              <a:t>,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voeren</a:t>
            </a:r>
            <a:r>
              <a:rPr lang="en-US" sz="1000" dirty="0" smtClean="0">
                <a:latin typeface="RijksoverheidSansText" panose="020B0503040202060203" pitchFamily="34" charset="0"/>
              </a:rPr>
              <a:t> in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kader</a:t>
            </a:r>
            <a:r>
              <a:rPr lang="en-US" sz="1000" dirty="0" smtClean="0">
                <a:latin typeface="RijksoverheidSansText" panose="020B0503040202060203" pitchFamily="34" charset="0"/>
              </a:rPr>
              <a:t>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, ‘s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nachts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extreem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bergachtig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terrein</a:t>
            </a:r>
            <a:r>
              <a:rPr lang="en-US" sz="1000" dirty="0" smtClean="0">
                <a:latin typeface="RijksoverheidSansText" panose="020B0503040202060203" pitchFamily="34" charset="0"/>
              </a:rPr>
              <a:t>.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hierbij</a:t>
            </a:r>
            <a:r>
              <a:rPr lang="en-US" sz="1000" dirty="0" smtClean="0">
                <a:latin typeface="RijksoverheidSansText" panose="020B0503040202060203" pitchFamily="34" charset="0"/>
              </a:rPr>
              <a:t> is om in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uur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1000" dirty="0" smtClean="0">
                <a:latin typeface="RijksoverheidSansText" panose="020B0503040202060203" pitchFamily="34" charset="0"/>
              </a:rPr>
              <a:t> over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steken</a:t>
            </a:r>
            <a:r>
              <a:rPr lang="en-US" sz="1000" dirty="0" smtClean="0">
                <a:latin typeface="RijksoverheidSansText" panose="020B0503040202060203" pitchFamily="34" charset="0"/>
              </a:rPr>
              <a:t>.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1000" dirty="0" smtClean="0">
                <a:latin typeface="RijksoverheidSansText" panose="020B0503040202060203" pitchFamily="34" charset="0"/>
              </a:rPr>
              <a:t> data van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blijkt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met 75%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wordt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uitgevoerd</a:t>
            </a:r>
            <a:r>
              <a:rPr lang="en-US" sz="1000" dirty="0" smtClean="0">
                <a:latin typeface="RijksoverheidSansText" panose="020B0503040202060203" pitchFamily="34" charset="0"/>
              </a:rPr>
              <a:t>. De commandant van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wil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informatie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vergaren</a:t>
            </a:r>
            <a:r>
              <a:rPr lang="en-US" sz="1000" dirty="0" smtClean="0">
                <a:latin typeface="RijksoverheidSansText" panose="020B0503040202060203" pitchFamily="34" charset="0"/>
              </a:rPr>
              <a:t> over het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aantal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dat</a:t>
            </a:r>
            <a:r>
              <a:rPr lang="en-US" sz="1000" dirty="0" smtClean="0">
                <a:latin typeface="RijksoverheidSansText" panose="020B0503040202060203" pitchFamily="34" charset="0"/>
              </a:rPr>
              <a:t> de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succesvol</a:t>
            </a:r>
            <a:r>
              <a:rPr lang="en-US" sz="1000" dirty="0" smtClean="0">
                <a:latin typeface="RijksoverheidSansText" panose="020B0503040202060203" pitchFamily="34" charset="0"/>
              </a:rPr>
              <a:t> </a:t>
            </a:r>
            <a:r>
              <a:rPr lang="en-US" sz="1000" dirty="0" err="1" smtClean="0">
                <a:latin typeface="RijksoverheidSansText" panose="020B0503040202060203" pitchFamily="34" charset="0"/>
              </a:rPr>
              <a:t>uitvoert</a:t>
            </a:r>
            <a:r>
              <a:rPr lang="en-US" sz="1000" dirty="0" smtClean="0">
                <a:latin typeface="RijksoverheidSansText" panose="020B0503040202060203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Eventuele voettekst</a:t>
            </a: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ctr" defTabSz="9334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FC98DC9-4F28-4B39-8B6E-408133FC7853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ctr" defTabSz="93345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20918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2" y="2474916"/>
            <a:ext cx="4798484" cy="9429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2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6" y="5386391"/>
            <a:ext cx="5183716" cy="287337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3"/>
            <a:ext cx="5181600" cy="2016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+mn-lt"/>
              </a:rPr>
              <a:t>Dr. ir. Danny Blom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3"/>
            <a:ext cx="5181600" cy="2016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+mn-lt"/>
              </a:rPr>
              <a:t>Nederlandse</a:t>
            </a:r>
            <a:r>
              <a:rPr lang="nl-NL" sz="1200" baseline="0" dirty="0">
                <a:solidFill>
                  <a:schemeClr val="bg1"/>
                </a:solidFill>
                <a:latin typeface="+mn-lt"/>
              </a:rPr>
              <a:t> Defensie Academie</a:t>
            </a:r>
            <a:endParaRPr lang="nl-NL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6"/>
            <a:ext cx="5181600" cy="14287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b="0" dirty="0" err="1">
                <a:solidFill>
                  <a:schemeClr val="bg1"/>
                </a:solidFill>
                <a:latin typeface="+mn-lt"/>
              </a:rPr>
              <a:t>Faculteit</a:t>
            </a:r>
            <a:r>
              <a:rPr lang="en-US" sz="12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>
                <a:solidFill>
                  <a:schemeClr val="bg1"/>
                </a:solidFill>
                <a:latin typeface="+mn-lt"/>
              </a:rPr>
              <a:t>Militaire</a:t>
            </a:r>
            <a:r>
              <a:rPr lang="en-US" sz="1200" b="0" dirty="0">
                <a:solidFill>
                  <a:schemeClr val="bg1"/>
                </a:solidFill>
                <a:latin typeface="+mn-lt"/>
              </a:rPr>
              <a:t> </a:t>
            </a:r>
            <a:r>
              <a:rPr lang="en-US" sz="1200" b="0" dirty="0" err="1">
                <a:solidFill>
                  <a:schemeClr val="bg1"/>
                </a:solidFill>
                <a:latin typeface="+mn-lt"/>
              </a:rPr>
              <a:t>Wetenschappen</a:t>
            </a:r>
            <a:endParaRPr sz="12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2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nl-NL" noProof="0" dirty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2" y="2781303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nl-NL" noProof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6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8688288" y="6520261"/>
            <a:ext cx="3169281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1127324"/>
            <a:ext cx="4011084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7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3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6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dirty="0" err="1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</a:t>
            </a:r>
            <a:r>
              <a:rPr lang="en-US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ijksoverheidSansHeadingTT" panose="020B0503040202060203" pitchFamily="34" charset="0"/>
              </a:rPr>
              <a:t>Militaire</a:t>
            </a:r>
            <a:r>
              <a:rPr lang="en-US" sz="12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latin typeface="RijksoverheidSansHeadingTT" panose="020B0503040202060203" pitchFamily="34" charset="0"/>
              </a:rPr>
              <a:t>Wetenschappen</a:t>
            </a:r>
            <a:endParaRPr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  <a:endParaRPr lang="nl-NL" noProof="0" dirty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/>
              <a:t>Click to edit Master subtitle style</a:t>
            </a:r>
            <a:endParaRPr lang="nl-NL" noProof="0" dirty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1326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ijksoverheidSansHeadingTT" panose="020B0503040202060203" pitchFamily="34" charset="0"/>
              </a:defRPr>
            </a:lvl1pPr>
            <a:lvl2pPr>
              <a:defRPr>
                <a:latin typeface="RijksoverheidSansHeadingTT" panose="020B0503040202060203" pitchFamily="34" charset="0"/>
              </a:defRPr>
            </a:lvl2pPr>
            <a:lvl3pPr>
              <a:defRPr>
                <a:latin typeface="RijksoverheidSansHeadingTT" panose="020B0503040202060203" pitchFamily="34" charset="0"/>
              </a:defRPr>
            </a:lvl3pPr>
            <a:lvl4pPr>
              <a:defRPr>
                <a:latin typeface="RijksoverheidSansHeadingTT" panose="020B0503040202060203" pitchFamily="34" charset="0"/>
              </a:defRPr>
            </a:lvl4pPr>
            <a:lvl5pPr>
              <a:defRPr>
                <a:latin typeface="RijksoverheidSansHeadingTT" panose="020B050304020206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8688289" y="6520259"/>
            <a:ext cx="316928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College 4b: de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r>
              <a:rPr lang="en-US" dirty="0" smtClean="0"/>
              <a:t>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46712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016181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59923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7510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897573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4019369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136628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279230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301376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80942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Nederlandse Defensie Academie</a:t>
            </a: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Dr. ir. D. Blom / Dr. M. van Ee</a:t>
            </a: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Faculteit Militaire Wetenschappen</a:t>
            </a: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1700213"/>
            <a:ext cx="4798484" cy="889000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 smtClean="0"/>
              <a:t>Klik om de stijl te bewerken</a:t>
            </a:r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smtClean="0"/>
              <a:t>Klik om de ondertitelstijl van het model te bewerken</a:t>
            </a:r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204400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109033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latin typeface="RijksoverheidSansText" panose="020B0503040202060203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8700020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>
                <a:latin typeface="RijksoverheidSansText" panose="020B0503040202060203" pitchFamily="34" charset="0"/>
              </a:defRPr>
            </a:lvl1pPr>
            <a:lvl2pPr>
              <a:defRPr sz="2400">
                <a:latin typeface="RijksoverheidSansText" panose="020B0503040202060203" pitchFamily="34" charset="0"/>
              </a:defRPr>
            </a:lvl2pPr>
            <a:lvl3pPr>
              <a:defRPr sz="2000">
                <a:latin typeface="RijksoverheidSansText" panose="020B0503040202060203" pitchFamily="34" charset="0"/>
              </a:defRPr>
            </a:lvl3pPr>
            <a:lvl4pPr>
              <a:defRPr sz="1800">
                <a:latin typeface="RijksoverheidSansText" panose="020B0503040202060203" pitchFamily="34" charset="0"/>
              </a:defRPr>
            </a:lvl4pPr>
            <a:lvl5pPr>
              <a:defRPr sz="1800">
                <a:latin typeface="RijksoverheidSansText" panose="020B0503040202060203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224592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Text" panose="020B05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latin typeface="RijksoverheidSansText" panose="020B0503040202060203" pitchFamily="34" charset="0"/>
              </a:defRPr>
            </a:lvl1pPr>
            <a:lvl2pPr>
              <a:defRPr sz="2000">
                <a:latin typeface="RijksoverheidSansText" panose="020B0503040202060203" pitchFamily="34" charset="0"/>
              </a:defRPr>
            </a:lvl2pPr>
            <a:lvl3pPr>
              <a:defRPr sz="1800">
                <a:latin typeface="RijksoverheidSansText" panose="020B0503040202060203" pitchFamily="34" charset="0"/>
              </a:defRPr>
            </a:lvl3pPr>
            <a:lvl4pPr>
              <a:defRPr sz="1600">
                <a:latin typeface="RijksoverheidSansText" panose="020B0503040202060203" pitchFamily="34" charset="0"/>
              </a:defRPr>
            </a:lvl4pPr>
            <a:lvl5pPr>
              <a:defRPr sz="1600">
                <a:latin typeface="RijksoverheidSansText" panose="020B0503040202060203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24872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6101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809747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>
                <a:latin typeface="RijksoverheidSansText" panose="020B0503040202060203" pitchFamily="34" charset="0"/>
              </a:defRPr>
            </a:lvl1pPr>
            <a:lvl2pPr>
              <a:defRPr sz="2800">
                <a:latin typeface="RijksoverheidSansText" panose="020B0503040202060203" pitchFamily="34" charset="0"/>
              </a:defRPr>
            </a:lvl2pPr>
            <a:lvl3pPr>
              <a:defRPr sz="2400">
                <a:latin typeface="RijksoverheidSansText" panose="020B0503040202060203" pitchFamily="34" charset="0"/>
              </a:defRPr>
            </a:lvl3pPr>
            <a:lvl4pPr>
              <a:defRPr sz="2000">
                <a:latin typeface="RijksoverheidSansText" panose="020B0503040202060203" pitchFamily="34" charset="0"/>
              </a:defRPr>
            </a:lvl4pPr>
            <a:lvl5pPr>
              <a:defRPr sz="2000">
                <a:latin typeface="RijksoverheidSansText" panose="020B0503040202060203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095207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>
                <a:latin typeface="RijksoverheidSansText" panose="020B0503040202060203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nl-NL" noProof="0" dirty="0" smtClean="0"/>
              <a:t>Klik op het pictogram als u een afbeelding wilt toevoegen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>
                <a:latin typeface="RijksoverheidSansText" panose="020B0503040202060203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dirty="0" smtClean="0"/>
              <a:t>Tekststijl van het model bewerken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9318679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3234573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nl-NL" dirty="0" smtClean="0"/>
              <a:t>Klik om de stijl te bewerken</a:t>
            </a:r>
            <a:endParaRPr lang="nl-NL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>
            <a:lvl1pPr>
              <a:defRPr>
                <a:latin typeface="RijksoverheidSansText" panose="020B0503040202060203" pitchFamily="34" charset="0"/>
              </a:defRPr>
            </a:lvl1pPr>
            <a:lvl2pPr>
              <a:defRPr>
                <a:latin typeface="RijksoverheidSansText" panose="020B0503040202060203" pitchFamily="34" charset="0"/>
              </a:defRPr>
            </a:lvl2pPr>
            <a:lvl3pPr>
              <a:defRPr>
                <a:latin typeface="RijksoverheidSansText" panose="020B0503040202060203" pitchFamily="34" charset="0"/>
              </a:defRPr>
            </a:lvl3pPr>
            <a:lvl4pPr>
              <a:defRPr>
                <a:latin typeface="RijksoverheidSansText" panose="020B0503040202060203" pitchFamily="34" charset="0"/>
              </a:defRPr>
            </a:lvl4pPr>
            <a:lvl5pPr>
              <a:defRPr>
                <a:latin typeface="RijksoverheidSansText" panose="020B0503040202060203" pitchFamily="34" charset="0"/>
              </a:defRPr>
            </a:lvl5pPr>
          </a:lstStyle>
          <a:p>
            <a:pPr lvl="0"/>
            <a:r>
              <a:rPr lang="nl-NL" dirty="0" smtClean="0"/>
              <a:t>Tekststijl van het model bewerken</a:t>
            </a:r>
          </a:p>
          <a:p>
            <a:pPr lvl="1"/>
            <a:r>
              <a:rPr lang="nl-NL" dirty="0" smtClean="0"/>
              <a:t>Tweede niveau</a:t>
            </a:r>
          </a:p>
          <a:p>
            <a:pPr lvl="2"/>
            <a:r>
              <a:rPr lang="nl-NL" dirty="0" smtClean="0"/>
              <a:t>Derde niveau</a:t>
            </a:r>
          </a:p>
          <a:p>
            <a:pPr lvl="3"/>
            <a:r>
              <a:rPr lang="nl-NL" dirty="0" smtClean="0"/>
              <a:t>Vierde niveau</a:t>
            </a:r>
          </a:p>
          <a:p>
            <a:pPr lvl="4"/>
            <a:r>
              <a:rPr lang="nl-NL" dirty="0" smtClean="0"/>
              <a:t>Vijfde niveau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5327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89" descr="Bar_Right"/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E17000"/>
          </a:solidFill>
          <a:ln>
            <a:noFill/>
          </a:ln>
          <a:effectLst/>
          <a:extLst/>
        </p:spPr>
        <p:txBody>
          <a:bodyPr wrap="none" lIns="0" tIns="0" rIns="0" bIns="0" anchor="ctr"/>
          <a:lstStyle/>
          <a:p>
            <a:pPr algn="ctr" eaLnBrk="0" hangingPunct="0">
              <a:spcBef>
                <a:spcPct val="50000"/>
              </a:spcBef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sp>
        <p:nvSpPr>
          <p:cNvPr id="5" name="Rectangle 157"/>
          <p:cNvSpPr>
            <a:spLocks noChangeArrowheads="1"/>
          </p:cNvSpPr>
          <p:nvPr/>
        </p:nvSpPr>
        <p:spPr bwMode="auto">
          <a:xfrm>
            <a:off x="6578601" y="2474914"/>
            <a:ext cx="4798484" cy="9429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anchor="ctr"/>
          <a:lstStyle/>
          <a:p>
            <a:pPr eaLnBrk="0" hangingPunct="0">
              <a:defRPr/>
            </a:pPr>
            <a:endParaRPr lang="nl-NL" sz="2600">
              <a:solidFill>
                <a:schemeClr val="bg1"/>
              </a:solidFill>
            </a:endParaRPr>
          </a:p>
        </p:txBody>
      </p:sp>
      <p:pic>
        <p:nvPicPr>
          <p:cNvPr id="9" name="LogoLandmacht" descr="Placeholder_Departmen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1" y="0"/>
            <a:ext cx="9144019" cy="2002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veBenaming"/>
          <p:cNvSpPr txBox="1">
            <a:spLocks noChangeArrowheads="1"/>
          </p:cNvSpPr>
          <p:nvPr userDrawn="1"/>
        </p:nvSpPr>
        <p:spPr bwMode="auto">
          <a:xfrm>
            <a:off x="6576485" y="5386389"/>
            <a:ext cx="5183716" cy="287337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 anchor="b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400" dirty="0">
                <a:solidFill>
                  <a:schemeClr val="bg1"/>
                </a:solidFill>
                <a:latin typeface="RijksoverheidSansHeadingTT" panose="020B0503040202060203" pitchFamily="34" charset="0"/>
              </a:rPr>
              <a:t>DOSCO</a:t>
            </a:r>
          </a:p>
        </p:txBody>
      </p:sp>
      <p:sp>
        <p:nvSpPr>
          <p:cNvPr id="11" name="Afdeling"/>
          <p:cNvSpPr txBox="1">
            <a:spLocks noChangeArrowheads="1"/>
          </p:cNvSpPr>
          <p:nvPr userDrawn="1"/>
        </p:nvSpPr>
        <p:spPr bwMode="auto">
          <a:xfrm>
            <a:off x="6576484" y="57467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Dr. ir. Danny Blom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2" name="Auteur"/>
          <p:cNvSpPr txBox="1">
            <a:spLocks noChangeArrowheads="1"/>
          </p:cNvSpPr>
          <p:nvPr userDrawn="1"/>
        </p:nvSpPr>
        <p:spPr bwMode="auto">
          <a:xfrm>
            <a:off x="6576484" y="5949951"/>
            <a:ext cx="5181600" cy="201613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Nederlandse Defensie Academie</a:t>
            </a:r>
            <a:endParaRPr lang="nl-NL"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13" name="Functie"/>
          <p:cNvSpPr txBox="1">
            <a:spLocks noChangeArrowheads="1"/>
          </p:cNvSpPr>
          <p:nvPr userDrawn="1"/>
        </p:nvSpPr>
        <p:spPr bwMode="auto">
          <a:xfrm>
            <a:off x="6576484" y="6164264"/>
            <a:ext cx="5181600" cy="142875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0" rIns="0" bIns="0"/>
          <a:lstStyle/>
          <a:p>
            <a:pPr eaLnBrk="0" hangingPunct="0">
              <a:spcBef>
                <a:spcPct val="50000"/>
              </a:spcBef>
              <a:defRPr/>
            </a:pP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Faculteit</a:t>
            </a:r>
            <a:r>
              <a:rPr lang="en-US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Militaire</a:t>
            </a:r>
            <a:r>
              <a:rPr lang="en-US" sz="1200" dirty="0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 </a:t>
            </a:r>
            <a:r>
              <a:rPr lang="en-US" sz="1200" dirty="0" err="1" smtClean="0">
                <a:solidFill>
                  <a:schemeClr val="bg1"/>
                </a:solidFill>
                <a:latin typeface="RijksoverheidSansHeadingTT" panose="020B0503040202060203" pitchFamily="34" charset="0"/>
              </a:rPr>
              <a:t>Wetenschappen</a:t>
            </a:r>
            <a:endParaRPr sz="1200" dirty="0">
              <a:solidFill>
                <a:schemeClr val="bg1"/>
              </a:solidFill>
              <a:latin typeface="RijksoverheidSansHeadingTT" panose="020B0503040202060203" pitchFamily="34" charset="0"/>
            </a:endParaRPr>
          </a:p>
        </p:txBody>
      </p:sp>
      <p:sp>
        <p:nvSpPr>
          <p:cNvPr id="7364" name="Rectangle 196"/>
          <p:cNvSpPr>
            <a:spLocks noGrp="1" noChangeArrowheads="1"/>
          </p:cNvSpPr>
          <p:nvPr>
            <p:ph type="ctrTitle"/>
          </p:nvPr>
        </p:nvSpPr>
        <p:spPr>
          <a:xfrm>
            <a:off x="6578601" y="2096771"/>
            <a:ext cx="4798484" cy="492443"/>
          </a:xfrm>
        </p:spPr>
        <p:txBody>
          <a:bodyPr lIns="90000" tIns="45720" rIns="90000" bIns="45720" anchor="b"/>
          <a:lstStyle>
            <a:lvl1pPr>
              <a:defRPr>
                <a:solidFill>
                  <a:schemeClr val="bg1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title style</a:t>
            </a:r>
            <a:endParaRPr lang="nl-NL" noProof="0" dirty="0" smtClean="0"/>
          </a:p>
        </p:txBody>
      </p:sp>
      <p:sp>
        <p:nvSpPr>
          <p:cNvPr id="7374" name="Rectangle 206"/>
          <p:cNvSpPr>
            <a:spLocks noGrp="1" noChangeArrowheads="1"/>
          </p:cNvSpPr>
          <p:nvPr>
            <p:ph type="subTitle" idx="1"/>
          </p:nvPr>
        </p:nvSpPr>
        <p:spPr>
          <a:xfrm>
            <a:off x="6578601" y="2781301"/>
            <a:ext cx="4798484" cy="2447925"/>
          </a:xfrm>
        </p:spPr>
        <p:txBody>
          <a:bodyPr lIns="91440" tIns="45720" rIns="91440" bIns="45720"/>
          <a:lstStyle>
            <a:lvl1pPr>
              <a:defRPr sz="24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 lvl="0"/>
            <a:r>
              <a:rPr lang="en-US" noProof="0" dirty="0" smtClean="0"/>
              <a:t>Click to edit Master subtitle style</a:t>
            </a:r>
            <a:endParaRPr lang="nl-NL" noProof="0" dirty="0" smtClean="0"/>
          </a:p>
        </p:txBody>
      </p:sp>
      <p:sp>
        <p:nvSpPr>
          <p:cNvPr id="1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6580717" y="6469064"/>
            <a:ext cx="2218267" cy="365125"/>
          </a:xfrm>
        </p:spPr>
        <p:txBody>
          <a:bodyPr/>
          <a:lstStyle>
            <a:lvl1pPr algn="l">
              <a:defRPr sz="1200">
                <a:solidFill>
                  <a:schemeClr val="bg1"/>
                </a:solidFill>
                <a:latin typeface="RijksoverheidSansHeadingTT" panose="020B0503040202060203" pitchFamily="34" charset="0"/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752602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ijksoverheidSansWebText Bold" panose="020B0803040202060203" pitchFamily="34" charset="0"/>
                <a:ea typeface="RijksoverheidSansWebText Bold" panose="020B080304020206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RijksoverheidSansHeadingTT" panose="020B0503040202060203" pitchFamily="34" charset="0"/>
              </a:defRPr>
            </a:lvl1pPr>
            <a:lvl2pPr>
              <a:defRPr>
                <a:latin typeface="RijksoverheidSansHeadingTT" panose="020B0503040202060203" pitchFamily="34" charset="0"/>
              </a:defRPr>
            </a:lvl2pPr>
            <a:lvl3pPr>
              <a:defRPr>
                <a:latin typeface="RijksoverheidSansHeadingTT" panose="020B0503040202060203" pitchFamily="34" charset="0"/>
              </a:defRPr>
            </a:lvl3pPr>
            <a:lvl4pPr>
              <a:defRPr>
                <a:latin typeface="RijksoverheidSansHeadingTT" panose="020B0503040202060203" pitchFamily="34" charset="0"/>
              </a:defRPr>
            </a:lvl4pPr>
            <a:lvl5pPr>
              <a:defRPr>
                <a:latin typeface="RijksoverheidSansHeadingTT" panose="020B0503040202060203" pitchFamily="34" charset="0"/>
              </a:defRPr>
            </a:lvl5pPr>
          </a:lstStyle>
          <a:p>
            <a:pPr lvl="0"/>
            <a:r>
              <a:rPr lang="en-US" dirty="0" smtClean="0"/>
              <a:t>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nl-NL" dirty="0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>
          <a:xfrm>
            <a:off x="8976321" y="6520259"/>
            <a:ext cx="2881248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30078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615553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0154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0" y="1773238"/>
            <a:ext cx="5080000" cy="42465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697827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24744"/>
            <a:ext cx="10972800" cy="40011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l-NL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7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5355886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1888295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2388327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124744"/>
            <a:ext cx="4011084" cy="3103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124745"/>
            <a:ext cx="6815667" cy="500141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3494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059561"/>
            <a:ext cx="7315200" cy="30777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124744"/>
            <a:ext cx="7315200" cy="36028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nl-NL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355479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  <p:sp>
        <p:nvSpPr>
          <p:cNvPr id="4" name="Date Placeholder 1" descr="Date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265742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78007" y="1265238"/>
            <a:ext cx="400110" cy="4754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l-N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265238"/>
            <a:ext cx="7571317" cy="4754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07652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van de modeltekst te bewerken</a:t>
            </a:r>
          </a:p>
          <a:p>
            <a:pPr lvl="1"/>
            <a:r>
              <a:rPr lang="nl-NL"/>
              <a:t> </a:t>
            </a:r>
          </a:p>
          <a:p>
            <a:pPr lvl="2"/>
            <a:r>
              <a:rPr lang="nl-NL"/>
              <a:t> </a:t>
            </a:r>
          </a:p>
          <a:p>
            <a:pPr lvl="3"/>
            <a:r>
              <a:rPr lang="nl-NL"/>
              <a:t> </a:t>
            </a:r>
          </a:p>
          <a:p>
            <a:pPr lvl="4"/>
            <a:r>
              <a:rPr lang="nl-NL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3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41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 dirty="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endParaRPr sz="2200"/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4" y="3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6" y="6520261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5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van de modeltekst te bewerken</a:t>
            </a:r>
          </a:p>
          <a:p>
            <a:pPr lvl="1"/>
            <a:r>
              <a:rPr lang="nl-NL"/>
              <a:t> </a:t>
            </a:r>
          </a:p>
          <a:p>
            <a:pPr lvl="2"/>
            <a:r>
              <a:rPr lang="nl-NL"/>
              <a:t> </a:t>
            </a:r>
          </a:p>
          <a:p>
            <a:pPr lvl="3"/>
            <a:r>
              <a:rPr lang="nl-NL"/>
              <a:t> </a:t>
            </a:r>
          </a:p>
          <a:p>
            <a:pPr lvl="4"/>
            <a:r>
              <a:rPr lang="nl-NL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55068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 MBW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99202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shpKleurvlakOnder" descr="Bar_Bottom"/>
          <p:cNvSpPr>
            <a:spLocks noChangeArrowheads="1"/>
          </p:cNvSpPr>
          <p:nvPr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7" name="Rectangle 46"/>
          <p:cNvSpPr>
            <a:spLocks noGrp="1" noChangeAspect="1" noChangeArrowheads="1"/>
          </p:cNvSpPr>
          <p:nvPr>
            <p:ph type="body" idx="1"/>
          </p:nvPr>
        </p:nvSpPr>
        <p:spPr bwMode="auto">
          <a:xfrm>
            <a:off x="812800" y="1773238"/>
            <a:ext cx="10363200" cy="4246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smtClean="0"/>
              <a:t>Klik om het opmaakprofiel van de modeltekst te bewerken</a:t>
            </a:r>
          </a:p>
          <a:p>
            <a:pPr lvl="1"/>
            <a:r>
              <a:rPr lang="nl-NL" smtClean="0"/>
              <a:t> </a:t>
            </a:r>
          </a:p>
          <a:p>
            <a:pPr lvl="2"/>
            <a:r>
              <a:rPr lang="nl-NL" smtClean="0"/>
              <a:t> </a:t>
            </a:r>
          </a:p>
          <a:p>
            <a:pPr lvl="3"/>
            <a:r>
              <a:rPr lang="nl-NL" smtClean="0"/>
              <a:t> </a:t>
            </a:r>
          </a:p>
          <a:p>
            <a:pPr lvl="4"/>
            <a:r>
              <a:rPr lang="nl-NL" smtClean="0"/>
              <a:t> </a:t>
            </a:r>
          </a:p>
        </p:txBody>
      </p:sp>
      <p:sp>
        <p:nvSpPr>
          <p:cNvPr id="1095" name="shpTekst" descr="Bar_Top"/>
          <p:cNvSpPr>
            <a:spLocks noChangeArrowheads="1"/>
          </p:cNvSpPr>
          <p:nvPr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E17000"/>
          </a:solidFill>
          <a:ln>
            <a:noFill/>
          </a:ln>
          <a:extLst/>
        </p:spPr>
        <p:txBody>
          <a:bodyPr anchor="ctr"/>
          <a:lstStyle/>
          <a:p>
            <a:pPr algn="ctr">
              <a:defRPr/>
            </a:pPr>
            <a:endParaRPr lang="nl-NL" sz="1800" dirty="0">
              <a:solidFill>
                <a:srgbClr val="FFFFFF"/>
              </a:solidFill>
              <a:cs typeface="Arial" charset="0"/>
            </a:endParaRPr>
          </a:p>
        </p:txBody>
      </p:sp>
      <p:sp>
        <p:nvSpPr>
          <p:cNvPr id="1029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814917" y="1265239"/>
            <a:ext cx="10363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nl-NL" smtClean="0"/>
          </a:p>
        </p:txBody>
      </p:sp>
      <p:sp>
        <p:nvSpPr>
          <p:cNvPr id="1099" name="shpKleurvlakBoven"/>
          <p:cNvSpPr>
            <a:spLocks noChangeArrowheads="1"/>
          </p:cNvSpPr>
          <p:nvPr/>
        </p:nvSpPr>
        <p:spPr bwMode="auto">
          <a:xfrm>
            <a:off x="6000751" y="6308725"/>
            <a:ext cx="5552016" cy="2873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r>
              <a:rPr lang="nl-NL" sz="1100" dirty="0">
                <a:solidFill>
                  <a:schemeClr val="bg1"/>
                </a:solidFill>
                <a:cs typeface="Arial" charset="0"/>
              </a:rPr>
              <a:t>DOSCO</a:t>
            </a:r>
          </a:p>
        </p:txBody>
      </p:sp>
      <p:sp>
        <p:nvSpPr>
          <p:cNvPr id="1100" name="shpBeeldmerk"/>
          <p:cNvSpPr>
            <a:spLocks noChangeArrowheads="1"/>
          </p:cNvSpPr>
          <p:nvPr/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/>
          <a:p>
            <a:pPr eaLnBrk="0" hangingPunct="0">
              <a:defRPr/>
            </a:pPr>
            <a:fld id="{07382E3B-8403-45AB-A22D-980A32E9F913}" type="slidenum">
              <a:rPr lang="nl-NL" sz="1000">
                <a:solidFill>
                  <a:schemeClr val="bg1"/>
                </a:solidFill>
                <a:cs typeface="Arial" charset="0"/>
              </a:rPr>
              <a:pPr eaLnBrk="0" hangingPunct="0">
                <a:defRPr/>
              </a:pPr>
              <a:t>‹nr.›</a:t>
            </a:fld>
            <a:endParaRPr lang="nl-NL" sz="1000">
              <a:solidFill>
                <a:schemeClr val="bg1"/>
              </a:solidFill>
              <a:cs typeface="Arial" charset="0"/>
            </a:endParaRPr>
          </a:p>
        </p:txBody>
      </p:sp>
      <p:sp>
        <p:nvSpPr>
          <p:cNvPr id="1109" name="TitelSlide2"/>
          <p:cNvSpPr txBox="1">
            <a:spLocks noChangeArrowheads="1"/>
          </p:cNvSpPr>
          <p:nvPr/>
        </p:nvSpPr>
        <p:spPr bwMode="auto">
          <a:xfrm>
            <a:off x="6000751" y="6524625"/>
            <a:ext cx="3647016" cy="21748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90000" tIns="46800" rIns="90000" bIns="46800"/>
          <a:lstStyle/>
          <a:p>
            <a:pPr eaLnBrk="0" hangingPunct="0">
              <a:spcBef>
                <a:spcPct val="50000"/>
              </a:spcBef>
              <a:defRPr/>
            </a:pPr>
            <a:r>
              <a:rPr lang="nl-NL" sz="1100" dirty="0">
                <a:solidFill>
                  <a:schemeClr val="bg1"/>
                </a:solidFill>
              </a:rPr>
              <a:t>Statistiek</a:t>
            </a:r>
          </a:p>
        </p:txBody>
      </p:sp>
      <p:pic>
        <p:nvPicPr>
          <p:cNvPr id="1036" name="LogoLandmacht" descr="Placeholder_Logo"/>
          <p:cNvPicPr>
            <a:picLocks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75713" y="1"/>
            <a:ext cx="440575" cy="849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Date Placeholder 1" descr="Date"/>
          <p:cNvSpPr>
            <a:spLocks noGrp="1"/>
          </p:cNvSpPr>
          <p:nvPr>
            <p:ph type="dt" sz="half" idx="2"/>
          </p:nvPr>
        </p:nvSpPr>
        <p:spPr>
          <a:xfrm>
            <a:off x="9637185" y="6520259"/>
            <a:ext cx="2220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0" hangingPunct="0">
              <a:spcBef>
                <a:spcPct val="50000"/>
              </a:spcBef>
              <a:defRPr sz="11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9582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11365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rgbClr val="E17000"/>
          </a:solidFill>
          <a:latin typeface="Verdana" pitchFamily="34" charset="0"/>
        </a:defRPr>
      </a:lvl9pPr>
    </p:titleStyle>
    <p:bodyStyle>
      <a:lvl1pPr algn="l" rtl="0" eaLnBrk="1" fontAlgn="base" hangingPunct="1">
        <a:spcBef>
          <a:spcPct val="5000"/>
        </a:spcBef>
        <a:spcAft>
          <a:spcPct val="0"/>
        </a:spcAft>
        <a:defRPr sz="2200">
          <a:solidFill>
            <a:srgbClr val="000000"/>
          </a:solidFill>
          <a:latin typeface="+mn-lt"/>
          <a:ea typeface="+mn-ea"/>
          <a:cs typeface="+mn-cs"/>
        </a:defRPr>
      </a:lvl1pPr>
      <a:lvl2pPr marL="374650" indent="-184150" algn="l" rtl="0" eaLnBrk="1" fontAlgn="base" hangingPunct="1">
        <a:spcBef>
          <a:spcPct val="5000"/>
        </a:spcBef>
        <a:spcAft>
          <a:spcPct val="0"/>
        </a:spcAft>
        <a:buChar char="•"/>
        <a:defRPr sz="2200">
          <a:solidFill>
            <a:srgbClr val="000000"/>
          </a:solidFill>
          <a:latin typeface="+mn-lt"/>
        </a:defRPr>
      </a:lvl2pPr>
      <a:lvl3pPr marL="6223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–"/>
        <a:defRPr sz="2200">
          <a:solidFill>
            <a:srgbClr val="000000"/>
          </a:solidFill>
          <a:latin typeface="+mn-lt"/>
        </a:defRPr>
      </a:lvl3pPr>
      <a:lvl4pPr marL="1166813" indent="-17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›"/>
        <a:defRPr sz="2200">
          <a:solidFill>
            <a:srgbClr val="000000"/>
          </a:solidFill>
          <a:latin typeface="+mn-lt"/>
        </a:defRPr>
      </a:lvl4pPr>
      <a:lvl5pPr marL="13462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5pPr>
      <a:lvl6pPr marL="18034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6pPr>
      <a:lvl7pPr marL="22606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7pPr>
      <a:lvl8pPr marL="27178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8pPr>
      <a:lvl9pPr marL="3175000" algn="l" rtl="0" eaLnBrk="1" fontAlgn="base" hangingPunct="1">
        <a:spcBef>
          <a:spcPct val="5000"/>
        </a:spcBef>
        <a:spcAft>
          <a:spcPct val="0"/>
        </a:spcAft>
        <a:buFont typeface="Verdana" pitchFamily="34" charset="0"/>
        <a:buChar char="»"/>
        <a:defRPr sz="2200">
          <a:solidFill>
            <a:srgbClr val="000000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Titel"/>
          <p:cNvSpPr>
            <a:spLocks noGrp="1" noChangeArrowheads="1"/>
          </p:cNvSpPr>
          <p:nvPr>
            <p:ph type="title"/>
          </p:nvPr>
        </p:nvSpPr>
        <p:spPr>
          <a:xfrm>
            <a:off x="6457951" y="2097087"/>
            <a:ext cx="5040000" cy="492443"/>
          </a:xfrm>
        </p:spPr>
        <p:txBody>
          <a:bodyPr anchor="t" anchorCtr="0"/>
          <a:lstStyle/>
          <a:p>
            <a:r>
              <a:rPr lang="en-US" dirty="0" err="1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Statistiek</a:t>
            </a:r>
            <a:r>
              <a:rPr lang="en-US" dirty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: college </a:t>
            </a:r>
            <a:r>
              <a:rPr lang="en-US" dirty="0" smtClean="0">
                <a:solidFill>
                  <a:srgbClr val="113652"/>
                </a:solidFill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4b</a:t>
            </a:r>
            <a:endParaRPr lang="nl-NL" dirty="0" smtClean="0">
              <a:solidFill>
                <a:srgbClr val="113652"/>
              </a:solidFill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p:sp>
        <p:nvSpPr>
          <p:cNvPr id="4099" name="shpTekst"/>
          <p:cNvSpPr>
            <a:spLocks noGrp="1" noChangeArrowheads="1"/>
          </p:cNvSpPr>
          <p:nvPr>
            <p:ph type="body" idx="1"/>
          </p:nvPr>
        </p:nvSpPr>
        <p:spPr>
          <a:xfrm>
            <a:off x="6458400" y="3236400"/>
            <a:ext cx="5040000" cy="986400"/>
          </a:xfrm>
        </p:spPr>
        <p:txBody>
          <a:bodyPr/>
          <a:lstStyle/>
          <a:p>
            <a:pPr eaLnBrk="1" hangingPunct="1"/>
            <a:r>
              <a:rPr lang="nl-NL" dirty="0" smtClean="0">
                <a:solidFill>
                  <a:srgbClr val="113652"/>
                </a:solidFill>
                <a:latin typeface="RijksoverheidSansText" panose="020B0503040202060203" pitchFamily="34" charset="0"/>
              </a:rPr>
              <a:t>De binomiale verdeling (2/2)</a:t>
            </a:r>
          </a:p>
        </p:txBody>
      </p:sp>
      <p:sp>
        <p:nvSpPr>
          <p:cNvPr id="4100" name="Date Placeholder 2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12/13 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mei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2026</a:t>
            </a:r>
            <a:endParaRPr kumimoji="0" lang="nl-NL" sz="1100" b="0" i="0" u="none" strike="noStrike" kern="1200" cap="none" spc="0" normalizeH="0" baseline="0" noProof="0" dirty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6642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Recap: </a:t>
            </a:r>
            <a:r>
              <a:rPr lang="en-US" dirty="0" err="1"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vorig</a:t>
            </a:r>
            <a:r>
              <a:rPr lang="en-US" dirty="0">
                <a:latin typeface="RijksoverheidSansWebText Bold" panose="020B0803040202060203" pitchFamily="34" charset="0"/>
                <a:ea typeface="RijksoverheidSansWebText Bold" panose="020B0803040202060203" pitchFamily="34" charset="0"/>
              </a:rPr>
              <a:t> college</a:t>
            </a:r>
            <a:endParaRPr lang="nl-NL" dirty="0">
              <a:latin typeface="RijksoverheidSansWebText Bold" panose="020B0803040202060203" pitchFamily="34" charset="0"/>
              <a:ea typeface="RijksoverheidSansWebText Bold" panose="020B080304020206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23" name="Rectangle 1027"/>
              <p:cNvSpPr>
                <a:spLocks noGrp="1" noChangeAspect="1" noChangeArrowheads="1"/>
              </p:cNvSpPr>
              <p:nvPr>
                <p:ph type="body" idx="1"/>
              </p:nvPr>
            </p:nvSpPr>
            <p:spPr>
              <a:xfrm>
                <a:off x="812800" y="2062758"/>
                <a:ext cx="10899824" cy="4246562"/>
              </a:xfrm>
            </p:spPr>
            <p:txBody>
              <a:bodyPr anchor="ctr"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dirty="0" smtClean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>
                    <a:latin typeface="RijksoverheidSansText" panose="020B0503040202060203" pitchFamily="34" charset="0"/>
                  </a:rPr>
                  <a:t>De </a:t>
                </a:r>
                <a:r>
                  <a:rPr lang="nl-NL" sz="2400" b="1" dirty="0" err="1">
                    <a:latin typeface="RijksoverheidSansText" panose="020B0503040202060203" pitchFamily="34" charset="0"/>
                  </a:rPr>
                  <a:t>Bernoulli-verdeling</a:t>
                </a:r>
                <a:r>
                  <a:rPr lang="nl-NL" sz="2400" b="1" dirty="0">
                    <a:latin typeface="RijksoverheidSansText" panose="020B0503040202060203" pitchFamily="34" charset="0"/>
                  </a:rPr>
                  <a:t> als elementaire bouwsteen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>
                    <a:latin typeface="RijksoverheidSansText" panose="020B0503040202060203" pitchFamily="34" charset="0"/>
                  </a:rPr>
                  <a:t>Antwoord op een “ja/nee”-vraag, gecodeerd met </a:t>
                </a:r>
                <a14:m>
                  <m:oMath xmlns:m="http://schemas.openxmlformats.org/officeDocument/2006/math">
                    <m:r>
                      <a:rPr lang="nl-NL" sz="2000" i="1">
                        <a:latin typeface="Cambria Math" panose="02040503050406030204" pitchFamily="18" charset="0"/>
                      </a:rPr>
                      <m:t>0/1</m:t>
                    </m:r>
                  </m:oMath>
                </a14:m>
                <a:r>
                  <a:rPr lang="nl-NL" sz="2000" dirty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>
                    <a:latin typeface="RijksoverheidSansText" panose="020B0503040202060203" pitchFamily="34" charset="0"/>
                  </a:rPr>
                  <a:t>Twee uitkomsten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>
                    <a:latin typeface="RijksoverheidSansText" panose="020B0503040202060203" pitchFamily="34" charset="0"/>
                  </a:rPr>
                  <a:t>Eén parameter: succeskans</a:t>
                </a:r>
                <a:r>
                  <a:rPr lang="nl-NL" sz="2000" i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000" i="1" dirty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endParaRPr lang="nl-NL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nl-NL" sz="2400" b="1" dirty="0">
                    <a:latin typeface="RijksoverheidSansText" panose="020B0503040202060203" pitchFamily="34" charset="0"/>
                  </a:rPr>
                  <a:t>De binomiale verdeling: </a:t>
                </a:r>
                <a:endParaRPr lang="nl-NL" sz="2400" dirty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>
                    <a:latin typeface="RijksoverheidSansText" panose="020B0503040202060203" pitchFamily="34" charset="0"/>
                  </a:rPr>
                  <a:t>Tellen van aantal successen in een gegeven aantal onafhankelijke pogingen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RijksoverheidSansText" panose="020B0503040202060203" pitchFamily="34" charset="0"/>
                  </a:rPr>
                  <a:t>Twee parameters: </a:t>
                </a:r>
                <a:r>
                  <a:rPr lang="en-US" sz="2000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sz="2000" dirty="0">
                    <a:latin typeface="RijksoverheidSansText" panose="020B0503040202060203" pitchFamily="34" charset="0"/>
                  </a:rPr>
                  <a:t> Bernoulli-</a:t>
                </a:r>
                <a:r>
                  <a:rPr lang="en-US" sz="2000" dirty="0" err="1">
                    <a:latin typeface="RijksoverheidSansText" panose="020B0503040202060203" pitchFamily="34" charset="0"/>
                  </a:rPr>
                  <a:t>experimenten</a:t>
                </a:r>
                <a:r>
                  <a:rPr lang="en-US" sz="2000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sz="2000" dirty="0">
                    <a:latin typeface="RijksoverheidSansText" panose="020B0503040202060203" pitchFamily="34" charset="0"/>
                  </a:rPr>
                  <a:t> en succeskans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nl-NL" sz="2000" i="1" dirty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sz="20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nl-NL" sz="2000" i="1" dirty="0">
                    <a:latin typeface="RijksoverheidSansText" panose="020B0503040202060203" pitchFamily="34" charset="0"/>
                  </a:rPr>
                  <a:t> </a:t>
                </a:r>
                <a:r>
                  <a:rPr lang="nl-NL" sz="2000" dirty="0">
                    <a:latin typeface="RijksoverheidSansText" panose="020B0503040202060203" pitchFamily="34" charset="0"/>
                  </a:rPr>
                  <a:t>uitkomsten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0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err="1">
                    <a:latin typeface="RijksoverheidSansText" panose="020B0503040202060203" pitchFamily="34" charset="0"/>
                  </a:rPr>
                  <a:t>Kansen</a:t>
                </a:r>
                <a:r>
                  <a:rPr lang="en-US" sz="2400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>
                    <a:latin typeface="RijksoverheidSansText" panose="020B0503040202060203" pitchFamily="34" charset="0"/>
                  </a:rPr>
                  <a:t>berekenen</a:t>
                </a:r>
                <a:r>
                  <a:rPr lang="en-US" sz="2400" b="1" dirty="0">
                    <a:latin typeface="RijksoverheidSansText" panose="020B0503040202060203" pitchFamily="34" charset="0"/>
                  </a:rPr>
                  <a:t> met de </a:t>
                </a:r>
                <a:r>
                  <a:rPr lang="en-US" sz="2400" b="1" dirty="0" err="1">
                    <a:latin typeface="RijksoverheidSansText" panose="020B0503040202060203" pitchFamily="34" charset="0"/>
                  </a:rPr>
                  <a:t>binomiale</a:t>
                </a:r>
                <a:r>
                  <a:rPr lang="en-US" sz="2400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>
                    <a:latin typeface="RijksoverheidSansText" panose="020B0503040202060203" pitchFamily="34" charset="0"/>
                  </a:rPr>
                  <a:t>verdeling</a:t>
                </a:r>
                <a:r>
                  <a:rPr lang="en-US" sz="2400" b="1" dirty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2000">
                        <a:latin typeface="Cambria Math" panose="02040503050406030204" pitchFamily="18" charset="0"/>
                      </a:rPr>
                      <m:t>binompdf</m:t>
                    </m:r>
                  </m:oMath>
                </a14:m>
                <a:r>
                  <a:rPr lang="nl-NL" sz="2000" dirty="0">
                    <a:latin typeface="RijksoverheidSansText" panose="020B0503040202060203" pitchFamily="34" charset="0"/>
                  </a:rPr>
                  <a:t> 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sz="2000">
                        <a:latin typeface="Cambria Math" panose="02040503050406030204" pitchFamily="18" charset="0"/>
                      </a:rPr>
                      <m:t>binomcdf</m:t>
                    </m:r>
                  </m:oMath>
                </a14:m>
                <a:endParaRPr lang="nl-NL" sz="2000" dirty="0">
                  <a:latin typeface="RijksoverheidSansText" panose="020B0503040202060203" pitchFamily="34" charset="0"/>
                </a:endParaRP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nl-NL" sz="2000" dirty="0">
                    <a:latin typeface="RijksoverheidSansText" panose="020B0503040202060203" pitchFamily="34" charset="0"/>
                  </a:rPr>
                  <a:t>Hoeveel pogingen </a:t>
                </a:r>
                <a14:m>
                  <m:oMath xmlns:m="http://schemas.openxmlformats.org/officeDocument/2006/math">
                    <m:r>
                      <a:rPr lang="nl-NL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NL" sz="2000" dirty="0">
                    <a:latin typeface="RijksoverheidSansText" panose="020B0503040202060203" pitchFamily="34" charset="0"/>
                  </a:rPr>
                  <a:t> heb je nodig om met een bepaalde kans </a:t>
                </a:r>
                <a14:m>
                  <m:oMath xmlns:m="http://schemas.openxmlformats.org/officeDocument/2006/math">
                    <m:r>
                      <a:rPr lang="nl-NL" sz="2000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nl-NL" sz="2000" dirty="0">
                    <a:latin typeface="RijksoverheidSansText" panose="020B0503040202060203" pitchFamily="34" charset="0"/>
                  </a:rPr>
                  <a:t> successen te garanderen?</a:t>
                </a:r>
              </a:p>
              <a:p>
                <a:endParaRPr lang="nl-NL" sz="2400" dirty="0"/>
              </a:p>
              <a:p>
                <a:pPr marL="342900" indent="-342900" eaLnBrk="1" hangingPunct="1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5123" name="Rectangle 102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12800" y="2062758"/>
                <a:ext cx="10899824" cy="4246562"/>
              </a:xfrm>
              <a:blipFill>
                <a:blip r:embed="rId2"/>
                <a:stretch>
                  <a:fillRect l="-1566" t="-8608" b="-10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24" name="Date Placeholder 1"/>
          <p:cNvSpPr>
            <a:spLocks noGrp="1"/>
          </p:cNvSpPr>
          <p:nvPr>
            <p:ph type="dt" sz="quarter" idx="10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College 4b: de binomiale verdeling (2/2)</a:t>
            </a:r>
            <a:endParaRPr lang="nl-NL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800219"/>
          </a:xfrm>
        </p:spPr>
        <p:txBody>
          <a:bodyPr/>
          <a:lstStyle/>
          <a:p>
            <a:pPr eaLnBrk="1" hangingPunct="1"/>
            <a:r>
              <a:rPr lang="en-US" dirty="0" err="1"/>
              <a:t>Leerdoelen</a:t>
            </a:r>
            <a:r>
              <a:rPr lang="en-US" dirty="0"/>
              <a:t/>
            </a:r>
            <a:br>
              <a:rPr lang="en-US" dirty="0"/>
            </a:br>
            <a:endParaRPr lang="nl-NL" dirty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400" dirty="0"/>
              <a:t>Aan het eind van dit college kunnen studenten:</a:t>
            </a:r>
          </a:p>
          <a:p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smtClean="0"/>
              <a:t>verwachtingswaarde</a:t>
            </a:r>
            <a:r>
              <a:rPr lang="en-US" sz="2400" dirty="0" smtClean="0"/>
              <a:t>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variantie</a:t>
            </a:r>
            <a:r>
              <a:rPr lang="en-US" sz="2400" dirty="0"/>
              <a:t> </a:t>
            </a:r>
            <a:r>
              <a:rPr lang="en-US" sz="2400" i="1" dirty="0" err="1"/>
              <a:t>berekenen</a:t>
            </a:r>
            <a:r>
              <a:rPr lang="en-US" sz="2400" dirty="0"/>
              <a:t> van Bernoulli-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binomiaal</a:t>
            </a:r>
            <a:r>
              <a:rPr lang="en-US" sz="2400" dirty="0"/>
              <a:t> </a:t>
            </a:r>
            <a:r>
              <a:rPr lang="en-US" sz="2400" dirty="0" err="1"/>
              <a:t>verdeelde</a:t>
            </a:r>
            <a:r>
              <a:rPr lang="en-US" sz="2400" dirty="0"/>
              <a:t> </a:t>
            </a:r>
            <a:r>
              <a:rPr lang="en-US" sz="2400" dirty="0" err="1"/>
              <a:t>kansvariabelen</a:t>
            </a:r>
            <a:endParaRPr lang="nl-NL" sz="2400" dirty="0"/>
          </a:p>
          <a:p>
            <a:pPr marL="0" indent="0">
              <a:buNone/>
            </a:pPr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dirty="0"/>
              <a:t>De connectie van de binomiale verdeling met statistiek </a:t>
            </a:r>
            <a:r>
              <a:rPr lang="nl-NL" sz="2400" i="1" dirty="0"/>
              <a:t>begrijpen</a:t>
            </a:r>
            <a:r>
              <a:rPr lang="nl-NL" sz="2400" dirty="0"/>
              <a:t> en </a:t>
            </a:r>
            <a:r>
              <a:rPr lang="nl-NL" sz="2400" i="1" dirty="0"/>
              <a:t>uitleggen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84817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</a:t>
            </a:r>
            <a:r>
              <a:rPr lang="en-US" dirty="0" smtClean="0"/>
              <a:t>Bernoulli-</a:t>
            </a:r>
            <a:r>
              <a:rPr lang="en-US" dirty="0" err="1" smtClean="0"/>
              <a:t>variabele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latin typeface="RijksoverheidSansText" panose="020B0503040202060203" pitchFamily="34" charset="0"/>
                  </a:rPr>
                  <a:t>Twee </a:t>
                </a:r>
                <a:r>
                  <a:rPr lang="en-US" sz="2400" b="1" dirty="0" err="1">
                    <a:latin typeface="RijksoverheidSansText" panose="020B0503040202060203" pitchFamily="34" charset="0"/>
                  </a:rPr>
                  <a:t>uitkomsten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 “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”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en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“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mislukking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”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1" dirty="0" smtClean="0">
                  <a:solidFill>
                    <a:schemeClr val="tx1"/>
                  </a:solidFill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b="1" dirty="0" smtClean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Parameter</a:t>
                </a:r>
                <a:r>
                  <a:rPr lang="en-US" sz="2400" b="1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: 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de </a:t>
                </a:r>
                <a:r>
                  <a:rPr lang="en-US" sz="2400" dirty="0" err="1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>
                    <a:solidFill>
                      <a:schemeClr val="tx1"/>
                    </a:solidFill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2400" i="1" dirty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en-US" sz="2400" b="1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nl-NL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2400" b="1" dirty="0" smtClean="0">
                  <a:latin typeface="RijksoverheidSansText" panose="020B0503040202060203" pitchFamily="34" charset="0"/>
                </a:endParaRPr>
              </a:p>
              <a:p>
                <a:endParaRPr lang="nl-NL" sz="2400" b="1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b="1" dirty="0">
                  <a:latin typeface="RijksoverheidSansText" panose="020B0503040202060203" pitchFamily="34" charset="0"/>
                </a:endParaRPr>
              </a:p>
              <a:p>
                <a:pPr algn="ctr"/>
                <a:r>
                  <a:rPr lang="en-US" sz="2400" b="1" i="1" dirty="0" err="1">
                    <a:latin typeface="RijksoverheidSansText" panose="020B0503040202060203" pitchFamily="34" charset="0"/>
                  </a:rPr>
                  <a:t>Andere</a:t>
                </a:r>
                <a:r>
                  <a:rPr lang="en-US" sz="2400" b="1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i="1" dirty="0" err="1">
                    <a:latin typeface="RijksoverheidSansText" panose="020B0503040202060203" pitchFamily="34" charset="0"/>
                  </a:rPr>
                  <a:t>interpretatie</a:t>
                </a:r>
                <a:r>
                  <a:rPr lang="en-US" sz="2400" b="1" i="1" dirty="0">
                    <a:latin typeface="RijksoverheidSansText" panose="020B0503040202060203" pitchFamily="34" charset="0"/>
                  </a:rPr>
                  <a:t>: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worp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met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munt met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i="1" dirty="0">
                    <a:latin typeface="RijksoverheidSansText" panose="020B0503040202060203" pitchFamily="34" charset="0"/>
                  </a:rPr>
                  <a:t> op kop,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i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sz="2400" i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i="1" dirty="0">
                    <a:latin typeface="RijksoverheidSansText" panose="020B0503040202060203" pitchFamily="34" charset="0"/>
                  </a:rPr>
                  <a:t> op munt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582" b="-33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6575282"/>
                  </p:ext>
                </p:extLst>
              </p:nvPr>
            </p:nvGraphicFramePr>
            <p:xfrm>
              <a:off x="3229868" y="3645024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298832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26575282"/>
                  </p:ext>
                </p:extLst>
              </p:nvPr>
            </p:nvGraphicFramePr>
            <p:xfrm>
              <a:off x="3229868" y="3645024"/>
              <a:ext cx="5777655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937321">
                      <a:extLst>
                        <a:ext uri="{9D8B030D-6E8A-4147-A177-3AD203B41FA5}">
                          <a16:colId xmlns:a16="http://schemas.microsoft.com/office/drawing/2014/main" val="3764887803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3550144982"/>
                        </a:ext>
                      </a:extLst>
                    </a:gridCol>
                    <a:gridCol w="1920167">
                      <a:extLst>
                        <a:ext uri="{9D8B030D-6E8A-4147-A177-3AD203B41FA5}">
                          <a16:colId xmlns:a16="http://schemas.microsoft.com/office/drawing/2014/main" val="2375152560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639" r="-199686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639" r="-100949" b="-1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639" r="-1270" b="-1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018544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14" t="-101639" r="-199686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949" t="-101639" r="-10094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1587" t="-101639" r="-1270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1015296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7336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Vraag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 smtClean="0"/>
                  <a:t>Laat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Bernoulli </a:t>
                </a:r>
                <a:r>
                  <a:rPr lang="en-US" dirty="0" err="1"/>
                  <a:t>verdeelde</a:t>
                </a:r>
                <a:r>
                  <a:rPr lang="en-US" dirty="0"/>
                  <a:t> </a:t>
                </a:r>
                <a:r>
                  <a:rPr lang="en-US" dirty="0" err="1"/>
                  <a:t>kansvariabele</a:t>
                </a:r>
                <a:r>
                  <a:rPr lang="en-US" dirty="0"/>
                  <a:t> </a:t>
                </a:r>
                <a:r>
                  <a:rPr lang="en-US" dirty="0" err="1" smtClean="0"/>
                  <a:t>zijn</a:t>
                </a:r>
                <a:r>
                  <a:rPr lang="en-US" dirty="0" smtClean="0"/>
                  <a:t> met </a:t>
                </a:r>
                <a:r>
                  <a:rPr lang="en-US" dirty="0" err="1" smtClean="0"/>
                  <a:t>succeskans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/>
                  <a:t>:</a:t>
                </a:r>
                <a:endParaRPr lang="nl-NL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endParaRPr lang="nl-NL" dirty="0"/>
              </a:p>
              <a:p>
                <a:pPr marL="0" indent="0">
                  <a:buNone/>
                </a:pPr>
                <a:endParaRPr lang="nl-NL" b="1" dirty="0"/>
              </a:p>
              <a:p>
                <a:pPr marL="0" indent="0">
                  <a:buNone/>
                </a:pPr>
                <a:r>
                  <a:rPr lang="nl-NL" b="1" dirty="0"/>
                  <a:t>Wat is de verwachtingswaarde en de variantie van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nl-NL" dirty="0"/>
                  <a:t>?</a:t>
                </a:r>
              </a:p>
              <a:p>
                <a:pPr marL="0" indent="0">
                  <a:buNone/>
                </a:pPr>
                <a:r>
                  <a:rPr lang="nl-NL" b="1" dirty="0">
                    <a:solidFill>
                      <a:srgbClr val="00B050"/>
                    </a:solidFill>
                  </a:rPr>
                  <a:t>Verwachtingswaarde: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l-NL" sz="20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nl-NL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𝒑</m:t>
                          </m:r>
                        </m:e>
                      </m:nary>
                    </m:oMath>
                  </m:oMathPara>
                </a14:m>
                <a:endParaRPr lang="nl-NL" sz="2000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 err="1">
                    <a:solidFill>
                      <a:srgbClr val="00B050"/>
                    </a:solidFill>
                  </a:rPr>
                  <a:t>Variantie</a:t>
                </a:r>
                <a:r>
                  <a:rPr lang="en-US" b="1" dirty="0">
                    <a:solidFill>
                      <a:srgbClr val="00B050"/>
                    </a:solidFill>
                  </a:rPr>
                  <a:t>:</a:t>
                </a:r>
                <a:endParaRPr lang="nl-NL" b="1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sz="2000" i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  <m:r>
                                    <a:rPr lang="nl-NL" sz="200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nl-NL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  <m:r>
                                    <a:rPr lang="nl-NL" sz="2000" b="0" i="1" smtClean="0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0−</m:t>
                                  </m:r>
                                  <m:r>
                                    <a:rPr lang="nl-NL" sz="20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  <m:sup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nl-NL" sz="2000" b="1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d>
                        </m:e>
                      </m:nary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e>
                      </m:d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l-NL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nl-NL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nl-NL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nl-NL" sz="2000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nl-NL" sz="2000" b="1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nl-NL" sz="2000" b="1" dirty="0">
                  <a:solidFill>
                    <a:srgbClr val="00B050"/>
                  </a:solidFill>
                </a:endParaRPr>
              </a:p>
              <a:p>
                <a:endParaRPr lang="nl-NL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47" t="-2296" b="-2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1116822"/>
                  </p:ext>
                </p:extLst>
              </p:nvPr>
            </p:nvGraphicFramePr>
            <p:xfrm>
              <a:off x="2063552" y="2276872"/>
              <a:ext cx="8127999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57282783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1259525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51389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38807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646090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41116822"/>
                  </p:ext>
                </p:extLst>
              </p:nvPr>
            </p:nvGraphicFramePr>
            <p:xfrm>
              <a:off x="2063552" y="2276872"/>
              <a:ext cx="8127999" cy="7416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572827836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12595252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29513898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613" r="-200899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1613" r="-101351" b="-11290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13" r="-1124" b="-1129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88077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25" t="-103279" r="-200899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100450" t="-103279" r="-101351" b="-147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nl-NL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3279" r="-1124" b="-147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646090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407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Eigenschappen</a:t>
            </a:r>
            <a:r>
              <a:rPr lang="en-US" dirty="0"/>
              <a:t> van de </a:t>
            </a:r>
            <a:r>
              <a:rPr lang="en-US" dirty="0" smtClean="0"/>
              <a:t>Bernoulli-</a:t>
            </a:r>
            <a:r>
              <a:rPr lang="en-US" dirty="0" err="1" smtClean="0"/>
              <a:t>verdeling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</p:spPr>
            <p:txBody>
              <a:bodyPr/>
              <a:lstStyle/>
              <a:p>
                <a:r>
                  <a:rPr lang="en-US" b="1" dirty="0">
                    <a:latin typeface="RijksoverheidSansText" panose="020B0503040202060203" pitchFamily="34" charset="0"/>
                  </a:rPr>
                  <a:t>Verwachtingswaarde:	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err="1">
                    <a:latin typeface="RijksoverheidSansText" panose="020B0503040202060203" pitchFamily="34" charset="0"/>
                  </a:rPr>
                  <a:t>Variantie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:			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b="0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0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0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0" dirty="0">
                  <a:latin typeface="RijksoverheidSansText" panose="020B0503040202060203" pitchFamily="34" charset="0"/>
                </a:endParaRP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539784" cy="4246562"/>
              </a:xfrm>
              <a:blipFill>
                <a:blip r:embed="rId2"/>
                <a:stretch>
                  <a:fillRect l="-1619" t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6" name="Afbeelding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7" t="5527" r="7622"/>
          <a:stretch/>
        </p:blipFill>
        <p:spPr>
          <a:xfrm>
            <a:off x="812800" y="2957662"/>
            <a:ext cx="4184556" cy="33123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/>
              <p:cNvSpPr txBox="1"/>
              <p:nvPr/>
            </p:nvSpPr>
            <p:spPr>
              <a:xfrm>
                <a:off x="5159896" y="3896519"/>
                <a:ext cx="6624736" cy="14248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≈0</m:t>
                    </m:r>
                  </m:oMath>
                </a14:m>
                <a:r>
                  <a:rPr lang="nl-NL" sz="1600" dirty="0" smtClean="0"/>
                  <a:t>: weinig variatie </a:t>
                </a:r>
                <a14:m>
                  <m:oMath xmlns:m="http://schemas.openxmlformats.org/officeDocument/2006/math"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sz="1600" dirty="0" smtClean="0"/>
                  <a:t> heel vaak mislukking bij herhaling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≈1:</m:t>
                    </m:r>
                  </m:oMath>
                </a14:m>
                <a:r>
                  <a:rPr lang="nl-NL" sz="1600" dirty="0" smtClean="0"/>
                  <a:t> weinig variatie </a:t>
                </a:r>
                <a14:m>
                  <m:oMath xmlns:m="http://schemas.openxmlformats.org/officeDocument/2006/math"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sz="1600" dirty="0" smtClean="0"/>
                  <a:t> heel vaak succes bij herhaling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nl-NL" sz="16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nl-NL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nl-NL" sz="1600" dirty="0" smtClean="0"/>
                  <a:t>: veel variatie </a:t>
                </a:r>
                <a14:m>
                  <m:oMath xmlns:m="http://schemas.openxmlformats.org/officeDocument/2006/math">
                    <m:r>
                      <a:rPr lang="nl-NL" sz="16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nl-NL" sz="1600" dirty="0" smtClean="0"/>
                  <a:t> moeilijk te voorspellen bij herhaling</a:t>
                </a:r>
                <a:endParaRPr lang="nl-NL" sz="1600" dirty="0"/>
              </a:p>
            </p:txBody>
          </p:sp>
        </mc:Choice>
        <mc:Fallback xmlns="">
          <p:sp>
            <p:nvSpPr>
              <p:cNvPr id="4" name="Tekstvak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9896" y="3896519"/>
                <a:ext cx="6624736" cy="1424877"/>
              </a:xfrm>
              <a:prstGeom prst="rect">
                <a:avLst/>
              </a:prstGeom>
              <a:blipFill>
                <a:blip r:embed="rId4"/>
                <a:stretch>
                  <a:fillRect l="-368" t="-1282" b="-4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91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Binomiale</a:t>
            </a:r>
            <a:r>
              <a:rPr lang="en-US" dirty="0"/>
              <a:t> </a:t>
            </a:r>
            <a:r>
              <a:rPr lang="en-US" dirty="0" err="1"/>
              <a:t>verdeling</a:t>
            </a:r>
            <a:r>
              <a:rPr lang="en-US" dirty="0"/>
              <a:t>: </a:t>
            </a:r>
            <a:r>
              <a:rPr lang="en-US" dirty="0" err="1"/>
              <a:t>verwachtingswaarde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variantie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365317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b="1" dirty="0" smtClean="0"/>
                  <a:t>Wat is de </a:t>
                </a:r>
                <a:r>
                  <a:rPr lang="en-US" b="1" dirty="0" err="1"/>
                  <a:t>verwachtingswaarde</a:t>
                </a:r>
                <a:r>
                  <a:rPr lang="en-US" b="1" dirty="0"/>
                  <a:t> </a:t>
                </a:r>
                <a:r>
                  <a:rPr lang="en-US" b="1" dirty="0" err="1"/>
                  <a:t>en</a:t>
                </a:r>
                <a:r>
                  <a:rPr lang="en-US" b="1" dirty="0"/>
                  <a:t> </a:t>
                </a:r>
                <a:r>
                  <a:rPr lang="en-US" b="1" dirty="0" err="1"/>
                  <a:t>variantie</a:t>
                </a:r>
                <a:r>
                  <a:rPr lang="en-US" b="1" dirty="0"/>
                  <a:t> van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binomiaal</a:t>
                </a:r>
                <a:r>
                  <a:rPr lang="en-US" b="1" dirty="0"/>
                  <a:t> </a:t>
                </a:r>
                <a:r>
                  <a:rPr lang="en-US" b="1" dirty="0" err="1"/>
                  <a:t>verdeelde</a:t>
                </a:r>
                <a:r>
                  <a:rPr lang="en-US" b="1" dirty="0"/>
                  <a:t> </a:t>
                </a:r>
                <a:r>
                  <a:rPr lang="en-US" b="1" dirty="0" err="1"/>
                  <a:t>kansvariabele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nl-NL" b="1" dirty="0"/>
              </a:p>
              <a:p>
                <a:pPr marL="0" indent="0">
                  <a:buNone/>
                </a:pPr>
                <a:endParaRPr lang="en-US" b="1" dirty="0"/>
              </a:p>
              <a:p>
                <a:pPr marL="0" indent="0">
                  <a:buNone/>
                </a:pPr>
                <a:r>
                  <a:rPr lang="en-US" b="1" dirty="0" err="1">
                    <a:latin typeface="RijksoverheidSansText" panose="020B0503040202060203" pitchFamily="34" charset="0"/>
                  </a:rPr>
                  <a:t>Methode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1: </a:t>
                </a:r>
                <a:r>
                  <a:rPr lang="en-US" dirty="0">
                    <a:latin typeface="RijksoverheidSansText" panose="020B0503040202060203" pitchFamily="34" charset="0"/>
                  </a:rPr>
                  <a:t>direct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gebruik</a:t>
                </a:r>
                <a:r>
                  <a:rPr lang="en-US" dirty="0">
                    <a:latin typeface="RijksoverheidSansText" panose="020B0503040202060203" pitchFamily="34" charset="0"/>
                  </a:rPr>
                  <a:t> van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algemene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formules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nl-NL" b="0" i="0" smtClean="0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: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nl-NL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nl-NL" sz="24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nl-NL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nl-NL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⋅</m:t>
                        </m:r>
                        <m:d>
                          <m:dPr>
                            <m:ctrlPr>
                              <a:rPr lang="nl-NL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nl-NL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nl-NL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nl-NL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nl-NL" sz="24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NL" sz="24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nl-NL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</m:e>
                          <m:sup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nl-NL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nl-NL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nl-NL" sz="2400" dirty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nl-NL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sz="24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nl-NL" sz="240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nl-NL" sz="24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24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nl-NL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nl-NL" sz="2400" i="1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nl-NL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NL" sz="24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e>
                    </m:nary>
                    <m:r>
                      <a:rPr lang="nl-NL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nl-NL" sz="2400" dirty="0"/>
              </a:p>
              <a:p>
                <a:pPr marL="0" indent="0" algn="ctr">
                  <a:buNone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dirty="0" err="1">
                    <a:latin typeface="RijksoverheidSansText" panose="020B0503040202060203" pitchFamily="34" charset="0"/>
                  </a:rPr>
                  <a:t>Dit</a:t>
                </a:r>
                <a:r>
                  <a:rPr lang="en-US" dirty="0">
                    <a:latin typeface="RijksoverheidSansText" panose="020B0503040202060203" pitchFamily="34" charset="0"/>
                  </a:rPr>
                  <a:t> is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mogelijke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methode</a:t>
                </a:r>
                <a:r>
                  <a:rPr lang="en-US" dirty="0">
                    <a:latin typeface="RijksoverheidSansText" panose="020B0503040202060203" pitchFamily="34" charset="0"/>
                  </a:rPr>
                  <a:t> om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mee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rekenen</a:t>
                </a:r>
                <a:r>
                  <a:rPr lang="en-US" dirty="0">
                    <a:latin typeface="RijksoverheidSansText" panose="020B0503040202060203" pitchFamily="34" charset="0"/>
                  </a:rPr>
                  <a:t>, maar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onnodig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moeilijk</a:t>
                </a:r>
                <a:r>
                  <a:rPr lang="en-US" dirty="0">
                    <a:latin typeface="RijksoverheidSansText" panose="020B0503040202060203" pitchFamily="34" charset="0"/>
                  </a:rPr>
                  <a:t>…</a:t>
                </a:r>
                <a:endParaRPr lang="nl-NL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365317" cy="4246562"/>
              </a:xfrm>
              <a:blipFill>
                <a:blip r:embed="rId2"/>
                <a:stretch>
                  <a:fillRect l="-1646" t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626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Binomiale</a:t>
            </a:r>
            <a:r>
              <a:rPr lang="en-US" dirty="0"/>
              <a:t> </a:t>
            </a:r>
            <a:r>
              <a:rPr lang="en-US" dirty="0" err="1"/>
              <a:t>verdeling</a:t>
            </a:r>
            <a:r>
              <a:rPr lang="en-US" dirty="0"/>
              <a:t>: </a:t>
            </a:r>
            <a:r>
              <a:rPr lang="en-US" dirty="0" err="1"/>
              <a:t>verwachtingswaarde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variantie</a:t>
            </a:r>
            <a:endParaRPr lang="nl-NL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 smtClean="0">
                    <a:latin typeface="RijksoverheidSansText" panose="020B0503040202060203" pitchFamily="34" charset="0"/>
                  </a:rPr>
                  <a:t>Methode </a:t>
                </a:r>
                <a:r>
                  <a:rPr lang="en-US" sz="2400" b="1" dirty="0">
                    <a:latin typeface="RijksoverheidSansText" panose="020B0503040202060203" pitchFamily="34" charset="0"/>
                  </a:rPr>
                  <a:t>2: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>
                    <a:latin typeface="RijksoverheidSansText" panose="020B0503040202060203" pitchFamily="34" charset="0"/>
                  </a:rPr>
                  <a:t> is de 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som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van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b="1" dirty="0" err="1">
                    <a:latin typeface="RijksoverheidSansText" panose="020B0503040202060203" pitchFamily="34" charset="0"/>
                  </a:rPr>
                  <a:t>onafhankelijke</a:t>
                </a:r>
                <a:r>
                  <a:rPr lang="en-US" sz="2400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Bernoulli-</a:t>
                </a:r>
                <a:r>
                  <a:rPr lang="en-US" sz="2400" dirty="0" err="1">
                    <a:latin typeface="RijksoverheidSansText" panose="020B0503040202060203" pitchFamily="34" charset="0"/>
                  </a:rPr>
                  <a:t>variabelen</a:t>
                </a:r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,….</m:t>
                    </m:r>
                  </m:oMath>
                </a14:m>
                <a:r>
                  <a:rPr lang="en-US" sz="2400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nl-NL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=…=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nl-NL" sz="2000" b="0" i="0" dirty="0" smtClean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=…=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RijksoverheidSansText" panose="020B0503040202060203" pitchFamily="34" charset="0"/>
                </a:endParaRPr>
              </a:p>
              <a:p>
                <a:pPr marL="0" indent="0">
                  <a:buNone/>
                </a:pPr>
                <a:r>
                  <a:rPr lang="en-US" sz="2400" b="1" dirty="0" err="1">
                    <a:latin typeface="RijksoverheidSansText" panose="020B0503040202060203" pitchFamily="34" charset="0"/>
                  </a:rPr>
                  <a:t>Verwachtingswaarde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sz="2400" b="1" dirty="0">
                  <a:latin typeface="RijksoverheidSansText" panose="020B0503040202060203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𝒏𝒑</m:t>
                      </m:r>
                    </m:oMath>
                  </m:oMathPara>
                </a14:m>
                <a:endParaRPr lang="en-US" sz="2400" b="1" dirty="0">
                  <a:solidFill>
                    <a:schemeClr val="accent1"/>
                  </a:solidFill>
                  <a:latin typeface="RijksoverheidSansText" panose="020B0503040202060203" pitchFamily="34" charset="0"/>
                </a:endParaRP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Variantie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:</a:t>
                </a:r>
                <a:endParaRPr lang="nl-NL" sz="2400" dirty="0">
                  <a:solidFill>
                    <a:srgbClr val="00B050"/>
                  </a:solidFill>
                  <a:latin typeface="RijksoverheidSansText" panose="020B0503040202060203" pitchFamily="34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nl-NL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nl-NL" sz="24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𝒏𝒑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sz="2400" b="1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b="1" i="1" dirty="0">
                  <a:solidFill>
                    <a:schemeClr val="accent1"/>
                  </a:solidFill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723" t="-2582" b="-4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grpSp>
        <p:nvGrpSpPr>
          <p:cNvPr id="9" name="Groep 8"/>
          <p:cNvGrpSpPr/>
          <p:nvPr/>
        </p:nvGrpSpPr>
        <p:grpSpPr>
          <a:xfrm>
            <a:off x="3836720" y="4571969"/>
            <a:ext cx="1180131" cy="504056"/>
            <a:chOff x="3863752" y="4797152"/>
            <a:chExt cx="1180131" cy="504056"/>
          </a:xfrm>
        </p:grpSpPr>
        <p:sp>
          <p:nvSpPr>
            <p:cNvPr id="4" name="TextBox 3"/>
            <p:cNvSpPr txBox="1"/>
            <p:nvPr/>
          </p:nvSpPr>
          <p:spPr>
            <a:xfrm>
              <a:off x="3863752" y="4797152"/>
              <a:ext cx="11801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sng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ijksoverheidSansText" panose="020B0503040202060203" pitchFamily="34" charset="0"/>
                  <a:ea typeface="+mn-ea"/>
                  <a:cs typeface="+mn-cs"/>
                </a:rPr>
                <a:t>onafhankelijkheid</a:t>
              </a:r>
              <a:endParaRPr kumimoji="0" lang="nl-NL" sz="1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endParaRPr>
            </a:p>
          </p:txBody>
        </p:sp>
        <p:cxnSp>
          <p:nvCxnSpPr>
            <p:cNvPr id="10" name="Straight Arrow Connector 9"/>
            <p:cNvCxnSpPr>
              <a:stCxn id="4" idx="2"/>
            </p:cNvCxnSpPr>
            <p:nvPr/>
          </p:nvCxnSpPr>
          <p:spPr bwMode="auto">
            <a:xfrm flipH="1">
              <a:off x="4453817" y="5043373"/>
              <a:ext cx="1" cy="2578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" name="Groep 5"/>
          <p:cNvGrpSpPr/>
          <p:nvPr/>
        </p:nvGrpSpPr>
        <p:grpSpPr>
          <a:xfrm>
            <a:off x="2656589" y="3435832"/>
            <a:ext cx="1180131" cy="486262"/>
            <a:chOff x="2683621" y="3650298"/>
            <a:chExt cx="1180131" cy="486262"/>
          </a:xfrm>
        </p:grpSpPr>
        <p:sp>
          <p:nvSpPr>
            <p:cNvPr id="7" name="TextBox 3"/>
            <p:cNvSpPr txBox="1"/>
            <p:nvPr/>
          </p:nvSpPr>
          <p:spPr>
            <a:xfrm>
              <a:off x="2683621" y="3650298"/>
              <a:ext cx="1180131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sng" strike="noStrike" kern="120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RijksoverheidSansText" panose="020B0503040202060203" pitchFamily="34" charset="0"/>
                  <a:ea typeface="+mn-ea"/>
                  <a:cs typeface="+mn-cs"/>
                </a:rPr>
                <a:t>onafhankelijkheid</a:t>
              </a:r>
              <a:endParaRPr kumimoji="0" lang="nl-NL" sz="10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ijksoverheidSansText" panose="020B0503040202060203" pitchFamily="34" charset="0"/>
                <a:ea typeface="+mn-ea"/>
                <a:cs typeface="+mn-cs"/>
              </a:endParaRPr>
            </a:p>
          </p:txBody>
        </p:sp>
        <p:cxnSp>
          <p:nvCxnSpPr>
            <p:cNvPr id="8" name="Straight Arrow Connector 9"/>
            <p:cNvCxnSpPr/>
            <p:nvPr/>
          </p:nvCxnSpPr>
          <p:spPr bwMode="auto">
            <a:xfrm flipH="1">
              <a:off x="3243953" y="3878725"/>
              <a:ext cx="1" cy="2578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93283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smtClean="0"/>
              <a:t>Casus: </a:t>
            </a:r>
            <a:r>
              <a:rPr lang="en-US" dirty="0" err="1" smtClean="0"/>
              <a:t>bergoperaties</a:t>
            </a:r>
            <a:r>
              <a:rPr lang="en-US" dirty="0" smtClean="0"/>
              <a:t> van Mountain Leaders</a:t>
            </a:r>
            <a:endParaRPr lang="nl-N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6507336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Tien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eenheden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smtClean="0">
                <a:latin typeface="RijksoverheidSansText" panose="020B0503040202060203" pitchFamily="34" charset="0"/>
              </a:rPr>
              <a:t>van </a:t>
            </a:r>
            <a:r>
              <a:rPr lang="en-US" sz="2400" dirty="0">
                <a:latin typeface="RijksoverheidSansText" panose="020B0503040202060203" pitchFamily="34" charset="0"/>
              </a:rPr>
              <a:t>Mountain </a:t>
            </a:r>
            <a:r>
              <a:rPr lang="en-US" sz="2400" dirty="0" smtClean="0">
                <a:latin typeface="RijksoverheidSansText" panose="020B0503040202060203" pitchFamily="34" charset="0"/>
              </a:rPr>
              <a:t>Leaders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gezamenlijke</a:t>
            </a:r>
            <a:r>
              <a:rPr lang="en-US" sz="2400" dirty="0" smtClean="0">
                <a:latin typeface="RijksoverheidSansText" panose="020B0503040202060203" pitchFamily="34" charset="0"/>
              </a:rPr>
              <a:t> NAVO-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</a:t>
            </a:r>
            <a:r>
              <a:rPr lang="en-US" sz="2400" dirty="0" smtClean="0">
                <a:latin typeface="RijksoverheidSansText" panose="020B0503040202060203" pitchFamily="34" charset="0"/>
              </a:rPr>
              <a:t> in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Noorwegen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 smtClean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latin typeface="RijksoverheidSansText" panose="020B0503040202060203" pitchFamily="34" charset="0"/>
              </a:rPr>
              <a:t>Doel</a:t>
            </a:r>
            <a:r>
              <a:rPr lang="en-US" sz="2400" b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verplaatsing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uitvoeren</a:t>
            </a:r>
            <a:r>
              <a:rPr lang="en-US" sz="2400" dirty="0" smtClean="0">
                <a:latin typeface="RijksoverheidSansText" panose="020B0503040202060203" pitchFamily="34" charset="0"/>
              </a:rPr>
              <a:t> over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bergpas</a:t>
            </a:r>
            <a:r>
              <a:rPr lang="en-US" sz="2400" dirty="0" smtClean="0">
                <a:latin typeface="RijksoverheidSansText" panose="020B0503040202060203" pitchFamily="34" charset="0"/>
              </a:rPr>
              <a:t>,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ongezien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binnen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een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bepaalde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tijd</a:t>
            </a:r>
            <a:r>
              <a:rPr lang="en-US" sz="2400" dirty="0" smtClean="0">
                <a:latin typeface="RijksoverheidSansText" panose="020B0503040202060203" pitchFamily="34" charset="0"/>
              </a:rPr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Historische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oefeningsdata</a:t>
            </a:r>
            <a:r>
              <a:rPr lang="en-US" sz="2400" dirty="0" smtClean="0">
                <a:latin typeface="RijksoverheidSansText" panose="020B0503040202060203" pitchFamily="34" charset="0"/>
              </a:rPr>
              <a:t>: 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75</a:t>
            </a:r>
            <a:r>
              <a:rPr lang="en-US" sz="2400" dirty="0">
                <a:latin typeface="RijksoverheidSansText" panose="020B0503040202060203" pitchFamily="34" charset="0"/>
              </a:rPr>
              <a:t>%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kans</a:t>
            </a:r>
            <a:r>
              <a:rPr lang="en-US" sz="2400" dirty="0" smtClean="0">
                <a:latin typeface="RijksoverheidSansText" panose="020B0503040202060203" pitchFamily="34" charset="0"/>
              </a:rPr>
              <a:t> op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succes</a:t>
            </a:r>
            <a:r>
              <a:rPr lang="en-US" sz="2400" dirty="0" smtClean="0">
                <a:latin typeface="RijksoverheidSansText" panose="020B0503040202060203" pitchFamily="34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RijksoverheidSansText" panose="020B0503040202060203" pitchFamily="34" charset="0"/>
            </a:endParaRPr>
          </a:p>
          <a:p>
            <a:r>
              <a:rPr lang="en-US" sz="2400" b="1" dirty="0"/>
              <a:t>Wat is de </a:t>
            </a:r>
            <a:r>
              <a:rPr lang="en-US" sz="2400" b="1" dirty="0" err="1"/>
              <a:t>verwachtingswaarde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de </a:t>
            </a:r>
            <a:r>
              <a:rPr lang="en-US" sz="2400" b="1" dirty="0" err="1"/>
              <a:t>standaardafwijking</a:t>
            </a:r>
            <a:r>
              <a:rPr lang="en-US" sz="2400" b="1" dirty="0"/>
              <a:t> van het </a:t>
            </a:r>
            <a:r>
              <a:rPr lang="en-US" sz="2400" b="1" dirty="0" err="1"/>
              <a:t>aantal</a:t>
            </a:r>
            <a:r>
              <a:rPr lang="en-US" sz="2400" b="1" dirty="0"/>
              <a:t> </a:t>
            </a:r>
            <a:r>
              <a:rPr lang="en-US" sz="2400" b="1" dirty="0" err="1"/>
              <a:t>eenheden</a:t>
            </a:r>
            <a:r>
              <a:rPr lang="en-US" sz="2400" b="1" dirty="0"/>
              <a:t> </a:t>
            </a:r>
            <a:r>
              <a:rPr lang="en-US" sz="2400" b="1" dirty="0" err="1"/>
              <a:t>dat</a:t>
            </a:r>
            <a:r>
              <a:rPr lang="en-US" sz="2400" b="1" dirty="0"/>
              <a:t> de </a:t>
            </a:r>
            <a:r>
              <a:rPr lang="en-US" sz="2400" b="1" dirty="0" err="1"/>
              <a:t>verplaatsing</a:t>
            </a:r>
            <a:r>
              <a:rPr lang="en-US" sz="2400" b="1" dirty="0"/>
              <a:t> </a:t>
            </a:r>
            <a:r>
              <a:rPr lang="en-US" sz="2400" b="1" dirty="0" err="1"/>
              <a:t>ongezien</a:t>
            </a:r>
            <a:r>
              <a:rPr lang="en-US" sz="2400" b="1" dirty="0"/>
              <a:t> </a:t>
            </a:r>
            <a:r>
              <a:rPr lang="en-US" sz="2400" b="1" dirty="0" err="1"/>
              <a:t>en</a:t>
            </a:r>
            <a:r>
              <a:rPr lang="en-US" sz="2400" b="1" dirty="0"/>
              <a:t> </a:t>
            </a:r>
            <a:r>
              <a:rPr lang="en-US" sz="2400" b="1" dirty="0" err="1"/>
              <a:t>binnen</a:t>
            </a:r>
            <a:r>
              <a:rPr lang="en-US" sz="2400" b="1" dirty="0"/>
              <a:t> de </a:t>
            </a:r>
            <a:r>
              <a:rPr lang="en-US" sz="2400" b="1" dirty="0" err="1"/>
              <a:t>tijd</a:t>
            </a:r>
            <a:r>
              <a:rPr lang="en-US" sz="2400" b="1" dirty="0"/>
              <a:t> </a:t>
            </a:r>
            <a:r>
              <a:rPr lang="en-US" sz="2400" b="1" dirty="0" err="1"/>
              <a:t>uitvoert</a:t>
            </a:r>
            <a:r>
              <a:rPr lang="en-US" sz="2400" b="1" dirty="0"/>
              <a:t>?</a:t>
            </a:r>
          </a:p>
          <a:p>
            <a:pPr algn="ctr"/>
            <a:endParaRPr lang="en-US" sz="2400" b="1" dirty="0" smtClean="0"/>
          </a:p>
          <a:p>
            <a:pPr algn="ctr"/>
            <a:endParaRPr lang="nl-NL" sz="2400" b="1" dirty="0" smtClean="0"/>
          </a:p>
          <a:p>
            <a:pPr algn="ctr"/>
            <a:endParaRPr lang="en-US" sz="2400" b="1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  <p:pic>
        <p:nvPicPr>
          <p:cNvPr id="4" name="Afbeelding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144" y="2324513"/>
            <a:ext cx="4716016" cy="3144011"/>
          </a:xfrm>
          <a:prstGeom prst="rect">
            <a:avLst/>
          </a:prstGeom>
        </p:spPr>
      </p:pic>
      <p:sp>
        <p:nvSpPr>
          <p:cNvPr id="5" name="Tekstvak 4"/>
          <p:cNvSpPr txBox="1"/>
          <p:nvPr/>
        </p:nvSpPr>
        <p:spPr>
          <a:xfrm>
            <a:off x="7896200" y="5589240"/>
            <a:ext cx="37444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https://magazines.defensie.nl/defensiekrant/2015/17/mountain-leaders</a:t>
            </a:r>
          </a:p>
        </p:txBody>
      </p:sp>
    </p:spTree>
    <p:extLst>
      <p:ext uri="{BB962C8B-B14F-4D97-AF65-F5344CB8AC3E}">
        <p14:creationId xmlns:p14="http://schemas.microsoft.com/office/powerpoint/2010/main" val="41951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/>
              <a:t>Voorbeeld</a:t>
            </a:r>
            <a:r>
              <a:rPr lang="en-US" dirty="0"/>
              <a:t>: </a:t>
            </a:r>
            <a:r>
              <a:rPr lang="en-US" dirty="0" err="1"/>
              <a:t>bergoperaties</a:t>
            </a:r>
            <a:r>
              <a:rPr lang="en-US" dirty="0"/>
              <a:t> van Mountain Leaders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</p:spPr>
            <p:txBody>
              <a:bodyPr/>
              <a:lstStyle/>
              <a:p>
                <a:r>
                  <a:rPr lang="en-US" b="1" dirty="0" smtClean="0"/>
                  <a:t>Wat is de </a:t>
                </a:r>
                <a:r>
                  <a:rPr lang="en-US" b="1" dirty="0" err="1"/>
                  <a:t>verwachtingswaarde</a:t>
                </a:r>
                <a:r>
                  <a:rPr lang="en-US" b="1" dirty="0"/>
                  <a:t> </a:t>
                </a:r>
                <a:r>
                  <a:rPr lang="en-US" b="1" dirty="0" err="1"/>
                  <a:t>en</a:t>
                </a:r>
                <a:r>
                  <a:rPr lang="en-US" b="1" dirty="0"/>
                  <a:t> de </a:t>
                </a:r>
                <a:r>
                  <a:rPr lang="en-US" b="1" dirty="0" err="1"/>
                  <a:t>standaardafwijking</a:t>
                </a:r>
                <a:r>
                  <a:rPr lang="en-US" b="1" dirty="0"/>
                  <a:t> van het </a:t>
                </a:r>
                <a:r>
                  <a:rPr lang="en-US" b="1" dirty="0" err="1"/>
                  <a:t>aantal</a:t>
                </a:r>
                <a:r>
                  <a:rPr lang="en-US" b="1" dirty="0"/>
                  <a:t> </a:t>
                </a:r>
                <a:r>
                  <a:rPr lang="en-US" b="1" dirty="0" err="1"/>
                  <a:t>succesvolle</a:t>
                </a:r>
                <a:r>
                  <a:rPr lang="en-US" b="1" dirty="0"/>
                  <a:t> </a:t>
                </a:r>
                <a:r>
                  <a:rPr lang="en-US" b="1" dirty="0" err="1"/>
                  <a:t>operaties</a:t>
                </a:r>
                <a:r>
                  <a:rPr lang="en-US" b="1" dirty="0"/>
                  <a:t>?</a:t>
                </a:r>
              </a:p>
              <a:p>
                <a:pPr marL="0" indent="0">
                  <a:buNone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>
                    <a:latin typeface="RijksoverheidSansText" panose="020B0503040202060203" pitchFamily="34" charset="0"/>
                  </a:rPr>
                  <a:t>de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verplaatsing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ongezien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binnen</a:t>
                </a:r>
                <a:r>
                  <a:rPr lang="en-US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tijd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uitvoert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is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binomiale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kansvariabele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met </a:t>
                </a:r>
                <a:r>
                  <a:rPr lang="en-US" dirty="0">
                    <a:latin typeface="RijksoverheidSansText" panose="020B0503040202060203" pitchFamily="34" charset="0"/>
                  </a:rPr>
                  <a:t>parameters </a:t>
                </a:r>
                <a:endParaRPr lang="nl-NL" b="0" i="1" dirty="0" smtClean="0"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(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),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(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succeskans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).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err="1">
                    <a:latin typeface="RijksoverheidSansText" panose="020B0503040202060203" pitchFamily="34" charset="0"/>
                  </a:rPr>
                  <a:t>Verwachtingswaarde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=10⋅0.75=7.5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err="1">
                    <a:latin typeface="RijksoverheidSansText" panose="020B0503040202060203" pitchFamily="34" charset="0"/>
                  </a:rPr>
                  <a:t>Standaardafwijking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5=1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75</m:t>
                      </m:r>
                    </m:oMath>
                    <m:oMath xmlns:m="http://schemas.openxmlformats.org/officeDocument/2006/math"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𝜎</m:t>
                      </m:r>
                      <m:d>
                        <m:dPr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m:rPr>
                          <m:aln/>
                        </m:rP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sty m:val="p"/>
                            </m:rPr>
                            <a:rPr lang="nl-NL" b="0" i="0" smtClean="0">
                              <a:latin typeface="Cambria Math" panose="02040503050406030204" pitchFamily="18" charset="0"/>
                            </a:rPr>
                            <m:t>Var</m:t>
                          </m:r>
                          <m:d>
                            <m:dPr>
                              <m:ctrlP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NL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ra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nl-NL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1.875</m:t>
                          </m:r>
                        </m:e>
                      </m:rad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≈1.3693</m:t>
                      </m:r>
                    </m:oMath>
                  </m:oMathPara>
                </a14:m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971832" cy="4246562"/>
              </a:xfrm>
              <a:blipFill>
                <a:blip r:embed="rId2"/>
                <a:stretch>
                  <a:fillRect l="-1556" t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46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92516769"/>
                  </p:ext>
                </p:extLst>
              </p:nvPr>
            </p:nvGraphicFramePr>
            <p:xfrm>
              <a:off x="480304" y="1124744"/>
              <a:ext cx="11377264" cy="51468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82411">
                      <a:extLst>
                        <a:ext uri="{9D8B030D-6E8A-4147-A177-3AD203B41FA5}">
                          <a16:colId xmlns:a16="http://schemas.microsoft.com/office/drawing/2014/main" val="1330714194"/>
                        </a:ext>
                      </a:extLst>
                    </a:gridCol>
                    <a:gridCol w="3766586">
                      <a:extLst>
                        <a:ext uri="{9D8B030D-6E8A-4147-A177-3AD203B41FA5}">
                          <a16:colId xmlns:a16="http://schemas.microsoft.com/office/drawing/2014/main" val="2200371005"/>
                        </a:ext>
                      </a:extLst>
                    </a:gridCol>
                    <a:gridCol w="4728267">
                      <a:extLst>
                        <a:ext uri="{9D8B030D-6E8A-4147-A177-3AD203B41FA5}">
                          <a16:colId xmlns:a16="http://schemas.microsoft.com/office/drawing/2014/main" val="3554605379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Bernoulli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Binomiaal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824072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Parameters: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Succeskans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Aantal Bernoulli-</a:t>
                          </a: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experimenten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oMath>
                          </a14:m>
                          <a:endParaRPr lang="en-US" sz="2200" dirty="0">
                            <a:latin typeface="RijksoverheidSansText" panose="020B0503040202060203" pitchFamily="34" charset="0"/>
                          </a:endParaRPr>
                        </a:p>
                        <a:p>
                          <a:pPr marL="285750" indent="-285750" algn="l">
                            <a:buFont typeface="Arial" panose="020B0604020202020204" pitchFamily="34" charset="0"/>
                            <a:buChar char="•"/>
                          </a:pP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Succeskans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5101325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Kansfunctie</a:t>
                          </a:r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: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{"/>
                                    <m:endChr m:val="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eqArr>
                                      <m:eqArr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eqArr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1,            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b="0" i="0" smtClean="0">
                                            <a:latin typeface="Cambria Math" panose="02040503050406030204" pitchFamily="18" charset="0"/>
                                          </a:rPr>
                                          <m:t>kans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 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0,   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00" b="0" i="0" smtClean="0">
                                            <a:latin typeface="Cambria Math" panose="02040503050406030204" pitchFamily="18" charset="0"/>
                                          </a:rPr>
                                          <m:t>kans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 1−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eqArr>
                                  </m:e>
                                </m:d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noBar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num>
                                      <m:den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den>
                                    </m:f>
                                  </m:e>
                                </m:d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sSup>
                                  <m:sSup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6029711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GR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-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342900" indent="-34290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i="0" u="none" dirty="0" smtClean="0">
                                  <a:latin typeface="Cambria Math" panose="02040503050406030204" pitchFamily="18" charset="0"/>
                                </a:rPr>
                                <m:t>binompdf</m:t>
                              </m:r>
                              <m:r>
                                <a:rPr lang="en-US" sz="2200" b="0" i="0" u="none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NL" sz="2200" b="0" i="1" u="none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nl-NL" sz="2200" b="0" i="1" u="none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2200" i="0" u="none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i="0" u="none" dirty="0" err="1">
                              <a:latin typeface="RijksoverheidSansText" panose="020B0503040202060203" pitchFamily="34" charset="0"/>
                            </a:rPr>
                            <a:t>voor</a:t>
                          </a:r>
                          <a:r>
                            <a:rPr lang="en-US" sz="2200" i="0" u="none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nl-NL" sz="2200" i="0" u="none" dirty="0">
                            <a:latin typeface="RijksoverheidSansText" panose="020B0503040202060203" pitchFamily="34" charset="0"/>
                          </a:endParaRPr>
                        </a:p>
                        <a:p>
                          <a:pPr marL="342900" indent="-342900" algn="l">
                            <a:buFont typeface="Arial" panose="020B0604020202020204" pitchFamily="34" charset="0"/>
                            <a:buChar char="•"/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i="0" u="none" dirty="0" smtClean="0">
                                  <a:latin typeface="Cambria Math" panose="02040503050406030204" pitchFamily="18" charset="0"/>
                                </a:rPr>
                                <m:t>binom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0" u="none" dirty="0" smtClean="0"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  <m:r>
                                <m:rPr>
                                  <m:sty m:val="p"/>
                                </m:rPr>
                                <a:rPr lang="en-US" sz="2200" i="0" u="none" dirty="0" smtClean="0">
                                  <a:latin typeface="Cambria Math" panose="02040503050406030204" pitchFamily="18" charset="0"/>
                                </a:rPr>
                                <m:t>df</m:t>
                              </m:r>
                              <m:r>
                                <a:rPr lang="en-US" sz="2200" b="0" i="0" u="none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NL" sz="2200" b="0" i="1" u="none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nl-NL" sz="2200" b="0" i="1" u="none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u="none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nl-NL" sz="2200" i="0" u="none" dirty="0">
                              <a:latin typeface="RijksoverheidSansText" panose="020B0503040202060203" pitchFamily="34" charset="0"/>
                            </a:rPr>
                            <a:t> voor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0" u="none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200" b="0" i="1" u="none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nl-NL" sz="2200" i="0" u="none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862038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Verwachtingswaarde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0358127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 smtClean="0">
                              <a:latin typeface="RijksoverheidSansText" panose="020B0503040202060203" pitchFamily="34" charset="0"/>
                            </a:rPr>
                            <a:t>Standaardafwijking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nl-NL" sz="2200" i="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531250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Interpretatie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 smtClean="0">
                              <a:latin typeface="RijksoverheidSansText" panose="020B0503040202060203" pitchFamily="34" charset="0"/>
                            </a:rPr>
                            <a:t>Antwoord</a:t>
                          </a:r>
                          <a:r>
                            <a:rPr lang="en-US" sz="2200" dirty="0" smtClean="0">
                              <a:latin typeface="RijksoverheidSansText" panose="020B0503040202060203" pitchFamily="34" charset="0"/>
                            </a:rPr>
                            <a:t> op </a:t>
                          </a:r>
                          <a:r>
                            <a:rPr lang="en-US" sz="2200" dirty="0" err="1" smtClean="0">
                              <a:latin typeface="RijksoverheidSansText" panose="020B0503040202060203" pitchFamily="34" charset="0"/>
                            </a:rPr>
                            <a:t>een</a:t>
                          </a:r>
                          <a:r>
                            <a:rPr lang="en-US" sz="2200" dirty="0" smtClean="0">
                              <a:latin typeface="RijksoverheidSansText" panose="020B0503040202060203" pitchFamily="34" charset="0"/>
                            </a:rPr>
                            <a:t> “ja/nee”-</a:t>
                          </a:r>
                          <a:r>
                            <a:rPr lang="en-US" sz="2200" dirty="0" err="1" smtClean="0">
                              <a:latin typeface="RijksoverheidSansText" panose="020B0503040202060203" pitchFamily="34" charset="0"/>
                            </a:rPr>
                            <a:t>vraag</a:t>
                          </a:r>
                          <a:r>
                            <a:rPr lang="en-US" sz="2200" dirty="0" smtClean="0">
                              <a:latin typeface="RijksoverheidSansText" panose="020B0503040202060203" pitchFamily="34" charset="0"/>
                            </a:rPr>
                            <a:t> met </a:t>
                          </a:r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kans</a:t>
                          </a:r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 op </a:t>
                          </a:r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“ja” (succes) </a:t>
                          </a:r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en kans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 op </a:t>
                          </a:r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“nee” (mislukking)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smtClean="0">
                              <a:latin typeface="RijksoverheidSansText" panose="020B0503040202060203" pitchFamily="34" charset="0"/>
                            </a:rPr>
                            <a:t>Aantal “</a:t>
                          </a:r>
                          <a:r>
                            <a:rPr lang="en-US" sz="2200" dirty="0" err="1" smtClean="0">
                              <a:latin typeface="RijksoverheidSansText" panose="020B0503040202060203" pitchFamily="34" charset="0"/>
                            </a:rPr>
                            <a:t>ja’s</a:t>
                          </a:r>
                          <a:r>
                            <a:rPr lang="en-US" sz="2200" dirty="0" smtClean="0">
                              <a:latin typeface="RijksoverheidSansText" panose="020B0503040202060203" pitchFamily="34" charset="0"/>
                            </a:rPr>
                            <a:t>”</a:t>
                          </a:r>
                          <a:r>
                            <a:rPr lang="en-US" sz="2200" baseline="0" dirty="0" smtClean="0">
                              <a:latin typeface="RijksoverheidSansText" panose="020B0503040202060203" pitchFamily="34" charset="0"/>
                            </a:rPr>
                            <a:t> op </a:t>
                          </a:r>
                          <a:r>
                            <a:rPr lang="en-US" sz="2200" baseline="0" dirty="0" err="1" smtClean="0">
                              <a:latin typeface="RijksoverheidSansText" panose="020B0503040202060203" pitchFamily="34" charset="0"/>
                            </a:rPr>
                            <a:t>een</a:t>
                          </a:r>
                          <a:r>
                            <a:rPr lang="en-US" sz="2200" baseline="0" dirty="0" smtClean="0">
                              <a:latin typeface="RijksoverheidSansText" panose="020B0503040202060203" pitchFamily="34" charset="0"/>
                            </a:rPr>
                            <a:t> reeks “ja/nee”-</a:t>
                          </a:r>
                          <a:r>
                            <a:rPr lang="en-US" sz="2200" baseline="0" dirty="0" err="1" smtClean="0">
                              <a:latin typeface="RijksoverheidSansText" panose="020B0503040202060203" pitchFamily="34" charset="0"/>
                            </a:rPr>
                            <a:t>vragen</a:t>
                          </a:r>
                          <a:r>
                            <a:rPr lang="en-US" sz="2200" baseline="0" dirty="0" smtClean="0">
                              <a:latin typeface="RijksoverheidSansText" panose="020B0503040202060203" pitchFamily="34" charset="0"/>
                            </a:rPr>
                            <a:t> met</a:t>
                          </a:r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kans </a:t>
                          </a:r>
                          <a14:m>
                            <m:oMath xmlns:m="http://schemas.openxmlformats.org/officeDocument/2006/math"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nl-NL" sz="2200" dirty="0">
                              <a:latin typeface="RijksoverheidSansText" panose="020B0503040202060203" pitchFamily="34" charset="0"/>
                            </a:rPr>
                            <a:t> op </a:t>
                          </a:r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“ja”</a:t>
                          </a:r>
                          <a:r>
                            <a:rPr lang="nl-NL" sz="2200" baseline="0" dirty="0" smtClean="0">
                              <a:latin typeface="RijksoverheidSansText" panose="020B0503040202060203" pitchFamily="34" charset="0"/>
                            </a:rPr>
                            <a:t> en kans </a:t>
                          </a:r>
                          <a14:m>
                            <m:oMath xmlns:m="http://schemas.openxmlformats.org/officeDocument/2006/math">
                              <m:r>
                                <a:rPr lang="nl-NL" sz="2200" b="0" i="1" baseline="0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nl-NL" sz="2200" b="0" i="1" baseline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oMath>
                          </a14:m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 op “nee”.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810841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Content Placeholder 3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92516769"/>
                  </p:ext>
                </p:extLst>
              </p:nvPr>
            </p:nvGraphicFramePr>
            <p:xfrm>
              <a:off x="480304" y="1124744"/>
              <a:ext cx="11377264" cy="514680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82411">
                      <a:extLst>
                        <a:ext uri="{9D8B030D-6E8A-4147-A177-3AD203B41FA5}">
                          <a16:colId xmlns:a16="http://schemas.microsoft.com/office/drawing/2014/main" val="1330714194"/>
                        </a:ext>
                      </a:extLst>
                    </a:gridCol>
                    <a:gridCol w="3766586">
                      <a:extLst>
                        <a:ext uri="{9D8B030D-6E8A-4147-A177-3AD203B41FA5}">
                          <a16:colId xmlns:a16="http://schemas.microsoft.com/office/drawing/2014/main" val="2200371005"/>
                        </a:ext>
                      </a:extLst>
                    </a:gridCol>
                    <a:gridCol w="4728267">
                      <a:extLst>
                        <a:ext uri="{9D8B030D-6E8A-4147-A177-3AD203B41FA5}">
                          <a16:colId xmlns:a16="http://schemas.microsoft.com/office/drawing/2014/main" val="3554605379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Bernoulli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Binomiaal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3824072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Parameters: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60800" r="-126010" b="-53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60800" r="-515" b="-536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0132548"/>
                      </a:ext>
                    </a:extLst>
                  </a:tr>
                  <a:tr h="83934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Kansfunctie</a:t>
                          </a:r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: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145652" r="-126010" b="-3855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145652" r="-515" b="-3855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02971160"/>
                      </a:ext>
                    </a:extLst>
                  </a:tr>
                  <a:tr h="762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GR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nl-NL" sz="2200" dirty="0" smtClean="0">
                              <a:latin typeface="RijksoverheidSansText" panose="020B0503040202060203" pitchFamily="34" charset="0"/>
                            </a:rPr>
                            <a:t>-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271200" r="-515" b="-3256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6203806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>
                              <a:latin typeface="RijksoverheidSansText" panose="020B0503040202060203" pitchFamily="34" charset="0"/>
                            </a:rPr>
                            <a:t> </a:t>
                          </a:r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Verwachtingswaarde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662857" r="-126010" b="-48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662857" r="-515" b="-48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3581276"/>
                      </a:ext>
                    </a:extLst>
                  </a:tr>
                  <a:tr h="49745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 smtClean="0">
                              <a:latin typeface="RijksoverheidSansText" panose="020B0503040202060203" pitchFamily="34" charset="0"/>
                            </a:rPr>
                            <a:t>Standaardafwijking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651220" r="-126010" b="-3109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651220" r="-515" b="-3109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3125036"/>
                      </a:ext>
                    </a:extLst>
                  </a:tr>
                  <a:tr h="14325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b="1" dirty="0" err="1">
                              <a:latin typeface="RijksoverheidSansText" panose="020B0503040202060203" pitchFamily="34" charset="0"/>
                            </a:rPr>
                            <a:t>Interpretatie</a:t>
                          </a:r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76575" t="-262128" r="-126010" b="-85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0851" t="-262128" r="-515" b="-85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10841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binomiale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verdeling</a:t>
            </a:r>
            <a:r>
              <a:rPr kumimoji="0" lang="en-US" sz="11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0415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r>
                  <a:rPr lang="en-US" b="1" dirty="0"/>
                  <a:t>Bij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keukenbedrijf</a:t>
                </a:r>
                <a:r>
                  <a:rPr lang="en-US" b="1" dirty="0"/>
                  <a:t> is </a:t>
                </a:r>
                <a:r>
                  <a:rPr lang="en-US" b="1" dirty="0" err="1"/>
                  <a:t>bekend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van alle </a:t>
                </a:r>
                <a:r>
                  <a:rPr lang="en-US" b="1" dirty="0" err="1"/>
                  <a:t>klanten</a:t>
                </a:r>
                <a:r>
                  <a:rPr lang="en-US" b="1" dirty="0"/>
                  <a:t> die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catalogus</a:t>
                </a:r>
                <a:r>
                  <a:rPr lang="en-US" b="1" dirty="0"/>
                  <a:t> </a:t>
                </a:r>
                <a:r>
                  <a:rPr lang="en-US" b="1" dirty="0" err="1"/>
                  <a:t>aanvragen</a:t>
                </a:r>
                <a:r>
                  <a:rPr lang="en-US" b="1" dirty="0"/>
                  <a:t>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b="1" dirty="0" err="1"/>
                  <a:t>daadwerkelijk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</a:t>
                </a:r>
                <a:r>
                  <a:rPr lang="en-US" b="1" dirty="0"/>
                  <a:t> </a:t>
                </a:r>
                <a:r>
                  <a:rPr lang="en-US" b="1" dirty="0" err="1"/>
                  <a:t>plaatst</a:t>
                </a:r>
                <a:r>
                  <a:rPr lang="en-US" b="1" dirty="0"/>
                  <a:t> in de </a:t>
                </a:r>
                <a:r>
                  <a:rPr lang="en-US" b="1" dirty="0" err="1"/>
                  <a:t>maand</a:t>
                </a:r>
                <a:r>
                  <a:rPr lang="en-US" b="1" dirty="0"/>
                  <a:t> </a:t>
                </a:r>
                <a:r>
                  <a:rPr lang="en-US" b="1" dirty="0" err="1"/>
                  <a:t>na</a:t>
                </a:r>
                <a:r>
                  <a:rPr lang="en-US" b="1" dirty="0"/>
                  <a:t> </a:t>
                </a:r>
                <a:r>
                  <a:rPr lang="en-US" b="1" dirty="0" err="1"/>
                  <a:t>ontvangst</a:t>
                </a:r>
                <a:r>
                  <a:rPr lang="en-US" b="1" dirty="0"/>
                  <a:t> van de </a:t>
                </a:r>
                <a:r>
                  <a:rPr lang="en-US" b="1" dirty="0" err="1"/>
                  <a:t>catalogus</a:t>
                </a:r>
                <a:r>
                  <a:rPr lang="en-US" b="1" dirty="0"/>
                  <a:t>. </a:t>
                </a:r>
                <a:r>
                  <a:rPr lang="en-US" b="1" dirty="0" err="1"/>
                  <a:t>Daarna</a:t>
                </a:r>
                <a:r>
                  <a:rPr lang="en-US" b="1" dirty="0"/>
                  <a:t>, </a:t>
                </a:r>
                <a:r>
                  <a:rPr lang="en-US" b="1" dirty="0" err="1"/>
                  <a:t>dus</a:t>
                </a:r>
                <a:r>
                  <a:rPr lang="en-US" b="1" dirty="0"/>
                  <a:t> </a:t>
                </a:r>
                <a:r>
                  <a:rPr lang="en-US" b="1" dirty="0" err="1"/>
                  <a:t>méér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maand</a:t>
                </a:r>
                <a:r>
                  <a:rPr lang="en-US" b="1" dirty="0"/>
                  <a:t> later, </a:t>
                </a:r>
                <a:r>
                  <a:rPr lang="en-US" b="1" dirty="0" err="1"/>
                  <a:t>blijken</a:t>
                </a:r>
                <a:r>
                  <a:rPr lang="en-US" b="1" dirty="0"/>
                  <a:t> </a:t>
                </a:r>
                <a:r>
                  <a:rPr lang="en-US" b="1" dirty="0" err="1"/>
                  <a:t>er</a:t>
                </a:r>
                <a:r>
                  <a:rPr lang="en-US" b="1" dirty="0"/>
                  <a:t> </a:t>
                </a:r>
                <a:r>
                  <a:rPr lang="en-US" b="1" dirty="0" err="1"/>
                  <a:t>nooit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bestellingen</a:t>
                </a:r>
                <a:r>
                  <a:rPr lang="en-US" b="1" dirty="0"/>
                  <a:t> </a:t>
                </a:r>
                <a:r>
                  <a:rPr lang="en-US" b="1" dirty="0" err="1"/>
                  <a:t>te</a:t>
                </a:r>
                <a:r>
                  <a:rPr lang="en-US" b="1" dirty="0"/>
                  <a:t> </a:t>
                </a:r>
                <a:r>
                  <a:rPr lang="en-US" b="1" dirty="0" err="1"/>
                  <a:t>worden</a:t>
                </a:r>
                <a:r>
                  <a:rPr lang="en-US" b="1" dirty="0"/>
                  <a:t> </a:t>
                </a:r>
                <a:r>
                  <a:rPr lang="en-US" b="1" dirty="0" err="1"/>
                  <a:t>gedaan</a:t>
                </a:r>
                <a:r>
                  <a:rPr lang="en-US" b="1" dirty="0"/>
                  <a:t>.</a:t>
                </a:r>
              </a:p>
              <a:p>
                <a:pPr marL="457200" indent="-457200">
                  <a:buFont typeface="+mj-lt"/>
                  <a:buAutoNum type="alphaLcParenR"/>
                </a:pPr>
                <a:r>
                  <a:rPr lang="en-US" b="1" dirty="0"/>
                  <a:t>In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bepaalde</a:t>
                </a:r>
                <a:r>
                  <a:rPr lang="en-US" b="1" dirty="0"/>
                  <a:t> </a:t>
                </a:r>
                <a:r>
                  <a:rPr lang="en-US" b="1" dirty="0" err="1"/>
                  <a:t>maand</a:t>
                </a:r>
                <a:r>
                  <a:rPr lang="en-US" b="1" dirty="0"/>
                  <a:t> </a:t>
                </a:r>
                <a:r>
                  <a:rPr lang="en-US" b="1" dirty="0" err="1"/>
                  <a:t>worden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𝟏𝟐𝟎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catalogi</a:t>
                </a:r>
                <a:r>
                  <a:rPr lang="en-US" b="1" dirty="0"/>
                  <a:t> </a:t>
                </a:r>
                <a:r>
                  <a:rPr lang="en-US" b="1" dirty="0" err="1"/>
                  <a:t>verzonden</a:t>
                </a:r>
                <a:r>
                  <a:rPr lang="en-US" b="1" dirty="0"/>
                  <a:t>. </a:t>
                </a:r>
                <a:r>
                  <a:rPr lang="en-US" b="1" dirty="0" err="1"/>
                  <a:t>Bereken</a:t>
                </a:r>
                <a:r>
                  <a:rPr lang="en-US" b="1" dirty="0"/>
                  <a:t>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</a:t>
                </a:r>
                <a:r>
                  <a:rPr lang="en-US" b="1" dirty="0" err="1"/>
                  <a:t>meer</a:t>
                </a:r>
                <a:r>
                  <a:rPr lang="en-US" b="1" dirty="0"/>
                  <a:t> </a:t>
                </a:r>
                <a:r>
                  <a:rPr lang="en-US" b="1" dirty="0" err="1"/>
                  <a:t>dan</a:t>
                </a:r>
                <a:r>
                  <a:rPr lang="en-US" b="1" dirty="0"/>
                  <a:t> </a:t>
                </a:r>
                <a:r>
                  <a:rPr lang="en-US" b="1" dirty="0" err="1"/>
                  <a:t>twintig</a:t>
                </a:r>
                <a:r>
                  <a:rPr lang="en-US" b="1" dirty="0"/>
                  <a:t> </a:t>
                </a:r>
                <a:r>
                  <a:rPr lang="en-US" b="1" dirty="0" err="1"/>
                  <a:t>klanten</a:t>
                </a:r>
                <a:r>
                  <a:rPr lang="en-US" b="1" dirty="0"/>
                  <a:t>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bestelling</a:t>
                </a:r>
                <a:r>
                  <a:rPr lang="en-US" b="1" dirty="0"/>
                  <a:t> </a:t>
                </a:r>
                <a:r>
                  <a:rPr lang="en-US" b="1" dirty="0" err="1"/>
                  <a:t>gaan</a:t>
                </a:r>
                <a:r>
                  <a:rPr lang="en-US" b="1" dirty="0"/>
                  <a:t> </a:t>
                </a:r>
                <a:r>
                  <a:rPr lang="en-US" b="1" dirty="0" err="1"/>
                  <a:t>plaatsen</a:t>
                </a:r>
                <a:r>
                  <a:rPr lang="en-US" b="1" dirty="0"/>
                  <a:t>.</a:t>
                </a:r>
              </a:p>
              <a:p>
                <a:pPr marL="457200" indent="-457200">
                  <a:buFont typeface="+mj-lt"/>
                  <a:buAutoNum type="alphaLcParenR"/>
                </a:pP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11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lphaLcParenR"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In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bepaalde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maand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worden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𝟏𝟐𝟎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catalogi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verzonden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Bereken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meer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twintig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klanten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gaan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plaatsen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klanten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dat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bestelling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gaat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plaatsen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is binomial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verdeeld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met</a:t>
                </a:r>
                <a:endParaRPr lang="en-US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(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klanten</a:t>
                </a:r>
                <a:r>
                  <a:rPr lang="en-US" dirty="0">
                    <a:latin typeface="RijksoverheidSansText" panose="020B0503040202060203" pitchFamily="34" charset="0"/>
                  </a:rPr>
                  <a:t> die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catalogus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hebben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ontvangen</a:t>
                </a:r>
                <a:r>
                  <a:rPr lang="en-US" dirty="0">
                    <a:latin typeface="RijksoverheidSansText" panose="020B0503040202060203" pitchFamily="34" charset="0"/>
                  </a:rPr>
                  <a:t>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(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zo’n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klant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bestelling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plaatst</a:t>
                </a:r>
                <a:r>
                  <a:rPr lang="en-US" dirty="0">
                    <a:latin typeface="RijksoverheidSansText" panose="020B0503040202060203" pitchFamily="34" charset="0"/>
                  </a:rPr>
                  <a:t>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dirty="0">
                    <a:latin typeface="RijksoverheidSansText" panose="020B0503040202060203" pitchFamily="34" charset="0"/>
                  </a:rPr>
                  <a:t>We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willen</a:t>
                </a:r>
                <a:r>
                  <a:rPr lang="en-US" dirty="0"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&gt;20)</m:t>
                    </m:r>
                  </m:oMath>
                </a14:m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bepalen</a:t>
                </a:r>
                <a:r>
                  <a:rPr lang="en-US" dirty="0">
                    <a:latin typeface="RijksoverheidSansText" panose="020B0503040202060203" pitchFamily="34" charset="0"/>
                  </a:rPr>
                  <a:t> (“&gt;”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betekent</a:t>
                </a:r>
                <a:r>
                  <a:rPr lang="en-US" dirty="0">
                    <a:latin typeface="RijksoverheidSansText" panose="020B0503040202060203" pitchFamily="34" charset="0"/>
                  </a:rPr>
                  <a:t> “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meer</a:t>
                </a:r>
                <a:r>
                  <a:rPr lang="en-US" dirty="0">
                    <a:latin typeface="RijksoverheidSansText" panose="020B0503040202060203" pitchFamily="34" charset="0"/>
                  </a:rPr>
                  <a:t> dan” )</a:t>
                </a:r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&gt;20</m:t>
                          </m:r>
                        </m:e>
                      </m:d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≥21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≤20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=120,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=0.15,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=20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2557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i="1" dirty="0">
                  <a:latin typeface="RijksoverheidSansText" panose="020B0503040202060203" pitchFamily="34" charset="0"/>
                </a:endParaRPr>
              </a:p>
              <a:p>
                <a:endParaRPr lang="en-US" b="1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b="1" dirty="0" smtClean="0">
                    <a:latin typeface="RijksoverheidSansText" panose="020B0503040202060203" pitchFamily="34" charset="0"/>
                  </a:rPr>
                  <a:t>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meer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dan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twintig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klanten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plaatsen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is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slechts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𝟐𝟓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𝟓𝟕</m:t>
                    </m:r>
                    <m:r>
                      <a:rPr lang="nl-NL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5861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</p:spPr>
            <p:txBody>
              <a:bodyPr/>
              <a:lstStyle/>
              <a:p>
                <a:r>
                  <a:rPr lang="en-US" b="1" dirty="0" smtClean="0">
                    <a:latin typeface="RijksoverheidSansText" panose="020B0503040202060203" pitchFamily="34" charset="0"/>
                  </a:rPr>
                  <a:t>Bij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keukenbedrijf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is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bekend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van alle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klanten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die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catalogus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aanvragen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𝟏𝟓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%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daadwerkelijk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plaatst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in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maand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na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ontvangst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van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catalogus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Daarna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,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dus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méér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dan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maand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later,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blijken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er nooit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worden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gedaan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>
                    <a:latin typeface="RijksoverheidSansText" panose="020B0503040202060203" pitchFamily="34" charset="0"/>
                  </a:rPr>
                  <a:t>In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bepaald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jaar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worden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𝟏𝟐𝟎𝟎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catalogi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aangevraagd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Bereken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verwachte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Bereken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𝟗𝟓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%-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voorspellingsinterval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voor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b="1" i="1" dirty="0" err="1" smtClean="0">
                    <a:latin typeface="RijksoverheidSansText" panose="020B0503040202060203" pitchFamily="34" charset="0"/>
                  </a:rPr>
                  <a:t>Vuistregel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: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95%-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voorspellingsinterval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van de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binomiale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verdeling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loopt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ongeveer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van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b="1" i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>
                  <a:latin typeface="RijksoverheidSansText" panose="020B050304020206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i="1" dirty="0">
                    <a:latin typeface="RijksoverheidSansText" panose="020B0503040202060203" pitchFamily="34" charset="0"/>
                  </a:rPr>
                  <a:t>Met 95%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ligt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toekomstige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trekking in </a:t>
                </a:r>
                <a:r>
                  <a:rPr lang="en-US" i="1" dirty="0" err="1">
                    <a:latin typeface="RijksoverheidSansText" panose="020B0503040202060203" pitchFamily="34" charset="0"/>
                  </a:rPr>
                  <a:t>dit</a:t>
                </a:r>
                <a:r>
                  <a:rPr lang="en-US" i="1" dirty="0">
                    <a:latin typeface="RijksoverheidSansText" panose="020B0503040202060203" pitchFamily="34" charset="0"/>
                  </a:rPr>
                  <a:t> interval.</a:t>
                </a:r>
              </a:p>
              <a:p>
                <a:pPr marL="457200" indent="-457200">
                  <a:buFont typeface="+mj-lt"/>
                  <a:buAutoNum type="alphaLcParenR" startAt="2"/>
                </a:pPr>
                <a:endParaRPr lang="en-US" b="1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755808" cy="4246562"/>
              </a:xfrm>
              <a:blipFill>
                <a:blip r:embed="rId2"/>
                <a:stretch>
                  <a:fillRect l="-1586" t="-2009" r="-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2455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83800" cy="4246562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lphaLcParenR" startAt="2"/>
                </a:pPr>
                <a:r>
                  <a:rPr lang="en-US" b="1" dirty="0" smtClean="0">
                    <a:latin typeface="RijksoverheidSansText" panose="020B0503040202060203" pitchFamily="34" charset="0"/>
                  </a:rPr>
                  <a:t>In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bepaald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jaar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worden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𝟏𝟐𝟎𝟎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catalogi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aangevraagd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Bereken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verwachte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Bereken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𝟗𝟓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%-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voorspellingsinterval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voor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en-US" b="1" dirty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aantal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bestellingen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is een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binomiale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kansvariabele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met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=1200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.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geldt</a:t>
                </a:r>
                <a:r>
                  <a:rPr lang="nl-NL" dirty="0" smtClean="0">
                    <a:latin typeface="RijksoverheidSansText" panose="020B050304020206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=1200⋅0.15=180</m:t>
                    </m:r>
                  </m:oMath>
                </a14:m>
                <a:r>
                  <a:rPr lang="en-US" i="1" dirty="0">
                    <a:latin typeface="RijksoverheidSansText" panose="020B0503040202060203" pitchFamily="34" charset="0"/>
                  </a:rPr>
                  <a:t>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1200⋅0.15⋅0.85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≈12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3693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i="1" dirty="0">
                    <a:latin typeface="RijksoverheidSansText" panose="020B0503040202060203" pitchFamily="34" charset="0"/>
                  </a:rPr>
                  <a:t/>
                </a:r>
                <a:br>
                  <a:rPr lang="en-US" i="1" dirty="0">
                    <a:latin typeface="RijksoverheidSansText" panose="020B0503040202060203" pitchFamily="34" charset="0"/>
                  </a:rPr>
                </a:br>
                <a:endParaRPr lang="en-US" i="1" dirty="0" smtClean="0">
                  <a:latin typeface="RijksoverheidSansText" panose="020B0503040202060203" pitchFamily="34" charset="0"/>
                </a:endParaRPr>
              </a:p>
              <a:p>
                <a:r>
                  <a:rPr lang="en-US" dirty="0" smtClean="0">
                    <a:latin typeface="RijksoverheidSansText" panose="020B0503040202060203" pitchFamily="34" charset="0"/>
                  </a:rPr>
                  <a:t>Het </a:t>
                </a:r>
                <a:r>
                  <a:rPr lang="en-US" dirty="0">
                    <a:latin typeface="RijksoverheidSansText" panose="020B0503040202060203" pitchFamily="34" charset="0"/>
                  </a:rPr>
                  <a:t>95%-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voorspellingsinterval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worden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dan</a:t>
                </a:r>
                <a:r>
                  <a:rPr lang="en-US" dirty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gegeven</a:t>
                </a:r>
                <a:r>
                  <a:rPr lang="en-US" dirty="0">
                    <a:latin typeface="RijksoverheidSansText" panose="020B0503040202060203" pitchFamily="34" charset="0"/>
                  </a:rPr>
                  <a:t> door </a:t>
                </a:r>
                <a:endParaRPr lang="en-US" i="1" dirty="0">
                  <a:latin typeface="RijksoverheidSansText" panose="020B0503040202060203" pitchFamily="34" charset="0"/>
                </a:endParaRPr>
              </a:p>
              <a:p>
                <a:r>
                  <a:rPr lang="en-US" dirty="0">
                    <a:latin typeface="RijksoverheidSansText" panose="020B0503040202060203" pitchFamily="34" charset="0"/>
                  </a:rPr>
                  <a:t>	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Ondergrens</a:t>
                </a:r>
                <a:r>
                  <a:rPr lang="en-US" dirty="0">
                    <a:latin typeface="RijksoverheidSansText" panose="020B050304020206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180−2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3693≈155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2614</m:t>
                    </m:r>
                  </m:oMath>
                </a14:m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dirty="0">
                    <a:latin typeface="RijksoverheidSansText" panose="020B0503040202060203" pitchFamily="34" charset="0"/>
                  </a:rPr>
                  <a:t>	</a:t>
                </a:r>
                <a:r>
                  <a:rPr lang="en-US" dirty="0" err="1">
                    <a:latin typeface="RijksoverheidSansText" panose="020B0503040202060203" pitchFamily="34" charset="0"/>
                  </a:rPr>
                  <a:t>Bovengrens</a:t>
                </a:r>
                <a:r>
                  <a:rPr lang="en-US" dirty="0">
                    <a:latin typeface="RijksoverheidSansText" panose="020B050304020206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180+2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3693≈204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7386→[155;205]</m:t>
                    </m:r>
                  </m:oMath>
                </a14:m>
                <a:endParaRPr lang="en-US" dirty="0" smtClean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  <a:p>
                <a:r>
                  <a:rPr lang="en-US" b="1" dirty="0" smtClean="0">
                    <a:latin typeface="RijksoverheidSansText" panose="020B0503040202060203" pitchFamily="34" charset="0"/>
                  </a:rPr>
                  <a:t>Met 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95%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kans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zal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het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aantal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waar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te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nemen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tussen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155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205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liggen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  <a:p>
                <a:endParaRPr lang="en-US" b="1" i="1" dirty="0">
                  <a:latin typeface="RijksoverheidSansText" panose="020B0503040202060203" pitchFamily="34" charset="0"/>
                </a:endParaRPr>
              </a:p>
              <a:p>
                <a:endParaRPr lang="en-US" dirty="0">
                  <a:latin typeface="RijksoverheidSansText" panose="020B050304020206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83800" cy="4246562"/>
              </a:xfrm>
              <a:blipFill>
                <a:blip r:embed="rId2"/>
                <a:stretch>
                  <a:fillRect l="-1597" t="-2009" r="-1483" b="-38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8288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/>
              <a:t>Fracties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r>
                  <a:rPr lang="en-US" dirty="0" smtClean="0"/>
                  <a:t>In </a:t>
                </a:r>
                <a:r>
                  <a:rPr lang="en-US" dirty="0" err="1"/>
                  <a:t>statistische</a:t>
                </a:r>
                <a:r>
                  <a:rPr lang="en-US" dirty="0"/>
                  <a:t> analyses </a:t>
                </a:r>
                <a:r>
                  <a:rPr lang="en-US" dirty="0" err="1"/>
                  <a:t>zijn</a:t>
                </a:r>
                <a:r>
                  <a:rPr lang="en-US" dirty="0"/>
                  <a:t> we </a:t>
                </a:r>
                <a:r>
                  <a:rPr lang="en-US" dirty="0" err="1"/>
                  <a:t>vaak</a:t>
                </a:r>
                <a:r>
                  <a:rPr lang="en-US" dirty="0"/>
                  <a:t> </a:t>
                </a:r>
                <a:r>
                  <a:rPr lang="en-US" dirty="0" err="1"/>
                  <a:t>niet</a:t>
                </a:r>
                <a:r>
                  <a:rPr lang="en-US" dirty="0"/>
                  <a:t> </a:t>
                </a:r>
                <a:r>
                  <a:rPr lang="en-US" dirty="0" err="1"/>
                  <a:t>zozeer</a:t>
                </a:r>
                <a:r>
                  <a:rPr lang="en-US" dirty="0"/>
                  <a:t> </a:t>
                </a:r>
                <a:r>
                  <a:rPr lang="en-US" dirty="0" err="1"/>
                  <a:t>geinteresseerd</a:t>
                </a:r>
                <a:r>
                  <a:rPr lang="en-US" dirty="0"/>
                  <a:t> in </a:t>
                </a:r>
                <a:r>
                  <a:rPr lang="en-US" b="1" dirty="0" err="1"/>
                  <a:t>aantallen</a:t>
                </a:r>
                <a:r>
                  <a:rPr lang="en-US" dirty="0"/>
                  <a:t> </a:t>
                </a:r>
                <a:r>
                  <a:rPr lang="en-US" dirty="0" err="1"/>
                  <a:t>successen</a:t>
                </a:r>
                <a:r>
                  <a:rPr lang="en-US" dirty="0"/>
                  <a:t> in </a:t>
                </a:r>
                <a:r>
                  <a:rPr lang="en-US" dirty="0" err="1"/>
                  <a:t>een</a:t>
                </a:r>
                <a:r>
                  <a:rPr lang="en-US" dirty="0"/>
                  <a:t> dataset, maar </a:t>
                </a:r>
                <a:r>
                  <a:rPr lang="en-US" dirty="0" err="1"/>
                  <a:t>eerder</a:t>
                </a:r>
                <a:r>
                  <a:rPr lang="en-US" dirty="0"/>
                  <a:t> het </a:t>
                </a:r>
                <a:r>
                  <a:rPr lang="en-US" b="1" dirty="0"/>
                  <a:t>percentage / </a:t>
                </a:r>
                <a:r>
                  <a:rPr lang="en-US" b="1" dirty="0" err="1"/>
                  <a:t>fractie</a:t>
                </a:r>
                <a:r>
                  <a:rPr lang="en-US" dirty="0"/>
                  <a:t> </a:t>
                </a:r>
                <a:r>
                  <a:rPr lang="en-US" dirty="0" err="1"/>
                  <a:t>successen</a:t>
                </a:r>
                <a:r>
                  <a:rPr lang="en-US" dirty="0"/>
                  <a:t> van het </a:t>
                </a:r>
                <a:r>
                  <a:rPr lang="en-US" dirty="0" err="1"/>
                  <a:t>totaal</a:t>
                </a:r>
                <a:r>
                  <a:rPr lang="en-US" dirty="0"/>
                  <a:t> </a:t>
                </a:r>
                <a:r>
                  <a:rPr lang="en-US" dirty="0" err="1"/>
                  <a:t>aantal</a:t>
                </a:r>
                <a:r>
                  <a:rPr lang="en-US" dirty="0"/>
                  <a:t> </a:t>
                </a:r>
                <a:r>
                  <a:rPr lang="en-US" dirty="0" err="1" smtClean="0"/>
                  <a:t>datapunten</a:t>
                </a:r>
                <a:r>
                  <a:rPr lang="en-US" dirty="0" smtClean="0"/>
                  <a:t>.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 err="1"/>
                  <a:t>Gegeven</a:t>
                </a:r>
                <a:r>
                  <a:rPr lang="en-US" dirty="0"/>
                  <a:t>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binomiaal</a:t>
                </a:r>
                <a:r>
                  <a:rPr lang="en-US" dirty="0"/>
                  <a:t> </a:t>
                </a:r>
                <a:r>
                  <a:rPr lang="en-US" dirty="0" err="1"/>
                  <a:t>verdeelde</a:t>
                </a:r>
                <a:r>
                  <a:rPr lang="en-US" dirty="0"/>
                  <a:t> </a:t>
                </a:r>
                <a:r>
                  <a:rPr lang="en-US" dirty="0" err="1"/>
                  <a:t>kansvariabele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Binomiaal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1" dirty="0"/>
                  <a:t>, </a:t>
                </a:r>
                <a:r>
                  <a:rPr lang="en-US" dirty="0" err="1"/>
                  <a:t>kunnen</a:t>
                </a:r>
                <a:r>
                  <a:rPr lang="en-US" dirty="0"/>
                  <a:t> we de </a:t>
                </a:r>
                <a:r>
                  <a:rPr lang="en-US" dirty="0" err="1"/>
                  <a:t>fractie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van </a:t>
                </a:r>
                <a:r>
                  <a:rPr lang="en-US" dirty="0" err="1"/>
                  <a:t>successen</a:t>
                </a:r>
                <a:r>
                  <a:rPr lang="en-US" dirty="0"/>
                  <a:t> </a:t>
                </a:r>
                <a:r>
                  <a:rPr lang="en-US" dirty="0" err="1"/>
                  <a:t>definiëren</a:t>
                </a:r>
                <a:r>
                  <a:rPr lang="en-US" dirty="0"/>
                  <a:t> </a:t>
                </a:r>
                <a:r>
                  <a:rPr lang="en-US" dirty="0" err="1"/>
                  <a:t>als</a:t>
                </a:r>
                <a:r>
                  <a:rPr lang="en-US" dirty="0"/>
                  <a:t> </a:t>
                </a:r>
                <a:r>
                  <a:rPr lang="en-US" dirty="0" err="1"/>
                  <a:t>volgt</a:t>
                </a:r>
                <a:r>
                  <a:rPr lang="en-US" dirty="0"/>
                  <a:t>:</a:t>
                </a:r>
              </a:p>
              <a:p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b="1" dirty="0" err="1"/>
                  <a:t>Merk</a:t>
                </a:r>
                <a:r>
                  <a:rPr lang="en-US" b="1" dirty="0"/>
                  <a:t> op: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kansvariabele</a:t>
                </a:r>
                <a:r>
                  <a:rPr lang="en-US" dirty="0"/>
                  <a:t>, </a:t>
                </a:r>
                <a:r>
                  <a:rPr lang="en-US" dirty="0" err="1"/>
                  <a:t>dus</a:t>
                </a:r>
                <a:r>
                  <a:rPr lang="en-US" dirty="0"/>
                  <a:t> is de </a:t>
                </a:r>
                <a:r>
                  <a:rPr lang="en-US" dirty="0" err="1"/>
                  <a:t>fractie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dat</a:t>
                </a:r>
                <a:r>
                  <a:rPr lang="en-US" dirty="0"/>
                  <a:t> </a:t>
                </a:r>
                <a:r>
                  <a:rPr lang="en-US" dirty="0" err="1"/>
                  <a:t>ook</a:t>
                </a:r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608" t="-2009" b="-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158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err="1"/>
              <a:t>Fracties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</p:spPr>
            <p:txBody>
              <a:bodyPr/>
              <a:lstStyle/>
              <a:p>
                <a:r>
                  <a:rPr lang="en-US" sz="2400" dirty="0" smtClean="0"/>
                  <a:t>Gegeven </a:t>
                </a:r>
                <a:r>
                  <a:rPr lang="en-US" sz="2400" dirty="0" err="1"/>
                  <a:t>een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binomiaal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verdeelde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kansvariabele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Binomiaal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b="1" dirty="0"/>
                  <a:t>, </a:t>
                </a:r>
                <a:r>
                  <a:rPr lang="en-US" sz="2400" dirty="0" err="1"/>
                  <a:t>kunnen</a:t>
                </a:r>
                <a:r>
                  <a:rPr lang="en-US" sz="2400" dirty="0"/>
                  <a:t> we de </a:t>
                </a:r>
                <a:r>
                  <a:rPr lang="en-US" sz="2400" dirty="0" err="1"/>
                  <a:t>fractie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van </a:t>
                </a:r>
                <a:r>
                  <a:rPr lang="en-US" sz="2400" dirty="0" err="1"/>
                  <a:t>successen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definiëren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als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volgt</a:t>
                </a:r>
                <a:r>
                  <a:rPr lang="en-US" sz="2400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b="1" dirty="0" err="1"/>
                  <a:t>Verwachtingswaarde</a:t>
                </a:r>
                <a:r>
                  <a:rPr lang="en-US" dirty="0"/>
                  <a:t>: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nl-NL" i="1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:endParaRPr lang="en-US" b="1" dirty="0"/>
              </a:p>
              <a:p>
                <a:r>
                  <a:rPr lang="en-US" b="1" dirty="0" err="1"/>
                  <a:t>Variantie</a:t>
                </a:r>
                <a:r>
                  <a:rPr lang="en-US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nl-NL" i="1"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nl-NL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nl-NL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611792" cy="4246562"/>
              </a:xfrm>
              <a:blipFill>
                <a:blip r:embed="rId2"/>
                <a:stretch>
                  <a:fillRect l="-1723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342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r>
                  <a:rPr lang="en-US" sz="2400" b="1" dirty="0" smtClean="0"/>
                  <a:t>Bij </a:t>
                </a:r>
                <a:r>
                  <a:rPr lang="en-US" sz="2400" b="1" dirty="0" err="1"/>
                  <a:t>een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keukenbedrijf</a:t>
                </a:r>
                <a:r>
                  <a:rPr lang="en-US" sz="2400" b="1" dirty="0"/>
                  <a:t> is </a:t>
                </a:r>
                <a:r>
                  <a:rPr lang="en-US" sz="2400" b="1" dirty="0" err="1"/>
                  <a:t>bekend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dat</a:t>
                </a:r>
                <a:r>
                  <a:rPr lang="en-US" sz="2400" b="1" dirty="0"/>
                  <a:t> van de </a:t>
                </a:r>
                <a:r>
                  <a:rPr lang="en-US" sz="2400" b="1" dirty="0" err="1"/>
                  <a:t>klanten</a:t>
                </a:r>
                <a:r>
                  <a:rPr lang="en-US" sz="2400" b="1" dirty="0"/>
                  <a:t> die </a:t>
                </a:r>
                <a:r>
                  <a:rPr lang="en-US" sz="2400" b="1" dirty="0" err="1"/>
                  <a:t>een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catalogus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aanvragen</a:t>
                </a:r>
                <a:r>
                  <a:rPr lang="en-US" sz="2400" b="1" dirty="0"/>
                  <a:t>,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𝟏𝟓</m:t>
                    </m:r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 err="1"/>
                  <a:t>daadwerkelijk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een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bestelling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plaatst</a:t>
                </a:r>
                <a:r>
                  <a:rPr lang="en-US" sz="2400" b="1" dirty="0"/>
                  <a:t> in de </a:t>
                </a:r>
                <a:r>
                  <a:rPr lang="en-US" sz="2400" b="1" dirty="0" err="1"/>
                  <a:t>maand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na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ontvangst</a:t>
                </a:r>
                <a:r>
                  <a:rPr lang="en-US" sz="2400" b="1" dirty="0"/>
                  <a:t> van de </a:t>
                </a:r>
                <a:r>
                  <a:rPr lang="en-US" sz="2400" b="1" dirty="0" err="1"/>
                  <a:t>catalogus</a:t>
                </a:r>
                <a:r>
                  <a:rPr lang="en-US" sz="2400" b="1" dirty="0"/>
                  <a:t>. </a:t>
                </a:r>
                <a:r>
                  <a:rPr lang="en-US" sz="2400" b="1" dirty="0" err="1"/>
                  <a:t>Daarna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blijken</a:t>
                </a:r>
                <a:r>
                  <a:rPr lang="en-US" sz="2400" b="1" dirty="0"/>
                  <a:t> er nooit </a:t>
                </a:r>
                <a:r>
                  <a:rPr lang="en-US" sz="2400" b="1" dirty="0" err="1"/>
                  <a:t>bestellingen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te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worden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gedaan</a:t>
                </a:r>
                <a:r>
                  <a:rPr lang="en-US" sz="2400" b="1" dirty="0"/>
                  <a:t>.</a:t>
                </a:r>
              </a:p>
              <a:p>
                <a:pPr marL="457200" indent="-457200">
                  <a:buFont typeface="+mj-lt"/>
                  <a:buAutoNum type="alphaLcParenR" startAt="3"/>
                </a:pPr>
                <a:r>
                  <a:rPr lang="en-US" sz="2400" b="1" dirty="0"/>
                  <a:t>In </a:t>
                </a:r>
                <a:r>
                  <a:rPr lang="en-US" sz="2400" b="1" dirty="0" err="1"/>
                  <a:t>een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bepaalde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periode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werden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𝟖𝟎𝟎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 err="1"/>
                  <a:t>catalogi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verzonden</a:t>
                </a:r>
                <a:r>
                  <a:rPr lang="en-US" sz="2400" b="1" dirty="0"/>
                  <a:t>. Hoe </a:t>
                </a:r>
                <a:r>
                  <a:rPr lang="en-US" sz="2400" b="1" dirty="0" err="1"/>
                  <a:t>groot</a:t>
                </a:r>
                <a:r>
                  <a:rPr lang="en-US" sz="2400" b="1" dirty="0"/>
                  <a:t> is de </a:t>
                </a:r>
                <a:r>
                  <a:rPr lang="en-US" sz="2400" b="1" dirty="0" err="1"/>
                  <a:t>kans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dat</a:t>
                </a:r>
                <a:r>
                  <a:rPr lang="en-US" sz="2400" b="1" dirty="0"/>
                  <a:t> de </a:t>
                </a:r>
                <a:r>
                  <a:rPr lang="en-US" sz="2400" b="1" dirty="0" err="1"/>
                  <a:t>fractie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bestellers</a:t>
                </a:r>
                <a:r>
                  <a:rPr lang="en-US" sz="2400" b="1" dirty="0"/>
                  <a:t> minder is </a:t>
                </a:r>
                <a:r>
                  <a:rPr lang="en-US" sz="2400" b="1" dirty="0" err="1"/>
                  <a:t>dan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nl-NL" sz="2400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sz="2400" b="1" dirty="0"/>
                  <a:t> </a:t>
                </a:r>
                <a:r>
                  <a:rPr lang="en-US" sz="2400" b="1" dirty="0" err="1"/>
                  <a:t>voor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deze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groep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aanvragers</a:t>
                </a:r>
                <a:r>
                  <a:rPr lang="en-US" sz="2400" b="1" dirty="0"/>
                  <a:t>?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688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137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/>
              <a:t>Buijs: </a:t>
            </a:r>
            <a:r>
              <a:rPr lang="en-US" dirty="0" err="1"/>
              <a:t>opgave</a:t>
            </a:r>
            <a:r>
              <a:rPr lang="en-US" dirty="0"/>
              <a:t> 6.14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lphaLcParenR" startAt="3"/>
                </a:pPr>
                <a:r>
                  <a:rPr lang="en-US" b="1" dirty="0" smtClean="0"/>
                  <a:t>In </a:t>
                </a:r>
                <a:r>
                  <a:rPr lang="en-US" b="1" dirty="0" err="1"/>
                  <a:t>een</a:t>
                </a:r>
                <a:r>
                  <a:rPr lang="en-US" b="1" dirty="0"/>
                  <a:t> </a:t>
                </a:r>
                <a:r>
                  <a:rPr lang="en-US" b="1" dirty="0" err="1"/>
                  <a:t>bepaalde</a:t>
                </a:r>
                <a:r>
                  <a:rPr lang="en-US" b="1" dirty="0"/>
                  <a:t> </a:t>
                </a:r>
                <a:r>
                  <a:rPr lang="en-US" b="1" dirty="0" err="1"/>
                  <a:t>periode</a:t>
                </a:r>
                <a:r>
                  <a:rPr lang="en-US" b="1" dirty="0"/>
                  <a:t> </a:t>
                </a:r>
                <a:r>
                  <a:rPr lang="en-US" b="1" dirty="0" err="1"/>
                  <a:t>werden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𝟖𝟎𝟎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b="1" dirty="0" err="1"/>
                  <a:t>catalogi</a:t>
                </a:r>
                <a:r>
                  <a:rPr lang="en-US" b="1" dirty="0"/>
                  <a:t> </a:t>
                </a:r>
                <a:r>
                  <a:rPr lang="en-US" b="1" dirty="0" err="1"/>
                  <a:t>verzonden</a:t>
                </a:r>
                <a:r>
                  <a:rPr lang="en-US" b="1" dirty="0"/>
                  <a:t>. Hoe </a:t>
                </a:r>
                <a:r>
                  <a:rPr lang="en-US" b="1" dirty="0" err="1"/>
                  <a:t>groot</a:t>
                </a:r>
                <a:r>
                  <a:rPr lang="en-US" b="1" dirty="0"/>
                  <a:t> is de </a:t>
                </a:r>
                <a:r>
                  <a:rPr lang="en-US" b="1" dirty="0" err="1"/>
                  <a:t>kans</a:t>
                </a:r>
                <a:r>
                  <a:rPr lang="en-US" b="1" dirty="0"/>
                  <a:t> </a:t>
                </a:r>
                <a:r>
                  <a:rPr lang="en-US" b="1" dirty="0" err="1"/>
                  <a:t>dat</a:t>
                </a:r>
                <a:r>
                  <a:rPr lang="en-US" b="1" dirty="0"/>
                  <a:t> de </a:t>
                </a:r>
                <a:r>
                  <a:rPr lang="en-US" b="1" dirty="0" err="1"/>
                  <a:t>fractie</a:t>
                </a:r>
                <a:r>
                  <a:rPr lang="en-US" b="1" dirty="0"/>
                  <a:t> </a:t>
                </a:r>
                <a:r>
                  <a:rPr lang="en-US" b="1" dirty="0" err="1"/>
                  <a:t>bestellers</a:t>
                </a:r>
                <a:r>
                  <a:rPr lang="en-US" b="1" dirty="0"/>
                  <a:t> minder is </a:t>
                </a:r>
                <a:r>
                  <a:rPr lang="en-US" b="1" dirty="0" err="1"/>
                  <a:t>dan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% </m:t>
                    </m:r>
                  </m:oMath>
                </a14:m>
                <a:r>
                  <a:rPr lang="en-US" b="1" dirty="0" err="1"/>
                  <a:t>voor</a:t>
                </a:r>
                <a:r>
                  <a:rPr lang="en-US" b="1" dirty="0"/>
                  <a:t> </a:t>
                </a:r>
                <a:r>
                  <a:rPr lang="en-US" b="1" dirty="0" err="1"/>
                  <a:t>deze</a:t>
                </a:r>
                <a:r>
                  <a:rPr lang="en-US" b="1" dirty="0"/>
                  <a:t> </a:t>
                </a:r>
                <a:r>
                  <a:rPr lang="en-US" b="1" dirty="0" err="1"/>
                  <a:t>groep</a:t>
                </a:r>
                <a:r>
                  <a:rPr lang="en-US" b="1" dirty="0"/>
                  <a:t> </a:t>
                </a:r>
                <a:r>
                  <a:rPr lang="en-US" b="1" dirty="0" err="1"/>
                  <a:t>aanvragers</a:t>
                </a:r>
                <a:r>
                  <a:rPr lang="en-US" b="1" dirty="0"/>
                  <a:t>?</a:t>
                </a:r>
              </a:p>
              <a:p>
                <a:pPr marL="457200" indent="-457200">
                  <a:buFont typeface="+mj-lt"/>
                  <a:buAutoNum type="alphaLcParenR" startAt="3"/>
                </a:pPr>
                <a:endParaRPr lang="en-US" b="1" dirty="0"/>
              </a:p>
              <a:p>
                <a:r>
                  <a:rPr lang="nl-NL" b="0" dirty="0" smtClean="0"/>
                  <a:t>Het aantal aanvragers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bestelling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plaatst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binomiale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kansvariabele</a:t>
                </a:r>
                <a:r>
                  <a:rPr lang="en-US" dirty="0" smtClean="0"/>
                  <a:t> met</a:t>
                </a:r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=800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aantal</a:t>
                </a:r>
                <a:r>
                  <a:rPr lang="en-US" dirty="0"/>
                  <a:t> </a:t>
                </a:r>
                <a:r>
                  <a:rPr lang="en-US" dirty="0" err="1"/>
                  <a:t>klanten</a:t>
                </a:r>
                <a:r>
                  <a:rPr lang="en-US" dirty="0"/>
                  <a:t> die </a:t>
                </a:r>
                <a:r>
                  <a:rPr lang="en-US" dirty="0" err="1"/>
                  <a:t>een</a:t>
                </a:r>
                <a:r>
                  <a:rPr lang="en-US" dirty="0"/>
                  <a:t> </a:t>
                </a:r>
                <a:r>
                  <a:rPr lang="en-US" dirty="0" err="1"/>
                  <a:t>catalogus</a:t>
                </a:r>
                <a:r>
                  <a:rPr lang="en-US" dirty="0"/>
                  <a:t> </a:t>
                </a:r>
                <a:r>
                  <a:rPr lang="en-US" dirty="0" err="1"/>
                  <a:t>aangevraagd</a:t>
                </a:r>
                <a:r>
                  <a:rPr lang="en-US" dirty="0"/>
                  <a:t> </a:t>
                </a:r>
                <a:r>
                  <a:rPr lang="en-US" dirty="0" err="1"/>
                  <a:t>hebben</a:t>
                </a:r>
                <a:r>
                  <a:rPr lang="en-US" dirty="0"/>
                  <a:t>) 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=0.15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kans</a:t>
                </a:r>
                <a:r>
                  <a:rPr lang="en-US" dirty="0"/>
                  <a:t> </a:t>
                </a:r>
                <a:r>
                  <a:rPr lang="en-US" dirty="0" err="1"/>
                  <a:t>dat</a:t>
                </a:r>
                <a:r>
                  <a:rPr lang="en-US" dirty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aanvrager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/>
                  <a:t>bestelling</a:t>
                </a:r>
                <a:r>
                  <a:rPr lang="en-US" dirty="0"/>
                  <a:t> </a:t>
                </a:r>
                <a:r>
                  <a:rPr lang="en-US" dirty="0" err="1"/>
                  <a:t>plaatst</a:t>
                </a:r>
                <a:r>
                  <a:rPr lang="en-US" dirty="0"/>
                  <a:t>)</a:t>
                </a:r>
              </a:p>
              <a:p>
                <a:r>
                  <a:rPr lang="en-US" dirty="0" smtClean="0"/>
                  <a:t>De </a:t>
                </a:r>
                <a:r>
                  <a:rPr lang="en-US" dirty="0" err="1" smtClean="0"/>
                  <a:t>kans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dat</a:t>
                </a:r>
                <a:r>
                  <a:rPr lang="en-US" dirty="0" smtClean="0"/>
                  <a:t> minder </a:t>
                </a:r>
                <a:r>
                  <a:rPr lang="en-US" dirty="0" err="1" smtClean="0"/>
                  <a:t>dan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10%</m:t>
                    </m:r>
                  </m:oMath>
                </a14:m>
                <a:r>
                  <a:rPr lang="en-US" dirty="0" smtClean="0"/>
                  <a:t> van de </a:t>
                </a:r>
                <a:r>
                  <a:rPr lang="en-US" dirty="0" err="1" smtClean="0"/>
                  <a:t>aanvrager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een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bestelling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plaatst</a:t>
                </a:r>
                <a:r>
                  <a:rPr lang="en-US" dirty="0" smtClean="0"/>
                  <a:t> is </a:t>
                </a:r>
                <a:r>
                  <a:rPr lang="en-US" dirty="0" err="1" smtClean="0"/>
                  <a:t>gelijk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aan</a:t>
                </a:r>
                <a:r>
                  <a:rPr lang="en-US" dirty="0" smtClean="0"/>
                  <a:t>:</a:t>
                </a:r>
              </a:p>
              <a:p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/>
                <a:r>
                  <a:rPr lang="en-US" b="0" dirty="0" smtClean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&lt;0.1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&lt;0.1⋅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&lt;80</m:t>
                        </m:r>
                      </m:e>
                    </m:d>
                    <m:r>
                      <m:rPr>
                        <m:aln/>
                      </m:rP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≤79</m:t>
                        </m:r>
                      </m:e>
                    </m:d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/>
                </a:r>
                <a:br>
                  <a:rPr lang="en-US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binomcdf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=800,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=0.15,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=79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aln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m:rPr>
                          <m:nor/>
                        </m:rPr>
                        <a:rPr lang="nl-NL" b="0" i="0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2317</m:t>
                      </m:r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p>
                      </m:sSup>
                      <m:r>
                        <a:rPr lang="nl-NL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:r>
                  <a:rPr lang="en-US" b="1" dirty="0">
                    <a:latin typeface="RijksoverheidSansText" panose="020B0503040202060203" pitchFamily="34" charset="0"/>
                  </a:rPr>
                  <a:t>Het is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zeer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onwaarschijnlijk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dat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minder </a:t>
                </a:r>
                <a:r>
                  <a:rPr lang="en-US" b="1" dirty="0" smtClean="0">
                    <a:latin typeface="RijksoverheidSansText" panose="020B0503040202060203" pitchFamily="34" charset="0"/>
                  </a:rPr>
                  <a:t>dan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%</m:t>
                    </m:r>
                  </m:oMath>
                </a14:m>
                <a:r>
                  <a:rPr lang="en-US" b="1" dirty="0">
                    <a:latin typeface="RijksoverheidSansText" panose="020B0503040202060203" pitchFamily="34" charset="0"/>
                  </a:rPr>
                  <a:t> van de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aanvragers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een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bestelling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 </a:t>
                </a:r>
                <a:r>
                  <a:rPr lang="en-US" b="1" dirty="0" err="1">
                    <a:latin typeface="RijksoverheidSansText" panose="020B0503040202060203" pitchFamily="34" charset="0"/>
                  </a:rPr>
                  <a:t>plaatst</a:t>
                </a:r>
                <a:r>
                  <a:rPr lang="en-US" b="1" dirty="0">
                    <a:latin typeface="RijksoverheidSansText" panose="020B0503040202060203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576" t="-2009" r="-1519" b="-10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006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917" y="1265239"/>
            <a:ext cx="10363200" cy="400110"/>
          </a:xfrm>
        </p:spPr>
        <p:txBody>
          <a:bodyPr/>
          <a:lstStyle/>
          <a:p>
            <a:r>
              <a:rPr lang="en-US" dirty="0" smtClean="0"/>
              <a:t>Van </a:t>
            </a:r>
            <a:r>
              <a:rPr lang="en-US" dirty="0" err="1" smtClean="0"/>
              <a:t>binomiale</a:t>
            </a:r>
            <a:r>
              <a:rPr lang="en-US" dirty="0" smtClean="0"/>
              <a:t> </a:t>
            </a:r>
            <a:r>
              <a:rPr lang="en-US" dirty="0" err="1" smtClean="0"/>
              <a:t>verdeling</a:t>
            </a:r>
            <a:r>
              <a:rPr lang="en-US" dirty="0" smtClean="0"/>
              <a:t> </a:t>
            </a:r>
            <a:r>
              <a:rPr lang="en-US" dirty="0" err="1" smtClean="0"/>
              <a:t>naar</a:t>
            </a:r>
            <a:r>
              <a:rPr lang="en-US" dirty="0" smtClean="0"/>
              <a:t> </a:t>
            </a:r>
            <a:r>
              <a:rPr lang="en-US" dirty="0" err="1" smtClean="0"/>
              <a:t>statistiek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</p:spPr>
            <p:txBody>
              <a:bodyPr/>
              <a:lstStyle/>
              <a:p>
                <a:r>
                  <a:rPr lang="en-US" sz="2400" dirty="0" smtClean="0">
                    <a:latin typeface="RijksoverheidSansText" panose="020B0503040202060203" pitchFamily="34" charset="0"/>
                  </a:rPr>
                  <a:t>In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praktijk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zal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succeskans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nl-NL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 smtClean="0">
                    <a:latin typeface="RijksoverheidSansText" panose="020B0503040202060203" pitchFamily="34" charset="0"/>
                  </a:rPr>
                  <a:t> van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eenheid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Mountain Leaders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onbekend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zijn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!</a:t>
                </a:r>
              </a:p>
              <a:p>
                <a:endParaRPr lang="en-US" sz="2400" dirty="0">
                  <a:latin typeface="RijksoverheidSansText" panose="020B0503040202060203" pitchFamily="34" charset="0"/>
                </a:endParaRPr>
              </a:p>
              <a:p>
                <a:r>
                  <a:rPr lang="en-US" sz="2400" b="1" dirty="0" err="1" smtClean="0">
                    <a:latin typeface="RijksoverheidSansText" panose="020B0503040202060203" pitchFamily="34" charset="0"/>
                  </a:rPr>
                  <a:t>Schatten</a:t>
                </a:r>
                <a:r>
                  <a:rPr lang="en-US" sz="2400" b="1" dirty="0" smtClean="0">
                    <a:latin typeface="RijksoverheidSansText" panose="020B0503040202060203" pitchFamily="34" charset="0"/>
                  </a:rPr>
                  <a:t> op basis van data: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 smtClean="0">
                    <a:latin typeface="RijksoverheidSansText" panose="020B0503040202060203" pitchFamily="34" charset="0"/>
                  </a:rPr>
                  <a:t>We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laten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50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eenheden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Mountain Leaders de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oefening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uitvoeren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,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waarvan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er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31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succesvol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sz="2400" dirty="0" err="1" smtClean="0">
                    <a:latin typeface="RijksoverheidSansText" panose="020B0503040202060203" pitchFamily="34" charset="0"/>
                  </a:rPr>
                  <a:t>zijn</a:t>
                </a:r>
                <a:r>
                  <a:rPr lang="en-US" sz="2400" dirty="0" smtClean="0">
                    <a:latin typeface="RijksoverheidSansText" panose="020B0503040202060203" pitchFamily="34" charset="0"/>
                  </a:rPr>
                  <a:t>.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Wat is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onze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beste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schatting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voor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werkelijke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succeskans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?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Is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≈0.75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nog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geloofwaardig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gegeven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deze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data?</a:t>
                </a:r>
              </a:p>
              <a:p>
                <a:pPr marL="717550" lvl="1" indent="-342900">
                  <a:buFont typeface="Arial" panose="020B0604020202020204" pitchFamily="34" charset="0"/>
                  <a:buChar char="•"/>
                </a:pPr>
                <a:r>
                  <a:rPr lang="en-US" dirty="0" smtClean="0">
                    <a:latin typeface="RijksoverheidSansText" panose="020B0503040202060203" pitchFamily="34" charset="0"/>
                  </a:rPr>
                  <a:t>Is de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echte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 waarde van </a:t>
                </a:r>
                <a14:m>
                  <m:oMath xmlns:m="http://schemas.openxmlformats.org/officeDocument/2006/math">
                    <m:r>
                      <a:rPr lang="nl-NL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 smtClean="0">
                    <a:latin typeface="RijksoverheidSansText" panose="020B0503040202060203" pitchFamily="34" charset="0"/>
                  </a:rPr>
                  <a:t> significant 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groter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/</a:t>
                </a:r>
                <a:r>
                  <a:rPr lang="en-US" dirty="0" err="1" smtClean="0">
                    <a:latin typeface="RijksoverheidSansText" panose="020B0503040202060203" pitchFamily="34" charset="0"/>
                  </a:rPr>
                  <a:t>kleiner</a:t>
                </a:r>
                <a:r>
                  <a:rPr lang="en-US" dirty="0" smtClean="0">
                    <a:latin typeface="RijksoverheidSansText" panose="020B0503040202060203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12800" y="1773238"/>
                <a:ext cx="10827816" cy="4246562"/>
              </a:xfrm>
              <a:blipFill>
                <a:blip r:embed="rId2"/>
                <a:stretch>
                  <a:fillRect l="-1688" t="-2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Verdana" pitchFamily="34" charset="0"/>
                <a:ea typeface="+mn-ea"/>
                <a:cs typeface="+mn-cs"/>
              </a:rPr>
              <a:t>College 4b: de binomiale verdeling (2/2)</a:t>
            </a:r>
            <a:endParaRPr kumimoji="0" lang="nl-NL" sz="11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Verdana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60761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Samenvatting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1187856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b="1" dirty="0" smtClean="0">
                <a:latin typeface="RijksoverheidSansText" panose="020B0503040202060203" pitchFamily="34" charset="0"/>
              </a:rPr>
              <a:t>Eigenschappen van de </a:t>
            </a:r>
            <a:r>
              <a:rPr lang="nl-NL" sz="2400" b="1" dirty="0" err="1" smtClean="0">
                <a:latin typeface="RijksoverheidSansText" panose="020B0503040202060203" pitchFamily="34" charset="0"/>
              </a:rPr>
              <a:t>Bernoulli</a:t>
            </a:r>
            <a:r>
              <a:rPr lang="nl-NL" sz="2400" b="1" dirty="0" smtClean="0">
                <a:latin typeface="RijksoverheidSansText" panose="020B0503040202060203" pitchFamily="34" charset="0"/>
              </a:rPr>
              <a:t>- en binomiale verdeling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sz="2400" b="1" dirty="0" smtClean="0">
              <a:latin typeface="RijksoverheidSansText" panose="020B0503040202060203" pitchFamily="34" charset="0"/>
            </a:endParaRPr>
          </a:p>
          <a:p>
            <a:endParaRPr lang="en-US" sz="2400" b="0" dirty="0" smtClean="0">
              <a:latin typeface="RijksoverheidSansText" panose="020B0503040202060203" pitchFamily="34" charset="0"/>
            </a:endParaRPr>
          </a:p>
          <a:p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b="0" dirty="0" smtClean="0">
              <a:latin typeface="RijksoverheidSansText" panose="020B0503040202060203" pitchFamily="34" charset="0"/>
            </a:endParaRPr>
          </a:p>
          <a:p>
            <a:endParaRPr lang="en-US" sz="2400" dirty="0">
              <a:latin typeface="RijksoverheidSansText" panose="020B0503040202060203" pitchFamily="34" charset="0"/>
            </a:endParaRPr>
          </a:p>
          <a:p>
            <a:endParaRPr lang="en-US" sz="2400" b="0" dirty="0">
              <a:latin typeface="RijksoverheidSansText" panose="020B0503040202060203" pitchFamily="34" charset="0"/>
            </a:endParaRPr>
          </a:p>
          <a:p>
            <a:endParaRPr lang="en-US" sz="2400" b="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latin typeface="RijksoverheidSansText" panose="020B0503040202060203" pitchFamily="34" charset="0"/>
              </a:rPr>
              <a:t>Rekenen</a:t>
            </a:r>
            <a:r>
              <a:rPr lang="en-US" sz="2400" b="1" dirty="0">
                <a:latin typeface="RijksoverheidSansText" panose="020B0503040202060203" pitchFamily="34" charset="0"/>
              </a:rPr>
              <a:t> met </a:t>
            </a:r>
            <a:r>
              <a:rPr lang="en-US" sz="2400" b="1" dirty="0" err="1" smtClean="0">
                <a:latin typeface="RijksoverheidSansText" panose="020B0503040202060203" pitchFamily="34" charset="0"/>
              </a:rPr>
              <a:t>fracties</a:t>
            </a:r>
            <a:r>
              <a:rPr lang="en-US" sz="2400" b="1" dirty="0" smtClean="0">
                <a:latin typeface="RijksoverheidSansText" panose="020B0503040202060203" pitchFamily="34" charset="0"/>
              </a:rPr>
              <a:t>: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000" dirty="0" err="1" smtClean="0">
                <a:latin typeface="RijksoverheidSansText" panose="020B0503040202060203" pitchFamily="34" charset="0"/>
              </a:rPr>
              <a:t>Omzetten</a:t>
            </a:r>
            <a:r>
              <a:rPr lang="en-US" sz="2000" dirty="0" smtClean="0">
                <a:latin typeface="RijksoverheidSansText" panose="020B0503040202060203" pitchFamily="34" charset="0"/>
              </a:rPr>
              <a:t> van </a:t>
            </a:r>
            <a:r>
              <a:rPr lang="en-US" sz="2000" dirty="0" err="1" smtClean="0">
                <a:latin typeface="RijksoverheidSansText" panose="020B0503040202060203" pitchFamily="34" charset="0"/>
              </a:rPr>
              <a:t>binomiale</a:t>
            </a:r>
            <a:r>
              <a:rPr lang="en-US" sz="2000" dirty="0" smtClean="0">
                <a:latin typeface="RijksoverheidSansText" panose="020B0503040202060203" pitchFamily="34" charset="0"/>
              </a:rPr>
              <a:t> </a:t>
            </a:r>
            <a:r>
              <a:rPr lang="en-US" sz="2000" dirty="0" err="1" smtClean="0">
                <a:latin typeface="RijksoverheidSansText" panose="020B0503040202060203" pitchFamily="34" charset="0"/>
              </a:rPr>
              <a:t>verdeling</a:t>
            </a:r>
            <a:r>
              <a:rPr lang="en-US" sz="2000" dirty="0" smtClean="0">
                <a:latin typeface="RijksoverheidSansText" panose="020B0503040202060203" pitchFamily="34" charset="0"/>
              </a:rPr>
              <a:t> </a:t>
            </a:r>
            <a:r>
              <a:rPr lang="en-US" sz="2000" dirty="0" err="1" smtClean="0">
                <a:latin typeface="RijksoverheidSansText" panose="020B0503040202060203" pitchFamily="34" charset="0"/>
              </a:rPr>
              <a:t>naar</a:t>
            </a:r>
            <a:r>
              <a:rPr lang="en-US" sz="2000" dirty="0" smtClean="0">
                <a:latin typeface="RijksoverheidSansText" panose="020B0503040202060203" pitchFamily="34" charset="0"/>
              </a:rPr>
              <a:t> </a:t>
            </a:r>
            <a:r>
              <a:rPr lang="en-US" sz="2000" dirty="0" err="1" smtClean="0">
                <a:latin typeface="RijksoverheidSansText" panose="020B0503040202060203" pitchFamily="34" charset="0"/>
              </a:rPr>
              <a:t>fracties</a:t>
            </a:r>
            <a:r>
              <a:rPr lang="en-US" sz="2000" dirty="0" smtClean="0">
                <a:latin typeface="RijksoverheidSansText" panose="020B0503040202060203" pitchFamily="34" charset="0"/>
              </a:rPr>
              <a:t> </a:t>
            </a:r>
            <a:r>
              <a:rPr lang="en-US" sz="2000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000" dirty="0" smtClean="0">
                <a:latin typeface="RijksoverheidSansText" panose="020B0503040202060203" pitchFamily="34" charset="0"/>
              </a:rPr>
              <a:t> </a:t>
            </a:r>
            <a:r>
              <a:rPr lang="en-US" sz="2000" dirty="0" err="1" smtClean="0">
                <a:latin typeface="RijksoverheidSansText" panose="020B0503040202060203" pitchFamily="34" charset="0"/>
              </a:rPr>
              <a:t>andersom</a:t>
            </a:r>
            <a:endParaRPr lang="en-US" sz="2000" dirty="0" smtClean="0">
              <a:latin typeface="RijksoverheidSansText" panose="020B0503040202060203" pitchFamily="34" charset="0"/>
            </a:endParaRPr>
          </a:p>
          <a:p>
            <a:pPr marL="717550" lvl="1" indent="-342900">
              <a:buFont typeface="Arial" panose="020B0604020202020204" pitchFamily="34" charset="0"/>
              <a:buChar char="•"/>
            </a:pPr>
            <a:endParaRPr lang="en-US" sz="20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RijksoverheidSansText" panose="020B0503040202060203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el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6082797"/>
                  </p:ext>
                </p:extLst>
              </p:nvPr>
            </p:nvGraphicFramePr>
            <p:xfrm>
              <a:off x="1730768" y="2276872"/>
              <a:ext cx="8790070" cy="17776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82411">
                      <a:extLst>
                        <a:ext uri="{9D8B030D-6E8A-4147-A177-3AD203B41FA5}">
                          <a16:colId xmlns:a16="http://schemas.microsoft.com/office/drawing/2014/main" val="1475125243"/>
                        </a:ext>
                      </a:extLst>
                    </a:gridCol>
                    <a:gridCol w="2794000">
                      <a:extLst>
                        <a:ext uri="{9D8B030D-6E8A-4147-A177-3AD203B41FA5}">
                          <a16:colId xmlns:a16="http://schemas.microsoft.com/office/drawing/2014/main" val="4099670220"/>
                        </a:ext>
                      </a:extLst>
                    </a:gridCol>
                    <a:gridCol w="3113659">
                      <a:extLst>
                        <a:ext uri="{9D8B030D-6E8A-4147-A177-3AD203B41FA5}">
                          <a16:colId xmlns:a16="http://schemas.microsoft.com/office/drawing/2014/main" val="101140144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Bernoulli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Binomiaal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6486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2200" b="1" i="1" smtClean="0">
                                    <a:latin typeface="Cambria Math" panose="02040503050406030204" pitchFamily="18" charset="0"/>
                                  </a:rPr>
                                  <m:t>𝑬</m:t>
                                </m:r>
                                <m:r>
                                  <a:rPr lang="nl-NL" sz="2200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sz="2200" b="1" i="1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nl-NL" sz="2200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d>
                                  <m:dPr>
                                    <m:ctrlP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097568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2200" b="1" i="0" baseline="0" smtClean="0">
                                    <a:latin typeface="Cambria Math" panose="02040503050406030204" pitchFamily="18" charset="0"/>
                                  </a:rPr>
                                  <m:t>𝐕𝐚𝐫</m:t>
                                </m:r>
                                <m:r>
                                  <a:rPr lang="nl-NL" sz="2200" b="1" i="1" baseline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sz="2200" b="1" i="1" baseline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nl-NL" sz="2200" b="1" i="1" baseline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b="1" i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nl-NL" sz="22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⋅(1−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nl-NL" sz="2200" b="0" i="0" smtClean="0">
                                    <a:latin typeface="Cambria Math" panose="02040503050406030204" pitchFamily="18" charset="0"/>
                                  </a:rPr>
                                  <m:t>Var</m:t>
                                </m:r>
                                <m:d>
                                  <m:dPr>
                                    <m:ctrlP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⋅(1−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nl-NL" sz="2200" b="0" i="1" smtClean="0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49831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nl-NL" sz="2200" b="1" i="1" baseline="0" smtClean="0">
                                    <a:latin typeface="Cambria Math" panose="02040503050406030204" pitchFamily="18" charset="0"/>
                                  </a:rPr>
                                  <m:t>𝝈</m:t>
                                </m:r>
                                <m:r>
                                  <a:rPr lang="nl-NL" sz="2200" b="1" i="1" baseline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nl-NL" sz="2200" b="1" i="1" baseline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nl-NL" sz="2200" b="1" i="1" baseline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nl-NL" sz="2200" b="1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nl-NL" sz="2200" i="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2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𝜎</m:t>
                                </m:r>
                                <m:d>
                                  <m:d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d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nl-NL" sz="2200" b="0" i="1" smtClean="0">
                                        <a:latin typeface="Cambria Math" panose="02040503050406030204" pitchFamily="18" charset="0"/>
                                      </a:rPr>
                                      <m:t>⋅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(1−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2544692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el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66082797"/>
                  </p:ext>
                </p:extLst>
              </p:nvPr>
            </p:nvGraphicFramePr>
            <p:xfrm>
              <a:off x="1730768" y="2276872"/>
              <a:ext cx="8790070" cy="177761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82411">
                      <a:extLst>
                        <a:ext uri="{9D8B030D-6E8A-4147-A177-3AD203B41FA5}">
                          <a16:colId xmlns:a16="http://schemas.microsoft.com/office/drawing/2014/main" val="1475125243"/>
                        </a:ext>
                      </a:extLst>
                    </a:gridCol>
                    <a:gridCol w="2794000">
                      <a:extLst>
                        <a:ext uri="{9D8B030D-6E8A-4147-A177-3AD203B41FA5}">
                          <a16:colId xmlns:a16="http://schemas.microsoft.com/office/drawing/2014/main" val="4099670220"/>
                        </a:ext>
                      </a:extLst>
                    </a:gridCol>
                    <a:gridCol w="3113659">
                      <a:extLst>
                        <a:ext uri="{9D8B030D-6E8A-4147-A177-3AD203B41FA5}">
                          <a16:colId xmlns:a16="http://schemas.microsoft.com/office/drawing/2014/main" val="1011401443"/>
                        </a:ext>
                      </a:extLst>
                    </a:gridCol>
                  </a:tblGrid>
                  <a:tr h="426720">
                    <a:tc>
                      <a:txBody>
                        <a:bodyPr/>
                        <a:lstStyle/>
                        <a:p>
                          <a:pPr algn="ctr"/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>
                              <a:latin typeface="RijksoverheidSansText" panose="020B0503040202060203" pitchFamily="34" charset="0"/>
                            </a:rPr>
                            <a:t>Bernoulli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200" dirty="0" err="1">
                              <a:latin typeface="RijksoverheidSansText" panose="020B0503040202060203" pitchFamily="34" charset="0"/>
                            </a:rPr>
                            <a:t>Binomiaal</a:t>
                          </a:r>
                          <a:endParaRPr lang="nl-NL" sz="2200" dirty="0">
                            <a:latin typeface="RijksoverheidSansText" panose="020B0503040202060203" pitchFamily="34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56486068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1" t="-107042" r="-206131" b="-2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3268" t="-107042" r="-112418" b="-2211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583" t="-107042" r="-978" b="-2211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09756889"/>
                      </a:ext>
                    </a:extLst>
                  </a:tr>
                  <a:tr h="42672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1" t="-210000" r="-206131" b="-12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3268" t="-210000" r="-112418" b="-12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583" t="-210000" r="-978" b="-1242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49831267"/>
                      </a:ext>
                    </a:extLst>
                  </a:tr>
                  <a:tr h="49745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1" t="-264634" r="-206131" b="-6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3268" t="-264634" r="-112418" b="-6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82583" t="-264634" r="-978" b="-6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44692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33034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Volgend college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1773238"/>
            <a:ext cx="11187856" cy="424656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RijksoverheidSansText" panose="020B0503040202060203" pitchFamily="34" charset="0"/>
              </a:rPr>
              <a:t>De </a:t>
            </a:r>
            <a:r>
              <a:rPr lang="en-US" sz="2400" dirty="0" err="1">
                <a:latin typeface="RijksoverheidSansText" panose="020B0503040202060203" pitchFamily="34" charset="0"/>
              </a:rPr>
              <a:t>normale</a:t>
            </a:r>
            <a:r>
              <a:rPr lang="en-US" sz="2400" dirty="0">
                <a:latin typeface="RijksoverheidSansText" panose="020B0503040202060203" pitchFamily="34" charset="0"/>
              </a:rPr>
              <a:t> </a:t>
            </a:r>
            <a:r>
              <a:rPr lang="en-US" sz="2400" dirty="0" err="1">
                <a:latin typeface="RijksoverheidSansText" panose="020B0503040202060203" pitchFamily="34" charset="0"/>
              </a:rPr>
              <a:t>verdeling</a:t>
            </a:r>
            <a:endParaRPr lang="en-US" sz="2400" dirty="0">
              <a:latin typeface="RijksoverheidSansText" panose="020B0503040202060203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/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endParaRPr lang="en-US" sz="2400" b="1" dirty="0">
              <a:latin typeface="RijksoverheidSansText" panose="020B0503040202060203" pitchFamily="34" charset="0"/>
            </a:endParaRPr>
          </a:p>
          <a:p>
            <a:endParaRPr lang="en-US" sz="2400" b="1" dirty="0" smtClean="0">
              <a:latin typeface="RijksoverheidSansText" panose="020B0503040202060203" pitchFamily="34" charset="0"/>
            </a:endParaRPr>
          </a:p>
          <a:p>
            <a:endParaRPr lang="en-US" sz="2400" b="1" dirty="0">
              <a:latin typeface="RijksoverheidSansText" panose="020B0503040202060203" pitchFamily="34" charset="0"/>
            </a:endParaRPr>
          </a:p>
          <a:p>
            <a:endParaRPr lang="en-US" sz="2400" b="1" dirty="0">
              <a:latin typeface="RijksoverheidSansText" panose="020B0503040202060203" pitchFamily="34" charset="0"/>
            </a:endParaRPr>
          </a:p>
          <a:p>
            <a:r>
              <a:rPr lang="en-US" sz="2400" b="1" dirty="0" err="1">
                <a:latin typeface="RijksoverheidSansText" panose="020B0503040202060203" pitchFamily="34" charset="0"/>
              </a:rPr>
              <a:t>Huiswerk</a:t>
            </a:r>
            <a:r>
              <a:rPr lang="en-US" sz="2400" b="1" dirty="0">
                <a:latin typeface="RijksoverheidSansText" panose="020B0503040202060203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RijksoverheidSansText" panose="020B0503040202060203" pitchFamily="34" charset="0"/>
              </a:rPr>
              <a:t>Lezen</a:t>
            </a:r>
            <a:r>
              <a:rPr lang="en-US" sz="2400" dirty="0">
                <a:latin typeface="RijksoverheidSansText" panose="020B0503040202060203" pitchFamily="34" charset="0"/>
              </a:rPr>
              <a:t> van A. Buijs: </a:t>
            </a:r>
            <a:r>
              <a:rPr lang="en-US" sz="2400" dirty="0" err="1">
                <a:latin typeface="RijksoverheidSansText" panose="020B0503040202060203" pitchFamily="34" charset="0"/>
              </a:rPr>
              <a:t>hoofdstuk</a:t>
            </a:r>
            <a:r>
              <a:rPr lang="en-US" sz="2400" dirty="0">
                <a:latin typeface="RijksoverheidSansText" panose="020B0503040202060203" pitchFamily="34" charset="0"/>
              </a:rPr>
              <a:t> 6.2 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207-209), 6.4 (</a:t>
            </a:r>
            <a:r>
              <a:rPr lang="en-US" sz="2400" dirty="0" err="1">
                <a:latin typeface="RijksoverheidSansText" panose="020B0503040202060203" pitchFamily="34" charset="0"/>
              </a:rPr>
              <a:t>blz</a:t>
            </a:r>
            <a:r>
              <a:rPr lang="en-US" sz="2400" dirty="0">
                <a:latin typeface="RijksoverheidSansText" panose="020B0503040202060203" pitchFamily="34" charset="0"/>
              </a:rPr>
              <a:t>. 212-215)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 smtClean="0">
                <a:latin typeface="RijksoverheidSansText" panose="020B0503040202060203" pitchFamily="34" charset="0"/>
              </a:rPr>
              <a:t>Opdrachten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dirty="0" err="1" smtClean="0">
                <a:latin typeface="RijksoverheidSansText" panose="020B0503040202060203" pitchFamily="34" charset="0"/>
              </a:rPr>
              <a:t>uit</a:t>
            </a:r>
            <a:r>
              <a:rPr lang="en-US" sz="2400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“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Statistiek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om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mee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te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werken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: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opgaven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 </a:t>
            </a:r>
            <a:r>
              <a:rPr lang="en-US" sz="2400" i="1" dirty="0" err="1" smtClean="0">
                <a:latin typeface="RijksoverheidSansText" panose="020B0503040202060203" pitchFamily="34" charset="0"/>
              </a:rPr>
              <a:t>uitwerkingen</a:t>
            </a:r>
            <a:r>
              <a:rPr lang="en-US" sz="2400" i="1" dirty="0" smtClean="0">
                <a:latin typeface="RijksoverheidSansText" panose="020B0503040202060203" pitchFamily="34" charset="0"/>
              </a:rPr>
              <a:t>”</a:t>
            </a:r>
            <a:r>
              <a:rPr lang="en-US" sz="2400" dirty="0" smtClean="0">
                <a:latin typeface="RijksoverheidSansText" panose="020B0503040202060203" pitchFamily="34" charset="0"/>
              </a:rPr>
              <a:t>:</a:t>
            </a:r>
          </a:p>
          <a:p>
            <a:pPr marL="717550" lvl="1" indent="-342900">
              <a:buFont typeface="Arial" panose="020B0604020202020204" pitchFamily="34" charset="0"/>
              <a:buChar char="•"/>
            </a:pPr>
            <a:r>
              <a:rPr lang="en-US" sz="2000" dirty="0" smtClean="0">
                <a:latin typeface="RijksoverheidSansText" panose="020B0503040202060203" pitchFamily="34" charset="0"/>
              </a:rPr>
              <a:t>H6: 8, 10, 12, 14</a:t>
            </a:r>
            <a:endParaRPr lang="en-US" sz="2000" dirty="0">
              <a:latin typeface="RijksoverheidSansText" panose="020B0503040202060203" pitchFamily="34" charset="0"/>
            </a:endParaRPr>
          </a:p>
          <a:p>
            <a:pPr marL="0" indent="0">
              <a:buNone/>
            </a:pPr>
            <a:endParaRPr lang="nl-NL" sz="2400" b="1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College 4b: de binomiale verdeling (2/2)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753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Custom 1">
      <a:majorFont>
        <a:latin typeface="RijksoverheidSansWebText Bold"/>
        <a:ea typeface=""/>
        <a:cs typeface=""/>
      </a:majorFont>
      <a:minorFont>
        <a:latin typeface="RijksoverheidSans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2.xml><?xml version="1.0" encoding="utf-8"?>
<a:theme xmlns:a="http://schemas.openxmlformats.org/drawingml/2006/main" name="1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landmachtNL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3.xml><?xml version="1.0" encoding="utf-8"?>
<a:theme xmlns:a="http://schemas.openxmlformats.org/drawingml/2006/main" name="2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Aangepast 1">
      <a:majorFont>
        <a:latin typeface="RijksoverheidSansWebText Bold"/>
        <a:ea typeface=""/>
        <a:cs typeface=""/>
      </a:majorFont>
      <a:minorFont>
        <a:latin typeface="RijksoverheidSansWebText Regul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4.xml><?xml version="1.0" encoding="utf-8"?>
<a:theme xmlns:a="http://schemas.openxmlformats.org/drawingml/2006/main" name="3_Presentatie">
  <a:themeElements>
    <a:clrScheme name="landmachtNL1 1">
      <a:dk1>
        <a:srgbClr val="000000"/>
      </a:dk1>
      <a:lt1>
        <a:srgbClr val="FFFFFF"/>
      </a:lt1>
      <a:dk2>
        <a:srgbClr val="E17000"/>
      </a:dk2>
      <a:lt2>
        <a:srgbClr val="9ACCD4"/>
      </a:lt2>
      <a:accent1>
        <a:srgbClr val="2494C5"/>
      </a:accent1>
      <a:accent2>
        <a:srgbClr val="9ACCD4"/>
      </a:accent2>
      <a:accent3>
        <a:srgbClr val="FFFFFF"/>
      </a:accent3>
      <a:accent4>
        <a:srgbClr val="000000"/>
      </a:accent4>
      <a:accent5>
        <a:srgbClr val="ACC8DF"/>
      </a:accent5>
      <a:accent6>
        <a:srgbClr val="8BB9C0"/>
      </a:accent6>
      <a:hlink>
        <a:srgbClr val="004228"/>
      </a:hlink>
      <a:folHlink>
        <a:srgbClr val="E17000"/>
      </a:folHlink>
    </a:clrScheme>
    <a:fontScheme name="landmachtNL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0" tIns="0" rIns="0" bIns="0" numCol="1" anchor="b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andmachtNL1 1">
        <a:dk1>
          <a:srgbClr val="000000"/>
        </a:dk1>
        <a:lt1>
          <a:srgbClr val="FFFFFF"/>
        </a:lt1>
        <a:dk2>
          <a:srgbClr val="E17000"/>
        </a:dk2>
        <a:lt2>
          <a:srgbClr val="9ACCD4"/>
        </a:lt2>
        <a:accent1>
          <a:srgbClr val="2494C5"/>
        </a:accent1>
        <a:accent2>
          <a:srgbClr val="9ACCD4"/>
        </a:accent2>
        <a:accent3>
          <a:srgbClr val="FFFFFF"/>
        </a:accent3>
        <a:accent4>
          <a:srgbClr val="000000"/>
        </a:accent4>
        <a:accent5>
          <a:srgbClr val="ACC8DF"/>
        </a:accent5>
        <a:accent6>
          <a:srgbClr val="8BB9C0"/>
        </a:accent6>
        <a:hlink>
          <a:srgbClr val="004228"/>
        </a:hlink>
        <a:folHlink>
          <a:srgbClr val="E17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e_COMMIT_16-9.potx" id="{1445475F-C680-4984-B289-2F11A48A3D2F}" vid="{C2C83AC2-C8C5-4794-9F5F-E1F5002BF5A0}"/>
    </a:ext>
  </a:ext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Tijdelijk_bestand_Presentatie_DOSCO_16-9</Template>
  <TotalTime>0</TotalTime>
  <Words>2616</Words>
  <Application>Microsoft Office PowerPoint</Application>
  <PresentationFormat>Breedbeeld</PresentationFormat>
  <Paragraphs>276</Paragraphs>
  <Slides>22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4</vt:i4>
      </vt:variant>
      <vt:variant>
        <vt:lpstr>Diatitels</vt:lpstr>
      </vt:variant>
      <vt:variant>
        <vt:i4>22</vt:i4>
      </vt:variant>
    </vt:vector>
  </HeadingPairs>
  <TitlesOfParts>
    <vt:vector size="33" baseType="lpstr">
      <vt:lpstr>Arial</vt:lpstr>
      <vt:lpstr>Cambria Math</vt:lpstr>
      <vt:lpstr>RijksoverheidSansHeadingTT</vt:lpstr>
      <vt:lpstr>RijksoverheidSansText</vt:lpstr>
      <vt:lpstr>RijksoverheidSansWebText Bold</vt:lpstr>
      <vt:lpstr>RijksoverheidSansWebText Regula</vt:lpstr>
      <vt:lpstr>Verdana</vt:lpstr>
      <vt:lpstr>Presentatie</vt:lpstr>
      <vt:lpstr>1_Presentatie</vt:lpstr>
      <vt:lpstr>2_Presentatie</vt:lpstr>
      <vt:lpstr>3_Presentatie</vt:lpstr>
      <vt:lpstr>Statistiek: college 4b</vt:lpstr>
      <vt:lpstr>Recap: vorig college</vt:lpstr>
      <vt:lpstr>Leerdoelen </vt:lpstr>
      <vt:lpstr>Recap: Bernoulli-variabele</vt:lpstr>
      <vt:lpstr>Vraag</vt:lpstr>
      <vt:lpstr>Eigenschappen van de Bernoulli-verdeling</vt:lpstr>
      <vt:lpstr>Binomiale verdeling: verwachtingswaarde en variantie</vt:lpstr>
      <vt:lpstr>Binomiale verdeling: verwachtingswaarde en variantie</vt:lpstr>
      <vt:lpstr>Casus: bergoperaties van Mountain Leaders</vt:lpstr>
      <vt:lpstr>Voorbeeld: bergoperaties van Mountain Leaders</vt:lpstr>
      <vt:lpstr>PowerPoint-presentatie</vt:lpstr>
      <vt:lpstr>Buijs: opgave 6.14</vt:lpstr>
      <vt:lpstr>Buijs: opgave 6.14</vt:lpstr>
      <vt:lpstr>Buijs: opgave 6.14</vt:lpstr>
      <vt:lpstr>Buijs: opgave 6.14</vt:lpstr>
      <vt:lpstr>Fracties</vt:lpstr>
      <vt:lpstr>Fracties</vt:lpstr>
      <vt:lpstr>Buijs: opgave 6.14</vt:lpstr>
      <vt:lpstr>Buijs: opgave 6.14</vt:lpstr>
      <vt:lpstr>Van binomiale verdeling naar statistiek</vt:lpstr>
      <vt:lpstr>Samenvatting</vt:lpstr>
      <vt:lpstr>Volgend college</vt:lpstr>
    </vt:vector>
  </TitlesOfParts>
  <Company>Ministerie van Defensie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Blom, DAMP, Dr. ir., DOSCO/NLDA/FMW/CG MTW</dc:creator>
  <cp:lastModifiedBy>Gebruiker</cp:lastModifiedBy>
  <cp:revision>88</cp:revision>
  <cp:lastPrinted>2011-09-21T07:52:24Z</cp:lastPrinted>
  <dcterms:created xsi:type="dcterms:W3CDTF">2025-01-22T12:46:18Z</dcterms:created>
  <dcterms:modified xsi:type="dcterms:W3CDTF">2026-04-07T09:29:17Z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eur">
    <vt:lpwstr>Auteur</vt:lpwstr>
  </property>
  <property fmtid="{D5CDD505-2E9C-101B-9397-08002B2CF9AE}" pid="3" name="Functie">
    <vt:lpwstr>Functie</vt:lpwstr>
  </property>
  <property fmtid="{D5CDD505-2E9C-101B-9397-08002B2CF9AE}" pid="4" name="Titel">
    <vt:lpwstr>Titel</vt:lpwstr>
  </property>
  <property fmtid="{D5CDD505-2E9C-101B-9397-08002B2CF9AE}" pid="5" name="Subtitel">
    <vt:lpwstr>Subtitel</vt:lpwstr>
  </property>
  <property fmtid="{D5CDD505-2E9C-101B-9397-08002B2CF9AE}" pid="6" name="Afdeling">
    <vt:lpwstr>Afdeling</vt:lpwstr>
  </property>
  <property fmtid="{D5CDD505-2E9C-101B-9397-08002B2CF9AE}" pid="7" name="Merking">
    <vt:lpwstr>Merking</vt:lpwstr>
  </property>
  <property fmtid="{D5CDD505-2E9C-101B-9397-08002B2CF9AE}" pid="8" name="Rubricering">
    <vt:lpwstr>Rubricering</vt:lpwstr>
  </property>
  <property fmtid="{D5CDD505-2E9C-101B-9397-08002B2CF9AE}" pid="9" name="Datum">
    <vt:filetime>1999-12-31T22:00:00Z</vt:filetime>
  </property>
</Properties>
</file>