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6" r:id="rId2"/>
    <p:sldMasterId id="2147483698" r:id="rId3"/>
  </p:sldMasterIdLst>
  <p:notesMasterIdLst>
    <p:notesMasterId r:id="rId31"/>
  </p:notesMasterIdLst>
  <p:handoutMasterIdLst>
    <p:handoutMasterId r:id="rId32"/>
  </p:handoutMasterIdLst>
  <p:sldIdLst>
    <p:sldId id="317" r:id="rId4"/>
    <p:sldId id="318" r:id="rId5"/>
    <p:sldId id="257" r:id="rId6"/>
    <p:sldId id="287" r:id="rId7"/>
    <p:sldId id="288" r:id="rId8"/>
    <p:sldId id="286" r:id="rId9"/>
    <p:sldId id="309" r:id="rId10"/>
    <p:sldId id="310" r:id="rId11"/>
    <p:sldId id="311" r:id="rId12"/>
    <p:sldId id="312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8" r:id="rId22"/>
    <p:sldId id="301" r:id="rId23"/>
    <p:sldId id="305" r:id="rId24"/>
    <p:sldId id="307" r:id="rId25"/>
    <p:sldId id="308" r:id="rId26"/>
    <p:sldId id="304" r:id="rId27"/>
    <p:sldId id="315" r:id="rId28"/>
    <p:sldId id="314" r:id="rId29"/>
    <p:sldId id="316" r:id="rId30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0047"/>
    <a:srgbClr val="000000"/>
    <a:srgbClr val="55286E"/>
    <a:srgbClr val="FFFFFF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00"/>
  </p:normalViewPr>
  <p:slideViewPr>
    <p:cSldViewPr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/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Klik om het opmaakprofiel van de modeltekst te bewerken</a:t>
            </a:r>
          </a:p>
          <a:p>
            <a:pPr lvl="1"/>
            <a:r>
              <a:rPr lang="en-US" noProof="0" smtClean="0"/>
              <a:t>Tweede niveau</a:t>
            </a:r>
          </a:p>
          <a:p>
            <a:pPr lvl="2"/>
            <a:r>
              <a:rPr lang="en-US" noProof="0" smtClean="0"/>
              <a:t>Derde niveau</a:t>
            </a:r>
          </a:p>
          <a:p>
            <a:pPr lvl="3"/>
            <a:r>
              <a:rPr lang="en-US" noProof="0" smtClean="0"/>
              <a:t>Vierde niveau</a:t>
            </a:r>
          </a:p>
          <a:p>
            <a:pPr lvl="4"/>
            <a:r>
              <a:rPr lang="en-US" noProof="0" smtClean="0"/>
              <a:t>Vijfde niveau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Eventuele voettekst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>
              <a:latin typeface="Arial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</a:t>
            </a:r>
            <a:r>
              <a:rPr lang="en-US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Militaire</a:t>
            </a:r>
            <a:r>
              <a:rPr lang="en-US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Wetenschappen</a:t>
            </a:r>
            <a:endParaRPr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>
              <a:defRPr/>
            </a:pPr>
            <a:r>
              <a:rPr lang="nl-NL" dirty="0" smtClean="0"/>
              <a:t>27 januari 2025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ijksoverheidSansHeadingTT" panose="020B0503040202060203" pitchFamily="34" charset="0"/>
              </a:defRPr>
            </a:lvl1pPr>
            <a:lvl2pPr>
              <a:defRPr>
                <a:latin typeface="RijksoverheidSansHeadingTT" panose="020B0503040202060203" pitchFamily="34" charset="0"/>
              </a:defRPr>
            </a:lvl2pPr>
            <a:lvl3pPr>
              <a:defRPr>
                <a:latin typeface="RijksoverheidSansHeadingTT" panose="020B0503040202060203" pitchFamily="34" charset="0"/>
              </a:defRPr>
            </a:lvl3pPr>
            <a:lvl4pPr>
              <a:defRPr>
                <a:latin typeface="RijksoverheidSansHeadingTT" panose="020B0503040202060203" pitchFamily="34" charset="0"/>
              </a:defRPr>
            </a:lvl4pPr>
            <a:lvl5pPr>
              <a:defRPr>
                <a:latin typeface="RijksoverheidSansHeadingTT" panose="020B05030402020602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2" y="2474916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2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6" y="5386391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3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+mn-lt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3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+mn-lt"/>
              </a:rPr>
              <a:t>Nederlandse</a:t>
            </a:r>
            <a:r>
              <a:rPr lang="nl-NL" sz="1200" baseline="0" dirty="0" smtClean="0">
                <a:solidFill>
                  <a:schemeClr val="bg1"/>
                </a:solidFill>
                <a:latin typeface="+mn-lt"/>
              </a:rPr>
              <a:t> Defensie Academie</a:t>
            </a:r>
            <a:endParaRPr lang="nl-NL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6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Faculteit</a:t>
            </a:r>
            <a:r>
              <a:rPr lang="en-US" sz="1200" b="0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Militaire</a:t>
            </a:r>
            <a:r>
              <a:rPr lang="en-US" sz="1200" b="0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 smtClean="0">
                <a:solidFill>
                  <a:schemeClr val="bg1"/>
                </a:solidFill>
                <a:latin typeface="+mn-lt"/>
              </a:rPr>
              <a:t>Wetenschappen</a:t>
            </a:r>
            <a:endParaRPr sz="12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2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2" y="2781303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nl-NL" noProof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6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EFB72F70-86A0-4C14-B328-A142BCCD4395}" type="datetime4">
              <a:rPr lang="nl-NL" smtClean="0"/>
              <a:pPr>
                <a:defRPr/>
              </a:pPr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86253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BA442-CF7C-446F-A5C6-9C80A1EA92B1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26848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ACE4E-5F74-4A37-951C-E2AD8C0ABF31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4466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04096-2ED3-453C-8E78-E00AE5454056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52485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09A98-FEF1-486E-836B-0182E6ED18CF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4457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E3D14-5EDE-4B69-BCF9-7871170F920B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043919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C7BC3-7CD1-41E9-B4B5-084A2D120935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850761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127324"/>
            <a:ext cx="4011084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7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D4273-E583-4234-8A15-01E636C03DBC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66266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3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6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F2C121-03D7-4443-9B4B-D1ED7325FD6F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1284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90545-2047-4712-ADC2-09AB81876442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67289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335437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51159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00540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444271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45028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0135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455289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40555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28001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826504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44562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749345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3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41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endParaRPr sz="2200"/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4" y="3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6" y="6520261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C578AD08-3C54-48F2-9382-C141D1496CCF}" type="datetime4">
              <a:rPr lang="nl-NL" smtClean="0"/>
              <a:t>9 april 2026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21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 smtClean="0"/>
              <a:t>College 5b: de centrale limietstelling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98825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active-pois-binom.streamlit.app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</a:rPr>
              <a:t>Statistiek</a:t>
            </a:r>
            <a:r>
              <a:rPr lang="en-US" dirty="0">
                <a:solidFill>
                  <a:srgbClr val="113652"/>
                </a:solidFill>
              </a:rPr>
              <a:t>: college </a:t>
            </a:r>
            <a:r>
              <a:rPr lang="en-US" dirty="0" smtClean="0">
                <a:solidFill>
                  <a:srgbClr val="113652"/>
                </a:solidFill>
              </a:rPr>
              <a:t>6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r>
              <a:rPr lang="en-US" dirty="0" smtClean="0">
                <a:solidFill>
                  <a:srgbClr val="113652"/>
                </a:solidFill>
              </a:rPr>
              <a:t>De </a:t>
            </a:r>
            <a:r>
              <a:rPr lang="en-US" dirty="0" err="1" smtClean="0">
                <a:solidFill>
                  <a:srgbClr val="113652"/>
                </a:solidFill>
              </a:rPr>
              <a:t>Poissonverdeling</a:t>
            </a:r>
            <a:endParaRPr lang="nl-NL" dirty="0">
              <a:solidFill>
                <a:srgbClr val="113652"/>
              </a:solidFill>
            </a:endParaRP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21 mei 2026</a:t>
            </a:r>
          </a:p>
        </p:txBody>
      </p:sp>
    </p:spTree>
    <p:extLst>
      <p:ext uri="{BB962C8B-B14F-4D97-AF65-F5344CB8AC3E}">
        <p14:creationId xmlns:p14="http://schemas.microsoft.com/office/powerpoint/2010/main" val="347267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</a:rPr>
              <a:t>Statistiek</a:t>
            </a:r>
            <a:r>
              <a:rPr lang="en-US" dirty="0">
                <a:solidFill>
                  <a:srgbClr val="113652"/>
                </a:solidFill>
              </a:rPr>
              <a:t>: college </a:t>
            </a:r>
            <a:r>
              <a:rPr lang="en-US" dirty="0" smtClean="0">
                <a:solidFill>
                  <a:srgbClr val="113652"/>
                </a:solidFill>
              </a:rPr>
              <a:t>6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r>
              <a:rPr lang="en-US" dirty="0" smtClean="0">
                <a:solidFill>
                  <a:srgbClr val="113652"/>
                </a:solidFill>
              </a:rPr>
              <a:t>De </a:t>
            </a:r>
            <a:r>
              <a:rPr lang="en-US" smtClean="0">
                <a:solidFill>
                  <a:srgbClr val="113652"/>
                </a:solidFill>
              </a:rPr>
              <a:t>Poissonverdeling</a:t>
            </a:r>
            <a:endParaRPr lang="nl-NL" dirty="0">
              <a:solidFill>
                <a:srgbClr val="113652"/>
              </a:solidFill>
            </a:endParaRP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26 mei 2026</a:t>
            </a:r>
          </a:p>
        </p:txBody>
      </p:sp>
    </p:spTree>
    <p:extLst>
      <p:ext uri="{BB962C8B-B14F-4D97-AF65-F5344CB8AC3E}">
        <p14:creationId xmlns:p14="http://schemas.microsoft.com/office/powerpoint/2010/main" val="245842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Tot nu toe</a:t>
            </a:r>
            <a:endParaRPr lang="nl-NL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smtClean="0"/>
              <a:t>Introductie </a:t>
            </a:r>
            <a:r>
              <a:rPr lang="nl-NL" dirty="0"/>
              <a:t>statistiek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Discrete en continue </a:t>
            </a:r>
            <a:r>
              <a:rPr lang="nl-NL" dirty="0" err="1"/>
              <a:t>kansvariabelen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smtClean="0"/>
              <a:t>Binomiale verdeling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smtClean="0"/>
              <a:t>Normale verdeling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eaLnBrk="1" hangingPunct="1"/>
            <a:endParaRPr lang="nl-NL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 </a:t>
            </a:r>
            <a:endParaRPr lang="nl-NL" dirty="0" smtClean="0"/>
          </a:p>
        </p:txBody>
      </p:sp>
      <p:sp>
        <p:nvSpPr>
          <p:cNvPr id="5123" name="Rectangle 1027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0" y="1080000"/>
            <a:ext cx="12072664" cy="4246562"/>
          </a:xfrm>
        </p:spPr>
        <p:txBody>
          <a:bodyPr/>
          <a:lstStyle/>
          <a:p>
            <a:pPr algn="ctr"/>
            <a:r>
              <a:rPr lang="en-US" sz="2800" b="1" dirty="0" smtClean="0"/>
              <a:t>“La vie </a:t>
            </a:r>
            <a:r>
              <a:rPr lang="en-US" sz="2800" b="1" dirty="0" err="1" smtClean="0"/>
              <a:t>n’est</a:t>
            </a:r>
            <a:r>
              <a:rPr lang="en-US" sz="2800" b="1" dirty="0" smtClean="0"/>
              <a:t> bonne </a:t>
            </a:r>
            <a:r>
              <a:rPr lang="en-US" sz="2800" b="1" dirty="0" err="1" smtClean="0"/>
              <a:t>qu’à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deux</a:t>
            </a:r>
            <a:r>
              <a:rPr lang="en-US" sz="2800" b="1" dirty="0" smtClean="0"/>
              <a:t> choses</a:t>
            </a:r>
            <a:r>
              <a:rPr lang="en-US" sz="2800" b="1" dirty="0"/>
              <a:t>: </a:t>
            </a:r>
            <a:r>
              <a:rPr lang="en-US" sz="2800" b="1" dirty="0" smtClean="0"/>
              <a:t>à faire des </a:t>
            </a:r>
            <a:r>
              <a:rPr lang="en-US" sz="2800" b="1" dirty="0" err="1" smtClean="0"/>
              <a:t>mathématiques</a:t>
            </a:r>
            <a:r>
              <a:rPr lang="en-US" sz="2800" b="1" dirty="0" smtClean="0"/>
              <a:t> et à les </a:t>
            </a:r>
            <a:r>
              <a:rPr lang="en-US" sz="2800" b="1" dirty="0" err="1" smtClean="0"/>
              <a:t>professer</a:t>
            </a:r>
            <a:r>
              <a:rPr lang="en-US" sz="2800" b="1" dirty="0" smtClean="0"/>
              <a:t>.”</a:t>
            </a:r>
          </a:p>
          <a:p>
            <a:pPr algn="ctr"/>
            <a:r>
              <a:rPr lang="en-US" sz="2800" dirty="0" smtClean="0"/>
              <a:t>“Het </a:t>
            </a:r>
            <a:r>
              <a:rPr lang="en-US" sz="2800" dirty="0" err="1" smtClean="0"/>
              <a:t>leven</a:t>
            </a:r>
            <a:r>
              <a:rPr lang="en-US" sz="2800" dirty="0" smtClean="0"/>
              <a:t> is </a:t>
            </a:r>
            <a:r>
              <a:rPr lang="en-US" sz="2800" dirty="0" err="1" smtClean="0"/>
              <a:t>goed</a:t>
            </a:r>
            <a:r>
              <a:rPr lang="en-US" sz="2800" dirty="0" smtClean="0"/>
              <a:t> </a:t>
            </a:r>
            <a:r>
              <a:rPr lang="en-US" sz="2800" dirty="0" err="1" smtClean="0"/>
              <a:t>voor</a:t>
            </a:r>
            <a:r>
              <a:rPr lang="en-US" sz="2800" dirty="0" smtClean="0"/>
              <a:t> maar twee </a:t>
            </a:r>
            <a:r>
              <a:rPr lang="en-US" sz="2800" dirty="0" err="1" smtClean="0"/>
              <a:t>dingen</a:t>
            </a:r>
            <a:r>
              <a:rPr lang="en-US" sz="2800" dirty="0" smtClean="0"/>
              <a:t>: </a:t>
            </a:r>
            <a:r>
              <a:rPr lang="en-US" sz="2800" dirty="0" err="1" smtClean="0"/>
              <a:t>wiskunde</a:t>
            </a:r>
            <a:r>
              <a:rPr lang="en-US" sz="2800" dirty="0" smtClean="0"/>
              <a:t> </a:t>
            </a:r>
            <a:r>
              <a:rPr lang="en-US" sz="2800" dirty="0" err="1" smtClean="0"/>
              <a:t>leren</a:t>
            </a:r>
            <a:r>
              <a:rPr lang="en-US" sz="2800" dirty="0" smtClean="0"/>
              <a:t> </a:t>
            </a:r>
            <a:r>
              <a:rPr lang="en-US" sz="2800" dirty="0" err="1" smtClean="0"/>
              <a:t>en</a:t>
            </a:r>
            <a:r>
              <a:rPr lang="en-US" sz="2800" dirty="0" smtClean="0"/>
              <a:t> </a:t>
            </a:r>
            <a:r>
              <a:rPr lang="en-US" sz="2800" dirty="0" err="1" smtClean="0"/>
              <a:t>wiskunde</a:t>
            </a:r>
            <a:r>
              <a:rPr lang="en-US" sz="2800" dirty="0" smtClean="0"/>
              <a:t> </a:t>
            </a:r>
            <a:r>
              <a:rPr lang="en-US" sz="2800" dirty="0" err="1" smtClean="0"/>
              <a:t>onderwijzen</a:t>
            </a:r>
            <a:r>
              <a:rPr lang="en-US" sz="2800" dirty="0" smtClean="0"/>
              <a:t>.”</a:t>
            </a:r>
          </a:p>
          <a:p>
            <a:pPr algn="ctr"/>
            <a:endParaRPr lang="en-US" sz="2800" b="1" dirty="0"/>
          </a:p>
          <a:p>
            <a:pPr algn="ctr"/>
            <a:endParaRPr lang="en-US" sz="2800" b="1" dirty="0" smtClean="0"/>
          </a:p>
          <a:p>
            <a:pPr algn="ctr"/>
            <a:endParaRPr lang="en-US" sz="2800" b="1" dirty="0"/>
          </a:p>
          <a:p>
            <a:pPr algn="ctr"/>
            <a:endParaRPr lang="en-US" sz="2800" b="1" dirty="0" smtClean="0"/>
          </a:p>
          <a:p>
            <a:pPr algn="ctr"/>
            <a:endParaRPr lang="en-US" sz="2800" b="1" dirty="0"/>
          </a:p>
          <a:p>
            <a:pPr algn="ctr"/>
            <a:endParaRPr lang="en-US" sz="2800" b="1" dirty="0" smtClean="0"/>
          </a:p>
          <a:p>
            <a:pPr algn="ctr"/>
            <a:endParaRPr lang="en-US" sz="2800" b="1" dirty="0"/>
          </a:p>
          <a:p>
            <a:pPr algn="ctr"/>
            <a:endParaRPr lang="en-US" sz="2800" b="1" dirty="0" smtClean="0"/>
          </a:p>
          <a:p>
            <a:pPr algn="ctr"/>
            <a:r>
              <a:rPr lang="en-US" sz="2800" b="1" dirty="0" err="1" smtClean="0"/>
              <a:t>Siméon</a:t>
            </a:r>
            <a:r>
              <a:rPr lang="en-US" sz="2800" b="1" dirty="0" smtClean="0"/>
              <a:t> Denis Poisson (1781 – 1840)</a:t>
            </a:r>
            <a:endParaRPr lang="nl-NL" sz="2800" b="1" dirty="0"/>
          </a:p>
          <a:p>
            <a:pPr eaLnBrk="1" hangingPunct="1"/>
            <a:endParaRPr lang="nl-NL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341" y="1916832"/>
            <a:ext cx="3168352" cy="371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32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Voorbeeld: detectie van </a:t>
            </a:r>
            <a:r>
              <a:rPr lang="nl-NL" dirty="0" err="1" smtClean="0"/>
              <a:t>IED’s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eenheid</a:t>
            </a:r>
            <a:r>
              <a:rPr lang="en-US" dirty="0" smtClean="0"/>
              <a:t> van de </a:t>
            </a:r>
            <a:r>
              <a:rPr lang="en-US" dirty="0" err="1" smtClean="0"/>
              <a:t>Explosieve</a:t>
            </a:r>
            <a:r>
              <a:rPr lang="en-US" dirty="0" smtClean="0"/>
              <a:t> </a:t>
            </a:r>
            <a:r>
              <a:rPr lang="en-US" dirty="0" err="1" smtClean="0"/>
              <a:t>Opruimingsdienst</a:t>
            </a:r>
            <a:r>
              <a:rPr lang="en-US" dirty="0" smtClean="0"/>
              <a:t> </a:t>
            </a:r>
            <a:r>
              <a:rPr lang="en-US" dirty="0" err="1" smtClean="0"/>
              <a:t>Defensie</a:t>
            </a:r>
            <a:r>
              <a:rPr lang="en-US" dirty="0" smtClean="0"/>
              <a:t> (EOD) </a:t>
            </a:r>
            <a:r>
              <a:rPr lang="en-US" dirty="0" err="1" smtClean="0"/>
              <a:t>werkt</a:t>
            </a:r>
            <a:r>
              <a:rPr lang="en-US" dirty="0" smtClean="0"/>
              <a:t> in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uitzendgebied</a:t>
            </a:r>
            <a:r>
              <a:rPr lang="en-US" dirty="0" smtClean="0"/>
              <a:t> </a:t>
            </a:r>
            <a:r>
              <a:rPr lang="en-US" dirty="0" err="1" smtClean="0"/>
              <a:t>aan</a:t>
            </a:r>
            <a:r>
              <a:rPr lang="en-US" dirty="0" smtClean="0"/>
              <a:t> het </a:t>
            </a:r>
            <a:r>
              <a:rPr lang="en-US" dirty="0" err="1" smtClean="0"/>
              <a:t>ruimen</a:t>
            </a:r>
            <a:r>
              <a:rPr lang="en-US" dirty="0" smtClean="0"/>
              <a:t> van </a:t>
            </a:r>
            <a:r>
              <a:rPr lang="en-US" dirty="0" err="1" smtClean="0"/>
              <a:t>zogenaamde</a:t>
            </a:r>
            <a:r>
              <a:rPr lang="en-US" dirty="0" smtClean="0"/>
              <a:t> </a:t>
            </a:r>
            <a:r>
              <a:rPr lang="en-US" b="1" dirty="0" smtClean="0"/>
              <a:t>improvised explosive devices (IED’s) </a:t>
            </a:r>
            <a:r>
              <a:rPr lang="en-US" dirty="0" err="1" smtClean="0"/>
              <a:t>bij</a:t>
            </a:r>
            <a:r>
              <a:rPr lang="en-US" dirty="0" smtClean="0"/>
              <a:t> </a:t>
            </a:r>
            <a:r>
              <a:rPr lang="en-US" dirty="0" err="1" smtClean="0"/>
              <a:t>een</a:t>
            </a:r>
            <a:r>
              <a:rPr lang="en-US" dirty="0" smtClean="0"/>
              <a:t> </a:t>
            </a:r>
            <a:r>
              <a:rPr lang="en-US" dirty="0" err="1" smtClean="0"/>
              <a:t>doorgaande</a:t>
            </a:r>
            <a:r>
              <a:rPr lang="en-US" dirty="0" smtClean="0"/>
              <a:t> </a:t>
            </a:r>
            <a:r>
              <a:rPr lang="en-US" dirty="0" err="1" smtClean="0"/>
              <a:t>weg</a:t>
            </a:r>
            <a:r>
              <a:rPr lang="en-US" dirty="0" smtClean="0"/>
              <a:t>.</a:t>
            </a:r>
            <a:endParaRPr lang="en-US" b="1" dirty="0" smtClean="0"/>
          </a:p>
          <a:p>
            <a:endParaRPr lang="en-US" b="1" dirty="0"/>
          </a:p>
          <a:p>
            <a:endParaRPr lang="nl-NL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457131"/>
            <a:ext cx="5427216" cy="35955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6537" t="17174" r="38015"/>
          <a:stretch/>
        </p:blipFill>
        <p:spPr>
          <a:xfrm>
            <a:off x="7520293" y="2453803"/>
            <a:ext cx="3672408" cy="362525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20136" y="6130924"/>
            <a:ext cx="50405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>
                <a:latin typeface="RijksoverheidSansText" panose="020B0503040202060203" pitchFamily="34" charset="0"/>
              </a:rPr>
              <a:t>https://theonion.com/terrorist-who-put-a-lot-of-work-into-explosive-device-o-1838878632/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375" y="6061008"/>
            <a:ext cx="54232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dirty="0">
                <a:latin typeface="RijksoverheidSansText" panose="020B0503040202060203" pitchFamily="34" charset="0"/>
              </a:rPr>
              <a:t>https://www.dreamstime.com/stock-photo-close-up-shot-improvised-explosive-device-bomb-handmade-image89113806</a:t>
            </a:r>
          </a:p>
        </p:txBody>
      </p:sp>
    </p:spTree>
    <p:extLst>
      <p:ext uri="{BB962C8B-B14F-4D97-AF65-F5344CB8AC3E}">
        <p14:creationId xmlns:p14="http://schemas.microsoft.com/office/powerpoint/2010/main" val="310051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Voorbeeld: detectie van </a:t>
            </a:r>
            <a:r>
              <a:rPr lang="nl-NL" dirty="0" err="1" smtClean="0"/>
              <a:t>IED’s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Uit intelligence </a:t>
                </a:r>
                <a:r>
                  <a:rPr lang="en-US" dirty="0" err="1" smtClean="0"/>
                  <a:t>bronnen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wordt</a:t>
                </a:r>
                <a:r>
                  <a:rPr lang="en-US" dirty="0" smtClean="0"/>
                  <a:t> in het </a:t>
                </a:r>
                <a:r>
                  <a:rPr lang="en-US" dirty="0" err="1" smtClean="0"/>
                  <a:t>uitzendgebied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gemiddelde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per km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geschat</a:t>
                </a:r>
                <a:r>
                  <a:rPr lang="en-US" dirty="0" smtClean="0"/>
                  <a:t> 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=0,5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 smtClean="0"/>
                  <a:t>Om de </a:t>
                </a:r>
                <a:r>
                  <a:rPr lang="en-US" dirty="0" err="1" smtClean="0"/>
                  <a:t>logistiek</a:t>
                </a:r>
                <a:r>
                  <a:rPr lang="en-US" dirty="0" smtClean="0"/>
                  <a:t> van de </a:t>
                </a:r>
                <a:r>
                  <a:rPr lang="en-US" dirty="0" err="1" smtClean="0"/>
                  <a:t>opruimingsmissie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kunnen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plannen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wil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eenheid</a:t>
                </a:r>
                <a:r>
                  <a:rPr lang="en-US" dirty="0" smtClean="0"/>
                  <a:t> van de EOD </a:t>
                </a:r>
                <a:r>
                  <a:rPr lang="en-US" dirty="0" err="1" smtClean="0"/>
                  <a:t>graag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risico’s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inschatten</a:t>
                </a:r>
                <a:r>
                  <a:rPr lang="en-US" dirty="0" smtClean="0"/>
                  <a:t>.</a:t>
                </a:r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pPr algn="ctr"/>
                <a:r>
                  <a:rPr lang="en-US" b="1" dirty="0" err="1" smtClean="0"/>
                  <a:t>Hoeveel</a:t>
                </a:r>
                <a:r>
                  <a:rPr lang="en-US" b="1" dirty="0" smtClean="0"/>
                  <a:t> IED’s </a:t>
                </a:r>
                <a:r>
                  <a:rPr lang="en-US" b="1" dirty="0" err="1" smtClean="0"/>
                  <a:t>zijn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aanwezig</a:t>
                </a:r>
                <a:r>
                  <a:rPr lang="en-US" b="1" dirty="0" smtClean="0"/>
                  <a:t> op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weg</a:t>
                </a:r>
                <a:r>
                  <a:rPr lang="en-US" b="1" dirty="0" smtClean="0"/>
                  <a:t> van 1 km </a:t>
                </a:r>
                <a:r>
                  <a:rPr lang="en-US" b="1" dirty="0" err="1" smtClean="0"/>
                  <a:t>lang</a:t>
                </a:r>
                <a:r>
                  <a:rPr lang="en-US" b="1" dirty="0" smtClean="0"/>
                  <a:t>?</a:t>
                </a:r>
              </a:p>
              <a:p>
                <a:endParaRPr lang="en-US" b="1" dirty="0"/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7" t="-2009" r="-1294" b="-229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56" y="3501008"/>
            <a:ext cx="9793088" cy="218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9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Voorbeeld: detectie van </a:t>
            </a:r>
            <a:r>
              <a:rPr lang="nl-NL" dirty="0" err="1" smtClean="0"/>
              <a:t>IED’s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 smtClean="0"/>
                  <a:t>Eerste </a:t>
                </a:r>
                <a:r>
                  <a:rPr lang="en-US" b="1" dirty="0" err="1" smtClean="0"/>
                  <a:t>aanpak</a:t>
                </a:r>
                <a:r>
                  <a:rPr lang="en-US" b="1" dirty="0" smtClean="0"/>
                  <a:t>: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opdelen</a:t>
                </a:r>
                <a:r>
                  <a:rPr lang="en-US" dirty="0" smtClean="0"/>
                  <a:t> in </a:t>
                </a:r>
                <a:r>
                  <a:rPr lang="en-US" dirty="0" err="1" smtClean="0"/>
                  <a:t>kleine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stukjes</a:t>
                </a:r>
                <a:r>
                  <a:rPr lang="en-US" dirty="0" smtClean="0"/>
                  <a:t> (</a:t>
                </a:r>
                <a:r>
                  <a:rPr lang="en-US" dirty="0" err="1" smtClean="0"/>
                  <a:t>bv</a:t>
                </a:r>
                <a:r>
                  <a:rPr lang="en-US" dirty="0" smtClean="0"/>
                  <a:t>. </a:t>
                </a:r>
                <a:r>
                  <a:rPr lang="en-US" dirty="0" err="1" smtClean="0"/>
                  <a:t>stukje</a:t>
                </a:r>
                <a:r>
                  <a:rPr lang="en-US" dirty="0" smtClean="0"/>
                  <a:t> van 1 meter </a:t>
                </a:r>
                <a:r>
                  <a:rPr lang="en-US" dirty="0" err="1" smtClean="0"/>
                  <a:t>lang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/>
                  <a:t> 1.000 </a:t>
                </a:r>
                <a:r>
                  <a:rPr lang="en-US" dirty="0" err="1" smtClean="0"/>
                  <a:t>stukjes</a:t>
                </a:r>
                <a:r>
                  <a:rPr lang="en-US" dirty="0" smtClean="0"/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Per </a:t>
                </a:r>
                <a:r>
                  <a:rPr lang="en-US" dirty="0" err="1" smtClean="0"/>
                  <a:t>stukje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ligt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binnen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stukje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IED of </a:t>
                </a:r>
                <a:r>
                  <a:rPr lang="en-US" dirty="0" err="1" smtClean="0"/>
                  <a:t>niet</a:t>
                </a:r>
                <a:r>
                  <a:rPr lang="en-US" dirty="0" smtClean="0"/>
                  <a:t>?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er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=0,5</m:t>
                    </m:r>
                  </m:oMath>
                </a14:m>
                <a:r>
                  <a:rPr lang="en-US" dirty="0" smtClean="0"/>
                  <a:t> per km </a:t>
                </a:r>
                <a:r>
                  <a:rPr lang="en-US" dirty="0" err="1" smtClean="0"/>
                  <a:t>liggen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</m:den>
                    </m:f>
                  </m:oMath>
                </a14:m>
                <a:r>
                  <a:rPr lang="en-US" dirty="0" smtClean="0"/>
                  <a:t> per meter!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b="1" dirty="0"/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7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592027"/>
            <a:ext cx="10694521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4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Voorbeeld: detectie van </a:t>
            </a:r>
            <a:r>
              <a:rPr lang="nl-NL" dirty="0" err="1" smtClean="0"/>
              <a:t>IED’s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Als we de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opdelen</a:t>
                </a:r>
                <a:r>
                  <a:rPr lang="en-US" dirty="0" smtClean="0"/>
                  <a:t> in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groot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stukjes</a:t>
                </a:r>
                <a:r>
                  <a:rPr lang="en-US" dirty="0" smtClean="0"/>
                  <a:t> (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zeer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kleine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stukjes</a:t>
                </a:r>
                <a:r>
                  <a:rPr lang="en-US" dirty="0" smtClean="0"/>
                  <a:t>),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is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op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stukje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0 of 1</a:t>
                </a:r>
                <a:endParaRPr lang="en-US" dirty="0"/>
              </a:p>
              <a:p>
                <a:pPr algn="ctr"/>
                <a:r>
                  <a:rPr lang="en-US" b="1" dirty="0" err="1" smtClean="0"/>
                  <a:t>Doet</a:t>
                </a:r>
                <a:r>
                  <a:rPr lang="en-US" b="1" dirty="0" smtClean="0"/>
                  <a:t> </a:t>
                </a:r>
                <a:r>
                  <a:rPr lang="en-US" b="1" dirty="0" err="1"/>
                  <a:t>dit</a:t>
                </a:r>
                <a:r>
                  <a:rPr lang="en-US" b="1" dirty="0"/>
                  <a:t> </a:t>
                </a:r>
                <a:r>
                  <a:rPr lang="en-US" b="1" dirty="0" err="1"/>
                  <a:t>jullie</a:t>
                </a:r>
                <a:r>
                  <a:rPr lang="en-US" b="1" dirty="0"/>
                  <a:t> </a:t>
                </a:r>
                <a:r>
                  <a:rPr lang="en-US" b="1" dirty="0" err="1"/>
                  <a:t>ergens</a:t>
                </a:r>
                <a:r>
                  <a:rPr lang="en-US" b="1" dirty="0"/>
                  <a:t> </a:t>
                </a:r>
                <a:r>
                  <a:rPr lang="en-US" b="1" dirty="0" err="1"/>
                  <a:t>aan</a:t>
                </a:r>
                <a:r>
                  <a:rPr lang="en-US" b="1" dirty="0"/>
                  <a:t> </a:t>
                </a:r>
                <a:r>
                  <a:rPr lang="en-US" b="1" dirty="0" err="1"/>
                  <a:t>denken</a:t>
                </a:r>
                <a:r>
                  <a:rPr lang="en-US" b="1" dirty="0" smtClean="0"/>
                  <a:t>?</a:t>
                </a:r>
              </a:p>
              <a:p>
                <a:pPr algn="ctr"/>
                <a:endParaRPr lang="en-US" b="1" dirty="0"/>
              </a:p>
              <a:p>
                <a:pPr algn="ctr"/>
                <a:endParaRPr lang="en-US" b="1" dirty="0" smtClean="0"/>
              </a:p>
              <a:p>
                <a:pPr algn="ctr"/>
                <a:endParaRPr lang="en-US" b="1" dirty="0"/>
              </a:p>
              <a:p>
                <a:pPr algn="ctr"/>
                <a:endParaRPr lang="en-US" b="1" dirty="0" smtClean="0"/>
              </a:p>
              <a:p>
                <a:pPr algn="ctr"/>
                <a:endParaRPr lang="en-US" b="1" dirty="0"/>
              </a:p>
              <a:p>
                <a:pPr algn="ctr"/>
                <a:endParaRPr lang="en-US" b="1" dirty="0" smtClean="0"/>
              </a:p>
              <a:p>
                <a:r>
                  <a:rPr lang="en-US" dirty="0" err="1" smtClean="0"/>
                  <a:t>Laat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1" dirty="0" smtClean="0"/>
                  <a:t> </a:t>
                </a:r>
                <a:r>
                  <a:rPr lang="en-US" dirty="0" smtClean="0"/>
                  <a:t>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stukjes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zijn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 smtClean="0"/>
                  <a:t>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per km.</a:t>
                </a:r>
              </a:p>
              <a:p>
                <a:r>
                  <a:rPr lang="en-US" dirty="0" err="1" smtClean="0"/>
                  <a:t>Voor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die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op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km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telt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bij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benadering</a:t>
                </a:r>
                <a:r>
                  <a:rPr lang="en-US" dirty="0" smtClean="0"/>
                  <a:t> </a:t>
                </a:r>
                <a:endParaRPr lang="en-US" b="0" i="1" dirty="0" smtClean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𝐁𝐢𝐧𝐨𝐦𝐢𝐚𝐚𝐥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 smtClean="0">
                    <a:solidFill>
                      <a:schemeClr val="tx1"/>
                    </a:solidFill>
                  </a:rPr>
                  <a:t> </a:t>
                </a:r>
                <a:endParaRPr lang="en-US" b="1" dirty="0">
                  <a:solidFill>
                    <a:schemeClr val="tx1"/>
                  </a:solidFill>
                </a:endParaRPr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b="1" dirty="0"/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7" t="-2009" r="-1235" b="-258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502" y="2780928"/>
            <a:ext cx="8107796" cy="19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85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De </a:t>
            </a:r>
            <a:r>
              <a:rPr lang="nl-NL" dirty="0" err="1" smtClean="0"/>
              <a:t>Poissonverdeling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r>
                  <a:rPr lang="en-US" dirty="0" smtClean="0"/>
                  <a:t>Een </a:t>
                </a:r>
                <a:r>
                  <a:rPr lang="en-US" dirty="0" err="1" smtClean="0"/>
                  <a:t>binomiaal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verdeelde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met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 smtClean="0"/>
                  <a:t> heeft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kansfunctie</a:t>
                </a:r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b="1" dirty="0" smtClean="0"/>
              </a:p>
              <a:p>
                <a:endParaRPr lang="en-US" dirty="0"/>
              </a:p>
              <a:p>
                <a:r>
                  <a:rPr lang="en-US" dirty="0" smtClean="0"/>
                  <a:t>De </a:t>
                </a:r>
                <a:r>
                  <a:rPr lang="en-US" b="1" dirty="0" err="1" smtClean="0"/>
                  <a:t>exacte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kansfunctie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(</m:t>
                    </m:r>
                  </m:oMath>
                </a14:m>
                <a:r>
                  <a:rPr lang="en-US" dirty="0" smtClean="0"/>
                  <a:t>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op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km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) </a:t>
                </a:r>
                <a:r>
                  <a:rPr lang="en-US" dirty="0" err="1" smtClean="0"/>
                  <a:t>krijgen</a:t>
                </a:r>
                <a:r>
                  <a:rPr lang="en-US" dirty="0" smtClean="0"/>
                  <a:t> we uit de </a:t>
                </a:r>
                <a:r>
                  <a:rPr lang="en-US" dirty="0" err="1" smtClean="0"/>
                  <a:t>limiet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 smtClean="0"/>
                  <a:t>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b="1" dirty="0"/>
              </a:p>
              <a:p>
                <a:endParaRPr lang="en-US" dirty="0" smtClean="0"/>
              </a:p>
              <a:p>
                <a:r>
                  <a:rPr lang="en-US" dirty="0" smtClean="0"/>
                  <a:t>We </a:t>
                </a:r>
                <a:r>
                  <a:rPr lang="en-US" dirty="0" err="1" smtClean="0"/>
                  <a:t>noemen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kansverdeling</a:t>
                </a:r>
                <a:r>
                  <a:rPr lang="en-US" dirty="0" smtClean="0"/>
                  <a:t> 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Poissonverdeling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is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Poisson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verdeelde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kansvariabele</a:t>
                </a:r>
                <a:endParaRPr lang="en-US" b="1" dirty="0" smtClean="0">
                  <a:solidFill>
                    <a:schemeClr val="accent1"/>
                  </a:solidFill>
                </a:endParaRPr>
              </a:p>
              <a:p>
                <a:r>
                  <a:rPr lang="en-US" b="1" dirty="0" err="1" smtClean="0"/>
                  <a:t>Notatie</a:t>
                </a:r>
                <a:r>
                  <a:rPr lang="en-US" b="1" dirty="0" smtClean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Poisson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endParaRPr lang="en-US" b="1" dirty="0"/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576" r="-1294" b="-430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655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De </a:t>
            </a:r>
            <a:r>
              <a:rPr lang="nl-NL" dirty="0" err="1" smtClean="0"/>
              <a:t>Poissonverdeling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 smtClean="0"/>
          </a:p>
          <a:p>
            <a:pPr algn="ctr"/>
            <a:r>
              <a:rPr lang="en-US" dirty="0" smtClean="0">
                <a:hlinkClick r:id="rId2" tooltip="https://interactive-pois-binom.streamlit.app"/>
              </a:rPr>
              <a:t>https://interactive-pois-binom.streamlit.app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b="1" dirty="0"/>
          </a:p>
          <a:p>
            <a:endParaRPr lang="nl-NL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925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De </a:t>
            </a:r>
            <a:r>
              <a:rPr lang="nl-NL" dirty="0" err="1" smtClean="0"/>
              <a:t>Poissonverdeling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r>
                  <a:rPr lang="en-US" dirty="0" smtClean="0"/>
                  <a:t>De </a:t>
                </a:r>
                <a:r>
                  <a:rPr lang="en-US" dirty="0" err="1" smtClean="0"/>
                  <a:t>Poissonverdeling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kenmerkt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zich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volgt</a:t>
                </a:r>
                <a:r>
                  <a:rPr lang="en-US" dirty="0" smtClean="0"/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Telt</a:t>
                </a:r>
                <a:r>
                  <a:rPr lang="en-US" dirty="0" smtClean="0"/>
                  <a:t> het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aantal</a:t>
                </a:r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“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gebeurtenissen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” </a:t>
                </a:r>
                <a:r>
                  <a:rPr lang="en-US" dirty="0" err="1" smtClean="0"/>
                  <a:t>binnen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specifiek</a:t>
                </a:r>
                <a:r>
                  <a:rPr lang="en-US" dirty="0" smtClean="0"/>
                  <a:t> “interval” van </a:t>
                </a:r>
                <a:r>
                  <a:rPr lang="en-US" dirty="0" err="1" smtClean="0"/>
                  <a:t>tijd</a:t>
                </a:r>
                <a:r>
                  <a:rPr lang="en-US" dirty="0" smtClean="0"/>
                  <a:t> of </a:t>
                </a:r>
                <a:r>
                  <a:rPr lang="en-US" dirty="0" err="1" smtClean="0"/>
                  <a:t>ruimte</a:t>
                </a:r>
                <a:r>
                  <a:rPr lang="en-US" dirty="0" smtClean="0"/>
                  <a:t>. 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/>
                  <a:t>Gebeurtenis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aanwezigheid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IED, storing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wapensysteem</a:t>
                </a:r>
                <a:r>
                  <a:rPr lang="en-US" dirty="0" smtClean="0"/>
                  <a:t>, …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b="1" dirty="0" smtClean="0"/>
                  <a:t>Interval</a:t>
                </a:r>
                <a:r>
                  <a:rPr lang="en-US" dirty="0" smtClean="0"/>
                  <a:t>: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van 10 km (</a:t>
                </a:r>
                <a:r>
                  <a:rPr lang="en-US" dirty="0" err="1" smtClean="0"/>
                  <a:t>ruimte</a:t>
                </a:r>
                <a:r>
                  <a:rPr lang="en-US" dirty="0" smtClean="0"/>
                  <a:t>), </a:t>
                </a:r>
                <a:r>
                  <a:rPr lang="en-US" dirty="0" err="1" smtClean="0"/>
                  <a:t>drie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dagen</a:t>
                </a:r>
                <a:r>
                  <a:rPr lang="en-US" dirty="0" smtClean="0"/>
                  <a:t> (</a:t>
                </a:r>
                <a:r>
                  <a:rPr lang="en-US" dirty="0" err="1" smtClean="0"/>
                  <a:t>tijd</a:t>
                </a:r>
                <a:r>
                  <a:rPr lang="en-US" dirty="0" smtClean="0"/>
                  <a:t>), …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Per </a:t>
                </a:r>
                <a:r>
                  <a:rPr lang="en-US" dirty="0" err="1" smtClean="0"/>
                  <a:t>eenheid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tijd</a:t>
                </a:r>
                <a:r>
                  <a:rPr lang="en-US" dirty="0" smtClean="0"/>
                  <a:t> of </a:t>
                </a:r>
                <a:r>
                  <a:rPr lang="en-US" dirty="0" err="1" smtClean="0"/>
                  <a:t>ruimte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gedraagt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gemiddelde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gebeurtenissen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zich</a:t>
                </a:r>
                <a:r>
                  <a:rPr lang="en-US" dirty="0" smtClean="0"/>
                  <a:t> constant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/>
                  <a:t>Gebeurtenissen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vinden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onafhankelijk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elkaar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plaats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binnen</a:t>
                </a:r>
                <a:r>
                  <a:rPr lang="en-US" dirty="0" smtClean="0"/>
                  <a:t> het interval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b="-301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8046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Rekenen</a:t>
            </a:r>
            <a:r>
              <a:rPr lang="en-US" dirty="0" smtClean="0"/>
              <a:t> met de </a:t>
            </a:r>
            <a:r>
              <a:rPr lang="en-US" dirty="0" err="1" smtClean="0"/>
              <a:t>Poissonverdeling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</p:spPr>
            <p:txBody>
              <a:bodyPr/>
              <a:lstStyle/>
              <a:p>
                <a:r>
                  <a:rPr lang="en-US" b="1" dirty="0" smtClean="0"/>
                  <a:t>Uit intelligence </a:t>
                </a:r>
                <a:r>
                  <a:rPr lang="en-US" b="1" dirty="0" err="1"/>
                  <a:t>bronnen</a:t>
                </a:r>
                <a:r>
                  <a:rPr lang="en-US" b="1" dirty="0"/>
                  <a:t> </a:t>
                </a:r>
                <a:r>
                  <a:rPr lang="en-US" b="1" dirty="0" err="1"/>
                  <a:t>wordt</a:t>
                </a:r>
                <a:r>
                  <a:rPr lang="en-US" b="1" dirty="0"/>
                  <a:t> in het </a:t>
                </a:r>
                <a:r>
                  <a:rPr lang="en-US" b="1" dirty="0" err="1"/>
                  <a:t>uitzendgebied</a:t>
                </a:r>
                <a:r>
                  <a:rPr lang="en-US" b="1" dirty="0"/>
                  <a:t> het </a:t>
                </a:r>
                <a:r>
                  <a:rPr lang="en-US" b="1" dirty="0" err="1"/>
                  <a:t>gemiddelde</a:t>
                </a:r>
                <a:r>
                  <a:rPr lang="en-US" b="1" dirty="0"/>
                  <a:t> </a:t>
                </a:r>
                <a:r>
                  <a:rPr lang="en-US" b="1" dirty="0" err="1"/>
                  <a:t>aantal</a:t>
                </a:r>
                <a:r>
                  <a:rPr lang="en-US" b="1" dirty="0"/>
                  <a:t> IED’s per km </a:t>
                </a:r>
                <a:r>
                  <a:rPr lang="en-US" b="1" dirty="0" err="1"/>
                  <a:t>weg</a:t>
                </a:r>
                <a:r>
                  <a:rPr lang="en-US" b="1" dirty="0"/>
                  <a:t> </a:t>
                </a:r>
                <a:r>
                  <a:rPr lang="en-US" b="1" dirty="0" err="1"/>
                  <a:t>geschat</a:t>
                </a:r>
                <a:r>
                  <a:rPr lang="en-US" b="1" dirty="0"/>
                  <a:t> op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 dirty="0" smtClean="0"/>
                  <a:t>. Wat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op </a:t>
                </a:r>
                <a:r>
                  <a:rPr lang="en-US" b="1" dirty="0" err="1" smtClean="0"/>
                  <a:t>minstens</a:t>
                </a:r>
                <a:r>
                  <a:rPr lang="en-US" b="1" dirty="0" smtClean="0"/>
                  <a:t> twee IED’s op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stuk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weg</a:t>
                </a:r>
                <a:r>
                  <a:rPr lang="en-US" b="1" dirty="0" smtClean="0"/>
                  <a:t> van 5 km </a:t>
                </a:r>
                <a:r>
                  <a:rPr lang="en-US" b="1" dirty="0" err="1" smtClean="0"/>
                  <a:t>lang</a:t>
                </a:r>
                <a:r>
                  <a:rPr lang="en-US" b="1" dirty="0" smtClean="0"/>
                  <a:t>?</a:t>
                </a:r>
                <a:endParaRPr lang="en-US" b="1" dirty="0"/>
              </a:p>
              <a:p>
                <a:endParaRPr lang="en-US" dirty="0" smtClean="0"/>
              </a:p>
              <a:p>
                <a:r>
                  <a:rPr lang="en-US" dirty="0" smtClean="0"/>
                  <a:t>In </a:t>
                </a:r>
                <a:r>
                  <a:rPr lang="en-US" dirty="0" err="1" smtClean="0"/>
                  <a:t>dit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voorbeeld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=0,5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/>
                  <a:t>IED’s per </a:t>
                </a:r>
                <a:r>
                  <a:rPr lang="en-US" dirty="0" smtClean="0"/>
                  <a:t>km, 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=2,5</m:t>
                    </m:r>
                  </m:oMath>
                </a14:m>
                <a:r>
                  <a:rPr lang="en-US" dirty="0" smtClean="0"/>
                  <a:t> op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van 5 km lang.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op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kansvariabele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Poisson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=2,5</m:t>
                        </m:r>
                      </m:e>
                    </m:d>
                  </m:oMath>
                </a14:m>
                <a:r>
                  <a:rPr lang="en-US" i="1" dirty="0" smtClean="0"/>
                  <a:t>.</a:t>
                </a:r>
              </a:p>
              <a:p>
                <a:endParaRPr lang="en-US" i="1" dirty="0"/>
              </a:p>
              <a:p>
                <a:r>
                  <a:rPr lang="en-US" dirty="0" err="1" smtClean="0"/>
                  <a:t>Opnieuw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kunnen</a:t>
                </a:r>
                <a:r>
                  <a:rPr lang="en-US" dirty="0" smtClean="0"/>
                  <a:t> we </a:t>
                </a:r>
                <a:r>
                  <a:rPr lang="en-US" dirty="0" err="1" smtClean="0"/>
                  <a:t>kansen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berekenen</a:t>
                </a:r>
                <a:r>
                  <a:rPr lang="en-US" dirty="0" smtClean="0"/>
                  <a:t> met (</a:t>
                </a:r>
                <a:r>
                  <a:rPr lang="en-US" dirty="0" err="1" smtClean="0"/>
                  <a:t>i</a:t>
                </a:r>
                <a:r>
                  <a:rPr lang="en-US" dirty="0" smtClean="0"/>
                  <a:t>) de </a:t>
                </a:r>
                <a:r>
                  <a:rPr lang="en-US" dirty="0" err="1" smtClean="0"/>
                  <a:t>kansfunctie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met (ii) de GR: 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0!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≈0,1336</m:t>
                    </m:r>
                  </m:oMath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poissoncdf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=2,5;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≈0,1336</m:t>
                    </m:r>
                  </m:oMath>
                </a14:m>
                <a:r>
                  <a:rPr lang="en-US" dirty="0"/>
                  <a:t>	</a:t>
                </a:r>
                <a:endParaRPr lang="en-US" b="1" dirty="0" smtClean="0"/>
              </a:p>
              <a:p>
                <a:endParaRPr lang="en-US" b="1" dirty="0" smtClean="0"/>
              </a:p>
              <a:p>
                <a:pPr algn="ctr"/>
                <a:r>
                  <a:rPr lang="en-US" b="1" dirty="0" smtClean="0"/>
                  <a:t>Let op: 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poissonpdf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=…)</m:t>
                    </m:r>
                  </m:oMath>
                </a14:m>
                <a:r>
                  <a:rPr lang="nl-NL" b="1" dirty="0" smtClean="0"/>
                  <a:t> en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poissoncdf</m:t>
                    </m:r>
                    <m:r>
                      <m:rPr>
                        <m:nor/>
                      </m:rPr>
                      <a:rPr lang="en-US" b="1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≤…)</m:t>
                    </m:r>
                  </m:oMath>
                </a14:m>
                <a:endParaRPr lang="nl-NL" b="1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  <a:blipFill>
                <a:blip r:embed="rId2"/>
                <a:stretch>
                  <a:fillRect l="-1545" t="-2009" r="-552" b="-688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02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 smtClean="0"/>
              <a:t>Voorbeeld</a:t>
            </a:r>
            <a:r>
              <a:rPr lang="en-US" dirty="0" smtClean="0"/>
              <a:t>: </a:t>
            </a:r>
            <a:r>
              <a:rPr lang="en-US" dirty="0" err="1"/>
              <a:t>medische</a:t>
            </a:r>
            <a:r>
              <a:rPr lang="en-US" dirty="0"/>
              <a:t> </a:t>
            </a:r>
            <a:r>
              <a:rPr lang="en-US" dirty="0" err="1"/>
              <a:t>evacuatie</a:t>
            </a:r>
            <a:r>
              <a:rPr lang="en-US" dirty="0"/>
              <a:t> van </a:t>
            </a:r>
            <a:r>
              <a:rPr lang="en-US" dirty="0" err="1"/>
              <a:t>gewonde</a:t>
            </a:r>
            <a:r>
              <a:rPr lang="en-US" dirty="0"/>
              <a:t> </a:t>
            </a:r>
            <a:r>
              <a:rPr lang="en-US" dirty="0" err="1" smtClean="0"/>
              <a:t>militairen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899824" cy="4246562"/>
          </a:xfrm>
        </p:spPr>
        <p:txBody>
          <a:bodyPr/>
          <a:lstStyle/>
          <a:p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militaire</a:t>
            </a:r>
            <a:r>
              <a:rPr lang="en-US" b="1" dirty="0" smtClean="0"/>
              <a:t> </a:t>
            </a:r>
            <a:r>
              <a:rPr lang="en-US" b="1" dirty="0" err="1" smtClean="0"/>
              <a:t>eenheid</a:t>
            </a:r>
            <a:r>
              <a:rPr lang="en-US" b="1" dirty="0" smtClean="0"/>
              <a:t> </a:t>
            </a:r>
            <a:r>
              <a:rPr lang="en-US" b="1" dirty="0" err="1" smtClean="0"/>
              <a:t>organiseert</a:t>
            </a:r>
            <a:r>
              <a:rPr lang="en-US" b="1" dirty="0" smtClean="0"/>
              <a:t> </a:t>
            </a:r>
            <a:r>
              <a:rPr lang="en-US" b="1" dirty="0" err="1" smtClean="0"/>
              <a:t>medische</a:t>
            </a:r>
            <a:r>
              <a:rPr lang="en-US" b="1" dirty="0" smtClean="0"/>
              <a:t> </a:t>
            </a:r>
            <a:r>
              <a:rPr lang="en-US" b="1" dirty="0" err="1" smtClean="0"/>
              <a:t>evacuatievluchten</a:t>
            </a:r>
            <a:r>
              <a:rPr lang="en-US" b="1" dirty="0" smtClean="0"/>
              <a:t> </a:t>
            </a:r>
            <a:r>
              <a:rPr lang="en-US" b="1" dirty="0"/>
              <a:t>(</a:t>
            </a:r>
            <a:r>
              <a:rPr lang="en-US" b="1" dirty="0" smtClean="0"/>
              <a:t>MEDEVAC) om </a:t>
            </a:r>
            <a:r>
              <a:rPr lang="en-US" b="1" dirty="0" err="1" smtClean="0"/>
              <a:t>gewonde</a:t>
            </a:r>
            <a:r>
              <a:rPr lang="en-US" b="1" dirty="0" smtClean="0"/>
              <a:t> </a:t>
            </a:r>
            <a:r>
              <a:rPr lang="en-US" b="1" dirty="0" err="1" smtClean="0"/>
              <a:t>militairen</a:t>
            </a:r>
            <a:r>
              <a:rPr lang="en-US" b="1" dirty="0" smtClean="0"/>
              <a:t> </a:t>
            </a:r>
            <a:r>
              <a:rPr lang="en-US" b="1" dirty="0" err="1" smtClean="0"/>
              <a:t>vanuit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operationeel</a:t>
            </a:r>
            <a:r>
              <a:rPr lang="en-US" b="1" dirty="0" smtClean="0"/>
              <a:t> </a:t>
            </a:r>
            <a:r>
              <a:rPr lang="en-US" b="1" dirty="0" err="1" smtClean="0"/>
              <a:t>gebied</a:t>
            </a:r>
            <a:r>
              <a:rPr lang="en-US" b="1" dirty="0" smtClean="0"/>
              <a:t> </a:t>
            </a:r>
            <a:r>
              <a:rPr lang="en-US" b="1" dirty="0" err="1" smtClean="0"/>
              <a:t>terug</a:t>
            </a:r>
            <a:r>
              <a:rPr lang="en-US" b="1" dirty="0" smtClean="0"/>
              <a:t> </a:t>
            </a:r>
            <a:r>
              <a:rPr lang="en-US" b="1" dirty="0" err="1" smtClean="0"/>
              <a:t>te</a:t>
            </a:r>
            <a:r>
              <a:rPr lang="en-US" b="1" dirty="0" smtClean="0"/>
              <a:t> </a:t>
            </a:r>
            <a:r>
              <a:rPr lang="en-US" b="1" dirty="0" err="1" smtClean="0"/>
              <a:t>brengen</a:t>
            </a:r>
            <a:r>
              <a:rPr lang="en-US" b="1" dirty="0" smtClean="0"/>
              <a:t> </a:t>
            </a:r>
            <a:r>
              <a:rPr lang="en-US" b="1" dirty="0" err="1" smtClean="0"/>
              <a:t>naar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veldhospitaal</a:t>
            </a:r>
            <a:r>
              <a:rPr lang="en-US" b="1" dirty="0" smtClean="0"/>
              <a:t>. </a:t>
            </a:r>
            <a:r>
              <a:rPr lang="en-US" b="1" dirty="0" err="1" smtClean="0"/>
              <a:t>Er</a:t>
            </a:r>
            <a:r>
              <a:rPr lang="en-US" b="1" dirty="0" smtClean="0"/>
              <a:t> is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transportvliegtuig</a:t>
            </a:r>
            <a:r>
              <a:rPr lang="en-US" b="1" dirty="0" smtClean="0"/>
              <a:t> </a:t>
            </a:r>
            <a:r>
              <a:rPr lang="en-US" b="1" dirty="0" err="1" smtClean="0"/>
              <a:t>beschikbaar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maximaal</a:t>
            </a:r>
            <a:r>
              <a:rPr lang="en-US" b="1" dirty="0" smtClean="0"/>
              <a:t> 30 </a:t>
            </a:r>
            <a:r>
              <a:rPr lang="en-US" b="1" dirty="0" err="1" smtClean="0"/>
              <a:t>gewonde</a:t>
            </a:r>
            <a:r>
              <a:rPr lang="en-US" b="1" dirty="0" smtClean="0"/>
              <a:t> </a:t>
            </a:r>
            <a:r>
              <a:rPr lang="en-US" b="1" dirty="0" err="1" smtClean="0"/>
              <a:t>militairen</a:t>
            </a:r>
            <a:r>
              <a:rPr lang="en-US" b="1" dirty="0" smtClean="0"/>
              <a:t> per </a:t>
            </a:r>
            <a:r>
              <a:rPr lang="en-US" b="1" dirty="0" err="1" smtClean="0"/>
              <a:t>vlucht</a:t>
            </a:r>
            <a:r>
              <a:rPr lang="en-US" b="1" dirty="0" smtClean="0"/>
              <a:t> </a:t>
            </a:r>
            <a:r>
              <a:rPr lang="en-US" b="1" dirty="0" err="1" smtClean="0"/>
              <a:t>kan</a:t>
            </a:r>
            <a:r>
              <a:rPr lang="en-US" b="1" dirty="0" smtClean="0"/>
              <a:t> </a:t>
            </a:r>
            <a:r>
              <a:rPr lang="en-US" b="1" dirty="0" err="1" smtClean="0"/>
              <a:t>vervoeren</a:t>
            </a:r>
            <a:r>
              <a:rPr lang="en-US" b="1" dirty="0" smtClean="0"/>
              <a:t>. </a:t>
            </a:r>
            <a:r>
              <a:rPr lang="en-US" b="1" dirty="0" err="1" smtClean="0"/>
              <a:t>Er</a:t>
            </a:r>
            <a:r>
              <a:rPr lang="en-US" b="1" dirty="0" smtClean="0"/>
              <a:t> </a:t>
            </a:r>
            <a:r>
              <a:rPr lang="en-US" b="1" dirty="0" err="1" smtClean="0"/>
              <a:t>wordt</a:t>
            </a:r>
            <a:r>
              <a:rPr lang="en-US" b="1" dirty="0" smtClean="0"/>
              <a:t> </a:t>
            </a:r>
            <a:r>
              <a:rPr lang="en-US" b="1" dirty="0" err="1" smtClean="0"/>
              <a:t>geschat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er</a:t>
            </a:r>
            <a:r>
              <a:rPr lang="en-US" b="1" dirty="0" smtClean="0"/>
              <a:t> per dag </a:t>
            </a:r>
            <a:r>
              <a:rPr lang="en-US" b="1" dirty="0" err="1" smtClean="0"/>
              <a:t>gemiddeld</a:t>
            </a:r>
            <a:r>
              <a:rPr lang="en-US" b="1" dirty="0" smtClean="0"/>
              <a:t> 4 </a:t>
            </a:r>
            <a:r>
              <a:rPr lang="en-US" b="1" dirty="0" err="1" smtClean="0"/>
              <a:t>militairen</a:t>
            </a:r>
            <a:r>
              <a:rPr lang="en-US" b="1" dirty="0" smtClean="0"/>
              <a:t> </a:t>
            </a:r>
            <a:r>
              <a:rPr lang="en-US" b="1" dirty="0" err="1" smtClean="0"/>
              <a:t>gewond</a:t>
            </a:r>
            <a:r>
              <a:rPr lang="en-US" b="1" dirty="0" smtClean="0"/>
              <a:t> </a:t>
            </a:r>
            <a:r>
              <a:rPr lang="en-US" b="1" dirty="0" err="1" smtClean="0"/>
              <a:t>raken</a:t>
            </a:r>
            <a:r>
              <a:rPr lang="en-US" b="1" dirty="0" smtClean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a) Wat is de </a:t>
            </a:r>
            <a:r>
              <a:rPr lang="en-US" b="1" dirty="0" err="1" smtClean="0"/>
              <a:t>kans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er</a:t>
            </a:r>
            <a:r>
              <a:rPr lang="en-US" b="1" dirty="0" smtClean="0"/>
              <a:t> op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willekeurige</a:t>
            </a:r>
            <a:r>
              <a:rPr lang="en-US" b="1" dirty="0" smtClean="0"/>
              <a:t> dag </a:t>
            </a:r>
            <a:r>
              <a:rPr lang="en-US" b="1" dirty="0" err="1" smtClean="0"/>
              <a:t>acht</a:t>
            </a:r>
            <a:r>
              <a:rPr lang="en-US" b="1" dirty="0" smtClean="0"/>
              <a:t> of </a:t>
            </a:r>
            <a:r>
              <a:rPr lang="en-US" b="1" dirty="0" err="1" smtClean="0"/>
              <a:t>meer</a:t>
            </a:r>
            <a:r>
              <a:rPr lang="en-US" b="1" dirty="0"/>
              <a:t> </a:t>
            </a:r>
            <a:r>
              <a:rPr lang="en-US" b="1" dirty="0" err="1" smtClean="0"/>
              <a:t>militairen</a:t>
            </a:r>
            <a:r>
              <a:rPr lang="en-US" b="1" dirty="0" smtClean="0"/>
              <a:t> </a:t>
            </a:r>
            <a:r>
              <a:rPr lang="en-US" b="1" dirty="0" err="1" smtClean="0"/>
              <a:t>gewond</a:t>
            </a:r>
            <a:r>
              <a:rPr lang="en-US" b="1" dirty="0" smtClean="0"/>
              <a:t> </a:t>
            </a:r>
            <a:r>
              <a:rPr lang="en-US" b="1" dirty="0" err="1" smtClean="0"/>
              <a:t>raken</a:t>
            </a:r>
            <a:r>
              <a:rPr lang="en-US" b="1" dirty="0" smtClean="0"/>
              <a:t>?</a:t>
            </a:r>
            <a:endParaRPr lang="nl-NL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482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Voorbeeld</a:t>
            </a:r>
            <a:r>
              <a:rPr lang="en-US" dirty="0" smtClean="0"/>
              <a:t>: </a:t>
            </a:r>
            <a:r>
              <a:rPr lang="en-US" dirty="0" err="1" smtClean="0"/>
              <a:t>medische</a:t>
            </a:r>
            <a:r>
              <a:rPr lang="en-US" dirty="0" smtClean="0"/>
              <a:t> </a:t>
            </a:r>
            <a:r>
              <a:rPr lang="en-US" dirty="0" err="1" smtClean="0"/>
              <a:t>evacuatie</a:t>
            </a:r>
            <a:r>
              <a:rPr lang="en-US" dirty="0" smtClean="0"/>
              <a:t> van </a:t>
            </a:r>
            <a:r>
              <a:rPr lang="en-US" dirty="0" err="1" smtClean="0"/>
              <a:t>gewonde</a:t>
            </a:r>
            <a:r>
              <a:rPr lang="en-US" dirty="0" smtClean="0"/>
              <a:t> </a:t>
            </a:r>
            <a:r>
              <a:rPr lang="en-US" dirty="0" err="1" smtClean="0"/>
              <a:t>militairen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r>
                  <a:rPr lang="en-US" b="1" dirty="0" smtClean="0"/>
                  <a:t>Wat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er</a:t>
                </a:r>
                <a:r>
                  <a:rPr lang="en-US" b="1" dirty="0" smtClean="0"/>
                  <a:t> op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willekeurige</a:t>
                </a:r>
                <a:r>
                  <a:rPr lang="en-US" b="1" dirty="0" smtClean="0"/>
                  <a:t> dag </a:t>
                </a:r>
                <a:r>
                  <a:rPr lang="en-US" b="1" dirty="0" err="1" smtClean="0"/>
                  <a:t>acht</a:t>
                </a:r>
                <a:r>
                  <a:rPr lang="en-US" b="1" dirty="0" smtClean="0"/>
                  <a:t> of </a:t>
                </a:r>
                <a:r>
                  <a:rPr lang="en-US" b="1" dirty="0" err="1" smtClean="0"/>
                  <a:t>meer</a:t>
                </a:r>
                <a:r>
                  <a:rPr lang="en-US" b="1" dirty="0"/>
                  <a:t> </a:t>
                </a:r>
                <a:r>
                  <a:rPr lang="en-US" b="1" dirty="0" err="1" smtClean="0"/>
                  <a:t>militairen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gewond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raken</a:t>
                </a:r>
                <a:r>
                  <a:rPr lang="en-US" b="1" dirty="0" smtClean="0"/>
                  <a:t>?</a:t>
                </a:r>
              </a:p>
              <a:p>
                <a:endParaRPr lang="en-US" dirty="0" smtClean="0"/>
              </a:p>
              <a:p>
                <a:r>
                  <a:rPr lang="en-US" dirty="0" err="1" smtClean="0"/>
                  <a:t>Gegeven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gemiddeld</a:t>
                </a:r>
                <a:r>
                  <a:rPr lang="en-US" dirty="0"/>
                  <a:t>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gewonde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militairen</a:t>
                </a:r>
                <a:r>
                  <a:rPr lang="en-US" dirty="0" smtClean="0"/>
                  <a:t> per dag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nl-NL" dirty="0" smtClean="0"/>
                  <a:t>. In dit geval nemen we het aantal dagen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NL" dirty="0" smtClean="0"/>
                  <a:t>, oftewel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=4∗1=4</m:t>
                    </m:r>
                  </m:oMath>
                </a14:m>
                <a:r>
                  <a:rPr lang="nl-NL" dirty="0" smtClean="0"/>
                  <a:t>.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We </a:t>
                </a:r>
                <a:r>
                  <a:rPr lang="en-US" dirty="0" err="1" smtClean="0"/>
                  <a:t>willen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≥8</m:t>
                        </m:r>
                      </m:e>
                    </m:d>
                  </m:oMath>
                </a14:m>
                <a:r>
                  <a:rPr lang="nl-NL" dirty="0" smtClean="0"/>
                  <a:t> berekenen, oftewel: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≥8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≤7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poisson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𝐜𝐝𝐟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=4;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=7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0,0511</m:t>
                      </m:r>
                    </m:oMath>
                  </m:oMathPara>
                </a14:m>
                <a:endParaRPr lang="nl-NL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algn="ctr"/>
                <a:r>
                  <a:rPr lang="en-US" b="1" dirty="0" smtClean="0"/>
                  <a:t>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er</a:t>
                </a:r>
                <a:r>
                  <a:rPr lang="en-US" b="1" dirty="0" smtClean="0"/>
                  <a:t> op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willekeurige</a:t>
                </a:r>
                <a:r>
                  <a:rPr lang="en-US" b="1" dirty="0" smtClean="0"/>
                  <a:t> dag 8 of </a:t>
                </a:r>
                <a:r>
                  <a:rPr lang="en-US" b="1" dirty="0" err="1" smtClean="0"/>
                  <a:t>meer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militairen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gewond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zijn</a:t>
                </a:r>
                <a:r>
                  <a:rPr lang="en-US" b="1" dirty="0" smtClean="0"/>
                  <a:t> is 5,11%</a:t>
                </a:r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2"/>
                <a:stretch>
                  <a:fillRect l="-1566" t="-2009" b="-186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158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 smtClean="0"/>
              <a:t>Voorbeeld</a:t>
            </a:r>
            <a:r>
              <a:rPr lang="en-US" dirty="0" smtClean="0"/>
              <a:t>: </a:t>
            </a:r>
            <a:r>
              <a:rPr lang="en-US" dirty="0" err="1"/>
              <a:t>medische</a:t>
            </a:r>
            <a:r>
              <a:rPr lang="en-US" dirty="0"/>
              <a:t> </a:t>
            </a:r>
            <a:r>
              <a:rPr lang="en-US" dirty="0" err="1"/>
              <a:t>evacuatie</a:t>
            </a:r>
            <a:r>
              <a:rPr lang="en-US" dirty="0"/>
              <a:t> van </a:t>
            </a:r>
            <a:r>
              <a:rPr lang="en-US" dirty="0" err="1"/>
              <a:t>gewonde</a:t>
            </a:r>
            <a:r>
              <a:rPr lang="en-US" dirty="0"/>
              <a:t> </a:t>
            </a:r>
            <a:r>
              <a:rPr lang="en-US" dirty="0" err="1" smtClean="0"/>
              <a:t>militairen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899824" cy="4246562"/>
          </a:xfrm>
        </p:spPr>
        <p:txBody>
          <a:bodyPr/>
          <a:lstStyle/>
          <a:p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militaire</a:t>
            </a:r>
            <a:r>
              <a:rPr lang="en-US" b="1" dirty="0" smtClean="0"/>
              <a:t> </a:t>
            </a:r>
            <a:r>
              <a:rPr lang="en-US" b="1" dirty="0" err="1" smtClean="0"/>
              <a:t>eenheid</a:t>
            </a:r>
            <a:r>
              <a:rPr lang="en-US" b="1" dirty="0" smtClean="0"/>
              <a:t> </a:t>
            </a:r>
            <a:r>
              <a:rPr lang="en-US" b="1" dirty="0" err="1" smtClean="0"/>
              <a:t>organiseert</a:t>
            </a:r>
            <a:r>
              <a:rPr lang="en-US" b="1" dirty="0" smtClean="0"/>
              <a:t> </a:t>
            </a:r>
            <a:r>
              <a:rPr lang="en-US" b="1" dirty="0" err="1" smtClean="0"/>
              <a:t>medische</a:t>
            </a:r>
            <a:r>
              <a:rPr lang="en-US" b="1" dirty="0" smtClean="0"/>
              <a:t> </a:t>
            </a:r>
            <a:r>
              <a:rPr lang="en-US" b="1" dirty="0" err="1" smtClean="0"/>
              <a:t>evacuatievluchten</a:t>
            </a:r>
            <a:r>
              <a:rPr lang="en-US" b="1" dirty="0" smtClean="0"/>
              <a:t> (MEDEVAC) om </a:t>
            </a:r>
            <a:r>
              <a:rPr lang="en-US" b="1" dirty="0" err="1" smtClean="0"/>
              <a:t>gewonde</a:t>
            </a:r>
            <a:r>
              <a:rPr lang="en-US" b="1" dirty="0" smtClean="0"/>
              <a:t> </a:t>
            </a:r>
            <a:r>
              <a:rPr lang="en-US" b="1" dirty="0" err="1" smtClean="0"/>
              <a:t>militairen</a:t>
            </a:r>
            <a:r>
              <a:rPr lang="en-US" b="1" dirty="0" smtClean="0"/>
              <a:t> </a:t>
            </a:r>
            <a:r>
              <a:rPr lang="en-US" b="1" dirty="0" err="1" smtClean="0"/>
              <a:t>vanuit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operationeel</a:t>
            </a:r>
            <a:r>
              <a:rPr lang="en-US" b="1" dirty="0" smtClean="0"/>
              <a:t> </a:t>
            </a:r>
            <a:r>
              <a:rPr lang="en-US" b="1" dirty="0" err="1" smtClean="0"/>
              <a:t>gebied</a:t>
            </a:r>
            <a:r>
              <a:rPr lang="en-US" b="1" dirty="0" smtClean="0"/>
              <a:t> </a:t>
            </a:r>
            <a:r>
              <a:rPr lang="en-US" b="1" dirty="0" err="1" smtClean="0"/>
              <a:t>terug</a:t>
            </a:r>
            <a:r>
              <a:rPr lang="en-US" b="1" dirty="0" smtClean="0"/>
              <a:t> </a:t>
            </a:r>
            <a:r>
              <a:rPr lang="en-US" b="1" dirty="0" err="1" smtClean="0"/>
              <a:t>te</a:t>
            </a:r>
            <a:r>
              <a:rPr lang="en-US" b="1" dirty="0" smtClean="0"/>
              <a:t> </a:t>
            </a:r>
            <a:r>
              <a:rPr lang="en-US" b="1" dirty="0" err="1" smtClean="0"/>
              <a:t>brengen</a:t>
            </a:r>
            <a:r>
              <a:rPr lang="en-US" b="1" dirty="0" smtClean="0"/>
              <a:t> </a:t>
            </a:r>
            <a:r>
              <a:rPr lang="en-US" b="1" dirty="0" err="1" smtClean="0"/>
              <a:t>naar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veldhospitaal</a:t>
            </a:r>
            <a:r>
              <a:rPr lang="en-US" b="1" dirty="0" smtClean="0"/>
              <a:t>. </a:t>
            </a:r>
            <a:r>
              <a:rPr lang="en-US" b="1" dirty="0" err="1" smtClean="0"/>
              <a:t>Er</a:t>
            </a:r>
            <a:r>
              <a:rPr lang="en-US" b="1" dirty="0" smtClean="0"/>
              <a:t> is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transportvliegtuig</a:t>
            </a:r>
            <a:r>
              <a:rPr lang="en-US" b="1" dirty="0" smtClean="0"/>
              <a:t> </a:t>
            </a:r>
            <a:r>
              <a:rPr lang="en-US" b="1" dirty="0" err="1" smtClean="0"/>
              <a:t>beschikbaar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maximaal</a:t>
            </a:r>
            <a:r>
              <a:rPr lang="en-US" b="1" dirty="0" smtClean="0"/>
              <a:t> 30 </a:t>
            </a:r>
            <a:r>
              <a:rPr lang="en-US" b="1" dirty="0" err="1" smtClean="0"/>
              <a:t>gewonde</a:t>
            </a:r>
            <a:r>
              <a:rPr lang="en-US" b="1" dirty="0" smtClean="0"/>
              <a:t> </a:t>
            </a:r>
            <a:r>
              <a:rPr lang="en-US" b="1" dirty="0" err="1" smtClean="0"/>
              <a:t>militairen</a:t>
            </a:r>
            <a:r>
              <a:rPr lang="en-US" b="1" dirty="0" smtClean="0"/>
              <a:t> per </a:t>
            </a:r>
            <a:r>
              <a:rPr lang="en-US" b="1" dirty="0" err="1" smtClean="0"/>
              <a:t>vlucht</a:t>
            </a:r>
            <a:r>
              <a:rPr lang="en-US" b="1" dirty="0" smtClean="0"/>
              <a:t> </a:t>
            </a:r>
            <a:r>
              <a:rPr lang="en-US" b="1" dirty="0" err="1" smtClean="0"/>
              <a:t>kan</a:t>
            </a:r>
            <a:r>
              <a:rPr lang="en-US" b="1" dirty="0" smtClean="0"/>
              <a:t> </a:t>
            </a:r>
            <a:r>
              <a:rPr lang="en-US" b="1" dirty="0" err="1" smtClean="0"/>
              <a:t>vervoeren</a:t>
            </a:r>
            <a:r>
              <a:rPr lang="en-US" b="1" dirty="0" smtClean="0"/>
              <a:t>. </a:t>
            </a:r>
            <a:r>
              <a:rPr lang="en-US" b="1" dirty="0" err="1" smtClean="0"/>
              <a:t>Er</a:t>
            </a:r>
            <a:r>
              <a:rPr lang="en-US" b="1" dirty="0" smtClean="0"/>
              <a:t> </a:t>
            </a:r>
            <a:r>
              <a:rPr lang="en-US" b="1" dirty="0" err="1" smtClean="0"/>
              <a:t>wordt</a:t>
            </a:r>
            <a:r>
              <a:rPr lang="en-US" b="1" dirty="0" smtClean="0"/>
              <a:t> </a:t>
            </a:r>
            <a:r>
              <a:rPr lang="en-US" b="1" dirty="0" err="1" smtClean="0"/>
              <a:t>geschat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er</a:t>
            </a:r>
            <a:r>
              <a:rPr lang="en-US" b="1" dirty="0" smtClean="0"/>
              <a:t> per dag </a:t>
            </a:r>
            <a:r>
              <a:rPr lang="en-US" b="1" dirty="0" err="1" smtClean="0"/>
              <a:t>gemiddeld</a:t>
            </a:r>
            <a:r>
              <a:rPr lang="en-US" b="1" dirty="0" smtClean="0"/>
              <a:t> 4 </a:t>
            </a:r>
            <a:r>
              <a:rPr lang="en-US" b="1" dirty="0" err="1" smtClean="0"/>
              <a:t>militairen</a:t>
            </a:r>
            <a:r>
              <a:rPr lang="en-US" b="1" dirty="0" smtClean="0"/>
              <a:t> </a:t>
            </a:r>
            <a:r>
              <a:rPr lang="en-US" b="1" dirty="0" err="1" smtClean="0"/>
              <a:t>gewond</a:t>
            </a:r>
            <a:r>
              <a:rPr lang="en-US" b="1" dirty="0" smtClean="0"/>
              <a:t> </a:t>
            </a:r>
            <a:r>
              <a:rPr lang="en-US" b="1" dirty="0" err="1" smtClean="0"/>
              <a:t>raken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b="1" dirty="0" smtClean="0"/>
              <a:t>b) De commandant </a:t>
            </a:r>
            <a:r>
              <a:rPr lang="en-US" b="1" dirty="0" err="1" smtClean="0"/>
              <a:t>besluit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er</a:t>
            </a:r>
            <a:r>
              <a:rPr lang="en-US" b="1" dirty="0" smtClean="0"/>
              <a:t> om de </a:t>
            </a:r>
            <a:r>
              <a:rPr lang="en-US" b="1" dirty="0" err="1" smtClean="0"/>
              <a:t>zeven</a:t>
            </a:r>
            <a:r>
              <a:rPr lang="en-US" b="1" dirty="0" smtClean="0"/>
              <a:t> </a:t>
            </a:r>
            <a:r>
              <a:rPr lang="en-US" b="1" dirty="0" err="1" smtClean="0"/>
              <a:t>dagen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evacuatievlucht</a:t>
            </a:r>
            <a:r>
              <a:rPr lang="en-US" b="1" dirty="0" smtClean="0"/>
              <a:t> </a:t>
            </a:r>
            <a:r>
              <a:rPr lang="en-US" b="1" dirty="0" err="1" smtClean="0"/>
              <a:t>wordt</a:t>
            </a:r>
            <a:r>
              <a:rPr lang="en-US" b="1" dirty="0" smtClean="0"/>
              <a:t> </a:t>
            </a:r>
            <a:r>
              <a:rPr lang="en-US" b="1" dirty="0" err="1" smtClean="0"/>
              <a:t>uitgevoerd</a:t>
            </a:r>
            <a:r>
              <a:rPr lang="en-US" b="1" dirty="0" smtClean="0"/>
              <a:t>. Hoe </a:t>
            </a:r>
            <a:r>
              <a:rPr lang="en-US" b="1" dirty="0" err="1" smtClean="0"/>
              <a:t>groot</a:t>
            </a:r>
            <a:r>
              <a:rPr lang="en-US" b="1" dirty="0" smtClean="0"/>
              <a:t> is de </a:t>
            </a:r>
            <a:r>
              <a:rPr lang="en-US" b="1" dirty="0" err="1" smtClean="0"/>
              <a:t>kans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er</a:t>
            </a:r>
            <a:r>
              <a:rPr lang="en-US" b="1" dirty="0" smtClean="0"/>
              <a:t> </a:t>
            </a:r>
            <a:r>
              <a:rPr lang="en-US" b="1" dirty="0" err="1" smtClean="0"/>
              <a:t>meer</a:t>
            </a:r>
            <a:r>
              <a:rPr lang="en-US" b="1" dirty="0" smtClean="0"/>
              <a:t> </a:t>
            </a:r>
            <a:r>
              <a:rPr lang="en-US" b="1" dirty="0" err="1" smtClean="0"/>
              <a:t>dan</a:t>
            </a:r>
            <a:r>
              <a:rPr lang="en-US" b="1" dirty="0" smtClean="0"/>
              <a:t> 30 </a:t>
            </a:r>
            <a:r>
              <a:rPr lang="en-US" b="1" dirty="0" err="1" smtClean="0"/>
              <a:t>gewonden</a:t>
            </a:r>
            <a:r>
              <a:rPr lang="en-US" b="1" dirty="0" smtClean="0"/>
              <a:t> </a:t>
            </a:r>
            <a:r>
              <a:rPr lang="en-US" b="1" dirty="0" err="1" smtClean="0"/>
              <a:t>wachten</a:t>
            </a:r>
            <a:r>
              <a:rPr lang="en-US" b="1" dirty="0" smtClean="0"/>
              <a:t> </a:t>
            </a:r>
            <a:r>
              <a:rPr lang="en-US" b="1" dirty="0" err="1" smtClean="0"/>
              <a:t>en</a:t>
            </a:r>
            <a:r>
              <a:rPr lang="en-US" b="1" dirty="0" smtClean="0"/>
              <a:t> </a:t>
            </a:r>
            <a:r>
              <a:rPr lang="en-US" b="1" dirty="0" err="1" smtClean="0"/>
              <a:t>dus</a:t>
            </a:r>
            <a:r>
              <a:rPr lang="en-US" b="1" dirty="0" smtClean="0"/>
              <a:t> </a:t>
            </a:r>
            <a:r>
              <a:rPr lang="en-US" b="1" dirty="0" err="1" smtClean="0"/>
              <a:t>niet</a:t>
            </a:r>
            <a:r>
              <a:rPr lang="en-US" b="1" dirty="0" smtClean="0"/>
              <a:t> </a:t>
            </a:r>
            <a:r>
              <a:rPr lang="en-US" b="1" dirty="0" err="1" smtClean="0"/>
              <a:t>iedereen</a:t>
            </a:r>
            <a:r>
              <a:rPr lang="en-US" b="1" dirty="0" smtClean="0"/>
              <a:t> </a:t>
            </a:r>
            <a:r>
              <a:rPr lang="en-US" b="1" dirty="0" err="1" smtClean="0"/>
              <a:t>mee</a:t>
            </a:r>
            <a:r>
              <a:rPr lang="en-US" b="1" dirty="0" smtClean="0"/>
              <a:t> </a:t>
            </a:r>
            <a:r>
              <a:rPr lang="en-US" b="1" dirty="0" err="1" smtClean="0"/>
              <a:t>kan</a:t>
            </a:r>
            <a:r>
              <a:rPr lang="en-US" b="1" dirty="0" smtClean="0"/>
              <a:t>?</a:t>
            </a:r>
          </a:p>
          <a:p>
            <a:endParaRPr lang="en-US" b="1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3006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Voorbeeld</a:t>
            </a:r>
            <a:r>
              <a:rPr lang="en-US" dirty="0" smtClean="0"/>
              <a:t>: </a:t>
            </a:r>
            <a:r>
              <a:rPr lang="en-US" dirty="0" err="1" smtClean="0"/>
              <a:t>medische</a:t>
            </a:r>
            <a:r>
              <a:rPr lang="en-US" dirty="0" smtClean="0"/>
              <a:t> </a:t>
            </a:r>
            <a:r>
              <a:rPr lang="en-US" dirty="0" err="1" smtClean="0"/>
              <a:t>evacuatie</a:t>
            </a:r>
            <a:r>
              <a:rPr lang="en-US" dirty="0" smtClean="0"/>
              <a:t> van </a:t>
            </a:r>
            <a:r>
              <a:rPr lang="en-US" dirty="0" err="1" smtClean="0"/>
              <a:t>gewonde</a:t>
            </a:r>
            <a:r>
              <a:rPr lang="en-US" dirty="0" smtClean="0"/>
              <a:t> </a:t>
            </a:r>
            <a:r>
              <a:rPr lang="en-US" dirty="0" err="1" smtClean="0"/>
              <a:t>militairen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r>
                  <a:rPr lang="en-US" b="1" dirty="0" smtClean="0"/>
                  <a:t>b) De commandant </a:t>
                </a:r>
                <a:r>
                  <a:rPr lang="en-US" b="1" dirty="0" err="1"/>
                  <a:t>besluit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er</a:t>
                </a:r>
                <a:r>
                  <a:rPr lang="en-US" b="1" dirty="0"/>
                  <a:t> om de </a:t>
                </a:r>
                <a:r>
                  <a:rPr lang="en-US" b="1" dirty="0" err="1"/>
                  <a:t>zeven</a:t>
                </a:r>
                <a:r>
                  <a:rPr lang="en-US" b="1" dirty="0"/>
                  <a:t> </a:t>
                </a:r>
                <a:r>
                  <a:rPr lang="en-US" b="1" dirty="0" err="1"/>
                  <a:t>dagen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evacuatievlucht</a:t>
                </a:r>
                <a:r>
                  <a:rPr lang="en-US" b="1" dirty="0"/>
                  <a:t> </a:t>
                </a:r>
                <a:r>
                  <a:rPr lang="en-US" b="1" dirty="0" err="1"/>
                  <a:t>wordt</a:t>
                </a:r>
                <a:r>
                  <a:rPr lang="en-US" b="1" dirty="0"/>
                  <a:t> </a:t>
                </a:r>
                <a:r>
                  <a:rPr lang="en-US" b="1" dirty="0" err="1"/>
                  <a:t>uitgevoerd</a:t>
                </a:r>
                <a:r>
                  <a:rPr lang="en-US" b="1" dirty="0"/>
                  <a:t>. Hoe </a:t>
                </a:r>
                <a:r>
                  <a:rPr lang="en-US" b="1" dirty="0" err="1"/>
                  <a:t>groot</a:t>
                </a:r>
                <a:r>
                  <a:rPr lang="en-US" b="1" dirty="0"/>
                  <a:t> is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er</a:t>
                </a:r>
                <a:r>
                  <a:rPr lang="en-US" b="1" dirty="0"/>
                  <a:t> </a:t>
                </a:r>
                <a:r>
                  <a:rPr lang="en-US" b="1" dirty="0" err="1"/>
                  <a:t>meer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30 </a:t>
                </a:r>
                <a:r>
                  <a:rPr lang="en-US" b="1" dirty="0" err="1"/>
                  <a:t>gewonden</a:t>
                </a:r>
                <a:r>
                  <a:rPr lang="en-US" b="1" dirty="0"/>
                  <a:t> </a:t>
                </a:r>
                <a:r>
                  <a:rPr lang="en-US" b="1" dirty="0" err="1"/>
                  <a:t>wachten</a:t>
                </a:r>
                <a:r>
                  <a:rPr lang="en-US" b="1" dirty="0"/>
                  <a:t> </a:t>
                </a:r>
                <a:r>
                  <a:rPr lang="en-US" b="1" dirty="0" err="1"/>
                  <a:t>en</a:t>
                </a:r>
                <a:r>
                  <a:rPr lang="en-US" b="1" dirty="0"/>
                  <a:t> </a:t>
                </a:r>
                <a:r>
                  <a:rPr lang="en-US" b="1" dirty="0" err="1"/>
                  <a:t>dus</a:t>
                </a:r>
                <a:r>
                  <a:rPr lang="en-US" b="1" dirty="0"/>
                  <a:t> </a:t>
                </a:r>
                <a:r>
                  <a:rPr lang="en-US" b="1" dirty="0" err="1"/>
                  <a:t>niet</a:t>
                </a:r>
                <a:r>
                  <a:rPr lang="en-US" b="1" dirty="0"/>
                  <a:t> </a:t>
                </a:r>
                <a:r>
                  <a:rPr lang="en-US" b="1" dirty="0" err="1"/>
                  <a:t>iedereen</a:t>
                </a:r>
                <a:r>
                  <a:rPr lang="en-US" b="1" dirty="0"/>
                  <a:t> </a:t>
                </a:r>
                <a:r>
                  <a:rPr lang="en-US" b="1" dirty="0" err="1"/>
                  <a:t>mee</a:t>
                </a:r>
                <a:r>
                  <a:rPr lang="en-US" b="1" dirty="0"/>
                  <a:t> </a:t>
                </a:r>
                <a:r>
                  <a:rPr lang="en-US" b="1" dirty="0" err="1"/>
                  <a:t>kan</a:t>
                </a:r>
                <a:r>
                  <a:rPr lang="en-US" b="1" dirty="0" smtClean="0"/>
                  <a:t>?</a:t>
                </a:r>
              </a:p>
              <a:p>
                <a:endParaRPr lang="en-US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In 7 </a:t>
                </a:r>
                <a:r>
                  <a:rPr lang="en-US" dirty="0" err="1" smtClean="0"/>
                  <a:t>dagen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verwachten</a:t>
                </a:r>
                <a:r>
                  <a:rPr lang="en-US" dirty="0" smtClean="0"/>
                  <a:t> we 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=4∗7=28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gewonden</a:t>
                </a:r>
                <a:r>
                  <a:rPr lang="en-US" dirty="0" smtClean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Het </a:t>
                </a:r>
                <a:r>
                  <a:rPr lang="en-US" dirty="0" err="1" smtClean="0"/>
                  <a:t>vliegtuig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heeft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plaats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voor</a:t>
                </a:r>
                <a:r>
                  <a:rPr lang="en-US" dirty="0" smtClean="0"/>
                  <a:t> 30 </a:t>
                </a:r>
                <a:r>
                  <a:rPr lang="en-US" dirty="0" err="1" smtClean="0"/>
                  <a:t>gewonden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dus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niet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iedereen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mee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als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≥31</m:t>
                    </m:r>
                  </m:oMath>
                </a14:m>
                <a:r>
                  <a:rPr lang="en-US" dirty="0" smtClean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≥31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≤30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poissoncdf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=28;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=30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0,3097</m:t>
                      </m:r>
                    </m:oMath>
                  </m:oMathPara>
                </a14:m>
                <a:endParaRPr lang="en-US" b="0" dirty="0" smtClean="0"/>
              </a:p>
              <a:p>
                <a:endParaRPr lang="en-US" dirty="0"/>
              </a:p>
              <a:p>
                <a:pPr algn="ctr"/>
                <a:r>
                  <a:rPr lang="en-US" b="1" dirty="0" smtClean="0"/>
                  <a:t>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niet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alle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gewonden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mee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kunnen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na</a:t>
                </a:r>
                <a:r>
                  <a:rPr lang="en-US" b="1" dirty="0" smtClean="0"/>
                  <a:t> 7 </a:t>
                </a:r>
                <a:r>
                  <a:rPr lang="en-US" b="1" dirty="0" err="1" smtClean="0"/>
                  <a:t>dagen</a:t>
                </a:r>
                <a:r>
                  <a:rPr lang="en-US" b="1" dirty="0" smtClean="0"/>
                  <a:t> is 30,97%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2"/>
                <a:stretch>
                  <a:fillRect l="-1566" t="-2009" r="-1734" b="-143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987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 smtClean="0"/>
              <a:t>Voorbeeld</a:t>
            </a:r>
            <a:r>
              <a:rPr lang="en-US" dirty="0" smtClean="0"/>
              <a:t>: </a:t>
            </a:r>
            <a:r>
              <a:rPr lang="en-US" dirty="0" err="1"/>
              <a:t>medische</a:t>
            </a:r>
            <a:r>
              <a:rPr lang="en-US" dirty="0"/>
              <a:t> </a:t>
            </a:r>
            <a:r>
              <a:rPr lang="en-US" dirty="0" err="1"/>
              <a:t>evacuatie</a:t>
            </a:r>
            <a:r>
              <a:rPr lang="en-US" dirty="0"/>
              <a:t> van </a:t>
            </a:r>
            <a:r>
              <a:rPr lang="en-US" dirty="0" err="1"/>
              <a:t>gewonde</a:t>
            </a:r>
            <a:r>
              <a:rPr lang="en-US" dirty="0"/>
              <a:t> </a:t>
            </a:r>
            <a:r>
              <a:rPr lang="en-US" dirty="0" err="1" smtClean="0"/>
              <a:t>militairen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899824" cy="4246562"/>
          </a:xfrm>
        </p:spPr>
        <p:txBody>
          <a:bodyPr/>
          <a:lstStyle/>
          <a:p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militaire</a:t>
            </a:r>
            <a:r>
              <a:rPr lang="en-US" b="1" dirty="0" smtClean="0"/>
              <a:t> </a:t>
            </a:r>
            <a:r>
              <a:rPr lang="en-US" b="1" dirty="0" err="1" smtClean="0"/>
              <a:t>eenheid</a:t>
            </a:r>
            <a:r>
              <a:rPr lang="en-US" b="1" dirty="0" smtClean="0"/>
              <a:t> </a:t>
            </a:r>
            <a:r>
              <a:rPr lang="en-US" b="1" dirty="0" err="1" smtClean="0"/>
              <a:t>organiseert</a:t>
            </a:r>
            <a:r>
              <a:rPr lang="en-US" b="1" dirty="0" smtClean="0"/>
              <a:t> </a:t>
            </a:r>
            <a:r>
              <a:rPr lang="en-US" b="1" dirty="0" err="1" smtClean="0"/>
              <a:t>medische</a:t>
            </a:r>
            <a:r>
              <a:rPr lang="en-US" b="1" dirty="0" smtClean="0"/>
              <a:t> </a:t>
            </a:r>
            <a:r>
              <a:rPr lang="en-US" b="1" dirty="0" err="1" smtClean="0"/>
              <a:t>evacuatievluchten</a:t>
            </a:r>
            <a:r>
              <a:rPr lang="en-US" b="1" dirty="0" smtClean="0"/>
              <a:t> </a:t>
            </a:r>
            <a:r>
              <a:rPr lang="en-US" b="1" dirty="0"/>
              <a:t>(MEDEVAC) </a:t>
            </a:r>
            <a:r>
              <a:rPr lang="en-US" b="1" dirty="0" smtClean="0"/>
              <a:t>om </a:t>
            </a:r>
            <a:r>
              <a:rPr lang="en-US" b="1" dirty="0" err="1" smtClean="0"/>
              <a:t>gewonde</a:t>
            </a:r>
            <a:r>
              <a:rPr lang="en-US" b="1" dirty="0" smtClean="0"/>
              <a:t> </a:t>
            </a:r>
            <a:r>
              <a:rPr lang="en-US" b="1" dirty="0" err="1" smtClean="0"/>
              <a:t>militairen</a:t>
            </a:r>
            <a:r>
              <a:rPr lang="en-US" b="1" dirty="0" smtClean="0"/>
              <a:t> </a:t>
            </a:r>
            <a:r>
              <a:rPr lang="en-US" b="1" dirty="0" err="1" smtClean="0"/>
              <a:t>vanuit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operationeel</a:t>
            </a:r>
            <a:r>
              <a:rPr lang="en-US" b="1" dirty="0" smtClean="0"/>
              <a:t> </a:t>
            </a:r>
            <a:r>
              <a:rPr lang="en-US" b="1" dirty="0" err="1" smtClean="0"/>
              <a:t>gebied</a:t>
            </a:r>
            <a:r>
              <a:rPr lang="en-US" b="1" dirty="0" smtClean="0"/>
              <a:t> </a:t>
            </a:r>
            <a:r>
              <a:rPr lang="en-US" b="1" dirty="0" err="1" smtClean="0"/>
              <a:t>terug</a:t>
            </a:r>
            <a:r>
              <a:rPr lang="en-US" b="1" dirty="0" smtClean="0"/>
              <a:t> </a:t>
            </a:r>
            <a:r>
              <a:rPr lang="en-US" b="1" dirty="0" err="1" smtClean="0"/>
              <a:t>te</a:t>
            </a:r>
            <a:r>
              <a:rPr lang="en-US" b="1" dirty="0" smtClean="0"/>
              <a:t> </a:t>
            </a:r>
            <a:r>
              <a:rPr lang="en-US" b="1" dirty="0" err="1" smtClean="0"/>
              <a:t>brengen</a:t>
            </a:r>
            <a:r>
              <a:rPr lang="en-US" b="1" dirty="0" smtClean="0"/>
              <a:t> </a:t>
            </a:r>
            <a:r>
              <a:rPr lang="en-US" b="1" dirty="0" err="1" smtClean="0"/>
              <a:t>naar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veldhospitaal</a:t>
            </a:r>
            <a:r>
              <a:rPr lang="en-US" b="1" dirty="0" smtClean="0"/>
              <a:t>. </a:t>
            </a:r>
            <a:r>
              <a:rPr lang="en-US" b="1" dirty="0" err="1" smtClean="0"/>
              <a:t>Er</a:t>
            </a:r>
            <a:r>
              <a:rPr lang="en-US" b="1" dirty="0" smtClean="0"/>
              <a:t> is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transportvliegtuig</a:t>
            </a:r>
            <a:r>
              <a:rPr lang="en-US" b="1" dirty="0" smtClean="0"/>
              <a:t> </a:t>
            </a:r>
            <a:r>
              <a:rPr lang="en-US" b="1" dirty="0" err="1" smtClean="0"/>
              <a:t>beschikbaar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maximaal</a:t>
            </a:r>
            <a:r>
              <a:rPr lang="en-US" b="1" dirty="0" smtClean="0"/>
              <a:t> 30 </a:t>
            </a:r>
            <a:r>
              <a:rPr lang="en-US" b="1" dirty="0" err="1" smtClean="0"/>
              <a:t>gewonde</a:t>
            </a:r>
            <a:r>
              <a:rPr lang="en-US" b="1" dirty="0" smtClean="0"/>
              <a:t> </a:t>
            </a:r>
            <a:r>
              <a:rPr lang="en-US" b="1" dirty="0" err="1" smtClean="0"/>
              <a:t>militairen</a:t>
            </a:r>
            <a:r>
              <a:rPr lang="en-US" b="1" dirty="0" smtClean="0"/>
              <a:t> per </a:t>
            </a:r>
            <a:r>
              <a:rPr lang="en-US" b="1" dirty="0" err="1" smtClean="0"/>
              <a:t>vlucht</a:t>
            </a:r>
            <a:r>
              <a:rPr lang="en-US" b="1" dirty="0" smtClean="0"/>
              <a:t> </a:t>
            </a:r>
            <a:r>
              <a:rPr lang="en-US" b="1" dirty="0" err="1" smtClean="0"/>
              <a:t>kan</a:t>
            </a:r>
            <a:r>
              <a:rPr lang="en-US" b="1" dirty="0" smtClean="0"/>
              <a:t> </a:t>
            </a:r>
            <a:r>
              <a:rPr lang="en-US" b="1" dirty="0" err="1" smtClean="0"/>
              <a:t>vervoeren</a:t>
            </a:r>
            <a:r>
              <a:rPr lang="en-US" b="1" dirty="0" smtClean="0"/>
              <a:t>. </a:t>
            </a:r>
            <a:r>
              <a:rPr lang="en-US" b="1" dirty="0" err="1" smtClean="0"/>
              <a:t>Er</a:t>
            </a:r>
            <a:r>
              <a:rPr lang="en-US" b="1" dirty="0" smtClean="0"/>
              <a:t> </a:t>
            </a:r>
            <a:r>
              <a:rPr lang="en-US" b="1" dirty="0" err="1" smtClean="0"/>
              <a:t>wordt</a:t>
            </a:r>
            <a:r>
              <a:rPr lang="en-US" b="1" dirty="0" smtClean="0"/>
              <a:t> </a:t>
            </a:r>
            <a:r>
              <a:rPr lang="en-US" b="1" dirty="0" err="1" smtClean="0"/>
              <a:t>geschat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</a:t>
            </a:r>
            <a:r>
              <a:rPr lang="en-US" b="1" dirty="0" err="1" smtClean="0"/>
              <a:t>er</a:t>
            </a:r>
            <a:r>
              <a:rPr lang="en-US" b="1" dirty="0" smtClean="0"/>
              <a:t> per dag </a:t>
            </a:r>
            <a:r>
              <a:rPr lang="en-US" b="1" dirty="0" err="1" smtClean="0"/>
              <a:t>gemiddeld</a:t>
            </a:r>
            <a:r>
              <a:rPr lang="en-US" b="1" dirty="0" smtClean="0"/>
              <a:t> 4 </a:t>
            </a:r>
            <a:r>
              <a:rPr lang="en-US" b="1" dirty="0" err="1" smtClean="0"/>
              <a:t>militairen</a:t>
            </a:r>
            <a:r>
              <a:rPr lang="en-US" b="1" dirty="0" smtClean="0"/>
              <a:t> </a:t>
            </a:r>
            <a:r>
              <a:rPr lang="en-US" b="1" dirty="0" err="1" smtClean="0"/>
              <a:t>gewond</a:t>
            </a:r>
            <a:r>
              <a:rPr lang="en-US" b="1" dirty="0" smtClean="0"/>
              <a:t> </a:t>
            </a:r>
            <a:r>
              <a:rPr lang="en-US" b="1" dirty="0" err="1" smtClean="0"/>
              <a:t>raken</a:t>
            </a:r>
            <a:r>
              <a:rPr lang="en-US" b="1" dirty="0" smtClean="0"/>
              <a:t>.</a:t>
            </a:r>
          </a:p>
          <a:p>
            <a:endParaRPr lang="en-US" b="1" dirty="0"/>
          </a:p>
          <a:p>
            <a:r>
              <a:rPr lang="en-US" b="1" dirty="0" smtClean="0"/>
              <a:t>c) </a:t>
            </a:r>
            <a:r>
              <a:rPr lang="en-US" b="1" dirty="0"/>
              <a:t>Hoe </a:t>
            </a:r>
            <a:r>
              <a:rPr lang="en-US" b="1" dirty="0" err="1"/>
              <a:t>groot</a:t>
            </a:r>
            <a:r>
              <a:rPr lang="en-US" b="1" dirty="0"/>
              <a:t> is de </a:t>
            </a:r>
            <a:r>
              <a:rPr lang="en-US" b="1" dirty="0" err="1"/>
              <a:t>kans</a:t>
            </a:r>
            <a:r>
              <a:rPr lang="en-US" b="1" dirty="0"/>
              <a:t> </a:t>
            </a:r>
            <a:r>
              <a:rPr lang="en-US" b="1" dirty="0" err="1"/>
              <a:t>dat</a:t>
            </a:r>
            <a:r>
              <a:rPr lang="en-US" b="1" dirty="0"/>
              <a:t> </a:t>
            </a:r>
            <a:r>
              <a:rPr lang="en-US" b="1" dirty="0" err="1"/>
              <a:t>er</a:t>
            </a:r>
            <a:r>
              <a:rPr lang="en-US" b="1" dirty="0"/>
              <a:t> </a:t>
            </a:r>
            <a:r>
              <a:rPr lang="en-US" b="1" dirty="0" err="1"/>
              <a:t>meer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30 </a:t>
            </a:r>
            <a:r>
              <a:rPr lang="en-US" b="1" dirty="0" err="1"/>
              <a:t>gewonden</a:t>
            </a:r>
            <a:r>
              <a:rPr lang="en-US" b="1" dirty="0"/>
              <a:t> </a:t>
            </a:r>
            <a:r>
              <a:rPr lang="en-US" b="1" dirty="0" err="1"/>
              <a:t>wachten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err="1"/>
              <a:t>dus</a:t>
            </a:r>
            <a:r>
              <a:rPr lang="en-US" b="1" dirty="0"/>
              <a:t> </a:t>
            </a:r>
            <a:r>
              <a:rPr lang="en-US" b="1" dirty="0" err="1"/>
              <a:t>niet</a:t>
            </a:r>
            <a:r>
              <a:rPr lang="en-US" b="1" dirty="0"/>
              <a:t> </a:t>
            </a:r>
            <a:r>
              <a:rPr lang="en-US" b="1" dirty="0" err="1"/>
              <a:t>iedereen</a:t>
            </a:r>
            <a:r>
              <a:rPr lang="en-US" b="1" dirty="0"/>
              <a:t> </a:t>
            </a:r>
            <a:r>
              <a:rPr lang="en-US" b="1" dirty="0" err="1"/>
              <a:t>mee</a:t>
            </a:r>
            <a:r>
              <a:rPr lang="en-US" b="1" dirty="0"/>
              <a:t> </a:t>
            </a:r>
            <a:r>
              <a:rPr lang="en-US" b="1" dirty="0" err="1" smtClean="0"/>
              <a:t>kan</a:t>
            </a:r>
            <a:r>
              <a:rPr lang="en-US" b="1" dirty="0" smtClean="0"/>
              <a:t> </a:t>
            </a:r>
            <a:r>
              <a:rPr lang="en-US" b="1" dirty="0" err="1" smtClean="0"/>
              <a:t>als</a:t>
            </a:r>
            <a:r>
              <a:rPr lang="en-US" b="1" dirty="0" smtClean="0"/>
              <a:t> de </a:t>
            </a:r>
            <a:r>
              <a:rPr lang="en-US" b="1" dirty="0" err="1" smtClean="0"/>
              <a:t>evacuatievlucht</a:t>
            </a:r>
            <a:r>
              <a:rPr lang="en-US" b="1" dirty="0" smtClean="0"/>
              <a:t> </a:t>
            </a:r>
            <a:r>
              <a:rPr lang="en-US" b="1" dirty="0" err="1" smtClean="0"/>
              <a:t>iedere</a:t>
            </a:r>
            <a:r>
              <a:rPr lang="en-US" b="1" dirty="0" smtClean="0"/>
              <a:t> </a:t>
            </a:r>
            <a:r>
              <a:rPr lang="en-US" b="1" dirty="0" err="1" smtClean="0"/>
              <a:t>zes</a:t>
            </a:r>
            <a:r>
              <a:rPr lang="en-US" b="1" dirty="0" smtClean="0"/>
              <a:t> </a:t>
            </a:r>
            <a:r>
              <a:rPr lang="en-US" b="1" dirty="0" err="1" smtClean="0"/>
              <a:t>dagen</a:t>
            </a:r>
            <a:r>
              <a:rPr lang="en-US" b="1" dirty="0" smtClean="0"/>
              <a:t> </a:t>
            </a:r>
            <a:r>
              <a:rPr lang="en-US" b="1" dirty="0" err="1" smtClean="0"/>
              <a:t>plaatsvindt</a:t>
            </a:r>
            <a:r>
              <a:rPr lang="en-US" b="1" dirty="0" smtClean="0"/>
              <a:t>? Of </a:t>
            </a:r>
            <a:r>
              <a:rPr lang="en-US" b="1" dirty="0" err="1" smtClean="0"/>
              <a:t>iedere</a:t>
            </a:r>
            <a:r>
              <a:rPr lang="en-US" b="1" dirty="0" smtClean="0"/>
              <a:t> </a:t>
            </a:r>
            <a:r>
              <a:rPr lang="en-US" b="1" dirty="0" err="1" smtClean="0"/>
              <a:t>vijf</a:t>
            </a:r>
            <a:r>
              <a:rPr lang="en-US" b="1" dirty="0" smtClean="0"/>
              <a:t> </a:t>
            </a:r>
            <a:r>
              <a:rPr lang="en-US" b="1" dirty="0" err="1" smtClean="0"/>
              <a:t>dagen</a:t>
            </a:r>
            <a:r>
              <a:rPr lang="en-US" b="1" dirty="0" smtClean="0"/>
              <a:t>?</a:t>
            </a: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184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Voorbeeld</a:t>
            </a:r>
            <a:r>
              <a:rPr lang="en-US" dirty="0" smtClean="0"/>
              <a:t>: </a:t>
            </a:r>
            <a:r>
              <a:rPr lang="en-US" dirty="0" err="1" smtClean="0"/>
              <a:t>medische</a:t>
            </a:r>
            <a:r>
              <a:rPr lang="en-US" dirty="0" smtClean="0"/>
              <a:t> </a:t>
            </a:r>
            <a:r>
              <a:rPr lang="en-US" dirty="0" err="1" smtClean="0"/>
              <a:t>evacuatie</a:t>
            </a:r>
            <a:r>
              <a:rPr lang="en-US" dirty="0" smtClean="0"/>
              <a:t> van </a:t>
            </a:r>
            <a:r>
              <a:rPr lang="en-US" dirty="0" err="1" smtClean="0"/>
              <a:t>gewonde</a:t>
            </a:r>
            <a:r>
              <a:rPr lang="en-US" dirty="0" smtClean="0"/>
              <a:t> </a:t>
            </a:r>
            <a:r>
              <a:rPr lang="en-US" dirty="0" err="1" smtClean="0"/>
              <a:t>militairen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r>
                  <a:rPr lang="en-US" b="1" dirty="0" smtClean="0"/>
                  <a:t>b) </a:t>
                </a:r>
                <a:r>
                  <a:rPr lang="en-US" b="1" dirty="0"/>
                  <a:t>Hoe </a:t>
                </a:r>
                <a:r>
                  <a:rPr lang="en-US" b="1" dirty="0" err="1"/>
                  <a:t>groot</a:t>
                </a:r>
                <a:r>
                  <a:rPr lang="en-US" b="1" dirty="0"/>
                  <a:t> is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er</a:t>
                </a:r>
                <a:r>
                  <a:rPr lang="en-US" b="1" dirty="0"/>
                  <a:t> </a:t>
                </a:r>
                <a:r>
                  <a:rPr lang="en-US" b="1" dirty="0" err="1"/>
                  <a:t>meer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30 </a:t>
                </a:r>
                <a:r>
                  <a:rPr lang="en-US" b="1" dirty="0" err="1"/>
                  <a:t>gewonden</a:t>
                </a:r>
                <a:r>
                  <a:rPr lang="en-US" b="1" dirty="0"/>
                  <a:t> </a:t>
                </a:r>
                <a:r>
                  <a:rPr lang="en-US" b="1" dirty="0" err="1"/>
                  <a:t>wachten</a:t>
                </a:r>
                <a:r>
                  <a:rPr lang="en-US" b="1" dirty="0"/>
                  <a:t> </a:t>
                </a:r>
                <a:r>
                  <a:rPr lang="en-US" b="1" dirty="0" err="1"/>
                  <a:t>en</a:t>
                </a:r>
                <a:r>
                  <a:rPr lang="en-US" b="1" dirty="0"/>
                  <a:t> </a:t>
                </a:r>
                <a:r>
                  <a:rPr lang="en-US" b="1" dirty="0" err="1"/>
                  <a:t>dus</a:t>
                </a:r>
                <a:r>
                  <a:rPr lang="en-US" b="1" dirty="0"/>
                  <a:t> </a:t>
                </a:r>
                <a:r>
                  <a:rPr lang="en-US" b="1" dirty="0" err="1"/>
                  <a:t>niet</a:t>
                </a:r>
                <a:r>
                  <a:rPr lang="en-US" b="1" dirty="0"/>
                  <a:t> </a:t>
                </a:r>
                <a:r>
                  <a:rPr lang="en-US" b="1" dirty="0" err="1"/>
                  <a:t>iedereen</a:t>
                </a:r>
                <a:r>
                  <a:rPr lang="en-US" b="1" dirty="0"/>
                  <a:t> </a:t>
                </a:r>
                <a:r>
                  <a:rPr lang="en-US" b="1" dirty="0" err="1"/>
                  <a:t>mee</a:t>
                </a:r>
                <a:r>
                  <a:rPr lang="en-US" b="1" dirty="0"/>
                  <a:t> </a:t>
                </a:r>
                <a:r>
                  <a:rPr lang="en-US" b="1" dirty="0" err="1"/>
                  <a:t>kan</a:t>
                </a:r>
                <a:r>
                  <a:rPr lang="en-US" b="1" dirty="0"/>
                  <a:t> </a:t>
                </a:r>
                <a:r>
                  <a:rPr lang="en-US" b="1" dirty="0" err="1"/>
                  <a:t>als</a:t>
                </a:r>
                <a:r>
                  <a:rPr lang="en-US" b="1" dirty="0"/>
                  <a:t> de </a:t>
                </a:r>
                <a:r>
                  <a:rPr lang="en-US" b="1" dirty="0" err="1"/>
                  <a:t>evacuatievlucht</a:t>
                </a:r>
                <a:r>
                  <a:rPr lang="en-US" b="1" dirty="0"/>
                  <a:t> </a:t>
                </a:r>
                <a:r>
                  <a:rPr lang="en-US" b="1" dirty="0" err="1"/>
                  <a:t>iedere</a:t>
                </a:r>
                <a:r>
                  <a:rPr lang="en-US" b="1" dirty="0"/>
                  <a:t> </a:t>
                </a:r>
                <a:r>
                  <a:rPr lang="en-US" b="1" dirty="0" err="1"/>
                  <a:t>zes</a:t>
                </a:r>
                <a:r>
                  <a:rPr lang="en-US" b="1" dirty="0"/>
                  <a:t> </a:t>
                </a:r>
                <a:r>
                  <a:rPr lang="en-US" b="1" dirty="0" err="1"/>
                  <a:t>dagen</a:t>
                </a:r>
                <a:r>
                  <a:rPr lang="en-US" b="1" dirty="0"/>
                  <a:t> </a:t>
                </a:r>
                <a:r>
                  <a:rPr lang="en-US" b="1" dirty="0" err="1"/>
                  <a:t>plaatsvindt</a:t>
                </a:r>
                <a:r>
                  <a:rPr lang="en-US" b="1" dirty="0"/>
                  <a:t>? Of </a:t>
                </a:r>
                <a:r>
                  <a:rPr lang="en-US" b="1" dirty="0" err="1"/>
                  <a:t>iedere</a:t>
                </a:r>
                <a:r>
                  <a:rPr lang="en-US" b="1" dirty="0"/>
                  <a:t> </a:t>
                </a:r>
                <a:r>
                  <a:rPr lang="en-US" b="1" dirty="0" err="1"/>
                  <a:t>vijf</a:t>
                </a:r>
                <a:r>
                  <a:rPr lang="en-US" b="1" dirty="0"/>
                  <a:t> </a:t>
                </a:r>
                <a:r>
                  <a:rPr lang="en-US" b="1" dirty="0" err="1"/>
                  <a:t>dagen</a:t>
                </a:r>
                <a:r>
                  <a:rPr lang="en-US" b="1" dirty="0"/>
                  <a:t>?</a:t>
                </a:r>
                <a:endParaRPr lang="en-US" b="1" dirty="0">
                  <a:solidFill>
                    <a:schemeClr val="tx1"/>
                  </a:solidFill>
                </a:endParaRPr>
              </a:p>
              <a:p>
                <a:endParaRPr lang="en-US" b="1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/>
                  <a:t>Zes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dagen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/>
                  <a:t> in </a:t>
                </a:r>
                <a:r>
                  <a:rPr lang="en-US" dirty="0" err="1" smtClean="0"/>
                  <a:t>zes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dagen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verwachten</a:t>
                </a:r>
                <a:r>
                  <a:rPr lang="en-US" dirty="0" smtClean="0"/>
                  <a:t> we </a:t>
                </a:r>
                <a:r>
                  <a:rPr lang="en-US" dirty="0" err="1" smtClean="0"/>
                  <a:t>gemiddeld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=4∗6=24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gewonden</a:t>
                </a:r>
                <a:r>
                  <a:rPr lang="en-US" dirty="0" smtClean="0"/>
                  <a:t>.</a:t>
                </a:r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≥31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≤30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poissoncdf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=24;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=30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0,0958</m:t>
                      </m:r>
                    </m:oMath>
                  </m:oMathPara>
                </a14:m>
                <a:endParaRPr lang="en-US" b="0" dirty="0" smtClean="0"/>
              </a:p>
              <a:p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/>
                  <a:t>Vijf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dagen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 smtClean="0"/>
                  <a:t> in </a:t>
                </a:r>
                <a:r>
                  <a:rPr lang="en-US" dirty="0" err="1" smtClean="0"/>
                  <a:t>vijf</a:t>
                </a:r>
                <a:r>
                  <a:rPr lang="en-US" dirty="0" smtClean="0"/>
                  <a:t> </a:t>
                </a:r>
                <a:r>
                  <a:rPr lang="en-US" dirty="0" err="1"/>
                  <a:t>dagen</a:t>
                </a:r>
                <a:r>
                  <a:rPr lang="en-US" dirty="0"/>
                  <a:t> </a:t>
                </a:r>
                <a:r>
                  <a:rPr lang="en-US" dirty="0" err="1"/>
                  <a:t>verwachten</a:t>
                </a:r>
                <a:r>
                  <a:rPr lang="en-US" dirty="0"/>
                  <a:t> we </a:t>
                </a:r>
                <a:r>
                  <a:rPr lang="en-US" dirty="0" err="1"/>
                  <a:t>gemiddeld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=4∗5=20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gewonden</a:t>
                </a:r>
                <a:r>
                  <a:rPr lang="en-US" dirty="0"/>
                  <a:t>.</a:t>
                </a:r>
              </a:p>
              <a:p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≥31</m:t>
                          </m:r>
                        </m:e>
                      </m:d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≤30</m:t>
                          </m:r>
                        </m:e>
                      </m:d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poissoncdf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=20;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=30</m:t>
                          </m:r>
                        </m:e>
                      </m:d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0,0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135</m:t>
                      </m:r>
                    </m:oMath>
                  </m:oMathPara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b="1" dirty="0" err="1" smtClean="0"/>
                  <a:t>Bij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evacuatievlucht</a:t>
                </a:r>
                <a:r>
                  <a:rPr lang="en-US" b="1" dirty="0" smtClean="0"/>
                  <a:t> om de </a:t>
                </a:r>
                <a:r>
                  <a:rPr lang="en-US" b="1" dirty="0" err="1" smtClean="0"/>
                  <a:t>zes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dagen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kan</a:t>
                </a:r>
                <a:r>
                  <a:rPr lang="en-US" b="1" dirty="0" smtClean="0"/>
                  <a:t> met 9,58%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niet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iedereen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mee</a:t>
                </a:r>
                <a:r>
                  <a:rPr lang="en-US" b="1" dirty="0" smtClean="0"/>
                  <a:t>.</a:t>
                </a:r>
              </a:p>
              <a:p>
                <a:r>
                  <a:rPr lang="en-US" b="1" dirty="0" err="1" smtClean="0"/>
                  <a:t>Bij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evacuatieblucht</a:t>
                </a:r>
                <a:r>
                  <a:rPr lang="en-US" b="1" dirty="0" smtClean="0"/>
                  <a:t> om de </a:t>
                </a:r>
                <a:r>
                  <a:rPr lang="en-US" b="1" dirty="0" err="1" smtClean="0"/>
                  <a:t>vijf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dagen</a:t>
                </a:r>
                <a:r>
                  <a:rPr lang="en-US" b="1" dirty="0" smtClean="0"/>
                  <a:t> is </a:t>
                </a:r>
                <a:r>
                  <a:rPr lang="en-US" b="1" dirty="0" err="1" smtClean="0"/>
                  <a:t>deze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1,35%.</a:t>
                </a:r>
                <a:endParaRPr lang="en-US" b="1" dirty="0"/>
              </a:p>
              <a:p>
                <a:endParaRPr lang="en-US" b="0" dirty="0" smtClean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2"/>
                <a:stretch>
                  <a:fillRect l="-1566" t="-2009" b="-10187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58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nl-NL" dirty="0" smtClean="0"/>
              <a:t>Poissonverdeling en de exponentiële verdeling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Het </a:t>
                </a:r>
                <a:r>
                  <a:rPr lang="en-US" dirty="0" err="1" smtClean="0"/>
                  <a:t>gemiddelde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(Improvised Explosive Devices) per km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wordt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geschat</a:t>
                </a:r>
                <a:r>
                  <a:rPr lang="en-US" dirty="0" smtClean="0"/>
                  <a:t> op 0,5.</a:t>
                </a:r>
              </a:p>
              <a:p>
                <a:endParaRPr lang="en-US" dirty="0" smtClean="0"/>
              </a:p>
              <a:p>
                <a:r>
                  <a:rPr lang="en-US" dirty="0" err="1" smtClean="0"/>
                  <a:t>Stel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het team van de EOD nu </a:t>
                </a:r>
                <a:r>
                  <a:rPr lang="en-US" dirty="0" err="1" smtClean="0"/>
                  <a:t>niet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op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wil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weten</a:t>
                </a:r>
                <a:r>
                  <a:rPr lang="en-US" dirty="0" smtClean="0"/>
                  <a:t>, maar de </a:t>
                </a:r>
                <a:r>
                  <a:rPr lang="en-US" dirty="0" err="1" smtClean="0"/>
                  <a:t>afstand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opeenvolgende</a:t>
                </a:r>
                <a:r>
                  <a:rPr lang="en-US" dirty="0" smtClean="0"/>
                  <a:t> IED’s: </a:t>
                </a:r>
              </a:p>
              <a:p>
                <a:endParaRPr lang="en-US" dirty="0" smtClean="0"/>
              </a:p>
              <a:p>
                <a:endParaRPr lang="en-US" b="1" dirty="0"/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7" t="-2009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501008"/>
            <a:ext cx="10365080" cy="240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67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Voorbeeld: detectie van </a:t>
            </a:r>
            <a:r>
              <a:rPr lang="nl-NL" dirty="0" err="1" smtClean="0"/>
              <a:t>IED’s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</p:spPr>
            <p:txBody>
              <a:bodyPr/>
              <a:lstStyle/>
              <a:p>
                <a:r>
                  <a:rPr lang="en-US" dirty="0" smtClean="0"/>
                  <a:t>We </a:t>
                </a:r>
                <a:r>
                  <a:rPr lang="en-US" dirty="0" err="1" smtClean="0"/>
                  <a:t>kunnen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verdeling</a:t>
                </a:r>
                <a:r>
                  <a:rPr lang="en-US" dirty="0" smtClean="0"/>
                  <a:t> van </a:t>
                </a:r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afstand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 smtClean="0"/>
                  <a:t> bepalen met de </a:t>
                </a:r>
                <a:r>
                  <a:rPr lang="en-US" dirty="0" err="1" smtClean="0"/>
                  <a:t>volgende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observatie</a:t>
                </a:r>
                <a:r>
                  <a:rPr lang="en-US" dirty="0" smtClean="0"/>
                  <a:t>:</a:t>
                </a:r>
              </a:p>
              <a:p>
                <a:endParaRPr lang="en-US" dirty="0"/>
              </a:p>
              <a:p>
                <a:pPr algn="ctr"/>
                <a:r>
                  <a:rPr lang="en-US" b="1" dirty="0" smtClean="0"/>
                  <a:t>“</a:t>
                </a:r>
                <a:r>
                  <a:rPr lang="en-US" b="1" dirty="0" err="1" smtClean="0"/>
                  <a:t>Als</a:t>
                </a:r>
                <a:r>
                  <a:rPr lang="en-US" b="1" dirty="0" smtClean="0"/>
                  <a:t> we op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weg</a:t>
                </a:r>
                <a:r>
                  <a:rPr lang="en-US" b="1" dirty="0" smtClean="0"/>
                  <a:t> van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 smtClean="0"/>
                  <a:t> km </a:t>
                </a:r>
                <a:r>
                  <a:rPr lang="en-US" b="1" dirty="0" err="1" smtClean="0"/>
                  <a:t>lang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geen</a:t>
                </a:r>
                <a:r>
                  <a:rPr lang="en-US" b="1" dirty="0" smtClean="0"/>
                  <a:t> IED </a:t>
                </a:r>
                <a:r>
                  <a:rPr lang="en-US" b="1" dirty="0" err="1" smtClean="0"/>
                  <a:t>aantreffen</a:t>
                </a:r>
                <a:r>
                  <a:rPr lang="en-US" b="1" dirty="0" smtClean="0"/>
                  <a:t>, </a:t>
                </a:r>
                <a:r>
                  <a:rPr lang="en-US" b="1" dirty="0" err="1" smtClean="0"/>
                  <a:t>dan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moet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gelden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b="1" dirty="0" smtClean="0"/>
                  <a:t>”</a:t>
                </a:r>
              </a:p>
              <a:p>
                <a:pPr algn="ctr"/>
                <a:endParaRPr lang="en-US" dirty="0" smtClean="0"/>
              </a:p>
              <a:p>
                <a:r>
                  <a:rPr lang="en-US" dirty="0" err="1" smtClean="0"/>
                  <a:t>Laat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Poisson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</a:t>
                </a:r>
                <a:r>
                  <a:rPr lang="en-US" dirty="0" err="1" smtClean="0"/>
                  <a:t>tellen</a:t>
                </a:r>
                <a:r>
                  <a:rPr lang="en-US" dirty="0" smtClean="0"/>
                  <a:t> op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van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smtClean="0"/>
                  <a:t> km,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geldt</a:t>
                </a:r>
                <a:r>
                  <a:rPr lang="en-US" dirty="0" smtClean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0!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 smtClean="0"/>
              </a:p>
              <a:p>
                <a:r>
                  <a:rPr lang="en-US" dirty="0" err="1" smtClean="0"/>
                  <a:t>Deze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kansverdeling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noemen</a:t>
                </a:r>
                <a:r>
                  <a:rPr lang="en-US" dirty="0" smtClean="0"/>
                  <a:t> we de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exponentiële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en-US" b="1" dirty="0" err="1" smtClean="0">
                    <a:solidFill>
                      <a:schemeClr val="accent1"/>
                    </a:solidFill>
                  </a:rPr>
                  <a:t>verdeling</a:t>
                </a:r>
                <a:r>
                  <a:rPr lang="en-US" b="1" dirty="0" smtClean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b="1" dirty="0" smtClean="0">
                    <a:solidFill>
                      <a:schemeClr val="tx1"/>
                    </a:solidFill>
                  </a:rPr>
                  <a:t>notatie</a:t>
                </a:r>
                <a:r>
                  <a:rPr lang="en-US" dirty="0" smtClean="0">
                    <a:solidFill>
                      <a:schemeClr val="accent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Exponentieel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 dirty="0" smtClean="0">
                  <a:solidFill>
                    <a:schemeClr val="tx1"/>
                  </a:solidFill>
                </a:endParaRPr>
              </a:p>
              <a:p>
                <a:endParaRPr lang="en-US" b="1" dirty="0" smtClean="0"/>
              </a:p>
              <a:p>
                <a:r>
                  <a:rPr lang="en-US" b="1" dirty="0" err="1" smtClean="0"/>
                  <a:t>Merk</a:t>
                </a:r>
                <a:r>
                  <a:rPr lang="en-US" b="1" dirty="0" smtClean="0"/>
                  <a:t> op: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99824" cy="4246562"/>
              </a:xfrm>
              <a:blipFill>
                <a:blip r:embed="rId2"/>
                <a:stretch>
                  <a:fillRect l="-1566" t="-2009" b="-100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03516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Voorbeeld: detectie van </a:t>
            </a:r>
            <a:r>
              <a:rPr lang="nl-NL" dirty="0" err="1" smtClean="0"/>
              <a:t>IED’s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1044768" cy="4246562"/>
          </a:xfrm>
        </p:spPr>
        <p:txBody>
          <a:bodyPr/>
          <a:lstStyle/>
          <a:p>
            <a:r>
              <a:rPr lang="en-US" b="1" dirty="0" err="1"/>
              <a:t>Een</a:t>
            </a:r>
            <a:r>
              <a:rPr lang="en-US" b="1" dirty="0"/>
              <a:t> team van de </a:t>
            </a:r>
            <a:r>
              <a:rPr lang="en-US" b="1" dirty="0" err="1"/>
              <a:t>Explosieve</a:t>
            </a:r>
            <a:r>
              <a:rPr lang="en-US" b="1" dirty="0"/>
              <a:t> </a:t>
            </a:r>
            <a:r>
              <a:rPr lang="en-US" b="1" dirty="0" err="1"/>
              <a:t>Opruimingsdienst</a:t>
            </a:r>
            <a:r>
              <a:rPr lang="en-US" b="1" dirty="0"/>
              <a:t> </a:t>
            </a:r>
            <a:r>
              <a:rPr lang="en-US" b="1" dirty="0" err="1"/>
              <a:t>Defensie</a:t>
            </a:r>
            <a:r>
              <a:rPr lang="en-US" b="1" dirty="0"/>
              <a:t> (EOD) </a:t>
            </a:r>
            <a:r>
              <a:rPr lang="en-US" b="1" dirty="0" err="1"/>
              <a:t>werkt</a:t>
            </a:r>
            <a:r>
              <a:rPr lang="en-US" b="1" dirty="0"/>
              <a:t> in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uitzendgebied</a:t>
            </a:r>
            <a:r>
              <a:rPr lang="en-US" b="1" dirty="0"/>
              <a:t> </a:t>
            </a:r>
            <a:r>
              <a:rPr lang="en-US" b="1" dirty="0" err="1"/>
              <a:t>aan</a:t>
            </a:r>
            <a:r>
              <a:rPr lang="en-US" b="1" dirty="0"/>
              <a:t> het </a:t>
            </a:r>
            <a:r>
              <a:rPr lang="en-US" b="1" dirty="0" err="1"/>
              <a:t>ruimen</a:t>
            </a:r>
            <a:r>
              <a:rPr lang="en-US" b="1" dirty="0"/>
              <a:t> van </a:t>
            </a:r>
            <a:r>
              <a:rPr lang="en-US" b="1" dirty="0" err="1"/>
              <a:t>zogenaamde</a:t>
            </a:r>
            <a:r>
              <a:rPr lang="en-US" b="1" dirty="0"/>
              <a:t> improvised explosive devices (IED’s) </a:t>
            </a:r>
            <a:r>
              <a:rPr lang="en-US" b="1" dirty="0" err="1"/>
              <a:t>bij</a:t>
            </a:r>
            <a:r>
              <a:rPr lang="en-US" b="1" dirty="0"/>
              <a:t> </a:t>
            </a:r>
            <a:r>
              <a:rPr lang="en-US" b="1" dirty="0" err="1"/>
              <a:t>een</a:t>
            </a:r>
            <a:r>
              <a:rPr lang="en-US" b="1" dirty="0"/>
              <a:t> </a:t>
            </a:r>
            <a:r>
              <a:rPr lang="en-US" b="1" dirty="0" err="1"/>
              <a:t>doorgaande</a:t>
            </a:r>
            <a:r>
              <a:rPr lang="en-US" b="1" dirty="0"/>
              <a:t> </a:t>
            </a:r>
            <a:r>
              <a:rPr lang="en-US" b="1" dirty="0" err="1"/>
              <a:t>weg</a:t>
            </a:r>
            <a:r>
              <a:rPr lang="en-US" b="1" dirty="0" smtClean="0"/>
              <a:t>. </a:t>
            </a:r>
            <a:r>
              <a:rPr lang="en-US" b="1" dirty="0"/>
              <a:t>Het </a:t>
            </a:r>
            <a:r>
              <a:rPr lang="en-US" b="1" dirty="0" err="1"/>
              <a:t>gemiddelde</a:t>
            </a:r>
            <a:r>
              <a:rPr lang="en-US" b="1" dirty="0"/>
              <a:t> </a:t>
            </a:r>
            <a:r>
              <a:rPr lang="en-US" b="1" dirty="0" err="1"/>
              <a:t>aantal</a:t>
            </a:r>
            <a:r>
              <a:rPr lang="en-US" b="1" dirty="0"/>
              <a:t> IED’s </a:t>
            </a:r>
            <a:r>
              <a:rPr lang="en-US" b="1" dirty="0" smtClean="0"/>
              <a:t>per </a:t>
            </a:r>
            <a:r>
              <a:rPr lang="en-US" b="1" dirty="0"/>
              <a:t>km </a:t>
            </a:r>
            <a:r>
              <a:rPr lang="en-US" b="1" dirty="0" err="1"/>
              <a:t>weg</a:t>
            </a:r>
            <a:r>
              <a:rPr lang="en-US" b="1" dirty="0"/>
              <a:t> </a:t>
            </a:r>
            <a:r>
              <a:rPr lang="en-US" b="1" dirty="0" err="1"/>
              <a:t>wordt</a:t>
            </a:r>
            <a:r>
              <a:rPr lang="en-US" b="1" dirty="0"/>
              <a:t> </a:t>
            </a:r>
            <a:r>
              <a:rPr lang="en-US" b="1" dirty="0" err="1"/>
              <a:t>geschat</a:t>
            </a:r>
            <a:r>
              <a:rPr lang="en-US" b="1" dirty="0"/>
              <a:t> op 0,5</a:t>
            </a:r>
            <a:r>
              <a:rPr lang="en-US" b="1" dirty="0" smtClean="0"/>
              <a:t>. Het team </a:t>
            </a:r>
            <a:r>
              <a:rPr lang="en-US" b="1" dirty="0" err="1" smtClean="0"/>
              <a:t>onderzoekt</a:t>
            </a:r>
            <a:r>
              <a:rPr lang="en-US" b="1" dirty="0" smtClean="0"/>
              <a:t> </a:t>
            </a:r>
            <a:r>
              <a:rPr lang="en-US" b="1" dirty="0" err="1" smtClean="0"/>
              <a:t>een</a:t>
            </a:r>
            <a:r>
              <a:rPr lang="en-US" b="1" dirty="0" smtClean="0"/>
              <a:t> </a:t>
            </a:r>
            <a:r>
              <a:rPr lang="en-US" b="1" dirty="0" err="1" smtClean="0"/>
              <a:t>willekeurig</a:t>
            </a:r>
            <a:r>
              <a:rPr lang="en-US" b="1" dirty="0" smtClean="0"/>
              <a:t> </a:t>
            </a:r>
            <a:r>
              <a:rPr lang="en-US" b="1" dirty="0" err="1" smtClean="0"/>
              <a:t>gekozen</a:t>
            </a:r>
            <a:r>
              <a:rPr lang="en-US" b="1" dirty="0" smtClean="0"/>
              <a:t> </a:t>
            </a:r>
            <a:r>
              <a:rPr lang="en-US" b="1" dirty="0" err="1" smtClean="0"/>
              <a:t>weg</a:t>
            </a:r>
            <a:r>
              <a:rPr lang="en-US" b="1" dirty="0" smtClean="0"/>
              <a:t> van 10 km lang.</a:t>
            </a:r>
          </a:p>
          <a:p>
            <a:endParaRPr lang="en-US" dirty="0" smtClean="0"/>
          </a:p>
          <a:p>
            <a:r>
              <a:rPr lang="en-US" b="1" dirty="0" smtClean="0"/>
              <a:t>a) Hoe </a:t>
            </a:r>
            <a:r>
              <a:rPr lang="en-US" b="1" dirty="0" err="1" smtClean="0"/>
              <a:t>groot</a:t>
            </a:r>
            <a:r>
              <a:rPr lang="en-US" b="1" dirty="0" smtClean="0"/>
              <a:t> is de </a:t>
            </a:r>
            <a:r>
              <a:rPr lang="en-US" b="1" dirty="0" err="1" smtClean="0"/>
              <a:t>kans</a:t>
            </a:r>
            <a:r>
              <a:rPr lang="en-US" b="1" dirty="0" smtClean="0"/>
              <a:t> </a:t>
            </a:r>
            <a:r>
              <a:rPr lang="en-US" b="1" dirty="0" err="1" smtClean="0"/>
              <a:t>dat</a:t>
            </a:r>
            <a:r>
              <a:rPr lang="en-US" b="1" dirty="0" smtClean="0"/>
              <a:t> exact </a:t>
            </a:r>
            <a:r>
              <a:rPr lang="en-US" b="1" dirty="0" err="1" smtClean="0"/>
              <a:t>vijf</a:t>
            </a:r>
            <a:r>
              <a:rPr lang="en-US" b="1" dirty="0" smtClean="0"/>
              <a:t> IED’s </a:t>
            </a:r>
            <a:r>
              <a:rPr lang="en-US" b="1" dirty="0" err="1" smtClean="0"/>
              <a:t>worden</a:t>
            </a:r>
            <a:r>
              <a:rPr lang="en-US" b="1" dirty="0" smtClean="0"/>
              <a:t> </a:t>
            </a:r>
            <a:r>
              <a:rPr lang="en-US" b="1" dirty="0" err="1" smtClean="0"/>
              <a:t>aangetroffen</a:t>
            </a:r>
            <a:r>
              <a:rPr lang="en-US" b="1" dirty="0"/>
              <a:t> </a:t>
            </a:r>
            <a:r>
              <a:rPr lang="en-US" b="1" dirty="0" smtClean="0"/>
              <a:t>op de </a:t>
            </a:r>
            <a:r>
              <a:rPr lang="en-US" b="1" dirty="0" err="1" smtClean="0"/>
              <a:t>weg</a:t>
            </a:r>
            <a:r>
              <a:rPr lang="en-US" b="1" dirty="0" smtClean="0"/>
              <a:t>?</a:t>
            </a:r>
            <a:endParaRPr lang="en-US" b="1" dirty="0"/>
          </a:p>
          <a:p>
            <a:endParaRPr lang="en-US" dirty="0"/>
          </a:p>
          <a:p>
            <a:endParaRPr lang="en-US" b="1" dirty="0"/>
          </a:p>
          <a:p>
            <a:endParaRPr lang="en-US" dirty="0" smtClean="0"/>
          </a:p>
          <a:p>
            <a:endParaRPr lang="en-US" b="1" dirty="0"/>
          </a:p>
          <a:p>
            <a:endParaRPr lang="en-US" b="0" i="1" dirty="0" smtClean="0">
              <a:latin typeface="Cambria Math" panose="02040503050406030204" pitchFamily="18" charset="0"/>
            </a:endParaRPr>
          </a:p>
          <a:p>
            <a:endParaRPr lang="nl-NL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292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Voorbeeld: detectie van </a:t>
            </a:r>
            <a:r>
              <a:rPr lang="nl-NL" dirty="0" err="1" smtClean="0"/>
              <a:t>IED’s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</p:spPr>
            <p:txBody>
              <a:bodyPr/>
              <a:lstStyle/>
              <a:p>
                <a:r>
                  <a:rPr lang="en-US" b="1" dirty="0" smtClean="0"/>
                  <a:t>Een</a:t>
                </a:r>
                <a:r>
                  <a:rPr lang="en-US" b="1" dirty="0"/>
                  <a:t> team van de </a:t>
                </a:r>
                <a:r>
                  <a:rPr lang="en-US" b="1" dirty="0" err="1"/>
                  <a:t>Explosieve</a:t>
                </a:r>
                <a:r>
                  <a:rPr lang="en-US" b="1" dirty="0"/>
                  <a:t> </a:t>
                </a:r>
                <a:r>
                  <a:rPr lang="en-US" b="1" dirty="0" err="1"/>
                  <a:t>Opruimingsdienst</a:t>
                </a:r>
                <a:r>
                  <a:rPr lang="en-US" b="1" dirty="0"/>
                  <a:t> </a:t>
                </a:r>
                <a:r>
                  <a:rPr lang="en-US" b="1" dirty="0" err="1"/>
                  <a:t>Defensie</a:t>
                </a:r>
                <a:r>
                  <a:rPr lang="en-US" b="1" dirty="0"/>
                  <a:t> (EOD) </a:t>
                </a:r>
                <a:r>
                  <a:rPr lang="en-US" b="1" dirty="0" err="1"/>
                  <a:t>werkt</a:t>
                </a:r>
                <a:r>
                  <a:rPr lang="en-US" b="1" dirty="0"/>
                  <a:t> in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uitzendgebied</a:t>
                </a:r>
                <a:r>
                  <a:rPr lang="en-US" b="1" dirty="0"/>
                  <a:t> </a:t>
                </a:r>
                <a:r>
                  <a:rPr lang="en-US" b="1" dirty="0" err="1"/>
                  <a:t>aan</a:t>
                </a:r>
                <a:r>
                  <a:rPr lang="en-US" b="1" dirty="0"/>
                  <a:t> het </a:t>
                </a:r>
                <a:r>
                  <a:rPr lang="en-US" b="1" dirty="0" err="1"/>
                  <a:t>ruimen</a:t>
                </a:r>
                <a:r>
                  <a:rPr lang="en-US" b="1" dirty="0"/>
                  <a:t> van </a:t>
                </a:r>
                <a:r>
                  <a:rPr lang="en-US" b="1" dirty="0" err="1"/>
                  <a:t>zogenaamde</a:t>
                </a:r>
                <a:r>
                  <a:rPr lang="en-US" b="1" dirty="0"/>
                  <a:t> improvised explosive devices (IED’s) </a:t>
                </a:r>
                <a:r>
                  <a:rPr lang="en-US" b="1" dirty="0" err="1"/>
                  <a:t>bij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doorgaande</a:t>
                </a:r>
                <a:r>
                  <a:rPr lang="en-US" b="1" dirty="0"/>
                  <a:t> </a:t>
                </a:r>
                <a:r>
                  <a:rPr lang="en-US" b="1" dirty="0" err="1"/>
                  <a:t>weg</a:t>
                </a:r>
                <a:r>
                  <a:rPr lang="en-US" b="1" dirty="0" smtClean="0"/>
                  <a:t>. </a:t>
                </a:r>
                <a:r>
                  <a:rPr lang="en-US" b="1" dirty="0"/>
                  <a:t>Het </a:t>
                </a:r>
                <a:r>
                  <a:rPr lang="en-US" b="1" dirty="0" err="1"/>
                  <a:t>gemiddelde</a:t>
                </a:r>
                <a:r>
                  <a:rPr lang="en-US" b="1" dirty="0"/>
                  <a:t> </a:t>
                </a:r>
                <a:r>
                  <a:rPr lang="en-US" b="1" dirty="0" err="1"/>
                  <a:t>aantal</a:t>
                </a:r>
                <a:r>
                  <a:rPr lang="en-US" b="1" dirty="0"/>
                  <a:t> IED’s </a:t>
                </a:r>
                <a:r>
                  <a:rPr lang="en-US" b="1" dirty="0" smtClean="0"/>
                  <a:t>per </a:t>
                </a:r>
                <a:r>
                  <a:rPr lang="en-US" b="1" dirty="0"/>
                  <a:t>km </a:t>
                </a:r>
                <a:r>
                  <a:rPr lang="en-US" b="1" dirty="0" err="1"/>
                  <a:t>weg</a:t>
                </a:r>
                <a:r>
                  <a:rPr lang="en-US" b="1" dirty="0"/>
                  <a:t> </a:t>
                </a:r>
                <a:r>
                  <a:rPr lang="en-US" b="1" dirty="0" err="1"/>
                  <a:t>wordt</a:t>
                </a:r>
                <a:r>
                  <a:rPr lang="en-US" b="1" dirty="0"/>
                  <a:t> </a:t>
                </a:r>
                <a:r>
                  <a:rPr lang="en-US" b="1" dirty="0" err="1"/>
                  <a:t>geschat</a:t>
                </a:r>
                <a:r>
                  <a:rPr lang="en-US" b="1" dirty="0"/>
                  <a:t> op 0,5</a:t>
                </a:r>
                <a:r>
                  <a:rPr lang="en-US" b="1" dirty="0" smtClean="0"/>
                  <a:t>. Het team </a:t>
                </a:r>
                <a:r>
                  <a:rPr lang="en-US" b="1" dirty="0" err="1" smtClean="0"/>
                  <a:t>onderzoekt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een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willekeurig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gekozen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weg</a:t>
                </a:r>
                <a:r>
                  <a:rPr lang="en-US" b="1" dirty="0" smtClean="0"/>
                  <a:t> van 10 km lang.</a:t>
                </a:r>
              </a:p>
              <a:p>
                <a:endParaRPr lang="en-US" dirty="0" smtClean="0"/>
              </a:p>
              <a:p>
                <a:r>
                  <a:rPr lang="en-US" b="1" dirty="0" smtClean="0"/>
                  <a:t>Wat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afstand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dirty="0" smtClean="0"/>
                  <a:t> tot de </a:t>
                </a:r>
                <a:r>
                  <a:rPr lang="en-US" b="1" dirty="0" err="1" smtClean="0"/>
                  <a:t>eerstvolgende</a:t>
                </a:r>
                <a:r>
                  <a:rPr lang="en-US" b="1" dirty="0" smtClean="0"/>
                  <a:t> IED </a:t>
                </a:r>
                <a:r>
                  <a:rPr lang="en-US" b="1" dirty="0" err="1" smtClean="0"/>
                  <a:t>tussen</a:t>
                </a:r>
                <a:r>
                  <a:rPr lang="en-US" b="1" dirty="0" smtClean="0"/>
                  <a:t> de 2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3 km is?</a:t>
                </a:r>
              </a:p>
              <a:p>
                <a:endParaRPr lang="en-US" b="1" dirty="0"/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  <a:blipFill>
                <a:blip r:embed="rId2"/>
                <a:stretch>
                  <a:fillRect l="-1545" t="-2009" r="-182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203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Voorbeeld: detectie van </a:t>
            </a:r>
            <a:r>
              <a:rPr lang="nl-NL" dirty="0" err="1" smtClean="0"/>
              <a:t>IED’s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</p:spPr>
            <p:txBody>
              <a:bodyPr/>
              <a:lstStyle/>
              <a:p>
                <a:r>
                  <a:rPr lang="en-US" b="1" dirty="0" smtClean="0"/>
                  <a:t>Wat is de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</a:t>
                </a:r>
                <a:r>
                  <a:rPr lang="en-US" b="1" dirty="0" err="1" smtClean="0"/>
                  <a:t>dat</a:t>
                </a:r>
                <a:r>
                  <a:rPr lang="en-US" b="1" dirty="0" smtClean="0"/>
                  <a:t> de </a:t>
                </a:r>
                <a:r>
                  <a:rPr lang="en-US" b="1" dirty="0" err="1" smtClean="0"/>
                  <a:t>afstand</a:t>
                </a:r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b="1" dirty="0" smtClean="0"/>
                  <a:t> tot de </a:t>
                </a:r>
                <a:r>
                  <a:rPr lang="en-US" b="1" dirty="0" err="1" smtClean="0"/>
                  <a:t>eerstvolgende</a:t>
                </a:r>
                <a:r>
                  <a:rPr lang="en-US" b="1" dirty="0" smtClean="0"/>
                  <a:t> IED </a:t>
                </a:r>
                <a:r>
                  <a:rPr lang="en-US" b="1" dirty="0" err="1" smtClean="0"/>
                  <a:t>tussen</a:t>
                </a:r>
                <a:r>
                  <a:rPr lang="en-US" b="1" dirty="0" smtClean="0"/>
                  <a:t> de 2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3 km is?</a:t>
                </a:r>
              </a:p>
              <a:p>
                <a:r>
                  <a:rPr lang="en-US" dirty="0" smtClean="0"/>
                  <a:t>We </a:t>
                </a:r>
                <a:r>
                  <a:rPr lang="en-US" dirty="0" err="1" smtClean="0"/>
                  <a:t>willen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(2≤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≤3)</m:t>
                    </m:r>
                  </m:oMath>
                </a14:m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&gt;3)</m:t>
                    </m:r>
                  </m:oMath>
                </a14:m>
                <a:r>
                  <a:rPr lang="en-US" dirty="0" smtClean="0"/>
                  <a:t> bepalen.</a:t>
                </a:r>
              </a:p>
              <a:p>
                <a:endParaRPr lang="en-US" dirty="0" smtClean="0"/>
              </a:p>
              <a:p>
                <a:r>
                  <a:rPr lang="en-US" dirty="0" err="1" smtClean="0"/>
                  <a:t>Voor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eerste</a:t>
                </a:r>
                <a:r>
                  <a:rPr lang="en-US" dirty="0" smtClean="0"/>
                  <a:t>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&gt;2)</m:t>
                    </m:r>
                  </m:oMath>
                </a14:m>
                <a:r>
                  <a:rPr lang="en-US" dirty="0" smtClean="0"/>
                  <a:t>: </a:t>
                </a:r>
                <a:r>
                  <a:rPr lang="en-US" dirty="0" err="1" smtClean="0"/>
                  <a:t>bekijk</a:t>
                </a:r>
                <a:r>
                  <a:rPr lang="en-US" dirty="0" smtClean="0"/>
                  <a:t> het </a:t>
                </a:r>
                <a:r>
                  <a:rPr lang="en-US" dirty="0" err="1" smtClean="0"/>
                  <a:t>stuk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vanaf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huidige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locatie</a:t>
                </a:r>
                <a:r>
                  <a:rPr lang="en-US" dirty="0" smtClean="0"/>
                  <a:t> van 2 km </a:t>
                </a:r>
                <a:r>
                  <a:rPr lang="en-US" dirty="0" err="1" smtClean="0"/>
                  <a:t>lang</a:t>
                </a:r>
                <a:r>
                  <a:rPr lang="en-US" dirty="0" smtClean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dirty="0" smtClean="0"/>
                  <a:t> met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=0,5</m:t>
                    </m:r>
                  </m:oMath>
                </a14:m>
                <a:r>
                  <a:rPr lang="en-US" dirty="0" smtClean="0"/>
                  <a:t>. Het </a:t>
                </a:r>
                <a:r>
                  <a:rPr lang="en-US" dirty="0" err="1" smtClean="0"/>
                  <a:t>aantal</a:t>
                </a:r>
                <a:r>
                  <a:rPr lang="en-US" dirty="0" smtClean="0"/>
                  <a:t> IED’s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 op </a:t>
                </a:r>
                <a:r>
                  <a:rPr lang="en-US" dirty="0" err="1" smtClean="0"/>
                  <a:t>dit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stuk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weg</a:t>
                </a:r>
                <a:r>
                  <a:rPr lang="en-US" dirty="0" smtClean="0"/>
                  <a:t> is Poisson </a:t>
                </a:r>
                <a:r>
                  <a:rPr lang="en-US" dirty="0" err="1" smtClean="0"/>
                  <a:t>verdeeld</a:t>
                </a:r>
                <a:r>
                  <a:rPr lang="en-US" dirty="0" smtClean="0"/>
                  <a:t> met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, </a:t>
                </a:r>
                <a:r>
                  <a:rPr lang="en-US" dirty="0" err="1" smtClean="0"/>
                  <a:t>oftewel</a:t>
                </a:r>
                <a:r>
                  <a:rPr lang="en-US" dirty="0" smtClean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r>
                  <a:rPr lang="en-US" dirty="0" smtClean="0"/>
                  <a:t>Op </a:t>
                </a:r>
                <a:r>
                  <a:rPr lang="en-US" dirty="0" err="1" smtClean="0"/>
                  <a:t>dezelfde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manier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vinden</a:t>
                </a:r>
                <a:r>
                  <a:rPr lang="en-US" dirty="0" smtClean="0"/>
                  <a:t> we met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afstand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 smtClean="0"/>
                  <a:t> tot de </a:t>
                </a:r>
                <a:r>
                  <a:rPr lang="en-US" dirty="0" err="1" smtClean="0"/>
                  <a:t>eerstvolgende</a:t>
                </a:r>
                <a:r>
                  <a:rPr lang="en-US" dirty="0" smtClean="0"/>
                  <a:t> IED </a:t>
                </a:r>
                <a:r>
                  <a:rPr lang="en-US" dirty="0" err="1" smtClean="0"/>
                  <a:t>tussen</a:t>
                </a:r>
                <a:r>
                  <a:rPr lang="en-US" dirty="0" smtClean="0"/>
                  <a:t> de 2 </a:t>
                </a:r>
                <a:r>
                  <a:rPr lang="en-US" dirty="0" err="1" smtClean="0"/>
                  <a:t>en</a:t>
                </a:r>
                <a:r>
                  <a:rPr lang="en-US" dirty="0" smtClean="0"/>
                  <a:t> 3 km is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endParaRPr lang="en-US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≤3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≈0,1447</m:t>
                      </m:r>
                    </m:oMath>
                  </m:oMathPara>
                </a14:m>
                <a:endParaRPr lang="en-US" dirty="0"/>
              </a:p>
              <a:p>
                <a:endParaRPr lang="en-US" dirty="0" smtClean="0"/>
              </a:p>
              <a:p>
                <a:pPr algn="ctr"/>
                <a:r>
                  <a:rPr lang="en-US" b="1" dirty="0" smtClean="0"/>
                  <a:t>Met 14,47% </a:t>
                </a:r>
                <a:r>
                  <a:rPr lang="en-US" b="1" dirty="0" err="1" smtClean="0"/>
                  <a:t>kans</a:t>
                </a:r>
                <a:r>
                  <a:rPr lang="en-US" b="1" dirty="0" smtClean="0"/>
                  <a:t> is de </a:t>
                </a:r>
                <a:r>
                  <a:rPr lang="en-US" b="1" dirty="0" err="1" smtClean="0"/>
                  <a:t>afstand</a:t>
                </a:r>
                <a:r>
                  <a:rPr lang="en-US" b="1" dirty="0" smtClean="0"/>
                  <a:t> tot de </a:t>
                </a:r>
                <a:r>
                  <a:rPr lang="en-US" b="1" dirty="0" err="1" smtClean="0"/>
                  <a:t>eerstvolgende</a:t>
                </a:r>
                <a:r>
                  <a:rPr lang="en-US" b="1" dirty="0" smtClean="0"/>
                  <a:t> IED </a:t>
                </a:r>
                <a:r>
                  <a:rPr lang="en-US" b="1" dirty="0" err="1" smtClean="0"/>
                  <a:t>tussen</a:t>
                </a:r>
                <a:r>
                  <a:rPr lang="en-US" b="1" dirty="0" smtClean="0"/>
                  <a:t> de 2 </a:t>
                </a:r>
                <a:r>
                  <a:rPr lang="en-US" b="1" dirty="0" err="1" smtClean="0"/>
                  <a:t>en</a:t>
                </a:r>
                <a:r>
                  <a:rPr lang="en-US" b="1" dirty="0" smtClean="0"/>
                  <a:t> 3 km.</a:t>
                </a:r>
              </a:p>
              <a:p>
                <a:endParaRPr lang="en-US" b="1" dirty="0"/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  <a:blipFill>
                <a:blip r:embed="rId2"/>
                <a:stretch>
                  <a:fillRect l="-1545" t="-2009" r="-1490" b="-889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167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Andere eigenschappen van de </a:t>
            </a:r>
            <a:r>
              <a:rPr lang="nl-NL" dirty="0" err="1" smtClean="0"/>
              <a:t>Poisson</a:t>
            </a:r>
            <a:r>
              <a:rPr lang="nl-NL" dirty="0" smtClean="0"/>
              <a:t>- en exponentiële verdeling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</p:spPr>
            <p:txBody>
              <a:bodyPr/>
              <a:lstStyle/>
              <a:p>
                <a:r>
                  <a:rPr lang="en-US" b="1" dirty="0" smtClean="0">
                    <a:solidFill>
                      <a:schemeClr val="tx1"/>
                    </a:solidFill>
                  </a:rPr>
                  <a:t>Poisson 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𝝁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 smtClean="0">
                    <a:solidFill>
                      <a:schemeClr val="tx1"/>
                    </a:solidFill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solidFill>
                      <a:schemeClr val="tx1"/>
                    </a:solidFill>
                  </a:rPr>
                  <a:t>Verwachtingswaarde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=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variantie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lang="en-US" b="0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err="1" smtClean="0">
                    <a:solidFill>
                      <a:schemeClr val="tx1"/>
                    </a:solidFill>
                  </a:rPr>
                  <a:t>Als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Poisson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Poisson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dan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is de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som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Poisson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b="1" dirty="0" err="1" smtClean="0">
                    <a:solidFill>
                      <a:schemeClr val="tx1"/>
                    </a:solidFill>
                  </a:rPr>
                  <a:t>Exponentieel</a:t>
                </a:r>
                <a:r>
                  <a:rPr lang="en-US" b="1" dirty="0" smtClean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b="1" dirty="0" smtClean="0">
                    <a:solidFill>
                      <a:schemeClr val="tx1"/>
                    </a:solidFill>
                  </a:rPr>
                  <a:t>):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 smtClean="0">
                    <a:solidFill>
                      <a:schemeClr val="tx1"/>
                    </a:solidFill>
                  </a:rPr>
                  <a:t>Geheugenloosheid</a:t>
                </a:r>
                <a:r>
                  <a:rPr lang="en-US" b="1" dirty="0" smtClean="0">
                    <a:solidFill>
                      <a:schemeClr val="tx1"/>
                    </a:solidFill>
                  </a:rPr>
                  <a:t>: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stel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dat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je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na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km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lopen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nog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geen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IED bent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tegengekomen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,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dan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is de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dat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je nog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km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moet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lopen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gelijk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aan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deze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kans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voordat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je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ging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 smtClean="0">
                    <a:solidFill>
                      <a:schemeClr val="tx1"/>
                    </a:solidFill>
                  </a:rPr>
                  <a:t>lopen</a:t>
                </a:r>
                <a:r>
                  <a:rPr lang="en-US" dirty="0" smtClean="0">
                    <a:solidFill>
                      <a:schemeClr val="tx1"/>
                    </a:solidFill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 smtClean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b="1" dirty="0"/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endParaRPr lang="nl-NL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1044768" cy="4246562"/>
              </a:xfrm>
              <a:blipFill>
                <a:blip r:embed="rId2"/>
                <a:stretch>
                  <a:fillRect l="-1545" t="-2009" b="-918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700558"/>
                  </p:ext>
                </p:extLst>
              </p:nvPr>
            </p:nvGraphicFramePr>
            <p:xfrm>
              <a:off x="2271184" y="2996952"/>
              <a:ext cx="8127999" cy="13485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93112558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22608614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2001831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b="1" i="0" dirty="0" smtClean="0">
                                    <a:latin typeface="Cambria Math" panose="02040503050406030204" pitchFamily="18" charset="0"/>
                                  </a:rPr>
                                  <m:t>𝐏𝐨𝐢𝐬𝐬𝐨𝐧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∼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𝐄𝐱𝐩𝐨𝐧𝐞𝐧𝐭𝐢𝐞𝐞𝐥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91119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Verwachtingswaarde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9280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Variantie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nl-NL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=1/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nl-NL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04899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7700558"/>
                  </p:ext>
                </p:extLst>
              </p:nvPr>
            </p:nvGraphicFramePr>
            <p:xfrm>
              <a:off x="2271184" y="2996952"/>
              <a:ext cx="8127999" cy="13485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393112558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22608614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20018319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1639" r="-101351" b="-2885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39" r="-1124" b="-2885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11915"/>
                      </a:ext>
                    </a:extLst>
                  </a:tr>
                  <a:tr h="6068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Verwachtingswaarde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62000" r="-101351" b="-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2000" r="-1124" b="-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9280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 smtClean="0"/>
                            <a:t>Variantie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265574" r="-101351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65574" r="-1124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04899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3923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Toepassingen van de </a:t>
            </a:r>
            <a:r>
              <a:rPr lang="nl-NL" dirty="0" err="1" smtClean="0"/>
              <a:t>Poisson</a:t>
            </a:r>
            <a:r>
              <a:rPr lang="nl-NL" dirty="0" smtClean="0"/>
              <a:t>- en exponentiële verdeling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1044768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Aantal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vijandelijke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aanvallen</a:t>
            </a:r>
            <a:r>
              <a:rPr lang="en-US" dirty="0" smtClean="0">
                <a:solidFill>
                  <a:schemeClr val="tx1"/>
                </a:solidFill>
              </a:rPr>
              <a:t> (</a:t>
            </a:r>
            <a:r>
              <a:rPr lang="en-US" dirty="0" err="1" smtClean="0">
                <a:solidFill>
                  <a:schemeClr val="tx1"/>
                </a:solidFill>
              </a:rPr>
              <a:t>raketlanceringen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artillerievuur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dirty="0" err="1" smtClean="0">
                <a:solidFill>
                  <a:schemeClr val="tx1"/>
                </a:solidFill>
              </a:rPr>
              <a:t>hinderlagen</a:t>
            </a:r>
            <a:r>
              <a:rPr lang="en-US" dirty="0" smtClean="0">
                <a:solidFill>
                  <a:schemeClr val="tx1"/>
                </a:solidFill>
              </a:rPr>
              <a:t>) in </a:t>
            </a:r>
            <a:r>
              <a:rPr lang="en-US" dirty="0" err="1" smtClean="0">
                <a:solidFill>
                  <a:schemeClr val="tx1"/>
                </a:solidFill>
              </a:rPr>
              <a:t>een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tijdsinterval</a:t>
            </a:r>
            <a:endParaRPr lang="en-US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Wachtrijtheorie</a:t>
            </a:r>
            <a:endParaRPr lang="en-US" dirty="0" smtClean="0">
              <a:solidFill>
                <a:schemeClr val="tx1"/>
              </a:solidFill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Filevorming</a:t>
            </a:r>
            <a:r>
              <a:rPr lang="en-US" dirty="0">
                <a:solidFill>
                  <a:schemeClr val="tx1"/>
                </a:solidFill>
              </a:rPr>
              <a:t> door </a:t>
            </a:r>
            <a:r>
              <a:rPr lang="en-US" dirty="0" err="1">
                <a:solidFill>
                  <a:schemeClr val="tx1"/>
                </a:solidFill>
              </a:rPr>
              <a:t>grenscontroles</a:t>
            </a:r>
            <a:r>
              <a:rPr lang="en-US" dirty="0">
                <a:solidFill>
                  <a:schemeClr val="tx1"/>
                </a:solidFill>
              </a:rPr>
              <a:t> door de </a:t>
            </a:r>
            <a:r>
              <a:rPr lang="en-US" dirty="0" err="1" smtClean="0">
                <a:solidFill>
                  <a:schemeClr val="tx1"/>
                </a:solidFill>
              </a:rPr>
              <a:t>Marechaussee</a:t>
            </a:r>
            <a:endParaRPr lang="en-US" dirty="0">
              <a:solidFill>
                <a:schemeClr val="tx1"/>
              </a:solidFill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Poisson: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aankomsten</a:t>
            </a:r>
            <a:r>
              <a:rPr lang="en-US" dirty="0" smtClean="0">
                <a:solidFill>
                  <a:schemeClr val="tx1"/>
                </a:solidFill>
              </a:rPr>
              <a:t> van auto’s </a:t>
            </a:r>
            <a:r>
              <a:rPr lang="en-US" dirty="0" err="1" smtClean="0">
                <a:solidFill>
                  <a:schemeClr val="tx1"/>
                </a:solidFill>
              </a:rPr>
              <a:t>bij</a:t>
            </a:r>
            <a:r>
              <a:rPr lang="en-US" dirty="0" smtClean="0">
                <a:solidFill>
                  <a:schemeClr val="tx1"/>
                </a:solidFill>
              </a:rPr>
              <a:t> de </a:t>
            </a:r>
            <a:r>
              <a:rPr lang="en-US" dirty="0" err="1" smtClean="0">
                <a:solidFill>
                  <a:schemeClr val="tx1"/>
                </a:solidFill>
              </a:rPr>
              <a:t>controlepost</a:t>
            </a:r>
            <a:r>
              <a:rPr lang="en-US" dirty="0" smtClean="0">
                <a:solidFill>
                  <a:schemeClr val="tx1"/>
                </a:solidFill>
              </a:rPr>
              <a:t> in </a:t>
            </a:r>
            <a:r>
              <a:rPr lang="en-US" dirty="0" err="1" smtClean="0">
                <a:solidFill>
                  <a:schemeClr val="tx1"/>
                </a:solidFill>
              </a:rPr>
              <a:t>een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tijdsinterval</a:t>
            </a:r>
            <a:endParaRPr lang="en-US" dirty="0" smtClean="0">
              <a:solidFill>
                <a:schemeClr val="tx1"/>
              </a:solidFill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b="1" dirty="0" err="1" smtClean="0">
                <a:solidFill>
                  <a:schemeClr val="tx1"/>
                </a:solidFill>
              </a:rPr>
              <a:t>Exponentieel</a:t>
            </a:r>
            <a:r>
              <a:rPr lang="en-US" b="1" dirty="0" smtClean="0">
                <a:solidFill>
                  <a:schemeClr val="tx1"/>
                </a:solidFill>
              </a:rPr>
              <a:t>: </a:t>
            </a:r>
            <a:r>
              <a:rPr lang="en-US" dirty="0" err="1" smtClean="0">
                <a:solidFill>
                  <a:schemeClr val="tx1"/>
                </a:solidFill>
              </a:rPr>
              <a:t>tijd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tussen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aankomsten</a:t>
            </a:r>
            <a:r>
              <a:rPr lang="en-US" dirty="0" smtClean="0">
                <a:solidFill>
                  <a:schemeClr val="tx1"/>
                </a:solidFill>
              </a:rPr>
              <a:t> van auto’s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Frequentie</a:t>
            </a:r>
            <a:r>
              <a:rPr lang="en-US" dirty="0" smtClean="0">
                <a:solidFill>
                  <a:schemeClr val="tx1"/>
                </a:solidFill>
              </a:rPr>
              <a:t> van </a:t>
            </a:r>
            <a:r>
              <a:rPr lang="en-US" dirty="0" err="1" smtClean="0">
                <a:solidFill>
                  <a:schemeClr val="tx1"/>
                </a:solidFill>
              </a:rPr>
              <a:t>storingen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aan</a:t>
            </a:r>
            <a:r>
              <a:rPr lang="en-US" dirty="0" smtClean="0">
                <a:solidFill>
                  <a:schemeClr val="tx1"/>
                </a:solidFill>
              </a:rPr>
              <a:t> materiel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optimaliseren</a:t>
            </a:r>
            <a:r>
              <a:rPr lang="en-US" dirty="0" smtClean="0">
                <a:solidFill>
                  <a:schemeClr val="tx1"/>
                </a:solidFill>
              </a:rPr>
              <a:t> van (</a:t>
            </a:r>
            <a:r>
              <a:rPr lang="en-US" dirty="0" err="1" smtClean="0">
                <a:solidFill>
                  <a:schemeClr val="tx1"/>
                </a:solidFill>
              </a:rPr>
              <a:t>preventieve</a:t>
            </a:r>
            <a:r>
              <a:rPr lang="en-US" dirty="0" smtClean="0">
                <a:solidFill>
                  <a:schemeClr val="tx1"/>
                </a:solidFill>
              </a:rPr>
              <a:t>) </a:t>
            </a:r>
            <a:r>
              <a:rPr lang="en-US" dirty="0" err="1" smtClean="0">
                <a:solidFill>
                  <a:schemeClr val="tx1"/>
                </a:solidFill>
              </a:rPr>
              <a:t>onderhoudsplanning</a:t>
            </a:r>
            <a:endParaRPr lang="en-US" dirty="0" smtClean="0">
              <a:solidFill>
                <a:schemeClr val="tx1"/>
              </a:solidFill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tx1"/>
                </a:solidFill>
              </a:rPr>
              <a:t>optimaliseren</a:t>
            </a:r>
            <a:r>
              <a:rPr lang="en-US" dirty="0" smtClean="0">
                <a:solidFill>
                  <a:schemeClr val="tx1"/>
                </a:solidFill>
              </a:rPr>
              <a:t> van </a:t>
            </a:r>
            <a:r>
              <a:rPr lang="en-US" dirty="0" err="1" smtClean="0">
                <a:solidFill>
                  <a:schemeClr val="tx1"/>
                </a:solidFill>
              </a:rPr>
              <a:t>voorraadbeheer</a:t>
            </a:r>
            <a:r>
              <a:rPr lang="en-US" dirty="0" smtClean="0">
                <a:solidFill>
                  <a:schemeClr val="tx1"/>
                </a:solidFill>
              </a:rPr>
              <a:t> / </a:t>
            </a:r>
            <a:r>
              <a:rPr lang="en-US" dirty="0" err="1" smtClean="0">
                <a:solidFill>
                  <a:schemeClr val="tx1"/>
                </a:solidFill>
              </a:rPr>
              <a:t>vraagvoorspelling</a:t>
            </a:r>
            <a:endParaRPr lang="en-US" dirty="0" smtClean="0">
              <a:solidFill>
                <a:schemeClr val="tx1"/>
              </a:solidFill>
            </a:endParaRPr>
          </a:p>
          <a:p>
            <a:endParaRPr lang="en-US" b="0" i="1" dirty="0" smtClean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i="1" dirty="0" smtClean="0">
              <a:latin typeface="Cambria Math" panose="02040503050406030204" pitchFamily="18" charset="0"/>
            </a:endParaRPr>
          </a:p>
          <a:p>
            <a:endParaRPr lang="nl-NL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nl-NL" smtClean="0"/>
              <a:t>Mei 2025</a:t>
            </a:r>
            <a:endParaRPr lang="nl-NL" dirty="0"/>
          </a:p>
        </p:txBody>
      </p:sp>
      <p:sp>
        <p:nvSpPr>
          <p:cNvPr id="4" name="AutoShape 2" descr="Close Up Shot of Improvised Explosive Device Bomb Stock Photo - Imag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08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Samenvatting</a:t>
            </a:r>
            <a:endParaRPr lang="nl-NL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755808" cy="4246562"/>
          </a:xfrm>
        </p:spPr>
        <p:txBody>
          <a:bodyPr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Poissonverdeling</a:t>
            </a:r>
            <a:r>
              <a:rPr lang="en-US" sz="2400" dirty="0" smtClean="0"/>
              <a:t> </a:t>
            </a:r>
            <a:r>
              <a:rPr lang="en-US" sz="2400" dirty="0" err="1" smtClean="0"/>
              <a:t>en</a:t>
            </a:r>
            <a:r>
              <a:rPr lang="en-US" sz="2400" dirty="0" smtClean="0"/>
              <a:t> </a:t>
            </a:r>
            <a:r>
              <a:rPr lang="en-US" sz="2400" dirty="0" err="1" smtClean="0"/>
              <a:t>exponentiële</a:t>
            </a:r>
            <a:r>
              <a:rPr lang="en-US" sz="2400" dirty="0" smtClean="0"/>
              <a:t> </a:t>
            </a:r>
            <a:r>
              <a:rPr lang="en-US" sz="2400" dirty="0" err="1" smtClean="0"/>
              <a:t>verdeling</a:t>
            </a:r>
            <a:endParaRPr lang="en-US" sz="2400" dirty="0" smtClean="0"/>
          </a:p>
          <a:p>
            <a:pPr eaLnBrk="1" hangingPunct="1"/>
            <a:endParaRPr lang="en-US" sz="2400" dirty="0"/>
          </a:p>
          <a:p>
            <a:r>
              <a:rPr lang="en-US" sz="2400" b="1" dirty="0" err="1" smtClean="0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A. 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7.1 </a:t>
            </a:r>
            <a:r>
              <a:rPr lang="en-US" sz="2400" dirty="0">
                <a:latin typeface="RijksoverheidSansText" panose="020B0503040202060203" pitchFamily="34" charset="0"/>
              </a:rPr>
              <a:t>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</a:t>
            </a:r>
            <a:r>
              <a:rPr lang="en-US" sz="2400" dirty="0" smtClean="0">
                <a:latin typeface="RijksoverheidSansText" panose="020B0503040202060203" pitchFamily="34" charset="0"/>
              </a:rPr>
              <a:t>227-231), 7.5 (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blz</a:t>
            </a:r>
            <a:r>
              <a:rPr lang="en-US" sz="2400" dirty="0" smtClean="0">
                <a:latin typeface="RijksoverheidSansText" panose="020B0503040202060203" pitchFamily="34" charset="0"/>
              </a:rPr>
              <a:t>. 236-238)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Opdrachten</a:t>
            </a:r>
            <a:r>
              <a:rPr lang="en-US" sz="2400" dirty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7: m1-m3, m5, m6, 7.3, 7.6, 7.7, 7.8, 7.12, 7.15, 7.17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eaLnBrk="1" hangingPunct="1"/>
            <a:endParaRPr lang="en-US" sz="2400" dirty="0"/>
          </a:p>
          <a:p>
            <a:pPr eaLnBrk="1" hangingPunct="1"/>
            <a:endParaRPr lang="en-US" sz="2400" b="1" dirty="0" smtClean="0"/>
          </a:p>
          <a:p>
            <a:pPr eaLnBrk="1" hangingPunct="1"/>
            <a:r>
              <a:rPr lang="en-US" sz="2400" b="1" dirty="0" err="1" smtClean="0"/>
              <a:t>Volgende</a:t>
            </a:r>
            <a:r>
              <a:rPr lang="en-US" sz="2400" b="1" dirty="0" smtClean="0"/>
              <a:t> les: </a:t>
            </a:r>
            <a:r>
              <a:rPr lang="en-US" sz="2400" dirty="0" err="1" smtClean="0"/>
              <a:t>examenvoorbereiding</a:t>
            </a:r>
            <a:endParaRPr lang="en-US" sz="2400" b="1" dirty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4EBD1-29D6-4680-A43E-6930799C0313}" type="datetime4">
              <a:rPr kumimoji="0" lang="nl-NL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 april 2026</a:t>
            </a:fld>
            <a:endParaRPr kumimoji="0" lang="nl-NL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353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Samenvatting</a:t>
            </a:r>
            <a:endParaRPr lang="nl-NL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0755808" cy="4246562"/>
          </a:xfrm>
        </p:spPr>
        <p:txBody>
          <a:bodyPr/>
          <a:lstStyle/>
          <a:p>
            <a:pPr marL="342900" indent="-342900" eaLnBrk="1" hangingPunct="1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dirty="0" err="1" smtClean="0"/>
              <a:t>Poissonverdeling</a:t>
            </a:r>
            <a:r>
              <a:rPr lang="en-US" sz="2400" dirty="0" smtClean="0"/>
              <a:t> </a:t>
            </a:r>
            <a:r>
              <a:rPr lang="en-US" sz="2400" dirty="0" err="1" smtClean="0"/>
              <a:t>en</a:t>
            </a:r>
            <a:r>
              <a:rPr lang="en-US" sz="2400" dirty="0" smtClean="0"/>
              <a:t> </a:t>
            </a:r>
            <a:r>
              <a:rPr lang="en-US" sz="2400" dirty="0" err="1" smtClean="0"/>
              <a:t>exponentiële</a:t>
            </a:r>
            <a:r>
              <a:rPr lang="en-US" sz="2400" dirty="0" smtClean="0"/>
              <a:t> </a:t>
            </a:r>
            <a:r>
              <a:rPr lang="en-US" sz="2400" dirty="0" err="1" smtClean="0"/>
              <a:t>verdeling</a:t>
            </a:r>
            <a:endParaRPr lang="en-US" sz="2400" dirty="0" smtClean="0"/>
          </a:p>
          <a:p>
            <a:pPr eaLnBrk="1" hangingPunct="1"/>
            <a:endParaRPr lang="en-US" sz="2400" dirty="0"/>
          </a:p>
          <a:p>
            <a:r>
              <a:rPr lang="en-US" sz="2400" b="1" dirty="0" err="1" smtClean="0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A. 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7.1 </a:t>
            </a:r>
            <a:r>
              <a:rPr lang="en-US" sz="2400" dirty="0">
                <a:latin typeface="RijksoverheidSansText" panose="020B0503040202060203" pitchFamily="34" charset="0"/>
              </a:rPr>
              <a:t>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</a:t>
            </a:r>
            <a:r>
              <a:rPr lang="en-US" sz="2400" dirty="0" smtClean="0">
                <a:latin typeface="RijksoverheidSansText" panose="020B0503040202060203" pitchFamily="34" charset="0"/>
              </a:rPr>
              <a:t>227-231), 7.5 (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blz</a:t>
            </a:r>
            <a:r>
              <a:rPr lang="en-US" sz="2400" dirty="0" smtClean="0">
                <a:latin typeface="RijksoverheidSansText" panose="020B0503040202060203" pitchFamily="34" charset="0"/>
              </a:rPr>
              <a:t>. 236-238)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Opdrachten</a:t>
            </a:r>
            <a:r>
              <a:rPr lang="en-US" sz="2400" dirty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7</a:t>
            </a:r>
            <a:r>
              <a:rPr lang="pt-BR" dirty="0" smtClean="0"/>
              <a:t>: </a:t>
            </a:r>
            <a:r>
              <a:rPr lang="pt-BR" dirty="0"/>
              <a:t>m1, m2, m3, m5, m6, 7.3, 7.4, 7.6, 7.8, 7.10, 7.12, 7.14, 7.19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b="1" dirty="0" smtClean="0"/>
          </a:p>
          <a:p>
            <a:pPr eaLnBrk="1" hangingPunct="1"/>
            <a:r>
              <a:rPr lang="en-US" sz="2400" b="1" dirty="0" err="1" smtClean="0"/>
              <a:t>Volgende</a:t>
            </a:r>
            <a:r>
              <a:rPr lang="en-US" sz="2400" b="1" dirty="0" smtClean="0"/>
              <a:t> les: </a:t>
            </a:r>
            <a:r>
              <a:rPr lang="en-US" sz="2400" dirty="0" err="1" smtClean="0"/>
              <a:t>examenvoorbereiding</a:t>
            </a:r>
            <a:endParaRPr lang="en-US" sz="2400" b="1" dirty="0"/>
          </a:p>
        </p:txBody>
      </p:sp>
      <p:sp>
        <p:nvSpPr>
          <p:cNvPr id="614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4EBD1-29D6-4680-A43E-6930799C0313}" type="datetime4">
              <a:rPr kumimoji="0" lang="nl-NL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 april 2026</a:t>
            </a:fld>
            <a:endParaRPr kumimoji="0" lang="nl-NL" sz="1100" b="0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43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landmachtNL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1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 (1)</Template>
  <TotalTime>0</TotalTime>
  <Words>2571</Words>
  <Application>Microsoft Office PowerPoint</Application>
  <PresentationFormat>Breedbeeld</PresentationFormat>
  <Paragraphs>290</Paragraphs>
  <Slides>27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27</vt:i4>
      </vt:variant>
    </vt:vector>
  </HeadingPairs>
  <TitlesOfParts>
    <vt:vector size="37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Presentatie</vt:lpstr>
      <vt:lpstr>1_Presentatie</vt:lpstr>
      <vt:lpstr>2_Presentatie</vt:lpstr>
      <vt:lpstr>Statistiek: college 6</vt:lpstr>
      <vt:lpstr>Statistiek: college 6</vt:lpstr>
      <vt:lpstr>Tot nu toe</vt:lpstr>
      <vt:lpstr> </vt:lpstr>
      <vt:lpstr>Voorbeeld: detectie van IED’s</vt:lpstr>
      <vt:lpstr>Voorbeeld: detectie van IED’s</vt:lpstr>
      <vt:lpstr>Voorbeeld: detectie van IED’s</vt:lpstr>
      <vt:lpstr>Voorbeeld: detectie van IED’s</vt:lpstr>
      <vt:lpstr>De Poissonverdeling</vt:lpstr>
      <vt:lpstr>De Poissonverdeling</vt:lpstr>
      <vt:lpstr>De Poissonverdeling</vt:lpstr>
      <vt:lpstr>Rekenen met de Poissonverdeling</vt:lpstr>
      <vt:lpstr>Voorbeeld: medische evacuatie van gewonde militairen</vt:lpstr>
      <vt:lpstr>Voorbeeld: medische evacuatie van gewonde militairen</vt:lpstr>
      <vt:lpstr>Voorbeeld: medische evacuatie van gewonde militairen</vt:lpstr>
      <vt:lpstr>Voorbeeld: medische evacuatie van gewonde militairen</vt:lpstr>
      <vt:lpstr>Voorbeeld: medische evacuatie van gewonde militairen</vt:lpstr>
      <vt:lpstr>Voorbeeld: medische evacuatie van gewonde militairen</vt:lpstr>
      <vt:lpstr>Poissonverdeling en de exponentiële verdeling</vt:lpstr>
      <vt:lpstr>Voorbeeld: detectie van IED’s</vt:lpstr>
      <vt:lpstr>Voorbeeld: detectie van IED’s</vt:lpstr>
      <vt:lpstr>Voorbeeld: detectie van IED’s</vt:lpstr>
      <vt:lpstr>Voorbeeld: detectie van IED’s</vt:lpstr>
      <vt:lpstr>Andere eigenschappen van de Poisson- en exponentiële verdeling</vt:lpstr>
      <vt:lpstr>Toepassingen van de Poisson- en exponentiële verdeling</vt:lpstr>
      <vt:lpstr>Samenvatting</vt:lpstr>
      <vt:lpstr>Samenvatting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Statistiek</dc:title>
  <dc:creator>Blom, DAMP, Dr. ir., DOSCO/NLDA/FMW/CG MTW</dc:creator>
  <cp:lastModifiedBy>Gebruiker</cp:lastModifiedBy>
  <cp:revision>105</cp:revision>
  <cp:lastPrinted>2011-09-21T07:52:24Z</cp:lastPrinted>
  <dcterms:created xsi:type="dcterms:W3CDTF">2024-11-25T09:45:08Z</dcterms:created>
  <dcterms:modified xsi:type="dcterms:W3CDTF">2026-04-09T13:15:36Z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